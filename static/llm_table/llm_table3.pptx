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746" r:id="rId2"/>
    <p:sldId id="1747" r:id="rId3"/>
    <p:sldId id="1744" r:id="rId4"/>
    <p:sldId id="1745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2"/>
    <p:restoredTop sz="94722"/>
  </p:normalViewPr>
  <p:slideViewPr>
    <p:cSldViewPr snapToGrid="0">
      <p:cViewPr>
        <p:scale>
          <a:sx n="40" d="100"/>
          <a:sy n="40" d="100"/>
        </p:scale>
        <p:origin x="3352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FE7B-F957-E24C-8179-FD3AC46D0A8E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0337C-886F-6A4D-A202-B65CADD0A9F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840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181BD-E82F-498B-7929-D96975F8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830C42-30AA-9D02-1211-A892288A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90F97-2E2E-98D6-3A5F-E04B9D64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66BD4A-F39C-D44F-65B2-B010DC2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2E6937-75EE-D63D-C9BE-4CDBA456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70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B538E-AF55-D6E8-2F0D-6C733386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BE35FF-B617-DC70-55DA-1C0F02E6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C6222-5633-CD36-B429-2708B085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C01A64-3788-9CA5-8CEE-243F625C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03C396-4C86-8DA7-E3D9-8C5BD0F0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919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60D40-DD19-04D8-4ACD-4139F32D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CD1C8-5C9A-234C-FBE6-F8EE08589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61A1F1-26D9-EB40-403C-1E74ABC0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A1AC7-3109-E878-591D-516FFB0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6F609-B180-C06D-6881-8DB4A19C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71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EA535-1778-7A8D-0441-1DA673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565726-D727-A3C5-BFC4-3DCC644EF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B214EA-AD22-A79F-DDE5-5BF28B27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79663D-6A39-A0B9-9016-A2AC2C7E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72A1F8-32D4-23AE-13E5-132D8B2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D5E18-6251-9CCB-D36D-4B50090B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788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49FB1-C501-B6E7-0CF5-5C2A063B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4D72C6-9A19-EF09-DA83-BBCCA34A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D682E9-D7D1-3572-6A76-A44DA8F2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4ACEE6-CA01-17EB-0B2D-DA34E3658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9F0B47-50A7-9B80-FB1A-7A1F77EFE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27E70B-B1A4-AD7A-A29F-4039E761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B2C37F9-EF08-F040-AE1D-FB073E3A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1B5B58-1898-405E-D596-E60DE024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468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7C5CA-4C4B-2455-17B6-04CC5288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9330C1-E363-C6FE-C635-A22F3FE1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DE3CE5-3AB4-DE6B-1C81-F1640715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C127C6-6B38-3583-304B-CCECF527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88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616B08-5E84-2350-75D8-FD0661E3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A52533-D4A0-C658-56B8-030AF510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9872B-4C49-10FA-A50E-A82C1DBF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86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B3F69-1B1B-A652-B11B-48AE72CB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57D951-5BD6-EAFE-32F9-C4642791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D7AAE9-08BB-188C-88DC-662AE12C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BEDA5-DCC9-2655-878F-EA3B04A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004F2B-94AC-2A82-037F-FED6DE6D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8DC0B-A01F-5109-9764-1F732BE2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082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411F3-86A5-A53A-A73E-21600C71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35E501-A390-4F9D-0799-27063C79D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AB6B1B-8583-F56B-EC93-1289E416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EDDF74-2112-4337-1A2D-A9F9689A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5CFA28-FB78-CDFF-E6AC-9DB12777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1E139F-A4ED-705B-ECBD-98835914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73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1D15F7-EBFE-FE37-6305-73F04CA8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83826B-D9B3-FA3B-17D7-5A2A0AF3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7D4BB7-4230-0D43-45AC-C0964EFA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E008A-4D60-01C1-78B0-E116FCA0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0F8C63-9AC6-A7FE-DD7D-4DE40D95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47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EDAD695-EAD0-BFAF-CCE7-A1B1A7A07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5C7E3D-005B-39E0-E085-ACC035E7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806BD4-4315-9340-A695-D31A9BC3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E3C9E-BB14-DC03-CDC2-91B61982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CB060-B826-F9B8-FAE0-3121B83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564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085425-2993-77BA-D12B-A975343D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E0BAB1-6118-7249-3FB1-B7CB8C8B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817BD0-D557-DE19-004A-E6D9F031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06FB-14E6-604C-B085-F500EB1C5D32}" type="datetimeFigureOut">
              <a:rPr kumimoji="1" lang="zh-TW" altLang="en-US" smtClean="0"/>
              <a:t>2026/5/12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6CD60-ED2E-5A33-7146-02297DB37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600F76-B4E0-CAAB-5AE3-989F0254F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16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unsloth/Qwen3.5-4B-GGUF" TargetMode="External"/><Relationship Id="rId13" Type="http://schemas.openxmlformats.org/officeDocument/2006/relationships/hyperlink" Target="https://huggingface.co/bartowski/Llama-3.2-3B-Instruct-GGUF" TargetMode="External"/><Relationship Id="rId18" Type="http://schemas.openxmlformats.org/officeDocument/2006/relationships/hyperlink" Target="https://huggingface.co/mlx-community/gpt-oss-20b-MXFP4-Q8" TargetMode="External"/><Relationship Id="rId3" Type="http://schemas.openxmlformats.org/officeDocument/2006/relationships/hyperlink" Target="https://huggingface.co/unsloth/Qwen3.5-9B-GGUF" TargetMode="External"/><Relationship Id="rId7" Type="http://schemas.openxmlformats.org/officeDocument/2006/relationships/hyperlink" Target="https://huggingface.co/lmstudio-community/Qwen3.5-4B-GGUF" TargetMode="External"/><Relationship Id="rId12" Type="http://schemas.openxmlformats.org/officeDocument/2006/relationships/hyperlink" Target="https://huggingface.co/mlx-community/Llama-3.2-3B-Instruct-4bit" TargetMode="External"/><Relationship Id="rId17" Type="http://schemas.openxmlformats.org/officeDocument/2006/relationships/hyperlink" Target="https://huggingface.co/lmstudio-community/gemma-3n-E2B-it-MLX-4bit" TargetMode="External"/><Relationship Id="rId2" Type="http://schemas.openxmlformats.org/officeDocument/2006/relationships/hyperlink" Target="https://lmstudio.ai/models/qwen/qwen3.5-9b" TargetMode="External"/><Relationship Id="rId16" Type="http://schemas.openxmlformats.org/officeDocument/2006/relationships/hyperlink" Target="https://huggingface.co/lmstudio-community/gemma-3n-E4B-it-MLX-8b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uggingface.co/TheCluster/Qwen3.5-9B-Claude-4.6-HighIQ-INSTRUCT-HERETIC-UNCENSORED-MLX-mxfp8" TargetMode="External"/><Relationship Id="rId11" Type="http://schemas.openxmlformats.org/officeDocument/2006/relationships/hyperlink" Target="https://huggingface.co/Qwen/Qwen2.5-Coder-14B-Instruct-GGUF" TargetMode="External"/><Relationship Id="rId5" Type="http://schemas.openxmlformats.org/officeDocument/2006/relationships/hyperlink" Target="https://huggingface.co/Jackrong/Qwen3.5-9B-Claude-4.6-Opus-Reasoning-Distilled-GGUF" TargetMode="External"/><Relationship Id="rId15" Type="http://schemas.openxmlformats.org/officeDocument/2006/relationships/hyperlink" Target="https://huggingface.co/mlx-community/gemma-3-12b-it-qat-4bit" TargetMode="External"/><Relationship Id="rId10" Type="http://schemas.openxmlformats.org/officeDocument/2006/relationships/hyperlink" Target="https://huggingface.co/unsloth/Qwen3.5-0.8B-GGUF" TargetMode="External"/><Relationship Id="rId4" Type="http://schemas.openxmlformats.org/officeDocument/2006/relationships/hyperlink" Target="https://huggingface.co/RepublicOfKorokke/Qwen3.5-9B-mlx-lm-mxfp4" TargetMode="External"/><Relationship Id="rId9" Type="http://schemas.openxmlformats.org/officeDocument/2006/relationships/hyperlink" Target="https://huggingface.co/unsloth/Qwen3.5-2B-GGUF" TargetMode="External"/><Relationship Id="rId14" Type="http://schemas.openxmlformats.org/officeDocument/2006/relationships/hyperlink" Target="https://huggingface.co/mlx-community/gemma-4-e4b-it-8b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3">
            <a:extLst>
              <a:ext uri="{FF2B5EF4-FFF2-40B4-BE49-F238E27FC236}">
                <a16:creationId xmlns:a16="http://schemas.microsoft.com/office/drawing/2014/main" id="{642CF291-7F53-C704-969C-50F8DD191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3828539"/>
              </p:ext>
            </p:extLst>
          </p:nvPr>
        </p:nvGraphicFramePr>
        <p:xfrm>
          <a:off x="-12148457" y="-7090219"/>
          <a:ext cx="38404801" cy="19407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1271853713"/>
                    </a:ext>
                  </a:extLst>
                </a:gridCol>
                <a:gridCol w="1132115">
                  <a:extLst>
                    <a:ext uri="{9D8B030D-6E8A-4147-A177-3AD203B41FA5}">
                      <a16:colId xmlns:a16="http://schemas.microsoft.com/office/drawing/2014/main" val="68709723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554725675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488093839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53259153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1599747734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289803631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3839768372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265791853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329622698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27442920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709756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01177212"/>
                    </a:ext>
                  </a:extLst>
                </a:gridCol>
                <a:gridCol w="1469571">
                  <a:extLst>
                    <a:ext uri="{9D8B030D-6E8A-4147-A177-3AD203B41FA5}">
                      <a16:colId xmlns:a16="http://schemas.microsoft.com/office/drawing/2014/main" val="3729185513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479205331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249276846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191133862"/>
                    </a:ext>
                  </a:extLst>
                </a:gridCol>
                <a:gridCol w="1886857">
                  <a:extLst>
                    <a:ext uri="{9D8B030D-6E8A-4147-A177-3AD203B41FA5}">
                      <a16:colId xmlns:a16="http://schemas.microsoft.com/office/drawing/2014/main" val="94477399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90233889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3652788789"/>
                    </a:ext>
                  </a:extLst>
                </a:gridCol>
                <a:gridCol w="1333684">
                  <a:extLst>
                    <a:ext uri="{9D8B030D-6E8A-4147-A177-3AD203B41FA5}">
                      <a16:colId xmlns:a16="http://schemas.microsoft.com/office/drawing/2014/main" val="328040403"/>
                    </a:ext>
                  </a:extLst>
                </a:gridCol>
              </a:tblGrid>
              <a:tr h="2214753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模型名稱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模型大小</a:t>
                      </a:r>
                      <a:endParaRPr lang="en-US" altLang="zh-TW" sz="2800" b="1" dirty="0"/>
                    </a:p>
                    <a:p>
                      <a:pPr algn="ctr"/>
                      <a:r>
                        <a:rPr lang="en-US" altLang="zh-TW" sz="2800" b="1" dirty="0"/>
                        <a:t>(GB)</a:t>
                      </a:r>
                      <a:endParaRPr lang="zh-TW" altLang="en-US" sz="28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Load model</a:t>
                      </a:r>
                    </a:p>
                    <a:p>
                      <a:pPr algn="ctr"/>
                      <a:r>
                        <a:rPr lang="en-US" altLang="zh-TW" sz="2800" dirty="0"/>
                        <a:t> (Mem) </a:t>
                      </a:r>
                    </a:p>
                    <a:p>
                      <a:pPr algn="ctr"/>
                      <a:r>
                        <a:rPr lang="en-US" altLang="zh-TW" sz="2800" dirty="0"/>
                        <a:t>(GB)</a:t>
                      </a:r>
                      <a:endParaRPr lang="zh-TW" altLang="en-US" sz="2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Gsm8k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Mbpp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HumanEval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MATH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(7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/>
                        <a:t>MMLU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(CS/PHY/EE)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(30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Vision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Tool use</a:t>
                      </a:r>
                      <a:endParaRPr lang="zh-TW" altLang="en-US" sz="2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URL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52878"/>
                  </a:ext>
                </a:extLst>
              </a:tr>
              <a:tr h="11073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(CS/PHY/EE)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3961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6.10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8.13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43m49s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7m04s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11m45s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35.25s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23m55s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47.8s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2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en-US" altLang="zh-TW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7372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6.72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7.40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7m20s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6m07s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1m59s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12m20s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21m10s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42.3s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3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7041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Qwen3.5-9B-MXFP4-MLX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4.45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5.12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39m37s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1m58s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5m39s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16.9s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0.25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15m23s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46.15s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4"/>
                        </a:rPr>
                        <a:t>連結</a:t>
                      </a:r>
                      <a:endParaRPr lang="zh-TW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942432"/>
                  </a:ext>
                </a:extLst>
              </a:tr>
              <a:tr h="56783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Qwen3.5-9B-NVFP4-GGUF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4.71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5.62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6841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Qwen3.5-9B-Crow-GGUF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6.26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5.80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34128"/>
                  </a:ext>
                </a:extLst>
              </a:tr>
              <a:tr h="71065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4.97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5m11s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15.5s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5m48s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6.65s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001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Qwen3.5-9B-4bit-MLX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5.57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00236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Qwen3.5-9B-8bit-MLX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9.74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10.54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5544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Qwen3.5-9B-OptiQ-MLX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5.65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51424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9.19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19m35s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58.75s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9m38s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28.9s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18m52s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56.60s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16m15s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71.0s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6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9936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3.76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24m19s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7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4366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4.34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4m16s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3.45s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17m30s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35.0 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8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93297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Qwen3.5-2B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2.82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4m32s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4m52s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0.6/0.9/0.9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9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699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Qwen3.5-0.8B Q80-GGUF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1.01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9.1s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8m14s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0.2/0.8/0.8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10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01567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dirty="0"/>
                        <a:t>Qwen2.5-coder-14B-instruct-Q4K_M-GGUF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8.37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9.72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23.55s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2m36s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1m05s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0.9/0.5/0.7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9m47s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19.6s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1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67510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Llama3.2-3B-Instruct-4bit</a:t>
                      </a:r>
                      <a:r>
                        <a:rPr lang="en-US" altLang="zh-TW" sz="2400" dirty="0"/>
                        <a:t>-MLX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2.52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2m28s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2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784799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Llama3.2-3B-instruct-GGUF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2.45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1m44s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5.2s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2m20s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7s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1m01s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3.05s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bg1"/>
                          </a:solidFill>
                          <a:hlinkClick r:id="rId13"/>
                        </a:rPr>
                        <a:t>連結</a:t>
                      </a:r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26381"/>
                  </a:ext>
                </a:extLst>
              </a:tr>
              <a:tr h="88114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Gemma4-E4B-8bit-MLX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8.38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25.05s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12m6s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36.30s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14.50s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13m42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68.6s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4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64794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Gemma3-12B-it-qat-4bit-MLX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9.04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6m52s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11.3s 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7m48s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66.9s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15m26s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30.9s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48401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</a:t>
                      </a:r>
                      <a:r>
                        <a:rPr lang="en-US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-E4B-it-8bit-MLX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9.3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0.8/0.6/0.9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u="sng" dirty="0">
                          <a:hlinkClick r:id="rId16"/>
                        </a:rPr>
                        <a:t>連結</a:t>
                      </a:r>
                      <a:endParaRPr lang="zh-TW" altLang="en-US" sz="2000" u="sng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89889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Gemma3N-E2B-it-4bit-MLX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4.09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1m27s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5m50s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0.5/0.5/0.6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4m02s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u="sn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連結</a:t>
                      </a:r>
                      <a:endParaRPr lang="zh-TW" altLang="en-US" sz="2000" u="sng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41886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GPT-OSS-20B</a:t>
                      </a:r>
                      <a:r>
                        <a:rPr lang="en-US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-MXFP4-MLX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12.1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11.27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1m23s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2m43s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u="sn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連結</a:t>
                      </a:r>
                      <a:endParaRPr lang="zh-TW" altLang="en-US" sz="2000" u="sng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6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6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5C95B50-E633-A74C-08E5-C880A7C34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993"/>
            <a:ext cx="12192000" cy="616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1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DB40B7-DF88-EE50-AC35-3618077BE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951078"/>
              </p:ext>
            </p:extLst>
          </p:nvPr>
        </p:nvGraphicFramePr>
        <p:xfrm>
          <a:off x="-583407" y="-362846"/>
          <a:ext cx="13358813" cy="997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12">
                  <a:extLst>
                    <a:ext uri="{9D8B030D-6E8A-4147-A177-3AD203B41FA5}">
                      <a16:colId xmlns:a16="http://schemas.microsoft.com/office/drawing/2014/main" val="696106575"/>
                    </a:ext>
                  </a:extLst>
                </a:gridCol>
                <a:gridCol w="1741676">
                  <a:extLst>
                    <a:ext uri="{9D8B030D-6E8A-4147-A177-3AD203B41FA5}">
                      <a16:colId xmlns:a16="http://schemas.microsoft.com/office/drawing/2014/main" val="441265979"/>
                    </a:ext>
                  </a:extLst>
                </a:gridCol>
                <a:gridCol w="10168625">
                  <a:extLst>
                    <a:ext uri="{9D8B030D-6E8A-4147-A177-3AD203B41FA5}">
                      <a16:colId xmlns:a16="http://schemas.microsoft.com/office/drawing/2014/main" val="3396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52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Qwen3.5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0.8B / 2B / 4B / 9B </a:t>
                      </a:r>
                      <a:r>
                        <a:rPr lang="en" altLang="zh-TW" dirty="0"/>
                        <a:t>/ 27B / 35B-A3B / 122B-A10B / 397B-A17B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 = Activated 3 Billion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混合專家）模型的命名慣例。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以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為例：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模型總參數量是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每次推論實際只激活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億個參數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記憶體佔用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看的是總參數（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運算速度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成本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看的是激活參數（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這也是為什麼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Qwen3.5-35B-A3B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跑起來速度接近一個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模型，但知識容量卻有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的水準。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95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Qwen3.5-Claude</a:t>
                      </a:r>
                      <a:r>
                        <a:rPr lang="en" altLang="zh-TW" dirty="0"/>
                        <a:t>-Distilled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0" dirty="0"/>
                        <a:t>2B / 4B /</a:t>
                      </a:r>
                      <a:r>
                        <a:rPr lang="en" altLang="zh-TW" b="0" dirty="0">
                          <a:highlight>
                            <a:srgbClr val="FFFF00"/>
                          </a:highlight>
                        </a:rPr>
                        <a:t> 9B </a:t>
                      </a:r>
                      <a:r>
                        <a:rPr lang="en" altLang="zh-TW" b="0" dirty="0"/>
                        <a:t>/ 27B / 35B-A3B /</a:t>
                      </a:r>
                      <a:r>
                        <a:rPr lang="zh-TW" altLang="en-US" b="0" dirty="0"/>
                        <a:t> </a:t>
                      </a:r>
                      <a:r>
                        <a:rPr lang="en" altLang="zh-TW" b="0" dirty="0"/>
                        <a:t>40B 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基於阿里巴巴官方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架構，透過知識蒸餾（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Knowledge Distillation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技術所產出的第三方微調系列。其核心做法是收集大量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4.6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的推理鏈輸出作為訓練資料，再以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SFT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監督式微調）搭配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LoRA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技術注入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的基礎模型中，使其在保留原有參數架構的前提下，學習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結構化、逐步拆解問題的思考模式。</a:t>
                      </a: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39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Qwen2.5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14B / 32B / 72B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58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Qwen2.5-Coder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14B </a:t>
                      </a:r>
                      <a:r>
                        <a:rPr lang="en" altLang="zh-TW" dirty="0"/>
                        <a:t>/ 32B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974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Llama3.2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1B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3B</a:t>
                      </a:r>
                      <a:r>
                        <a:rPr lang="en" altLang="zh-TW" dirty="0"/>
                        <a:t> / 11B / 90B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992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270M / 1B / 4B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12B</a:t>
                      </a:r>
                      <a:r>
                        <a:rPr lang="en" altLang="zh-TW" dirty="0"/>
                        <a:t> / 27B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79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E2B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Google DeepMind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於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年推出的一款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專為端側裝置設計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的生成式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模型，定位是「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Mobile-First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」，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目標是讓手機、平板、筆電、嵌入式裝置也能跑出接近雲端等級的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效能。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提供兩種尺寸：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E2B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雖然實際參數量分別是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但透過架構創新，記憶體佔用等同於傳統的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E2B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26B-A4B / 31B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 = Effective 4 Billion</a:t>
                      </a:r>
                      <a:endParaRPr lang="en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&gt; 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GPU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只需要負擔「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等級」的運算量和記憶體。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B-</a:t>
                      </a:r>
                      <a:r>
                        <a:rPr lang="en" altLang="zh-TW" b="1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也是一樣的概念：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實際激活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533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GPT OSS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20B</a:t>
                      </a:r>
                      <a:r>
                        <a:rPr lang="en-US" altLang="zh-TW" dirty="0"/>
                        <a:t>/120B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GPT-OSS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系列為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OpenAI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發布的開放權重模型，採用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Mixture of Experts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架構，因此實際運作時的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Active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參數遠小於總參數量。目前官方共提供兩種尺寸：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gpt-oss-20b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適合本地或低延遲場景；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gpt-oss-120b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則定位生產環境與高推理需求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782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1C4A03F-ED3C-1F35-C61F-C67847E5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6853"/>
            <a:ext cx="7772400" cy="58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928</Words>
  <Application>Microsoft Macintosh PowerPoint</Application>
  <PresentationFormat>寬螢幕</PresentationFormat>
  <Paragraphs>417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Microsoft JhengHei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J.F. Li (李哲鋒)</dc:creator>
  <cp:lastModifiedBy>Peter J.F. Li (李哲鋒)</cp:lastModifiedBy>
  <cp:revision>18</cp:revision>
  <dcterms:created xsi:type="dcterms:W3CDTF">2026-05-05T02:01:24Z</dcterms:created>
  <dcterms:modified xsi:type="dcterms:W3CDTF">2026-05-13T07:46:06Z</dcterms:modified>
</cp:coreProperties>
</file>