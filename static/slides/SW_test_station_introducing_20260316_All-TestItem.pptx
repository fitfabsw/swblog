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0" r:id="rId4"/>
  </p:sldMasterIdLst>
  <p:notesMasterIdLst>
    <p:notesMasterId r:id="rId63"/>
  </p:notesMasterIdLst>
  <p:handoutMasterIdLst>
    <p:handoutMasterId r:id="rId64"/>
  </p:handoutMasterIdLst>
  <p:sldIdLst>
    <p:sldId id="259" r:id="rId5"/>
    <p:sldId id="2145710150" r:id="rId6"/>
    <p:sldId id="2145710141" r:id="rId7"/>
    <p:sldId id="2145710148" r:id="rId8"/>
    <p:sldId id="2145710143" r:id="rId9"/>
    <p:sldId id="2145710168" r:id="rId10"/>
    <p:sldId id="2145710191" r:id="rId11"/>
    <p:sldId id="2145710153" r:id="rId12"/>
    <p:sldId id="2145710149" r:id="rId13"/>
    <p:sldId id="2145710170" r:id="rId14"/>
    <p:sldId id="2145710171" r:id="rId15"/>
    <p:sldId id="2145710172" r:id="rId16"/>
    <p:sldId id="2145710173" r:id="rId17"/>
    <p:sldId id="2145710181" r:id="rId18"/>
    <p:sldId id="2145710183" r:id="rId19"/>
    <p:sldId id="2145710184" r:id="rId20"/>
    <p:sldId id="2145710185" r:id="rId21"/>
    <p:sldId id="2145710182" r:id="rId22"/>
    <p:sldId id="2145710156" r:id="rId23"/>
    <p:sldId id="2145710154" r:id="rId24"/>
    <p:sldId id="2145710193" r:id="rId25"/>
    <p:sldId id="2145710155" r:id="rId26"/>
    <p:sldId id="2145710192" r:id="rId27"/>
    <p:sldId id="2145710157" r:id="rId28"/>
    <p:sldId id="2145710194" r:id="rId29"/>
    <p:sldId id="2145710196" r:id="rId30"/>
    <p:sldId id="2145710197" r:id="rId31"/>
    <p:sldId id="2145710198" r:id="rId32"/>
    <p:sldId id="2145710199" r:id="rId33"/>
    <p:sldId id="2145710200" r:id="rId34"/>
    <p:sldId id="2145710195" r:id="rId35"/>
    <p:sldId id="2145710158" r:id="rId36"/>
    <p:sldId id="2145710160" r:id="rId37"/>
    <p:sldId id="2145710161" r:id="rId38"/>
    <p:sldId id="2145710162" r:id="rId39"/>
    <p:sldId id="2145710163" r:id="rId40"/>
    <p:sldId id="2145710164" r:id="rId41"/>
    <p:sldId id="2145710165" r:id="rId42"/>
    <p:sldId id="2145710169" r:id="rId43"/>
    <p:sldId id="2145710190" r:id="rId44"/>
    <p:sldId id="2145710189" r:id="rId45"/>
    <p:sldId id="2145710166" r:id="rId46"/>
    <p:sldId id="2145710188" r:id="rId47"/>
    <p:sldId id="2145710167" r:id="rId48"/>
    <p:sldId id="2145710186" r:id="rId49"/>
    <p:sldId id="2145710187" r:id="rId50"/>
    <p:sldId id="2145710174" r:id="rId51"/>
    <p:sldId id="2145710175" r:id="rId52"/>
    <p:sldId id="2145710177" r:id="rId53"/>
    <p:sldId id="2145710176" r:id="rId54"/>
    <p:sldId id="2145710180" r:id="rId55"/>
    <p:sldId id="2145710179" r:id="rId56"/>
    <p:sldId id="2145710178" r:id="rId57"/>
    <p:sldId id="2145710145" r:id="rId58"/>
    <p:sldId id="2145710147" r:id="rId59"/>
    <p:sldId id="2145710151" r:id="rId60"/>
    <p:sldId id="2145710152" r:id="rId61"/>
    <p:sldId id="2145710142" r:id="rId62"/>
  </p:sldIdLst>
  <p:sldSz cx="12192000" cy="6858000"/>
  <p:notesSz cx="6807200" cy="99393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3C419CC-FF0A-D940-9B25-AE5956D689FB}">
          <p14:sldIdLst>
            <p14:sldId id="259"/>
            <p14:sldId id="2145710150"/>
            <p14:sldId id="2145710141"/>
            <p14:sldId id="2145710148"/>
          </p14:sldIdLst>
        </p14:section>
        <p14:section name="Case QT" id="{C22DDA33-8D94-2E4E-8126-5EC29795EF22}">
          <p14:sldIdLst>
            <p14:sldId id="2145710143"/>
            <p14:sldId id="2145710168"/>
            <p14:sldId id="2145710191"/>
            <p14:sldId id="2145710153"/>
          </p14:sldIdLst>
        </p14:section>
        <p14:section name="測項介紹" id="{3745FEA9-DF22-B44B-943C-63EDD623A80D}">
          <p14:sldIdLst>
            <p14:sldId id="2145710149"/>
            <p14:sldId id="2145710170"/>
            <p14:sldId id="2145710171"/>
            <p14:sldId id="2145710172"/>
            <p14:sldId id="2145710173"/>
            <p14:sldId id="2145710181"/>
            <p14:sldId id="2145710183"/>
            <p14:sldId id="2145710184"/>
            <p14:sldId id="2145710185"/>
            <p14:sldId id="2145710182"/>
            <p14:sldId id="2145710156"/>
            <p14:sldId id="2145710154"/>
            <p14:sldId id="2145710193"/>
            <p14:sldId id="2145710155"/>
            <p14:sldId id="2145710192"/>
            <p14:sldId id="2145710157"/>
            <p14:sldId id="2145710194"/>
            <p14:sldId id="2145710196"/>
            <p14:sldId id="2145710197"/>
            <p14:sldId id="2145710198"/>
            <p14:sldId id="2145710199"/>
            <p14:sldId id="2145710200"/>
            <p14:sldId id="2145710195"/>
            <p14:sldId id="2145710158"/>
            <p14:sldId id="2145710160"/>
            <p14:sldId id="2145710161"/>
            <p14:sldId id="2145710162"/>
            <p14:sldId id="2145710163"/>
            <p14:sldId id="2145710164"/>
            <p14:sldId id="2145710165"/>
            <p14:sldId id="2145710169"/>
            <p14:sldId id="2145710190"/>
            <p14:sldId id="2145710189"/>
            <p14:sldId id="2145710166"/>
            <p14:sldId id="2145710188"/>
            <p14:sldId id="2145710167"/>
            <p14:sldId id="2145710186"/>
            <p14:sldId id="2145710187"/>
          </p14:sldIdLst>
        </p14:section>
        <p14:section name="debug tool 介紹" id="{BE9E76E5-72AC-A24A-98B6-BD06F4490DDD}">
          <p14:sldIdLst>
            <p14:sldId id="2145710174"/>
            <p14:sldId id="2145710175"/>
            <p14:sldId id="2145710177"/>
            <p14:sldId id="2145710176"/>
            <p14:sldId id="2145710180"/>
            <p14:sldId id="2145710179"/>
            <p14:sldId id="2145710178"/>
          </p14:sldIdLst>
        </p14:section>
        <p14:section name="Wireless Charger" id="{9B05BFAD-F29E-AE4B-A952-3B342421B01F}">
          <p14:sldIdLst>
            <p14:sldId id="2145710145"/>
            <p14:sldId id="2145710147"/>
            <p14:sldId id="2145710151"/>
            <p14:sldId id="2145710152"/>
            <p14:sldId id="2145710142"/>
          </p14:sldIdLst>
        </p14:section>
      </p14:sectionLst>
    </p:ext>
    <p:ext uri="{EFAFB233-063F-42B5-8137-9DF3F51BA10A}">
      <p15:sldGuideLst xmlns:p15="http://schemas.microsoft.com/office/powerpoint/2012/main">
        <p15:guide id="5" pos="3912" userDrawn="1">
          <p15:clr>
            <a:srgbClr val="A4A3A4"/>
          </p15:clr>
        </p15:guide>
        <p15:guide id="6" pos="2976" userDrawn="1">
          <p15:clr>
            <a:srgbClr val="A4A3A4"/>
          </p15:clr>
        </p15:guide>
        <p15:guide id="7" orient="horz" pos="2088" userDrawn="1">
          <p15:clr>
            <a:srgbClr val="A4A3A4"/>
          </p15:clr>
        </p15:guide>
        <p15:guide id="8" orient="horz" pos="2208" userDrawn="1">
          <p15:clr>
            <a:srgbClr val="A4A3A4"/>
          </p15:clr>
        </p15:guide>
        <p15:guide id="9" orient="horz" pos="3024" userDrawn="1">
          <p15:clr>
            <a:srgbClr val="A4A3A4"/>
          </p15:clr>
        </p15:guide>
        <p15:guide id="10" orient="horz" pos="3120" userDrawn="1">
          <p15:clr>
            <a:srgbClr val="A4A3A4"/>
          </p15:clr>
        </p15:guide>
        <p15:guide id="11" orient="horz" pos="2616" userDrawn="1">
          <p15:clr>
            <a:srgbClr val="A4A3A4"/>
          </p15:clr>
        </p15:guide>
        <p15:guide id="12" pos="1848"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onnie Che" initials="BC" lastIdx="1" clrIdx="0">
    <p:extLst>
      <p:ext uri="{19B8F6BF-5375-455C-9EA6-DF929625EA0E}">
        <p15:presenceInfo xmlns:p15="http://schemas.microsoft.com/office/powerpoint/2012/main" userId="S::bonnie.che@belkin.com::c064b585-1f05-4327-9724-98ef76716ea8" providerId="AD"/>
      </p:ext>
    </p:extLst>
  </p:cmAuthor>
  <p:cmAuthor id="2" name="Nate Yoshizaki" initials="NY" lastIdx="1" clrIdx="1">
    <p:extLst>
      <p:ext uri="{19B8F6BF-5375-455C-9EA6-DF929625EA0E}">
        <p15:presenceInfo xmlns:p15="http://schemas.microsoft.com/office/powerpoint/2012/main" userId="S::nathan.yoshizaki@belkin.com::7ba55532-3a6c-4ed7-9fa1-67e2f5b84e5a" providerId="AD"/>
      </p:ext>
    </p:extLst>
  </p:cmAuthor>
  <p:cmAuthor id="3" name="Jen Wei" initials="JW" lastIdx="2" clrIdx="2">
    <p:extLst>
      <p:ext uri="{19B8F6BF-5375-455C-9EA6-DF929625EA0E}">
        <p15:presenceInfo xmlns:p15="http://schemas.microsoft.com/office/powerpoint/2012/main" userId="S::jen.warren@belkin.com::ac524b42-a3e5-47c4-a9bc-9b85a658be2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645D5"/>
    <a:srgbClr val="FFC000"/>
    <a:srgbClr val="BFBFBF"/>
    <a:srgbClr val="316857"/>
    <a:srgbClr val="1D6295"/>
    <a:srgbClr val="1F5970"/>
    <a:srgbClr val="283792"/>
    <a:srgbClr val="0000CC"/>
    <a:srgbClr val="002060"/>
    <a:srgbClr val="58889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7DF18680-E054-41AD-8BC1-D1AEF772440D}" styleName="中等深淺樣式 2 - 輔色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中等深淺樣式 2 - 輔色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ED083AE6-46FA-4A59-8FB0-9F97EB10719F}" styleName="淺色樣式 3 - 輔色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498"/>
    <p:restoredTop sz="61180"/>
  </p:normalViewPr>
  <p:slideViewPr>
    <p:cSldViewPr snapToGrid="0">
      <p:cViewPr varScale="1">
        <p:scale>
          <a:sx n="65" d="100"/>
          <a:sy n="65" d="100"/>
        </p:scale>
        <p:origin x="2048" y="200"/>
      </p:cViewPr>
      <p:guideLst>
        <p:guide pos="3912"/>
        <p:guide pos="2976"/>
        <p:guide orient="horz" pos="2088"/>
        <p:guide orient="horz" pos="2208"/>
        <p:guide orient="horz" pos="3024"/>
        <p:guide orient="horz" pos="3120"/>
        <p:guide orient="horz" pos="2616"/>
        <p:guide pos="1848"/>
      </p:guideLst>
    </p:cSldViewPr>
  </p:slideViewPr>
  <p:notesTextViewPr>
    <p:cViewPr>
      <p:scale>
        <a:sx n="1" d="1"/>
        <a:sy n="1" d="1"/>
      </p:scale>
      <p:origin x="0" y="0"/>
    </p:cViewPr>
  </p:notesTextViewPr>
  <p:notesViewPr>
    <p:cSldViewPr snapToGrid="0">
      <p:cViewPr>
        <p:scale>
          <a:sx n="1" d="2"/>
          <a:sy n="1" d="2"/>
        </p:scale>
        <p:origin x="4688" y="135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notesMaster" Target="notesMasters/notesMaster1.xml"/><Relationship Id="rId68"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presProps" Target="presProp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handoutMaster" Target="handoutMasters/handoutMaster1.xml"/><Relationship Id="rId69"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7FD1E8C-DAD3-2D4B-8DC5-0AE083B1C14E}"/>
              </a:ext>
            </a:extLst>
          </p:cNvPr>
          <p:cNvSpPr>
            <a:spLocks noGrp="1"/>
          </p:cNvSpPr>
          <p:nvPr>
            <p:ph type="hdr" sz="quarter"/>
          </p:nvPr>
        </p:nvSpPr>
        <p:spPr>
          <a:xfrm>
            <a:off x="0" y="0"/>
            <a:ext cx="2949787" cy="498693"/>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EDB7D7C-C4FE-A645-BD67-C442EA2E9D0A}"/>
              </a:ext>
            </a:extLst>
          </p:cNvPr>
          <p:cNvSpPr>
            <a:spLocks noGrp="1"/>
          </p:cNvSpPr>
          <p:nvPr>
            <p:ph type="dt" sz="quarter" idx="1"/>
          </p:nvPr>
        </p:nvSpPr>
        <p:spPr>
          <a:xfrm>
            <a:off x="3855838" y="0"/>
            <a:ext cx="2949787" cy="498693"/>
          </a:xfrm>
          <a:prstGeom prst="rect">
            <a:avLst/>
          </a:prstGeom>
        </p:spPr>
        <p:txBody>
          <a:bodyPr vert="horz" lIns="91440" tIns="45720" rIns="91440" bIns="45720" rtlCol="0"/>
          <a:lstStyle>
            <a:lvl1pPr algn="r">
              <a:defRPr sz="1200"/>
            </a:lvl1pPr>
          </a:lstStyle>
          <a:p>
            <a:fld id="{768D1602-2CBB-9241-A9A5-B13AFF301ADE}" type="datetimeFigureOut">
              <a:rPr lang="en-US" smtClean="0"/>
              <a:t>3/16/26</a:t>
            </a:fld>
            <a:endParaRPr lang="en-US"/>
          </a:p>
        </p:txBody>
      </p:sp>
      <p:sp>
        <p:nvSpPr>
          <p:cNvPr id="4" name="Footer Placeholder 3">
            <a:extLst>
              <a:ext uri="{FF2B5EF4-FFF2-40B4-BE49-F238E27FC236}">
                <a16:creationId xmlns:a16="http://schemas.microsoft.com/office/drawing/2014/main" id="{289D324B-0066-E34A-A117-A67172C38A71}"/>
              </a:ext>
            </a:extLst>
          </p:cNvPr>
          <p:cNvSpPr>
            <a:spLocks noGrp="1"/>
          </p:cNvSpPr>
          <p:nvPr>
            <p:ph type="ftr" sz="quarter" idx="2"/>
          </p:nvPr>
        </p:nvSpPr>
        <p:spPr>
          <a:xfrm>
            <a:off x="0" y="9440647"/>
            <a:ext cx="2949787" cy="498692"/>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741B63A-B847-CD4D-888D-00DE42393B20}"/>
              </a:ext>
            </a:extLst>
          </p:cNvPr>
          <p:cNvSpPr>
            <a:spLocks noGrp="1"/>
          </p:cNvSpPr>
          <p:nvPr>
            <p:ph type="sldNum" sz="quarter" idx="3"/>
          </p:nvPr>
        </p:nvSpPr>
        <p:spPr>
          <a:xfrm>
            <a:off x="3855838" y="9440647"/>
            <a:ext cx="2949787" cy="498692"/>
          </a:xfrm>
          <a:prstGeom prst="rect">
            <a:avLst/>
          </a:prstGeom>
        </p:spPr>
        <p:txBody>
          <a:bodyPr vert="horz" lIns="91440" tIns="45720" rIns="91440" bIns="45720" rtlCol="0" anchor="b"/>
          <a:lstStyle>
            <a:lvl1pPr algn="r">
              <a:defRPr sz="1200"/>
            </a:lvl1pPr>
          </a:lstStyle>
          <a:p>
            <a:fld id="{1A1D3D79-5DA9-DD4B-A3B6-DD97B3777EA0}" type="slidenum">
              <a:rPr lang="en-US" smtClean="0"/>
              <a:t>‹#›</a:t>
            </a:fld>
            <a:endParaRPr lang="en-US"/>
          </a:p>
        </p:txBody>
      </p:sp>
    </p:spTree>
    <p:extLst>
      <p:ext uri="{BB962C8B-B14F-4D97-AF65-F5344CB8AC3E}">
        <p14:creationId xmlns:p14="http://schemas.microsoft.com/office/powerpoint/2010/main" val="3449137288"/>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9787" cy="49869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5838" y="0"/>
            <a:ext cx="2949787" cy="498693"/>
          </a:xfrm>
          <a:prstGeom prst="rect">
            <a:avLst/>
          </a:prstGeom>
        </p:spPr>
        <p:txBody>
          <a:bodyPr vert="horz" lIns="91440" tIns="45720" rIns="91440" bIns="45720" rtlCol="0"/>
          <a:lstStyle>
            <a:lvl1pPr algn="r">
              <a:defRPr sz="1200"/>
            </a:lvl1pPr>
          </a:lstStyle>
          <a:p>
            <a:fld id="{A4063496-3003-734B-8135-23687EAD52CB}" type="datetimeFigureOut">
              <a:rPr lang="en-US" smtClean="0"/>
              <a:t>3/16/26</a:t>
            </a:fld>
            <a:endParaRPr lang="en-US"/>
          </a:p>
        </p:txBody>
      </p:sp>
      <p:sp>
        <p:nvSpPr>
          <p:cNvPr id="4" name="Slide Image Placeholder 3"/>
          <p:cNvSpPr>
            <a:spLocks noGrp="1" noRot="1" noChangeAspect="1"/>
          </p:cNvSpPr>
          <p:nvPr>
            <p:ph type="sldImg" idx="2"/>
          </p:nvPr>
        </p:nvSpPr>
        <p:spPr>
          <a:xfrm>
            <a:off x="422275" y="1243013"/>
            <a:ext cx="5962650" cy="3354387"/>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0720" y="4783307"/>
            <a:ext cx="5445760" cy="3913614"/>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40647"/>
            <a:ext cx="2949787" cy="498692"/>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5838" y="9440647"/>
            <a:ext cx="2949787" cy="498692"/>
          </a:xfrm>
          <a:prstGeom prst="rect">
            <a:avLst/>
          </a:prstGeom>
        </p:spPr>
        <p:txBody>
          <a:bodyPr vert="horz" lIns="91440" tIns="45720" rIns="91440" bIns="45720" rtlCol="0" anchor="b"/>
          <a:lstStyle>
            <a:lvl1pPr algn="r">
              <a:defRPr sz="1200"/>
            </a:lvl1pPr>
          </a:lstStyle>
          <a:p>
            <a:fld id="{FA9C2FC5-2F89-664C-921D-6E73919573CA}" type="slidenum">
              <a:rPr lang="en-US" smtClean="0"/>
              <a:t>‹#›</a:t>
            </a:fld>
            <a:endParaRPr lang="en-US"/>
          </a:p>
        </p:txBody>
      </p:sp>
    </p:spTree>
    <p:extLst>
      <p:ext uri="{BB962C8B-B14F-4D97-AF65-F5344CB8AC3E}">
        <p14:creationId xmlns:p14="http://schemas.microsoft.com/office/powerpoint/2010/main" val="2166270345"/>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473887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Tree>
    <p:extLst>
      <p:ext uri="{BB962C8B-B14F-4D97-AF65-F5344CB8AC3E}">
        <p14:creationId xmlns:p14="http://schemas.microsoft.com/office/powerpoint/2010/main" val="21955104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 altLang="zh-TW" dirty="0"/>
              <a:t>BUCK </a:t>
            </a:r>
            <a:r>
              <a:rPr lang="zh-TW" altLang="en-US" dirty="0"/>
              <a:t>是一種開關式降壓轉換器，也常叫降壓型 </a:t>
            </a:r>
            <a:r>
              <a:rPr lang="en" altLang="zh-TW" dirty="0"/>
              <a:t>DC to DC</a:t>
            </a:r>
            <a:r>
              <a:rPr lang="zh-TW" altLang="en" dirty="0"/>
              <a:t>。</a:t>
            </a:r>
            <a:br>
              <a:rPr lang="en-US" altLang="zh-TW" dirty="0"/>
            </a:br>
            <a:r>
              <a:rPr lang="en" altLang="zh-TW" dirty="0"/>
              <a:t>LDO </a:t>
            </a:r>
            <a:r>
              <a:rPr lang="zh-TW" altLang="en-US" dirty="0"/>
              <a:t>是低壓差線性穩壓器，</a:t>
            </a:r>
            <a:r>
              <a:rPr lang="en" altLang="zh-TW" dirty="0"/>
              <a:t>Linear Regulator </a:t>
            </a:r>
            <a:r>
              <a:rPr lang="zh-TW" altLang="en-US" dirty="0"/>
              <a:t>的一種。</a:t>
            </a:r>
            <a:endParaRPr lang="en-US" altLang="zh-TW" dirty="0"/>
          </a:p>
          <a:p>
            <a:r>
              <a:rPr lang="en" altLang="zh-TW" dirty="0"/>
              <a:t>Quiescent Current</a:t>
            </a:r>
            <a:r>
              <a:rPr lang="zh-TW" altLang="en" dirty="0"/>
              <a:t>（</a:t>
            </a:r>
            <a:r>
              <a:rPr lang="zh-TW" altLang="en-US" dirty="0"/>
              <a:t>常寫 </a:t>
            </a:r>
            <a:r>
              <a:rPr lang="en" altLang="zh-TW" dirty="0" err="1"/>
              <a:t>Iq</a:t>
            </a:r>
            <a:r>
              <a:rPr lang="zh-TW" altLang="en" dirty="0"/>
              <a:t>）</a:t>
            </a:r>
            <a:r>
              <a:rPr lang="zh-TW" altLang="en-US" dirty="0"/>
              <a:t>是指電源 </a:t>
            </a:r>
            <a:r>
              <a:rPr lang="en" altLang="zh-TW" dirty="0"/>
              <a:t>IC </a:t>
            </a:r>
            <a:r>
              <a:rPr lang="zh-TW" altLang="en-US" dirty="0"/>
              <a:t>在「沒有帶負載或負載很小」時，為了讓自己維持運作所消耗的那個電流，也就是它的自用電流。</a:t>
            </a:r>
            <a:endParaRPr lang="en-US" altLang="zh-TW" dirty="0"/>
          </a:p>
          <a:p>
            <a:r>
              <a:rPr lang="zh-TW" altLang="en-US" dirty="0"/>
              <a:t>「讀取 </a:t>
            </a:r>
            <a:r>
              <a:rPr lang="en" altLang="zh-TW" dirty="0"/>
              <a:t>VBATT</a:t>
            </a:r>
            <a:r>
              <a:rPr lang="zh-TW" altLang="en" dirty="0"/>
              <a:t>」</a:t>
            </a:r>
            <a:r>
              <a:rPr lang="zh-TW" altLang="en-US" dirty="0"/>
              <a:t>通常就是指去量測或取得裝置的電池端電壓，也就是電池正極那條電源軌的電壓值。</a:t>
            </a:r>
            <a:endParaRPr lang="en-US" altLang="zh-TW" dirty="0"/>
          </a:p>
          <a:p>
            <a:r>
              <a:rPr lang="en" altLang="zh-TW" dirty="0"/>
              <a:t>OTP</a:t>
            </a:r>
            <a:r>
              <a:rPr lang="zh-TW" altLang="en" dirty="0"/>
              <a:t>（</a:t>
            </a:r>
            <a:r>
              <a:rPr lang="en" altLang="zh-TW" dirty="0"/>
              <a:t>One Time Programmable</a:t>
            </a:r>
            <a:r>
              <a:rPr lang="zh-TW" altLang="en" dirty="0"/>
              <a:t>）</a:t>
            </a:r>
            <a:r>
              <a:rPr lang="zh-TW" altLang="en-US" dirty="0"/>
              <a:t>是一種只能寫入一次或只能從 </a:t>
            </a:r>
            <a:r>
              <a:rPr lang="en-US" altLang="zh-TW" dirty="0"/>
              <a:t>0 </a:t>
            </a:r>
            <a:r>
              <a:rPr lang="zh-TW" altLang="en-US" dirty="0"/>
              <a:t>改成 </a:t>
            </a:r>
            <a:r>
              <a:rPr lang="en-US" altLang="zh-TW" dirty="0"/>
              <a:t>1 </a:t>
            </a:r>
            <a:r>
              <a:rPr lang="zh-TW" altLang="en-US" dirty="0"/>
              <a:t>的非揮發性儲存區，常見形式是 </a:t>
            </a:r>
            <a:r>
              <a:rPr lang="en" altLang="zh-TW" dirty="0" err="1"/>
              <a:t>eFuse</a:t>
            </a:r>
            <a:r>
              <a:rPr lang="en" altLang="zh-TW" dirty="0"/>
              <a:t> </a:t>
            </a:r>
            <a:r>
              <a:rPr lang="zh-TW" altLang="en-US" dirty="0"/>
              <a:t>或 </a:t>
            </a:r>
            <a:r>
              <a:rPr lang="en" altLang="zh-TW" dirty="0"/>
              <a:t>OTP memory</a:t>
            </a:r>
            <a:r>
              <a:rPr lang="zh-TW" altLang="en" dirty="0"/>
              <a:t>。</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en" altLang="zh-TW" dirty="0"/>
              <a:t>UVP</a:t>
            </a:r>
            <a:r>
              <a:rPr lang="zh-TW" altLang="en" dirty="0"/>
              <a:t>（</a:t>
            </a:r>
            <a:r>
              <a:rPr lang="en" altLang="zh-TW" dirty="0"/>
              <a:t>Under Voltage Protection </a:t>
            </a:r>
            <a:r>
              <a:rPr lang="zh-TW" altLang="en-US" dirty="0"/>
              <a:t>或 </a:t>
            </a:r>
            <a:r>
              <a:rPr lang="en" altLang="zh-TW" dirty="0"/>
              <a:t>Under Voltage Lockout</a:t>
            </a:r>
            <a:r>
              <a:rPr lang="zh-TW" altLang="en" dirty="0"/>
              <a:t>，</a:t>
            </a:r>
            <a:r>
              <a:rPr lang="zh-TW" altLang="en-US" dirty="0"/>
              <a:t>常縮寫 </a:t>
            </a:r>
            <a:r>
              <a:rPr lang="en" altLang="zh-TW" dirty="0"/>
              <a:t>UVLO</a:t>
            </a:r>
            <a:r>
              <a:rPr lang="zh-TW" altLang="en" dirty="0"/>
              <a:t>）</a:t>
            </a:r>
            <a:r>
              <a:rPr lang="zh-TW" altLang="en-US" dirty="0"/>
              <a:t>是在電壓太低時採取保護動作，避免系統在低電壓下不穩定運作或損壞。</a:t>
            </a:r>
          </a:p>
          <a:p>
            <a:endParaRPr kumimoji="1" lang="zh-TW" altLang="en-US" dirty="0"/>
          </a:p>
        </p:txBody>
      </p:sp>
    </p:spTree>
    <p:extLst>
      <p:ext uri="{BB962C8B-B14F-4D97-AF65-F5344CB8AC3E}">
        <p14:creationId xmlns:p14="http://schemas.microsoft.com/office/powerpoint/2010/main" val="3095415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sz="1400" b="1" u="sng" dirty="0"/>
              <a:t>B499 Case Quick Test :</a:t>
            </a:r>
          </a:p>
          <a:p>
            <a:r>
              <a:rPr lang="zh-TW" altLang="en-US" sz="1200" b="0" i="0" u="none" strike="noStrike" kern="1200" dirty="0">
                <a:solidFill>
                  <a:schemeClr val="tx1"/>
                </a:solidFill>
                <a:effectLst/>
                <a:latin typeface="+mn-lt"/>
                <a:ea typeface="+mn-ea"/>
                <a:cs typeface="+mn-cs"/>
              </a:rPr>
              <a:t>測試涵蓋 </a:t>
            </a:r>
            <a:r>
              <a:rPr lang="en-US" altLang="zh-TW" sz="1200" b="0" i="0" u="none" strike="noStrike" kern="1200" dirty="0">
                <a:solidFill>
                  <a:schemeClr val="tx1"/>
                </a:solidFill>
                <a:effectLst/>
                <a:latin typeface="+mn-lt"/>
                <a:ea typeface="+mn-ea"/>
                <a:cs typeface="+mn-cs"/>
              </a:rPr>
              <a:t>Case </a:t>
            </a:r>
            <a:r>
              <a:rPr lang="zh-TW" altLang="en-US" sz="1200" b="0" i="0" u="none" strike="noStrike" kern="1200" dirty="0">
                <a:solidFill>
                  <a:schemeClr val="tx1"/>
                </a:solidFill>
                <a:effectLst/>
                <a:latin typeface="+mn-lt"/>
                <a:ea typeface="+mn-ea"/>
                <a:cs typeface="+mn-cs"/>
              </a:rPr>
              <a:t>電源、通訊、機構與指示功能，確保產品具備完整功能性與可靠度。</a:t>
            </a:r>
            <a:endParaRPr kumimoji="1" lang="en-US" altLang="zh-TW" sz="1400" b="1" u="sng" dirty="0"/>
          </a:p>
          <a:p>
            <a:endParaRPr kumimoji="1" lang="en-US" altLang="zh-TW" sz="1400" b="1" u="sng" dirty="0"/>
          </a:p>
          <a:p>
            <a:pPr marL="228600" indent="-228600">
              <a:buFont typeface="+mj-lt"/>
              <a:buAutoNum type="arabicPeriod"/>
            </a:pPr>
            <a:r>
              <a:rPr lang="zh-TW" altLang="en-US" sz="1200" b="1" i="0" u="none" strike="noStrike" kern="1200" dirty="0">
                <a:solidFill>
                  <a:schemeClr val="tx1"/>
                </a:solidFill>
                <a:effectLst/>
                <a:latin typeface="+mn-lt"/>
                <a:ea typeface="+mn-ea"/>
                <a:cs typeface="+mn-cs"/>
              </a:rPr>
              <a:t>測試目標（</a:t>
            </a:r>
            <a:r>
              <a:rPr lang="en-US" altLang="zh-TW" sz="1200" b="1" i="0" u="none" strike="noStrike" kern="1200" dirty="0">
                <a:solidFill>
                  <a:schemeClr val="tx1"/>
                </a:solidFill>
                <a:effectLst/>
                <a:latin typeface="+mn-lt"/>
                <a:ea typeface="+mn-ea"/>
                <a:cs typeface="+mn-cs"/>
              </a:rPr>
              <a:t>Test Coverage</a:t>
            </a:r>
            <a:r>
              <a:rPr lang="zh-TW" altLang="en-US" sz="1200" b="1" i="0" u="none" strike="noStrike" kern="1200" dirty="0">
                <a:solidFill>
                  <a:schemeClr val="tx1"/>
                </a:solidFill>
                <a:effectLst/>
                <a:latin typeface="+mn-lt"/>
                <a:ea typeface="+mn-ea"/>
                <a:cs typeface="+mn-cs"/>
              </a:rPr>
              <a:t>）：</a:t>
            </a:r>
            <a:endParaRPr lang="en-US" altLang="zh-TW" sz="1200" b="1" i="0" u="none" strike="noStrike" kern="1200" dirty="0">
              <a:solidFill>
                <a:schemeClr val="tx1"/>
              </a:solidFill>
              <a:effectLst/>
              <a:latin typeface="+mn-lt"/>
              <a:ea typeface="+mn-ea"/>
              <a:cs typeface="+mn-cs"/>
            </a:endParaRPr>
          </a:p>
          <a:p>
            <a:pPr marL="628650" lvl="1" indent="-171450">
              <a:buFont typeface="Arial" panose="020B0604020202020204" pitchFamily="34" charset="0"/>
              <a:buChar char="•"/>
            </a:pPr>
            <a:r>
              <a:rPr lang="zh-TW" altLang="en-US" dirty="0"/>
              <a:t>量測 </a:t>
            </a:r>
            <a:r>
              <a:rPr lang="en-US" altLang="zh-TW" dirty="0"/>
              <a:t>Case </a:t>
            </a:r>
            <a:r>
              <a:rPr lang="en-US" altLang="zh-TW" b="1" dirty="0"/>
              <a:t>GND DCR</a:t>
            </a:r>
            <a:endParaRPr lang="en-US" altLang="zh-TW" dirty="0"/>
          </a:p>
          <a:p>
            <a:pPr marL="628650" lvl="1" indent="-171450">
              <a:buFont typeface="Arial" panose="020B0604020202020204" pitchFamily="34" charset="0"/>
              <a:buChar char="•"/>
            </a:pPr>
            <a:r>
              <a:rPr lang="zh-TW" altLang="en-US" dirty="0"/>
              <a:t>讀寫 </a:t>
            </a:r>
            <a:r>
              <a:rPr lang="en-US" altLang="zh-TW" dirty="0"/>
              <a:t>Case </a:t>
            </a:r>
            <a:r>
              <a:rPr lang="zh-TW" altLang="en-US" dirty="0"/>
              <a:t>基本資訊（</a:t>
            </a:r>
            <a:r>
              <a:rPr lang="en-US" altLang="zh-TW" dirty="0"/>
              <a:t>FATP SN</a:t>
            </a:r>
            <a:r>
              <a:rPr lang="zh-TW" altLang="en-US" dirty="0"/>
              <a:t>、</a:t>
            </a:r>
            <a:r>
              <a:rPr lang="en-US" altLang="zh-TW" dirty="0"/>
              <a:t>FATP CFG</a:t>
            </a:r>
            <a:r>
              <a:rPr lang="zh-TW" altLang="en-US" dirty="0"/>
              <a:t>、</a:t>
            </a:r>
            <a:r>
              <a:rPr lang="en-US" altLang="zh-TW" dirty="0"/>
              <a:t>FW Version</a:t>
            </a:r>
            <a:r>
              <a:rPr lang="zh-TW" altLang="en-US" dirty="0"/>
              <a:t>、</a:t>
            </a:r>
            <a:r>
              <a:rPr lang="en-US" altLang="zh-TW" dirty="0"/>
              <a:t>HWID</a:t>
            </a:r>
            <a:r>
              <a:rPr lang="zh-TW" altLang="en-US" dirty="0"/>
              <a:t>、</a:t>
            </a:r>
            <a:r>
              <a:rPr lang="en-US" altLang="zh-TW" dirty="0"/>
              <a:t>BTID</a:t>
            </a:r>
            <a:r>
              <a:rPr lang="zh-TW" altLang="en-US" dirty="0"/>
              <a:t>）</a:t>
            </a:r>
          </a:p>
          <a:p>
            <a:pPr marL="628650" lvl="1" indent="-171450">
              <a:buFont typeface="Arial" panose="020B0604020202020204" pitchFamily="34" charset="0"/>
              <a:buChar char="•"/>
            </a:pPr>
            <a:r>
              <a:rPr lang="zh-TW" altLang="en-US" dirty="0"/>
              <a:t>檢查 </a:t>
            </a:r>
            <a:r>
              <a:rPr lang="en-US" altLang="zh-TW" dirty="0"/>
              <a:t>Case </a:t>
            </a:r>
            <a:r>
              <a:rPr lang="zh-TW" altLang="en-US" dirty="0"/>
              <a:t>電池充電器狀態與 </a:t>
            </a:r>
            <a:r>
              <a:rPr lang="en-US" altLang="zh-TW" dirty="0"/>
              <a:t>Fuel Gauge </a:t>
            </a:r>
            <a:r>
              <a:rPr lang="zh-TW" altLang="en-US" dirty="0"/>
              <a:t>校正資訊</a:t>
            </a:r>
          </a:p>
          <a:p>
            <a:pPr marL="628650" lvl="1" indent="-171450">
              <a:buFont typeface="Arial" panose="020B0604020202020204" pitchFamily="34" charset="0"/>
              <a:buChar char="•"/>
            </a:pPr>
            <a:r>
              <a:rPr lang="zh-TW" altLang="en-US" dirty="0"/>
              <a:t>驗證 </a:t>
            </a:r>
            <a:r>
              <a:rPr lang="en-US" altLang="zh-TW" dirty="0"/>
              <a:t>Case </a:t>
            </a:r>
            <a:r>
              <a:rPr lang="zh-TW" altLang="en-US" dirty="0"/>
              <a:t>指示燈（</a:t>
            </a:r>
            <a:r>
              <a:rPr lang="en-US" altLang="zh-TW" dirty="0"/>
              <a:t>LED</a:t>
            </a:r>
            <a:r>
              <a:rPr lang="zh-TW" altLang="en-US" dirty="0"/>
              <a:t>）與按鍵功能</a:t>
            </a:r>
          </a:p>
          <a:p>
            <a:pPr marL="628650" lvl="1" indent="-171450">
              <a:buFont typeface="Arial" panose="020B0604020202020204" pitchFamily="34" charset="0"/>
              <a:buChar char="•"/>
            </a:pPr>
            <a:r>
              <a:rPr lang="zh-TW" altLang="en-US" dirty="0"/>
              <a:t>驗證 </a:t>
            </a:r>
            <a:r>
              <a:rPr lang="en-US" altLang="zh-TW" dirty="0"/>
              <a:t>Case </a:t>
            </a:r>
            <a:r>
              <a:rPr lang="en-US" altLang="zh-TW" b="1" dirty="0"/>
              <a:t>Ship Mode </a:t>
            </a:r>
            <a:r>
              <a:rPr lang="zh-TW" altLang="en-US" b="1" dirty="0"/>
              <a:t>進入與退出</a:t>
            </a:r>
            <a:endParaRPr lang="zh-TW" altLang="en-US" dirty="0"/>
          </a:p>
          <a:p>
            <a:pPr marL="628650" lvl="1" indent="-171450">
              <a:buFont typeface="Arial" panose="020B0604020202020204" pitchFamily="34" charset="0"/>
              <a:buChar char="•"/>
            </a:pPr>
            <a:r>
              <a:rPr lang="zh-TW" altLang="en-US" dirty="0"/>
              <a:t>驗證 </a:t>
            </a:r>
            <a:r>
              <a:rPr lang="en-US" altLang="zh-TW" dirty="0"/>
              <a:t>Case </a:t>
            </a:r>
            <a:r>
              <a:rPr lang="en-US" altLang="zh-TW" b="1" dirty="0"/>
              <a:t>5V </a:t>
            </a:r>
            <a:r>
              <a:rPr lang="zh-TW" altLang="en-US" b="1" dirty="0"/>
              <a:t>輸出電壓與電流</a:t>
            </a:r>
            <a:r>
              <a:rPr lang="zh-TW" altLang="en-US" dirty="0"/>
              <a:t>（無負載／有負載條件）</a:t>
            </a:r>
          </a:p>
          <a:p>
            <a:pPr marL="628650" lvl="1" indent="-171450">
              <a:buFont typeface="Arial" panose="020B0604020202020204" pitchFamily="34" charset="0"/>
              <a:buChar char="•"/>
            </a:pPr>
            <a:r>
              <a:rPr lang="zh-TW" altLang="en-US" dirty="0"/>
              <a:t>驗證 </a:t>
            </a:r>
            <a:r>
              <a:rPr lang="en-US" altLang="zh-TW" dirty="0"/>
              <a:t>Case </a:t>
            </a:r>
            <a:r>
              <a:rPr lang="zh-TW" altLang="en-US" dirty="0"/>
              <a:t>與 </a:t>
            </a:r>
            <a:r>
              <a:rPr lang="en-US" altLang="zh-TW" dirty="0"/>
              <a:t>Bud </a:t>
            </a:r>
            <a:r>
              <a:rPr lang="zh-TW" altLang="en-US" dirty="0"/>
              <a:t>之間的通訊連線</a:t>
            </a:r>
          </a:p>
          <a:p>
            <a:pPr marL="628650" lvl="1" indent="-171450">
              <a:buFont typeface="Arial" panose="020B0604020202020204" pitchFamily="34" charset="0"/>
              <a:buChar char="•"/>
            </a:pPr>
            <a:r>
              <a:rPr lang="zh-TW" altLang="en-US" dirty="0"/>
              <a:t>驗證 </a:t>
            </a:r>
            <a:r>
              <a:rPr lang="en-US" altLang="zh-TW" dirty="0"/>
              <a:t>Case </a:t>
            </a:r>
            <a:r>
              <a:rPr lang="zh-TW" altLang="en-US" dirty="0"/>
              <a:t>上蓋（</a:t>
            </a:r>
            <a:r>
              <a:rPr lang="en-US" altLang="zh-TW" dirty="0"/>
              <a:t>Lid</a:t>
            </a:r>
            <a:r>
              <a:rPr lang="zh-TW" altLang="en-US" dirty="0"/>
              <a:t>）開關狀態</a:t>
            </a:r>
            <a:endParaRPr lang="en-US" altLang="zh-TW" sz="1200" b="1" i="0" u="none" strike="noStrike" kern="1200" dirty="0">
              <a:solidFill>
                <a:schemeClr val="tx1"/>
              </a:solidFill>
              <a:effectLst/>
              <a:latin typeface="+mn-lt"/>
              <a:ea typeface="+mn-ea"/>
              <a:cs typeface="+mn-cs"/>
            </a:endParaRPr>
          </a:p>
          <a:p>
            <a:pPr marL="228600" indent="-228600">
              <a:buFont typeface="+mj-lt"/>
              <a:buAutoNum type="arabicPeriod"/>
            </a:pPr>
            <a:r>
              <a:rPr lang="zh-TW" altLang="en-US" sz="1200" b="1" i="0" u="none" strike="noStrike" kern="1200" dirty="0">
                <a:solidFill>
                  <a:schemeClr val="tx1"/>
                </a:solidFill>
                <a:effectLst/>
                <a:latin typeface="+mn-lt"/>
                <a:ea typeface="+mn-ea"/>
                <a:cs typeface="+mn-cs"/>
              </a:rPr>
              <a:t>主要設備：</a:t>
            </a:r>
            <a:endParaRPr lang="en-US" altLang="zh-TW" sz="1200" b="1" i="0" u="none" strike="noStrike" kern="1200" dirty="0">
              <a:solidFill>
                <a:schemeClr val="tx1"/>
              </a:solidFill>
              <a:effectLst/>
              <a:latin typeface="+mn-lt"/>
              <a:ea typeface="+mn-ea"/>
              <a:cs typeface="+mn-cs"/>
            </a:endParaRPr>
          </a:p>
          <a:p>
            <a:pPr marL="628650" lvl="1" indent="-171450">
              <a:buFont typeface="Arial" panose="020B0604020202020204" pitchFamily="34" charset="0"/>
              <a:buChar char="•"/>
            </a:pPr>
            <a:r>
              <a:rPr lang="en-US" altLang="zh-TW" dirty="0"/>
              <a:t>Type-C </a:t>
            </a:r>
            <a:r>
              <a:rPr lang="zh-TW" altLang="en-US" dirty="0"/>
              <a:t>自動插拔模組</a:t>
            </a:r>
          </a:p>
          <a:p>
            <a:pPr marL="628650" lvl="1" indent="-171450">
              <a:buFont typeface="Arial" panose="020B0604020202020204" pitchFamily="34" charset="0"/>
              <a:buChar char="•"/>
            </a:pPr>
            <a:r>
              <a:rPr lang="zh-TW" altLang="en-US" dirty="0"/>
              <a:t>推／拉模組（東方恆越）</a:t>
            </a:r>
          </a:p>
          <a:p>
            <a:pPr marL="628650" lvl="1" indent="-171450">
              <a:buFont typeface="Arial" panose="020B0604020202020204" pitchFamily="34" charset="0"/>
              <a:buChar char="•"/>
            </a:pPr>
            <a:r>
              <a:rPr lang="en-US" altLang="zh-TW" dirty="0"/>
              <a:t>Control Box </a:t>
            </a:r>
            <a:r>
              <a:rPr lang="zh-TW" altLang="en-US" dirty="0"/>
              <a:t>模組</a:t>
            </a:r>
          </a:p>
          <a:p>
            <a:pPr marL="628650" lvl="1" indent="-171450">
              <a:buFont typeface="Arial" panose="020B0604020202020204" pitchFamily="34" charset="0"/>
              <a:buChar char="•"/>
            </a:pPr>
            <a:r>
              <a:rPr lang="zh-TW" altLang="en-US" dirty="0"/>
              <a:t>滑入／滑出模組</a:t>
            </a:r>
          </a:p>
          <a:p>
            <a:pPr marL="628650" lvl="1" indent="-171450">
              <a:buFont typeface="Arial" panose="020B0604020202020204" pitchFamily="34" charset="0"/>
              <a:buChar char="•"/>
            </a:pPr>
            <a:r>
              <a:rPr lang="zh-TW" altLang="en-US" dirty="0"/>
              <a:t>含 </a:t>
            </a:r>
            <a:r>
              <a:rPr lang="en-US" altLang="zh-TW" dirty="0"/>
              <a:t>DUT </a:t>
            </a:r>
            <a:r>
              <a:rPr lang="zh-TW" altLang="en-US" dirty="0"/>
              <a:t>的治具模組</a:t>
            </a:r>
          </a:p>
          <a:p>
            <a:pPr marL="628650" lvl="1" indent="-171450">
              <a:buFont typeface="Arial" panose="020B0604020202020204" pitchFamily="34" charset="0"/>
              <a:buChar char="•"/>
            </a:pPr>
            <a:r>
              <a:rPr lang="en-US" altLang="zh-TW" dirty="0"/>
              <a:t>LED </a:t>
            </a:r>
            <a:r>
              <a:rPr lang="zh-TW" altLang="en-US" dirty="0"/>
              <a:t>分析儀</a:t>
            </a:r>
          </a:p>
          <a:p>
            <a:pPr marL="628650" lvl="1" indent="-171450">
              <a:buFont typeface="Arial" panose="020B0604020202020204" pitchFamily="34" charset="0"/>
              <a:buChar char="•"/>
            </a:pPr>
            <a:r>
              <a:rPr lang="zh-TW" altLang="en-US" dirty="0"/>
              <a:t>數位電錶（</a:t>
            </a:r>
            <a:r>
              <a:rPr lang="en-US" altLang="zh-TW" dirty="0"/>
              <a:t>DMM</a:t>
            </a:r>
            <a:r>
              <a:rPr lang="zh-TW" altLang="en-US" dirty="0"/>
              <a:t>）</a:t>
            </a:r>
            <a:endParaRPr lang="en-US" altLang="zh-TW" sz="1200" b="1" i="0" u="none" strike="noStrike" kern="1200" dirty="0">
              <a:solidFill>
                <a:schemeClr val="tx1"/>
              </a:solidFill>
              <a:effectLst/>
              <a:latin typeface="+mn-lt"/>
              <a:ea typeface="+mn-ea"/>
              <a:cs typeface="+mn-cs"/>
            </a:endParaRPr>
          </a:p>
          <a:p>
            <a:pPr marL="228600" indent="-228600">
              <a:buFont typeface="+mj-lt"/>
              <a:buAutoNum type="arabicPeriod"/>
            </a:pPr>
            <a:r>
              <a:rPr lang="zh-TW" altLang="en-US" sz="1200" b="1" i="0" u="none" strike="noStrike" kern="1200" dirty="0">
                <a:solidFill>
                  <a:schemeClr val="tx1"/>
                </a:solidFill>
                <a:effectLst/>
                <a:latin typeface="+mn-lt"/>
                <a:ea typeface="+mn-ea"/>
                <a:cs typeface="+mn-cs"/>
              </a:rPr>
              <a:t>測試原理（</a:t>
            </a:r>
            <a:r>
              <a:rPr lang="en-US" altLang="zh-TW" sz="1200" b="1" i="0" u="none" strike="noStrike" kern="1200" dirty="0">
                <a:solidFill>
                  <a:schemeClr val="tx1"/>
                </a:solidFill>
                <a:effectLst/>
                <a:latin typeface="+mn-lt"/>
                <a:ea typeface="+mn-ea"/>
                <a:cs typeface="+mn-cs"/>
              </a:rPr>
              <a:t>Testing Principle</a:t>
            </a:r>
            <a:r>
              <a:rPr lang="zh-TW" altLang="en-US" sz="1200" b="1" i="0" u="none" strike="noStrike" kern="1200" dirty="0">
                <a:solidFill>
                  <a:schemeClr val="tx1"/>
                </a:solidFill>
                <a:effectLst/>
                <a:latin typeface="+mn-lt"/>
                <a:ea typeface="+mn-ea"/>
                <a:cs typeface="+mn-cs"/>
              </a:rPr>
              <a:t>）：</a:t>
            </a:r>
            <a:endParaRPr lang="en-US" altLang="zh-TW" sz="1200" b="1" i="0" u="none" strike="noStrike" kern="1200" dirty="0">
              <a:solidFill>
                <a:schemeClr val="tx1"/>
              </a:solidFill>
              <a:effectLst/>
              <a:latin typeface="+mn-lt"/>
              <a:ea typeface="+mn-ea"/>
              <a:cs typeface="+mn-cs"/>
            </a:endParaRPr>
          </a:p>
          <a:p>
            <a:pPr marL="171450" indent="-171450">
              <a:buFont typeface="Arial" panose="020B0604020202020204" pitchFamily="34" charset="0"/>
              <a:buChar char="•"/>
            </a:pPr>
            <a:r>
              <a:rPr lang="zh-TW" altLang="en-US" sz="1200" b="0" i="0" u="none" strike="noStrike" kern="1200" dirty="0">
                <a:solidFill>
                  <a:schemeClr val="tx1"/>
                </a:solidFill>
                <a:effectLst/>
                <a:latin typeface="+mn-lt"/>
                <a:ea typeface="+mn-ea"/>
                <a:cs typeface="+mn-cs"/>
              </a:rPr>
              <a:t>透過 </a:t>
            </a:r>
            <a:r>
              <a:rPr lang="en-US" altLang="zh-TW" sz="1200" b="0" i="0" u="none" strike="noStrike" kern="1200" dirty="0">
                <a:solidFill>
                  <a:schemeClr val="tx1"/>
                </a:solidFill>
                <a:effectLst/>
                <a:latin typeface="+mn-lt"/>
                <a:ea typeface="+mn-ea"/>
                <a:cs typeface="+mn-cs"/>
              </a:rPr>
              <a:t>Dummy Bud </a:t>
            </a:r>
            <a:r>
              <a:rPr lang="zh-TW" altLang="en-US" sz="1200" b="0" i="0" u="none" strike="noStrike" kern="1200" dirty="0">
                <a:solidFill>
                  <a:schemeClr val="tx1"/>
                </a:solidFill>
                <a:effectLst/>
                <a:latin typeface="+mn-lt"/>
                <a:ea typeface="+mn-ea"/>
                <a:cs typeface="+mn-cs"/>
              </a:rPr>
              <a:t>搭配 </a:t>
            </a:r>
            <a:r>
              <a:rPr lang="en-US" altLang="zh-TW" sz="1200" b="0" i="0" u="none" strike="noStrike" kern="1200" dirty="0">
                <a:solidFill>
                  <a:schemeClr val="tx1"/>
                </a:solidFill>
                <a:effectLst/>
                <a:latin typeface="+mn-lt"/>
                <a:ea typeface="+mn-ea"/>
                <a:cs typeface="+mn-cs"/>
              </a:rPr>
              <a:t>DMM</a:t>
            </a:r>
            <a:r>
              <a:rPr lang="zh-TW" altLang="en-US" sz="1200" b="0" i="0" u="none" strike="noStrike" kern="1200" dirty="0">
                <a:solidFill>
                  <a:schemeClr val="tx1"/>
                </a:solidFill>
                <a:effectLst/>
                <a:latin typeface="+mn-lt"/>
                <a:ea typeface="+mn-ea"/>
                <a:cs typeface="+mn-cs"/>
              </a:rPr>
              <a:t> 量測 </a:t>
            </a:r>
            <a:r>
              <a:rPr lang="en-US" altLang="zh-TW" sz="1200" b="1" i="0" u="none" strike="noStrike" kern="1200" dirty="0">
                <a:solidFill>
                  <a:schemeClr val="tx1"/>
                </a:solidFill>
                <a:effectLst/>
                <a:latin typeface="+mn-lt"/>
                <a:ea typeface="+mn-ea"/>
                <a:cs typeface="+mn-cs"/>
              </a:rPr>
              <a:t>Type-C GND </a:t>
            </a:r>
            <a:r>
              <a:rPr lang="zh-TW" altLang="en-US" sz="1200" b="1" i="0" u="none" strike="noStrike" kern="1200" dirty="0">
                <a:solidFill>
                  <a:schemeClr val="tx1"/>
                </a:solidFill>
                <a:effectLst/>
                <a:latin typeface="+mn-lt"/>
                <a:ea typeface="+mn-ea"/>
                <a:cs typeface="+mn-cs"/>
              </a:rPr>
              <a:t>至 </a:t>
            </a:r>
            <a:r>
              <a:rPr lang="en-US" altLang="zh-TW" sz="1200" b="1" i="0" u="none" strike="noStrike" kern="1200" dirty="0">
                <a:solidFill>
                  <a:schemeClr val="tx1"/>
                </a:solidFill>
                <a:effectLst/>
                <a:latin typeface="+mn-lt"/>
                <a:ea typeface="+mn-ea"/>
                <a:cs typeface="+mn-cs"/>
              </a:rPr>
              <a:t>BUD_L / BUD_R NEG </a:t>
            </a:r>
            <a:r>
              <a:rPr lang="zh-TW" altLang="en-US" sz="1200" b="1" i="0" u="none" strike="noStrike" kern="1200" dirty="0">
                <a:solidFill>
                  <a:schemeClr val="tx1"/>
                </a:solidFill>
                <a:effectLst/>
                <a:latin typeface="+mn-lt"/>
                <a:ea typeface="+mn-ea"/>
                <a:cs typeface="+mn-cs"/>
              </a:rPr>
              <a:t>的 </a:t>
            </a:r>
            <a:r>
              <a:rPr lang="en-US" altLang="zh-TW" sz="1200" b="1" i="0" u="none" strike="noStrike" kern="1200" dirty="0">
                <a:solidFill>
                  <a:schemeClr val="tx1"/>
                </a:solidFill>
                <a:effectLst/>
                <a:latin typeface="+mn-lt"/>
                <a:ea typeface="+mn-ea"/>
                <a:cs typeface="+mn-cs"/>
              </a:rPr>
              <a:t>GND DCR</a:t>
            </a:r>
            <a:endParaRPr lang="en-US" altLang="zh-TW" sz="1200" b="0" i="0" u="none" strike="noStrike" kern="1200" dirty="0">
              <a:solidFill>
                <a:schemeClr val="tx1"/>
              </a:solidFill>
              <a:effectLst/>
              <a:latin typeface="+mn-lt"/>
              <a:ea typeface="+mn-ea"/>
              <a:cs typeface="+mn-cs"/>
            </a:endParaRPr>
          </a:p>
          <a:p>
            <a:pPr marL="171450" indent="-171450">
              <a:buFont typeface="Arial" panose="020B0604020202020204" pitchFamily="34" charset="0"/>
              <a:buChar char="•"/>
            </a:pPr>
            <a:r>
              <a:rPr lang="en-US" altLang="zh-TW" sz="1200" b="0" i="0" u="none" strike="noStrike" kern="1200" dirty="0">
                <a:solidFill>
                  <a:schemeClr val="tx1"/>
                </a:solidFill>
                <a:effectLst/>
                <a:latin typeface="+mn-lt"/>
                <a:ea typeface="+mn-ea"/>
                <a:cs typeface="+mn-cs"/>
              </a:rPr>
              <a:t>Mac Mini </a:t>
            </a:r>
            <a:r>
              <a:rPr lang="zh-TW" altLang="en-US" sz="1200" b="0" i="0" u="none" strike="noStrike" kern="1200" dirty="0">
                <a:solidFill>
                  <a:schemeClr val="tx1"/>
                </a:solidFill>
                <a:effectLst/>
                <a:latin typeface="+mn-lt"/>
                <a:ea typeface="+mn-ea"/>
                <a:cs typeface="+mn-cs"/>
              </a:rPr>
              <a:t>透過 </a:t>
            </a:r>
            <a:r>
              <a:rPr lang="en-US" altLang="zh-TW" sz="1200" b="0" i="0" u="none" strike="noStrike" kern="1200" dirty="0">
                <a:solidFill>
                  <a:schemeClr val="tx1"/>
                </a:solidFill>
                <a:effectLst/>
                <a:latin typeface="+mn-lt"/>
                <a:ea typeface="+mn-ea"/>
                <a:cs typeface="+mn-cs"/>
              </a:rPr>
              <a:t>Type-C </a:t>
            </a:r>
            <a:r>
              <a:rPr lang="zh-TW" altLang="en-US" sz="1200" b="0" i="0" u="none" strike="noStrike" kern="1200" dirty="0">
                <a:solidFill>
                  <a:schemeClr val="tx1"/>
                </a:solidFill>
                <a:effectLst/>
                <a:latin typeface="+mn-lt"/>
                <a:ea typeface="+mn-ea"/>
                <a:cs typeface="+mn-cs"/>
              </a:rPr>
              <a:t>與 </a:t>
            </a:r>
            <a:r>
              <a:rPr lang="en-US" altLang="zh-TW" sz="1200" b="0" i="0" u="none" strike="noStrike" kern="1200" dirty="0">
                <a:solidFill>
                  <a:schemeClr val="tx1"/>
                </a:solidFill>
                <a:effectLst/>
                <a:latin typeface="+mn-lt"/>
                <a:ea typeface="+mn-ea"/>
                <a:cs typeface="+mn-cs"/>
              </a:rPr>
              <a:t>Case </a:t>
            </a:r>
            <a:r>
              <a:rPr lang="zh-TW" altLang="en-US" sz="1200" b="0" i="0" u="none" strike="noStrike" kern="1200" dirty="0">
                <a:solidFill>
                  <a:schemeClr val="tx1"/>
                </a:solidFill>
                <a:effectLst/>
                <a:latin typeface="+mn-lt"/>
                <a:ea typeface="+mn-ea"/>
                <a:cs typeface="+mn-cs"/>
              </a:rPr>
              <a:t>通訊 進行 </a:t>
            </a:r>
            <a:r>
              <a:rPr lang="en-US" altLang="zh-TW" sz="1200" b="0" i="0" u="none" strike="noStrike" kern="1200" dirty="0">
                <a:solidFill>
                  <a:schemeClr val="tx1"/>
                </a:solidFill>
                <a:effectLst/>
                <a:latin typeface="+mn-lt"/>
                <a:ea typeface="+mn-ea"/>
                <a:cs typeface="+mn-cs"/>
              </a:rPr>
              <a:t>Case </a:t>
            </a:r>
            <a:r>
              <a:rPr lang="zh-TW" altLang="en-US" sz="1200" b="0" i="0" u="none" strike="noStrike" kern="1200" dirty="0">
                <a:solidFill>
                  <a:schemeClr val="tx1"/>
                </a:solidFill>
                <a:effectLst/>
                <a:latin typeface="+mn-lt"/>
                <a:ea typeface="+mn-ea"/>
                <a:cs typeface="+mn-cs"/>
              </a:rPr>
              <a:t>資訊讀寫（</a:t>
            </a:r>
            <a:r>
              <a:rPr lang="en-US" altLang="zh-TW" sz="1200" b="0" i="0" u="none" strike="noStrike" kern="1200" dirty="0">
                <a:solidFill>
                  <a:schemeClr val="tx1"/>
                </a:solidFill>
                <a:effectLst/>
                <a:latin typeface="+mn-lt"/>
                <a:ea typeface="+mn-ea"/>
                <a:cs typeface="+mn-cs"/>
              </a:rPr>
              <a:t>FATP SN</a:t>
            </a:r>
            <a:r>
              <a:rPr lang="zh-TW" altLang="en-US" sz="1200" b="0" i="0" u="none" strike="noStrike" kern="1200" dirty="0">
                <a:solidFill>
                  <a:schemeClr val="tx1"/>
                </a:solidFill>
                <a:effectLst/>
                <a:latin typeface="+mn-lt"/>
                <a:ea typeface="+mn-ea"/>
                <a:cs typeface="+mn-cs"/>
              </a:rPr>
              <a:t>、</a:t>
            </a:r>
            <a:r>
              <a:rPr lang="en-US" altLang="zh-TW" sz="1200" b="0" i="0" u="none" strike="noStrike" kern="1200" dirty="0">
                <a:solidFill>
                  <a:schemeClr val="tx1"/>
                </a:solidFill>
                <a:effectLst/>
                <a:latin typeface="+mn-lt"/>
                <a:ea typeface="+mn-ea"/>
                <a:cs typeface="+mn-cs"/>
              </a:rPr>
              <a:t>FATP CFG</a:t>
            </a:r>
            <a:r>
              <a:rPr lang="zh-TW" altLang="en-US" sz="1200" b="0" i="0" u="none" strike="noStrike" kern="1200" dirty="0">
                <a:solidFill>
                  <a:schemeClr val="tx1"/>
                </a:solidFill>
                <a:effectLst/>
                <a:latin typeface="+mn-lt"/>
                <a:ea typeface="+mn-ea"/>
                <a:cs typeface="+mn-cs"/>
              </a:rPr>
              <a:t>、</a:t>
            </a:r>
            <a:r>
              <a:rPr lang="en-US" altLang="zh-TW" sz="1200" b="0" i="0" u="none" strike="noStrike" kern="1200" dirty="0">
                <a:solidFill>
                  <a:schemeClr val="tx1"/>
                </a:solidFill>
                <a:effectLst/>
                <a:latin typeface="+mn-lt"/>
                <a:ea typeface="+mn-ea"/>
                <a:cs typeface="+mn-cs"/>
              </a:rPr>
              <a:t>FW Version</a:t>
            </a:r>
            <a:r>
              <a:rPr lang="zh-TW" altLang="en-US" sz="1200" b="0" i="0" u="none" strike="noStrike" kern="1200" dirty="0">
                <a:solidFill>
                  <a:schemeClr val="tx1"/>
                </a:solidFill>
                <a:effectLst/>
                <a:latin typeface="+mn-lt"/>
                <a:ea typeface="+mn-ea"/>
                <a:cs typeface="+mn-cs"/>
              </a:rPr>
              <a:t>、</a:t>
            </a:r>
            <a:r>
              <a:rPr lang="en-US" altLang="zh-TW" sz="1200" b="0" i="0" u="none" strike="noStrike" kern="1200" dirty="0">
                <a:solidFill>
                  <a:schemeClr val="tx1"/>
                </a:solidFill>
                <a:effectLst/>
                <a:latin typeface="+mn-lt"/>
                <a:ea typeface="+mn-ea"/>
                <a:cs typeface="+mn-cs"/>
              </a:rPr>
              <a:t>HWID</a:t>
            </a:r>
            <a:r>
              <a:rPr lang="zh-TW" altLang="en-US" sz="1200" b="0" i="0" u="none" strike="noStrike" kern="1200" dirty="0">
                <a:solidFill>
                  <a:schemeClr val="tx1"/>
                </a:solidFill>
                <a:effectLst/>
                <a:latin typeface="+mn-lt"/>
                <a:ea typeface="+mn-ea"/>
                <a:cs typeface="+mn-cs"/>
              </a:rPr>
              <a:t>、</a:t>
            </a:r>
            <a:r>
              <a:rPr lang="en-US" altLang="zh-TW" sz="1200" b="0" i="0" u="none" strike="noStrike" kern="1200" dirty="0">
                <a:solidFill>
                  <a:schemeClr val="tx1"/>
                </a:solidFill>
                <a:effectLst/>
                <a:latin typeface="+mn-lt"/>
                <a:ea typeface="+mn-ea"/>
                <a:cs typeface="+mn-cs"/>
              </a:rPr>
              <a:t>BTID</a:t>
            </a:r>
            <a:r>
              <a:rPr lang="zh-TW" altLang="en-US" sz="1200" b="0" i="0" u="none" strike="noStrike" kern="1200" dirty="0">
                <a:solidFill>
                  <a:schemeClr val="tx1"/>
                </a:solidFill>
                <a:effectLst/>
                <a:latin typeface="+mn-lt"/>
                <a:ea typeface="+mn-ea"/>
                <a:cs typeface="+mn-cs"/>
              </a:rPr>
              <a:t>）</a:t>
            </a:r>
          </a:p>
          <a:p>
            <a:pPr marL="171450" indent="-171450">
              <a:buFont typeface="Arial" panose="020B0604020202020204" pitchFamily="34" charset="0"/>
              <a:buChar char="•"/>
            </a:pPr>
            <a:r>
              <a:rPr lang="zh-TW" altLang="en-US" sz="1200" b="0" i="0" u="none" strike="noStrike" kern="1200" dirty="0">
                <a:solidFill>
                  <a:schemeClr val="tx1"/>
                </a:solidFill>
                <a:effectLst/>
                <a:latin typeface="+mn-lt"/>
                <a:ea typeface="+mn-ea"/>
                <a:cs typeface="+mn-cs"/>
              </a:rPr>
              <a:t>發送指令檢查</a:t>
            </a:r>
          </a:p>
          <a:p>
            <a:pPr marL="628650" lvl="1" indent="-171450">
              <a:buFont typeface="Arial" panose="020B0604020202020204" pitchFamily="34" charset="0"/>
              <a:buChar char="•"/>
            </a:pPr>
            <a:r>
              <a:rPr lang="zh-TW" altLang="en-US" sz="1200" b="0" i="0" u="none" strike="noStrike" kern="1200" dirty="0">
                <a:solidFill>
                  <a:schemeClr val="tx1"/>
                </a:solidFill>
                <a:effectLst/>
                <a:latin typeface="+mn-lt"/>
                <a:ea typeface="+mn-ea"/>
                <a:cs typeface="+mn-cs"/>
              </a:rPr>
              <a:t>電池充電器狀態</a:t>
            </a:r>
          </a:p>
          <a:p>
            <a:pPr marL="628650" lvl="1" indent="-171450">
              <a:buFont typeface="Arial" panose="020B0604020202020204" pitchFamily="34" charset="0"/>
              <a:buChar char="•"/>
            </a:pPr>
            <a:r>
              <a:rPr lang="en-US" altLang="zh-TW" sz="1200" b="0" i="0" u="none" strike="noStrike" kern="1200" dirty="0">
                <a:solidFill>
                  <a:schemeClr val="tx1"/>
                </a:solidFill>
                <a:effectLst/>
                <a:latin typeface="+mn-lt"/>
                <a:ea typeface="+mn-ea"/>
                <a:cs typeface="+mn-cs"/>
              </a:rPr>
              <a:t>Fuel Gauge </a:t>
            </a:r>
            <a:r>
              <a:rPr lang="zh-TW" altLang="en-US" sz="1200" b="0" i="0" u="none" strike="noStrike" kern="1200" dirty="0">
                <a:solidFill>
                  <a:schemeClr val="tx1"/>
                </a:solidFill>
                <a:effectLst/>
                <a:latin typeface="+mn-lt"/>
                <a:ea typeface="+mn-ea"/>
                <a:cs typeface="+mn-cs"/>
              </a:rPr>
              <a:t>校正資訊</a:t>
            </a:r>
          </a:p>
          <a:p>
            <a:pPr marL="171450" indent="-171450">
              <a:buFont typeface="Arial" panose="020B0604020202020204" pitchFamily="34" charset="0"/>
              <a:buChar char="•"/>
            </a:pPr>
            <a:r>
              <a:rPr lang="zh-TW" altLang="en-US" sz="1200" b="0" i="0" u="none" strike="noStrike" kern="1200" dirty="0">
                <a:solidFill>
                  <a:schemeClr val="tx1"/>
                </a:solidFill>
                <a:effectLst/>
                <a:latin typeface="+mn-lt"/>
                <a:ea typeface="+mn-ea"/>
                <a:cs typeface="+mn-cs"/>
              </a:rPr>
              <a:t>使用 </a:t>
            </a:r>
            <a:r>
              <a:rPr lang="en-US" altLang="zh-TW" sz="1200" b="0" i="0" u="none" strike="noStrike" kern="1200" dirty="0">
                <a:solidFill>
                  <a:schemeClr val="tx1"/>
                </a:solidFill>
                <a:effectLst/>
                <a:latin typeface="+mn-lt"/>
                <a:ea typeface="+mn-ea"/>
                <a:cs typeface="+mn-cs"/>
              </a:rPr>
              <a:t>LED </a:t>
            </a:r>
            <a:r>
              <a:rPr lang="zh-TW" altLang="en-US" sz="1200" b="0" i="0" u="none" strike="noStrike" kern="1200" dirty="0">
                <a:solidFill>
                  <a:schemeClr val="tx1"/>
                </a:solidFill>
                <a:effectLst/>
                <a:latin typeface="+mn-lt"/>
                <a:ea typeface="+mn-ea"/>
                <a:cs typeface="+mn-cs"/>
              </a:rPr>
              <a:t>分析儀量測 </a:t>
            </a:r>
            <a:r>
              <a:rPr lang="en-US" altLang="zh-TW" sz="1200" b="0" i="0" u="none" strike="noStrike" kern="1200" dirty="0">
                <a:solidFill>
                  <a:schemeClr val="tx1"/>
                </a:solidFill>
                <a:effectLst/>
                <a:latin typeface="+mn-lt"/>
                <a:ea typeface="+mn-ea"/>
                <a:cs typeface="+mn-cs"/>
              </a:rPr>
              <a:t>Case </a:t>
            </a:r>
            <a:r>
              <a:rPr lang="zh-TW" altLang="en-US" sz="1200" b="0" i="0" u="none" strike="noStrike" kern="1200" dirty="0">
                <a:solidFill>
                  <a:schemeClr val="tx1"/>
                </a:solidFill>
                <a:effectLst/>
                <a:latin typeface="+mn-lt"/>
                <a:ea typeface="+mn-ea"/>
                <a:cs typeface="+mn-cs"/>
              </a:rPr>
              <a:t>指示燈</a:t>
            </a:r>
          </a:p>
          <a:p>
            <a:pPr marL="628650" lvl="1" indent="-171450">
              <a:buFont typeface="Arial" panose="020B0604020202020204" pitchFamily="34" charset="0"/>
              <a:buChar char="•"/>
            </a:pPr>
            <a:r>
              <a:rPr lang="en-US" altLang="zh-TW" sz="1200" b="0" i="0" u="none" strike="noStrike" kern="1200" dirty="0">
                <a:solidFill>
                  <a:schemeClr val="tx1"/>
                </a:solidFill>
                <a:effectLst/>
                <a:latin typeface="+mn-lt"/>
                <a:ea typeface="+mn-ea"/>
                <a:cs typeface="+mn-cs"/>
              </a:rPr>
              <a:t>X / Y </a:t>
            </a:r>
            <a:r>
              <a:rPr lang="zh-TW" altLang="en-US" sz="1200" b="0" i="0" u="none" strike="noStrike" kern="1200" dirty="0">
                <a:solidFill>
                  <a:schemeClr val="tx1"/>
                </a:solidFill>
                <a:effectLst/>
                <a:latin typeface="+mn-lt"/>
                <a:ea typeface="+mn-ea"/>
                <a:cs typeface="+mn-cs"/>
              </a:rPr>
              <a:t>色座標</a:t>
            </a:r>
          </a:p>
          <a:p>
            <a:pPr marL="628650" lvl="1" indent="-171450">
              <a:buFont typeface="Arial" panose="020B0604020202020204" pitchFamily="34" charset="0"/>
              <a:buChar char="•"/>
            </a:pPr>
            <a:r>
              <a:rPr lang="zh-TW" altLang="en-US" sz="1200" b="0" i="0" u="none" strike="noStrike" kern="1200" dirty="0">
                <a:solidFill>
                  <a:schemeClr val="tx1"/>
                </a:solidFill>
                <a:effectLst/>
                <a:latin typeface="+mn-lt"/>
                <a:ea typeface="+mn-ea"/>
                <a:cs typeface="+mn-cs"/>
              </a:rPr>
              <a:t>亮度</a:t>
            </a:r>
          </a:p>
          <a:p>
            <a:pPr marL="628650" lvl="1" indent="-171450">
              <a:buFont typeface="Arial" panose="020B0604020202020204" pitchFamily="34" charset="0"/>
              <a:buChar char="•"/>
            </a:pPr>
            <a:r>
              <a:rPr lang="zh-TW" altLang="en-US" sz="1200" b="0" i="0" u="none" strike="noStrike" kern="1200" dirty="0">
                <a:solidFill>
                  <a:schemeClr val="tx1"/>
                </a:solidFill>
                <a:effectLst/>
                <a:latin typeface="+mn-lt"/>
                <a:ea typeface="+mn-ea"/>
                <a:cs typeface="+mn-cs"/>
              </a:rPr>
              <a:t>波長（紅光 </a:t>
            </a:r>
            <a:r>
              <a:rPr lang="en-US" altLang="zh-TW" sz="1200" b="0" i="0" u="none" strike="noStrike" kern="1200" dirty="0">
                <a:solidFill>
                  <a:schemeClr val="tx1"/>
                </a:solidFill>
                <a:effectLst/>
                <a:latin typeface="+mn-lt"/>
                <a:ea typeface="+mn-ea"/>
                <a:cs typeface="+mn-cs"/>
              </a:rPr>
              <a:t>/ </a:t>
            </a:r>
            <a:r>
              <a:rPr lang="zh-TW" altLang="en-US" sz="1200" b="0" i="0" u="none" strike="noStrike" kern="1200" dirty="0">
                <a:solidFill>
                  <a:schemeClr val="tx1"/>
                </a:solidFill>
                <a:effectLst/>
                <a:latin typeface="+mn-lt"/>
                <a:ea typeface="+mn-ea"/>
                <a:cs typeface="+mn-cs"/>
              </a:rPr>
              <a:t>白光）</a:t>
            </a:r>
          </a:p>
          <a:p>
            <a:pPr marL="171450" indent="-171450">
              <a:buFont typeface="Arial" panose="020B0604020202020204" pitchFamily="34" charset="0"/>
              <a:buChar char="•"/>
            </a:pPr>
            <a:r>
              <a:rPr lang="zh-TW" altLang="en-US" sz="1200" b="0" i="0" u="none" strike="noStrike" kern="1200" dirty="0">
                <a:solidFill>
                  <a:schemeClr val="tx1"/>
                </a:solidFill>
                <a:effectLst/>
                <a:latin typeface="+mn-lt"/>
                <a:ea typeface="+mn-ea"/>
                <a:cs typeface="+mn-cs"/>
              </a:rPr>
              <a:t>透過氣缸模擬按鍵</a:t>
            </a:r>
          </a:p>
          <a:p>
            <a:pPr marL="628650" lvl="1" indent="-171450">
              <a:buFont typeface="Arial" panose="020B0604020202020204" pitchFamily="34" charset="0"/>
              <a:buChar char="•"/>
            </a:pPr>
            <a:r>
              <a:rPr lang="zh-TW" altLang="en-US" sz="1200" b="0" i="0" u="none" strike="noStrike" kern="1200" dirty="0">
                <a:solidFill>
                  <a:schemeClr val="tx1"/>
                </a:solidFill>
                <a:effectLst/>
                <a:latin typeface="+mn-lt"/>
                <a:ea typeface="+mn-ea"/>
                <a:cs typeface="+mn-cs"/>
              </a:rPr>
              <a:t>按下 </a:t>
            </a:r>
            <a:r>
              <a:rPr lang="en-US" altLang="zh-TW" sz="1200" b="0" i="0" u="none" strike="noStrike" kern="1200" dirty="0">
                <a:solidFill>
                  <a:schemeClr val="tx1"/>
                </a:solidFill>
                <a:effectLst/>
                <a:latin typeface="+mn-lt"/>
                <a:ea typeface="+mn-ea"/>
                <a:cs typeface="+mn-cs"/>
              </a:rPr>
              <a:t>/ </a:t>
            </a:r>
            <a:r>
              <a:rPr lang="zh-TW" altLang="en-US" sz="1200" b="0" i="0" u="none" strike="noStrike" kern="1200" dirty="0">
                <a:solidFill>
                  <a:schemeClr val="tx1"/>
                </a:solidFill>
                <a:effectLst/>
                <a:latin typeface="+mn-lt"/>
                <a:ea typeface="+mn-ea"/>
                <a:cs typeface="+mn-cs"/>
              </a:rPr>
              <a:t>釋放狀態</a:t>
            </a:r>
            <a:endParaRPr lang="en-US" altLang="zh-TW" sz="1200" b="0" i="0" u="none" strike="noStrike" kern="1200" dirty="0">
              <a:solidFill>
                <a:schemeClr val="tx1"/>
              </a:solidFill>
              <a:effectLst/>
              <a:latin typeface="+mn-lt"/>
              <a:ea typeface="+mn-ea"/>
              <a:cs typeface="+mn-cs"/>
            </a:endParaRPr>
          </a:p>
          <a:p>
            <a:pPr marL="628650" lvl="1" indent="-171450">
              <a:buFont typeface="Arial" panose="020B0604020202020204" pitchFamily="34" charset="0"/>
              <a:buChar char="•"/>
            </a:pPr>
            <a:r>
              <a:rPr lang="zh-TW" altLang="en-US" sz="1200" b="0" i="0" u="none" strike="noStrike" kern="1200" dirty="0">
                <a:solidFill>
                  <a:schemeClr val="tx1"/>
                </a:solidFill>
                <a:effectLst/>
                <a:latin typeface="+mn-lt"/>
                <a:ea typeface="+mn-ea"/>
                <a:cs typeface="+mn-cs"/>
              </a:rPr>
              <a:t>驗證按鍵功能</a:t>
            </a:r>
          </a:p>
          <a:p>
            <a:pPr marL="171450" indent="-171450">
              <a:buFont typeface="Arial" panose="020B0604020202020204" pitchFamily="34" charset="0"/>
              <a:buChar char="•"/>
            </a:pPr>
            <a:r>
              <a:rPr lang="zh-TW" altLang="en-US" sz="1200" b="0" i="0" u="none" strike="noStrike" kern="1200" dirty="0">
                <a:solidFill>
                  <a:schemeClr val="tx1"/>
                </a:solidFill>
                <a:effectLst/>
                <a:latin typeface="+mn-lt"/>
                <a:ea typeface="+mn-ea"/>
                <a:cs typeface="+mn-cs"/>
              </a:rPr>
              <a:t>發送指令使 </a:t>
            </a:r>
            <a:r>
              <a:rPr lang="en-US" altLang="zh-TW" sz="1200" b="0" i="0" u="none" strike="noStrike" kern="1200" dirty="0">
                <a:solidFill>
                  <a:schemeClr val="tx1"/>
                </a:solidFill>
                <a:effectLst/>
                <a:latin typeface="+mn-lt"/>
                <a:ea typeface="+mn-ea"/>
                <a:cs typeface="+mn-cs"/>
              </a:rPr>
              <a:t>Case </a:t>
            </a:r>
            <a:r>
              <a:rPr lang="zh-TW" altLang="en-US" sz="1200" b="0" i="0" u="none" strike="noStrike" kern="1200" dirty="0">
                <a:solidFill>
                  <a:schemeClr val="tx1"/>
                </a:solidFill>
                <a:effectLst/>
                <a:latin typeface="+mn-lt"/>
                <a:ea typeface="+mn-ea"/>
                <a:cs typeface="+mn-cs"/>
              </a:rPr>
              <a:t>進入 </a:t>
            </a:r>
            <a:r>
              <a:rPr lang="en-US" altLang="zh-TW" sz="1200" b="0" i="0" u="none" strike="noStrike" kern="1200" dirty="0">
                <a:solidFill>
                  <a:schemeClr val="tx1"/>
                </a:solidFill>
                <a:effectLst/>
                <a:latin typeface="+mn-lt"/>
                <a:ea typeface="+mn-ea"/>
                <a:cs typeface="+mn-cs"/>
              </a:rPr>
              <a:t>Ship Mode</a:t>
            </a:r>
            <a:r>
              <a:rPr lang="zh-TW" altLang="en-US" sz="1200" b="0" i="0" u="none" strike="noStrike" kern="1200" dirty="0">
                <a:solidFill>
                  <a:schemeClr val="tx1"/>
                </a:solidFill>
                <a:effectLst/>
                <a:latin typeface="+mn-lt"/>
                <a:ea typeface="+mn-ea"/>
                <a:cs typeface="+mn-cs"/>
              </a:rPr>
              <a:t> 透過斷開並重新接上 </a:t>
            </a:r>
            <a:r>
              <a:rPr lang="en-US" altLang="zh-TW" sz="1200" b="0" i="0" u="none" strike="noStrike" kern="1200" dirty="0">
                <a:solidFill>
                  <a:schemeClr val="tx1"/>
                </a:solidFill>
                <a:effectLst/>
                <a:latin typeface="+mn-lt"/>
                <a:ea typeface="+mn-ea"/>
                <a:cs typeface="+mn-cs"/>
              </a:rPr>
              <a:t>VBUS </a:t>
            </a:r>
            <a:r>
              <a:rPr lang="zh-TW" altLang="en-US" sz="1200" b="0" i="0" u="none" strike="noStrike" kern="1200" dirty="0">
                <a:solidFill>
                  <a:schemeClr val="tx1"/>
                </a:solidFill>
                <a:effectLst/>
                <a:latin typeface="+mn-lt"/>
                <a:ea typeface="+mn-ea"/>
                <a:cs typeface="+mn-cs"/>
              </a:rPr>
              <a:t>退出 </a:t>
            </a:r>
            <a:r>
              <a:rPr lang="en-US" altLang="zh-TW" sz="1200" b="0" i="0" u="none" strike="noStrike" kern="1200" dirty="0">
                <a:solidFill>
                  <a:schemeClr val="tx1"/>
                </a:solidFill>
                <a:effectLst/>
                <a:latin typeface="+mn-lt"/>
                <a:ea typeface="+mn-ea"/>
                <a:cs typeface="+mn-cs"/>
              </a:rPr>
              <a:t>Ship Mode</a:t>
            </a:r>
          </a:p>
          <a:p>
            <a:pPr marL="171450" indent="-171450">
              <a:buFont typeface="Arial" panose="020B0604020202020204" pitchFamily="34" charset="0"/>
              <a:buChar char="•"/>
            </a:pPr>
            <a:r>
              <a:rPr lang="zh-TW" altLang="en-US" sz="1200" b="0" i="0" u="none" strike="noStrike" kern="1200" dirty="0">
                <a:solidFill>
                  <a:schemeClr val="tx1"/>
                </a:solidFill>
                <a:effectLst/>
                <a:latin typeface="+mn-lt"/>
                <a:ea typeface="+mn-ea"/>
                <a:cs typeface="+mn-cs"/>
              </a:rPr>
              <a:t>發送指令使 </a:t>
            </a:r>
            <a:r>
              <a:rPr lang="en-US" altLang="zh-TW" sz="1200" b="0" i="0" u="none" strike="noStrike" kern="1200" dirty="0">
                <a:solidFill>
                  <a:schemeClr val="tx1"/>
                </a:solidFill>
                <a:effectLst/>
                <a:latin typeface="+mn-lt"/>
                <a:ea typeface="+mn-ea"/>
                <a:cs typeface="+mn-cs"/>
              </a:rPr>
              <a:t>Case </a:t>
            </a:r>
            <a:r>
              <a:rPr lang="zh-TW" altLang="en-US" sz="1200" b="0" i="0" u="none" strike="noStrike" kern="1200" dirty="0">
                <a:solidFill>
                  <a:schemeClr val="tx1"/>
                </a:solidFill>
                <a:effectLst/>
                <a:latin typeface="+mn-lt"/>
                <a:ea typeface="+mn-ea"/>
                <a:cs typeface="+mn-cs"/>
              </a:rPr>
              <a:t>於 </a:t>
            </a:r>
            <a:r>
              <a:rPr lang="en-US" altLang="zh-TW" sz="1200" b="0" i="0" u="none" strike="noStrike" kern="1200" dirty="0">
                <a:solidFill>
                  <a:schemeClr val="tx1"/>
                </a:solidFill>
                <a:effectLst/>
                <a:latin typeface="+mn-lt"/>
                <a:ea typeface="+mn-ea"/>
                <a:cs typeface="+mn-cs"/>
              </a:rPr>
              <a:t>L / R POS </a:t>
            </a:r>
            <a:r>
              <a:rPr lang="zh-TW" altLang="en-US" sz="1200" b="0" i="0" u="none" strike="noStrike" kern="1200" dirty="0">
                <a:solidFill>
                  <a:schemeClr val="tx1"/>
                </a:solidFill>
                <a:effectLst/>
                <a:latin typeface="+mn-lt"/>
                <a:ea typeface="+mn-ea"/>
                <a:cs typeface="+mn-cs"/>
              </a:rPr>
              <a:t>輸出 </a:t>
            </a:r>
            <a:r>
              <a:rPr lang="en-US" altLang="zh-TW" sz="1200" b="0" i="0" u="none" strike="noStrike" kern="1200" dirty="0">
                <a:solidFill>
                  <a:schemeClr val="tx1"/>
                </a:solidFill>
                <a:effectLst/>
                <a:latin typeface="+mn-lt"/>
                <a:ea typeface="+mn-ea"/>
                <a:cs typeface="+mn-cs"/>
              </a:rPr>
              <a:t>5V</a:t>
            </a:r>
            <a:r>
              <a:rPr lang="zh-TW" altLang="en-US" sz="1200" b="0" i="0" u="none" strike="noStrike" kern="1200" dirty="0">
                <a:solidFill>
                  <a:schemeClr val="tx1"/>
                </a:solidFill>
                <a:effectLst/>
                <a:latin typeface="+mn-lt"/>
                <a:ea typeface="+mn-ea"/>
                <a:cs typeface="+mn-cs"/>
              </a:rPr>
              <a:t> 於 </a:t>
            </a:r>
            <a:r>
              <a:rPr lang="en-US" altLang="zh-TW" sz="1200" b="0" i="0" u="none" strike="noStrike" kern="1200" dirty="0">
                <a:solidFill>
                  <a:schemeClr val="tx1"/>
                </a:solidFill>
                <a:effectLst/>
                <a:latin typeface="+mn-lt"/>
                <a:ea typeface="+mn-ea"/>
                <a:cs typeface="+mn-cs"/>
              </a:rPr>
              <a:t>0 mA </a:t>
            </a:r>
            <a:r>
              <a:rPr lang="zh-TW" altLang="en-US" sz="1200" b="0" i="0" u="none" strike="noStrike" kern="1200" dirty="0">
                <a:solidFill>
                  <a:schemeClr val="tx1"/>
                </a:solidFill>
                <a:effectLst/>
                <a:latin typeface="+mn-lt"/>
                <a:ea typeface="+mn-ea"/>
                <a:cs typeface="+mn-cs"/>
              </a:rPr>
              <a:t>與 </a:t>
            </a:r>
            <a:r>
              <a:rPr lang="en-US" altLang="zh-TW" sz="1200" b="0" i="0" u="none" strike="noStrike" kern="1200" dirty="0">
                <a:solidFill>
                  <a:schemeClr val="tx1"/>
                </a:solidFill>
                <a:effectLst/>
                <a:latin typeface="+mn-lt"/>
                <a:ea typeface="+mn-ea"/>
                <a:cs typeface="+mn-cs"/>
              </a:rPr>
              <a:t>100 mA </a:t>
            </a:r>
            <a:r>
              <a:rPr lang="zh-TW" altLang="en-US" sz="1200" b="0" i="0" u="none" strike="noStrike" kern="1200" dirty="0">
                <a:solidFill>
                  <a:schemeClr val="tx1"/>
                </a:solidFill>
                <a:effectLst/>
                <a:latin typeface="+mn-lt"/>
                <a:ea typeface="+mn-ea"/>
                <a:cs typeface="+mn-cs"/>
              </a:rPr>
              <a:t>負載條件下量測電壓與電流</a:t>
            </a:r>
          </a:p>
          <a:p>
            <a:pPr marL="171450" indent="-171450">
              <a:buFont typeface="Arial" panose="020B0604020202020204" pitchFamily="34" charset="0"/>
              <a:buChar char="•"/>
            </a:pPr>
            <a:r>
              <a:rPr lang="zh-TW" altLang="en-US" sz="1200" b="0" i="0" u="none" strike="noStrike" kern="1200" dirty="0">
                <a:solidFill>
                  <a:schemeClr val="tx1"/>
                </a:solidFill>
                <a:effectLst/>
                <a:latin typeface="+mn-lt"/>
                <a:ea typeface="+mn-ea"/>
                <a:cs typeface="+mn-cs"/>
              </a:rPr>
              <a:t>透過 </a:t>
            </a:r>
            <a:r>
              <a:rPr lang="en-US" altLang="zh-TW" sz="1200" b="0" i="0" u="none" strike="noStrike" kern="1200" dirty="0">
                <a:solidFill>
                  <a:schemeClr val="tx1"/>
                </a:solidFill>
                <a:effectLst/>
                <a:latin typeface="+mn-lt"/>
                <a:ea typeface="+mn-ea"/>
                <a:cs typeface="+mn-cs"/>
              </a:rPr>
              <a:t>Dummy Bud </a:t>
            </a:r>
            <a:r>
              <a:rPr lang="zh-TW" altLang="en-US" sz="1200" b="0" i="0" u="none" strike="noStrike" kern="1200" dirty="0">
                <a:solidFill>
                  <a:schemeClr val="tx1"/>
                </a:solidFill>
                <a:effectLst/>
                <a:latin typeface="+mn-lt"/>
                <a:ea typeface="+mn-ea"/>
                <a:cs typeface="+mn-cs"/>
              </a:rPr>
              <a:t>連接 </a:t>
            </a:r>
            <a:r>
              <a:rPr lang="en-US" altLang="zh-TW" sz="1200" b="0" i="0" u="none" strike="noStrike" kern="1200" dirty="0">
                <a:solidFill>
                  <a:schemeClr val="tx1"/>
                </a:solidFill>
                <a:effectLst/>
                <a:latin typeface="+mn-lt"/>
                <a:ea typeface="+mn-ea"/>
                <a:cs typeface="+mn-cs"/>
              </a:rPr>
              <a:t>Bud</a:t>
            </a:r>
            <a:r>
              <a:rPr lang="zh-TW" altLang="en-US" sz="1200" b="0" i="0" u="none" strike="noStrike" kern="1200" dirty="0">
                <a:solidFill>
                  <a:schemeClr val="tx1"/>
                </a:solidFill>
                <a:effectLst/>
                <a:latin typeface="+mn-lt"/>
                <a:ea typeface="+mn-ea"/>
                <a:cs typeface="+mn-cs"/>
              </a:rPr>
              <a:t> 讀取 </a:t>
            </a:r>
            <a:r>
              <a:rPr lang="en-US" altLang="zh-TW" sz="1200" b="0" i="0" u="none" strike="noStrike" kern="1200" dirty="0">
                <a:solidFill>
                  <a:schemeClr val="tx1"/>
                </a:solidFill>
                <a:effectLst/>
                <a:latin typeface="+mn-lt"/>
                <a:ea typeface="+mn-ea"/>
                <a:cs typeface="+mn-cs"/>
              </a:rPr>
              <a:t>TX / RX </a:t>
            </a:r>
            <a:r>
              <a:rPr lang="zh-TW" altLang="en-US" sz="1200" b="0" i="0" u="none" strike="noStrike" kern="1200" dirty="0">
                <a:solidFill>
                  <a:schemeClr val="tx1"/>
                </a:solidFill>
                <a:effectLst/>
                <a:latin typeface="+mn-lt"/>
                <a:ea typeface="+mn-ea"/>
                <a:cs typeface="+mn-cs"/>
              </a:rPr>
              <a:t>數值，驗證 </a:t>
            </a:r>
            <a:r>
              <a:rPr lang="en-US" altLang="zh-TW" sz="1200" b="0" i="0" u="none" strike="noStrike" kern="1200" dirty="0">
                <a:solidFill>
                  <a:schemeClr val="tx1"/>
                </a:solidFill>
                <a:effectLst/>
                <a:latin typeface="+mn-lt"/>
                <a:ea typeface="+mn-ea"/>
                <a:cs typeface="+mn-cs"/>
              </a:rPr>
              <a:t>Case </a:t>
            </a:r>
            <a:r>
              <a:rPr lang="zh-TW" altLang="en-US" sz="1200" b="0" i="0" u="none" strike="noStrike" kern="1200" dirty="0">
                <a:solidFill>
                  <a:schemeClr val="tx1"/>
                </a:solidFill>
                <a:effectLst/>
                <a:latin typeface="+mn-lt"/>
                <a:ea typeface="+mn-ea"/>
                <a:cs typeface="+mn-cs"/>
              </a:rPr>
              <a:t>與 </a:t>
            </a:r>
            <a:r>
              <a:rPr lang="en-US" altLang="zh-TW" sz="1200" b="0" i="0" u="none" strike="noStrike" kern="1200" dirty="0">
                <a:solidFill>
                  <a:schemeClr val="tx1"/>
                </a:solidFill>
                <a:effectLst/>
                <a:latin typeface="+mn-lt"/>
                <a:ea typeface="+mn-ea"/>
                <a:cs typeface="+mn-cs"/>
              </a:rPr>
              <a:t>Bud </a:t>
            </a:r>
            <a:r>
              <a:rPr lang="zh-TW" altLang="en-US" sz="1200" b="0" i="0" u="none" strike="noStrike" kern="1200" dirty="0">
                <a:solidFill>
                  <a:schemeClr val="tx1"/>
                </a:solidFill>
                <a:effectLst/>
                <a:latin typeface="+mn-lt"/>
                <a:ea typeface="+mn-ea"/>
                <a:cs typeface="+mn-cs"/>
              </a:rPr>
              <a:t>通訊功能</a:t>
            </a:r>
          </a:p>
          <a:p>
            <a:pPr marL="171450" indent="-171450">
              <a:buFont typeface="Arial" panose="020B0604020202020204" pitchFamily="34" charset="0"/>
              <a:buChar char="•"/>
            </a:pPr>
            <a:r>
              <a:rPr lang="zh-TW" altLang="en-US" sz="1200" b="0" i="0" u="none" strike="noStrike" kern="1200" dirty="0">
                <a:solidFill>
                  <a:schemeClr val="tx1"/>
                </a:solidFill>
                <a:effectLst/>
                <a:latin typeface="+mn-lt"/>
                <a:ea typeface="+mn-ea"/>
                <a:cs typeface="+mn-cs"/>
              </a:rPr>
              <a:t>透過氣缸模擬開蓋 </a:t>
            </a:r>
            <a:r>
              <a:rPr lang="en-US" altLang="zh-TW" sz="1200" b="0" i="0" u="none" strike="noStrike" kern="1200" dirty="0">
                <a:solidFill>
                  <a:schemeClr val="tx1"/>
                </a:solidFill>
                <a:effectLst/>
                <a:latin typeface="+mn-lt"/>
                <a:ea typeface="+mn-ea"/>
                <a:cs typeface="+mn-cs"/>
              </a:rPr>
              <a:t>/ </a:t>
            </a:r>
            <a:r>
              <a:rPr lang="zh-TW" altLang="en-US" sz="1200" b="0" i="0" u="none" strike="noStrike" kern="1200" dirty="0">
                <a:solidFill>
                  <a:schemeClr val="tx1"/>
                </a:solidFill>
                <a:effectLst/>
                <a:latin typeface="+mn-lt"/>
                <a:ea typeface="+mn-ea"/>
                <a:cs typeface="+mn-cs"/>
              </a:rPr>
              <a:t>關蓋 驗證 </a:t>
            </a:r>
            <a:r>
              <a:rPr lang="en-US" altLang="zh-TW" sz="1200" b="0" i="0" u="none" strike="noStrike" kern="1200" dirty="0">
                <a:solidFill>
                  <a:schemeClr val="tx1"/>
                </a:solidFill>
                <a:effectLst/>
                <a:latin typeface="+mn-lt"/>
                <a:ea typeface="+mn-ea"/>
                <a:cs typeface="+mn-cs"/>
              </a:rPr>
              <a:t>Case Lid </a:t>
            </a:r>
            <a:r>
              <a:rPr lang="zh-TW" altLang="en-US" sz="1200" b="0" i="0" u="none" strike="noStrike" kern="1200" dirty="0">
                <a:solidFill>
                  <a:schemeClr val="tx1"/>
                </a:solidFill>
                <a:effectLst/>
                <a:latin typeface="+mn-lt"/>
                <a:ea typeface="+mn-ea"/>
                <a:cs typeface="+mn-cs"/>
              </a:rPr>
              <a:t>狀態偵測功能</a:t>
            </a:r>
          </a:p>
          <a:p>
            <a:pPr marL="228600" indent="-228600">
              <a:buFont typeface="Arial" panose="020B0604020202020204" pitchFamily="34" charset="0"/>
              <a:buChar char="•"/>
            </a:pPr>
            <a:endParaRPr lang="en-US" altLang="zh-TW" sz="1200" b="1" i="0" u="none" strike="noStrike" kern="1200" dirty="0">
              <a:solidFill>
                <a:schemeClr val="tx1"/>
              </a:solidFill>
              <a:effectLst/>
              <a:latin typeface="+mn-lt"/>
              <a:ea typeface="+mn-ea"/>
              <a:cs typeface="+mn-cs"/>
            </a:endParaRPr>
          </a:p>
          <a:p>
            <a:pPr marL="228600" indent="-228600">
              <a:buFont typeface="+mj-lt"/>
              <a:buAutoNum type="arabicPeriod"/>
            </a:pPr>
            <a:endParaRPr kumimoji="1" lang="zh-TW" altLang="en-US" b="1" dirty="0"/>
          </a:p>
          <a:p>
            <a:endParaRPr kumimoji="1" lang="zh-TW" altLang="en-US" dirty="0"/>
          </a:p>
        </p:txBody>
      </p:sp>
    </p:spTree>
    <p:extLst>
      <p:ext uri="{BB962C8B-B14F-4D97-AF65-F5344CB8AC3E}">
        <p14:creationId xmlns:p14="http://schemas.microsoft.com/office/powerpoint/2010/main" val="18906429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7CC3B6-F4E4-64D0-8B64-D5BB081E9DAA}"/>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3585F83B-A627-76AE-4428-16DD5975DAB4}"/>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2ADCC090-A839-7BA1-282D-012C930FFF72}"/>
              </a:ext>
            </a:extLst>
          </p:cNvPr>
          <p:cNvSpPr>
            <a:spLocks noGrp="1"/>
          </p:cNvSpPr>
          <p:nvPr>
            <p:ph type="body" idx="1"/>
          </p:nvPr>
        </p:nvSpPr>
        <p:spPr/>
        <p:txBody>
          <a:bodyPr/>
          <a:lstStyle/>
          <a:p>
            <a:endParaRPr kumimoji="1" lang="zh-TW" altLang="en-US" dirty="0"/>
          </a:p>
          <a:p>
            <a:endParaRPr kumimoji="1" lang="zh-TW" altLang="en-US" dirty="0"/>
          </a:p>
        </p:txBody>
      </p:sp>
    </p:spTree>
    <p:extLst>
      <p:ext uri="{BB962C8B-B14F-4D97-AF65-F5344CB8AC3E}">
        <p14:creationId xmlns:p14="http://schemas.microsoft.com/office/powerpoint/2010/main" val="27370163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8E6E5F-4F7C-5DEC-25B6-7E3D3167C73E}"/>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6910D581-240F-BACF-C219-06E5B93327F8}"/>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4FB89629-376D-6B49-5310-D22FAF4E96A3}"/>
              </a:ext>
            </a:extLst>
          </p:cNvPr>
          <p:cNvSpPr>
            <a:spLocks noGrp="1"/>
          </p:cNvSpPr>
          <p:nvPr>
            <p:ph type="body" idx="1"/>
          </p:nvPr>
        </p:nvSpPr>
        <p:spPr/>
        <p:txBody>
          <a:bodyPr/>
          <a:lstStyle/>
          <a:p>
            <a:endParaRPr kumimoji="1" lang="zh-TW" altLang="en-US" dirty="0"/>
          </a:p>
          <a:p>
            <a:endParaRPr kumimoji="1" lang="zh-TW" altLang="en-US" dirty="0"/>
          </a:p>
        </p:txBody>
      </p:sp>
    </p:spTree>
    <p:extLst>
      <p:ext uri="{BB962C8B-B14F-4D97-AF65-F5344CB8AC3E}">
        <p14:creationId xmlns:p14="http://schemas.microsoft.com/office/powerpoint/2010/main" val="9132040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7D2818-6BBE-B194-E06C-E3721AFC407E}"/>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85125731-5A9A-4180-9613-AA499B775F1A}"/>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713CAA38-5F3E-C044-1FE5-6D17394E65FA}"/>
              </a:ext>
            </a:extLst>
          </p:cNvPr>
          <p:cNvSpPr>
            <a:spLocks noGrp="1"/>
          </p:cNvSpPr>
          <p:nvPr>
            <p:ph type="body" idx="1"/>
          </p:nvPr>
        </p:nvSpPr>
        <p:spPr/>
        <p:txBody>
          <a:bodyPr/>
          <a:lstStyle/>
          <a:p>
            <a:endParaRPr kumimoji="1" lang="zh-TW" altLang="en-US" dirty="0"/>
          </a:p>
          <a:p>
            <a:endParaRPr kumimoji="1" lang="zh-TW" altLang="en-US" dirty="0"/>
          </a:p>
        </p:txBody>
      </p:sp>
    </p:spTree>
    <p:extLst>
      <p:ext uri="{BB962C8B-B14F-4D97-AF65-F5344CB8AC3E}">
        <p14:creationId xmlns:p14="http://schemas.microsoft.com/office/powerpoint/2010/main" val="29453547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rtl="0" eaLnBrk="1" fontAlgn="auto" latinLnBrk="0" hangingPunct="1">
              <a:lnSpc>
                <a:spcPct val="150000"/>
              </a:lnSpc>
            </a:pPr>
            <a:r>
              <a:rPr lang="en-US" altLang="zh-TW" sz="1200" b="0" i="0" u="none" strike="noStrike" kern="1200" dirty="0">
                <a:solidFill>
                  <a:schemeClr val="tx1"/>
                </a:solidFill>
                <a:effectLst/>
                <a:latin typeface="+mn-lt"/>
                <a:ea typeface="+mn-ea"/>
                <a:cs typeface="+mn-cs"/>
              </a:rPr>
              <a:t>DCR</a:t>
            </a:r>
            <a:r>
              <a:rPr lang="zh-TW" altLang="en-US" sz="1200" b="0" i="0" u="none" strike="noStrike" kern="1200" dirty="0">
                <a:solidFill>
                  <a:schemeClr val="tx1"/>
                </a:solidFill>
                <a:effectLst/>
                <a:latin typeface="+mn-lt"/>
                <a:ea typeface="+mn-ea"/>
                <a:cs typeface="+mn-cs"/>
              </a:rPr>
              <a:t>：透過</a:t>
            </a:r>
            <a:r>
              <a:rPr lang="en-US" altLang="zh-TW" sz="1200" b="0" i="0" u="none" strike="noStrike" kern="1200" dirty="0">
                <a:solidFill>
                  <a:schemeClr val="tx1"/>
                </a:solidFill>
                <a:effectLst/>
                <a:latin typeface="+mn-lt"/>
                <a:ea typeface="+mn-ea"/>
                <a:cs typeface="+mn-cs"/>
              </a:rPr>
              <a:t>Dummy bud </a:t>
            </a:r>
            <a:r>
              <a:rPr lang="zh-TW" altLang="en-US" sz="1200" b="0" i="0" u="none" strike="noStrike" kern="1200" dirty="0">
                <a:solidFill>
                  <a:schemeClr val="tx1"/>
                </a:solidFill>
                <a:effectLst/>
                <a:latin typeface="+mn-lt"/>
                <a:ea typeface="+mn-ea"/>
                <a:cs typeface="+mn-cs"/>
              </a:rPr>
              <a:t>，量測</a:t>
            </a:r>
            <a:r>
              <a:rPr lang="en-US" altLang="zh-TW" sz="1200" b="0" i="0" u="none" strike="noStrike" kern="1200" dirty="0">
                <a:solidFill>
                  <a:schemeClr val="tx1"/>
                </a:solidFill>
                <a:effectLst/>
                <a:latin typeface="+mn-lt"/>
                <a:ea typeface="+mn-ea"/>
                <a:cs typeface="+mn-cs"/>
              </a:rPr>
              <a:t>Type-C </a:t>
            </a:r>
            <a:r>
              <a:rPr lang="zh-TW" altLang="en-US" sz="1200" b="0" i="0" u="none" strike="noStrike" kern="1200" dirty="0">
                <a:solidFill>
                  <a:schemeClr val="tx1"/>
                </a:solidFill>
                <a:effectLst/>
                <a:latin typeface="+mn-lt"/>
                <a:ea typeface="+mn-ea"/>
                <a:cs typeface="+mn-cs"/>
              </a:rPr>
              <a:t>端到 </a:t>
            </a:r>
            <a:r>
              <a:rPr lang="en-US" altLang="zh-TW" sz="1200" b="0" i="0" u="none" strike="noStrike" kern="1200" dirty="0">
                <a:solidFill>
                  <a:schemeClr val="tx1"/>
                </a:solidFill>
                <a:effectLst/>
                <a:latin typeface="+mn-lt"/>
                <a:ea typeface="+mn-ea"/>
                <a:cs typeface="+mn-cs"/>
              </a:rPr>
              <a:t>BUD </a:t>
            </a:r>
            <a:r>
              <a:rPr lang="zh-TW" altLang="en-US" sz="1200" b="0" i="0" u="none" strike="noStrike" kern="1200" dirty="0">
                <a:solidFill>
                  <a:schemeClr val="tx1"/>
                </a:solidFill>
                <a:effectLst/>
                <a:latin typeface="+mn-lt"/>
                <a:ea typeface="+mn-ea"/>
                <a:cs typeface="+mn-cs"/>
              </a:rPr>
              <a:t>左／右負極（</a:t>
            </a:r>
            <a:r>
              <a:rPr lang="en-US" altLang="zh-TW" sz="1200" b="0" i="0" u="none" strike="noStrike" kern="1200" dirty="0">
                <a:solidFill>
                  <a:schemeClr val="tx1"/>
                </a:solidFill>
                <a:effectLst/>
                <a:latin typeface="+mn-lt"/>
                <a:ea typeface="+mn-ea"/>
                <a:cs typeface="+mn-cs"/>
              </a:rPr>
              <a:t>BUD_L/R_NEG</a:t>
            </a:r>
            <a:r>
              <a:rPr lang="zh-TW" altLang="en-US" sz="1200" b="0" i="0" u="none" strike="noStrike" kern="1200" dirty="0">
                <a:solidFill>
                  <a:schemeClr val="tx1"/>
                </a:solidFill>
                <a:effectLst/>
                <a:latin typeface="+mn-lt"/>
                <a:ea typeface="+mn-ea"/>
                <a:cs typeface="+mn-cs"/>
              </a:rPr>
              <a:t>）的接地直流電阻（</a:t>
            </a:r>
            <a:r>
              <a:rPr lang="en-US" altLang="zh-TW" sz="1200" b="0" i="0" u="none" strike="noStrike" kern="1200" dirty="0">
                <a:solidFill>
                  <a:schemeClr val="tx1"/>
                </a:solidFill>
                <a:effectLst/>
                <a:latin typeface="+mn-lt"/>
                <a:ea typeface="+mn-ea"/>
                <a:cs typeface="+mn-cs"/>
              </a:rPr>
              <a:t>GND DCR</a:t>
            </a:r>
            <a:r>
              <a:rPr lang="zh-TW" altLang="en-US" sz="1200" b="0" i="0" u="none" strike="noStrike" kern="1200" dirty="0">
                <a:solidFill>
                  <a:schemeClr val="tx1"/>
                </a:solidFill>
                <a:effectLst/>
                <a:latin typeface="+mn-lt"/>
                <a:ea typeface="+mn-ea"/>
                <a:cs typeface="+mn-cs"/>
              </a:rPr>
              <a:t>）</a:t>
            </a:r>
            <a:endParaRPr lang="zh-TW" altLang="zh-TW" sz="1200" b="0" i="0" u="none" strike="noStrike" kern="1200" dirty="0">
              <a:solidFill>
                <a:schemeClr val="tx1"/>
              </a:solidFill>
              <a:effectLst/>
              <a:latin typeface="+mn-lt"/>
              <a:ea typeface="+mn-ea"/>
              <a:cs typeface="+mn-cs"/>
            </a:endParaRPr>
          </a:p>
          <a:p>
            <a:pPr rtl="0" eaLnBrk="1" fontAlgn="auto" latinLnBrk="0" hangingPunct="1">
              <a:lnSpc>
                <a:spcPct val="150000"/>
              </a:lnSpc>
            </a:pPr>
            <a:r>
              <a:rPr lang="en-US" altLang="zh-TW" sz="1200" b="0" i="0" u="none" strike="noStrike" kern="1200" dirty="0" err="1">
                <a:solidFill>
                  <a:schemeClr val="tx1"/>
                </a:solidFill>
                <a:effectLst/>
                <a:latin typeface="+mn-lt"/>
                <a:ea typeface="+mn-ea"/>
                <a:cs typeface="+mn-cs"/>
              </a:rPr>
              <a:t>DUTPowerON</a:t>
            </a:r>
            <a:r>
              <a:rPr lang="zh-TW" altLang="en-US" sz="1200" b="0" i="0" u="none" strike="noStrike" kern="1200" dirty="0">
                <a:solidFill>
                  <a:schemeClr val="tx1"/>
                </a:solidFill>
                <a:effectLst/>
                <a:latin typeface="+mn-lt"/>
                <a:ea typeface="+mn-ea"/>
                <a:cs typeface="+mn-cs"/>
              </a:rPr>
              <a:t>：控制</a:t>
            </a:r>
            <a:r>
              <a:rPr lang="en-US" altLang="zh-TW" sz="1200" b="0" i="0" u="none" strike="noStrike" kern="1200" dirty="0" err="1">
                <a:solidFill>
                  <a:schemeClr val="tx1"/>
                </a:solidFill>
                <a:effectLst/>
                <a:latin typeface="+mn-lt"/>
                <a:ea typeface="+mn-ea"/>
                <a:cs typeface="+mn-cs"/>
              </a:rPr>
              <a:t>TypeC</a:t>
            </a:r>
            <a:r>
              <a:rPr lang="zh-TW" altLang="en-US" sz="1200" b="0" i="0" u="none" strike="noStrike" kern="1200" dirty="0">
                <a:solidFill>
                  <a:schemeClr val="tx1"/>
                </a:solidFill>
                <a:effectLst/>
                <a:latin typeface="+mn-lt"/>
                <a:ea typeface="+mn-ea"/>
                <a:cs typeface="+mn-cs"/>
              </a:rPr>
              <a:t>板 打開</a:t>
            </a:r>
            <a:r>
              <a:rPr lang="en-US" altLang="zh-TW" sz="1200" b="0" i="0" u="none" strike="noStrike" kern="1200" dirty="0">
                <a:solidFill>
                  <a:schemeClr val="tx1"/>
                </a:solidFill>
                <a:effectLst/>
                <a:latin typeface="+mn-lt"/>
                <a:ea typeface="+mn-ea"/>
                <a:cs typeface="+mn-cs"/>
              </a:rPr>
              <a:t>DUT</a:t>
            </a:r>
            <a:r>
              <a:rPr lang="zh-TW" altLang="en-US" sz="1200" b="0" i="0" u="none" strike="noStrike" kern="1200" dirty="0">
                <a:solidFill>
                  <a:schemeClr val="tx1"/>
                </a:solidFill>
                <a:effectLst/>
                <a:latin typeface="+mn-lt"/>
                <a:ea typeface="+mn-ea"/>
                <a:cs typeface="+mn-cs"/>
              </a:rPr>
              <a:t>通信通道（</a:t>
            </a:r>
            <a:r>
              <a:rPr lang="en-US" altLang="zh-TW" sz="1200" b="0" i="0" u="none" strike="noStrike" kern="1200" dirty="0">
                <a:solidFill>
                  <a:schemeClr val="tx1"/>
                </a:solidFill>
                <a:effectLst/>
                <a:latin typeface="+mn-lt"/>
                <a:ea typeface="+mn-ea"/>
                <a:cs typeface="+mn-cs"/>
              </a:rPr>
              <a:t>USB</a:t>
            </a:r>
            <a:r>
              <a:rPr lang="zh-TW" altLang="en-US" sz="1200" b="0" i="0" u="none" strike="noStrike" kern="1200" dirty="0">
                <a:solidFill>
                  <a:schemeClr val="tx1"/>
                </a:solidFill>
                <a:effectLst/>
                <a:latin typeface="+mn-lt"/>
                <a:ea typeface="+mn-ea"/>
                <a:cs typeface="+mn-cs"/>
              </a:rPr>
              <a:t>）</a:t>
            </a:r>
            <a:endParaRPr lang="zh-TW" altLang="zh-TW" sz="1200" b="0" i="0" u="none" strike="noStrike" kern="1200" dirty="0">
              <a:solidFill>
                <a:schemeClr val="tx1"/>
              </a:solidFill>
              <a:effectLst/>
              <a:latin typeface="+mn-lt"/>
              <a:ea typeface="+mn-ea"/>
              <a:cs typeface="+mn-cs"/>
            </a:endParaRPr>
          </a:p>
          <a:p>
            <a:pPr rtl="0" eaLnBrk="1" fontAlgn="auto" latinLnBrk="0" hangingPunct="1">
              <a:lnSpc>
                <a:spcPct val="150000"/>
              </a:lnSpc>
            </a:pPr>
            <a:r>
              <a:rPr lang="en-US" altLang="zh-TW" sz="1200" b="0" i="0" u="none" strike="noStrike" kern="1200" dirty="0" err="1">
                <a:solidFill>
                  <a:schemeClr val="tx1"/>
                </a:solidFill>
                <a:effectLst/>
                <a:latin typeface="+mn-lt"/>
                <a:ea typeface="+mn-ea"/>
                <a:cs typeface="+mn-cs"/>
              </a:rPr>
              <a:t>Bootmode</a:t>
            </a:r>
            <a:r>
              <a:rPr lang="zh-TW" altLang="en-US" sz="1200" b="0" i="0" u="none" strike="noStrike" kern="1200" dirty="0">
                <a:solidFill>
                  <a:schemeClr val="tx1"/>
                </a:solidFill>
                <a:effectLst/>
                <a:latin typeface="+mn-lt"/>
                <a:ea typeface="+mn-ea"/>
                <a:cs typeface="+mn-cs"/>
              </a:rPr>
              <a:t>：設定為 </a:t>
            </a:r>
            <a:r>
              <a:rPr lang="en-US" altLang="zh-TW" sz="1200" b="0" i="0" u="none" strike="noStrike" kern="1200" dirty="0" err="1">
                <a:solidFill>
                  <a:schemeClr val="tx1"/>
                </a:solidFill>
                <a:effectLst/>
                <a:latin typeface="+mn-lt"/>
                <a:ea typeface="+mn-ea"/>
                <a:cs typeface="+mn-cs"/>
              </a:rPr>
              <a:t>Bootmode</a:t>
            </a:r>
            <a:r>
              <a:rPr lang="en-US" altLang="zh-TW" sz="1200" b="0" i="0" u="none" strike="noStrike" kern="1200" dirty="0">
                <a:solidFill>
                  <a:schemeClr val="tx1"/>
                </a:solidFill>
                <a:effectLst/>
                <a:latin typeface="+mn-lt"/>
                <a:ea typeface="+mn-ea"/>
                <a:cs typeface="+mn-cs"/>
              </a:rPr>
              <a:t> 2 </a:t>
            </a:r>
            <a:r>
              <a:rPr lang="zh-TW" altLang="en-US" sz="1200" b="0" i="0" u="none" strike="noStrike" kern="1200" dirty="0">
                <a:solidFill>
                  <a:schemeClr val="tx1"/>
                </a:solidFill>
                <a:effectLst/>
                <a:latin typeface="+mn-lt"/>
                <a:ea typeface="+mn-ea"/>
                <a:cs typeface="+mn-cs"/>
              </a:rPr>
              <a:t>並確認設定成功 以方便後續測試</a:t>
            </a:r>
            <a:r>
              <a:rPr lang="en-US" altLang="zh-TW" sz="1200" b="0" i="0" u="none" strike="noStrike" kern="1200" dirty="0">
                <a:solidFill>
                  <a:schemeClr val="tx1"/>
                </a:solidFill>
                <a:effectLst/>
                <a:latin typeface="+mn-lt"/>
                <a:ea typeface="+mn-ea"/>
                <a:cs typeface="+mn-cs"/>
              </a:rPr>
              <a:t>. (mode 2 </a:t>
            </a:r>
            <a:r>
              <a:rPr lang="en-US" altLang="zh-TW" sz="1200" b="1" i="0" u="none" strike="noStrike" kern="1200" dirty="0">
                <a:solidFill>
                  <a:schemeClr val="tx1"/>
                </a:solidFill>
                <a:effectLst/>
                <a:latin typeface="+mn-lt"/>
                <a:ea typeface="+mn-ea"/>
                <a:cs typeface="+mn-cs"/>
              </a:rPr>
              <a:t>SMT </a:t>
            </a:r>
            <a:r>
              <a:rPr lang="zh-TW" altLang="en-US" sz="1200" b="1" i="0" u="none" strike="noStrike" kern="1200" dirty="0">
                <a:solidFill>
                  <a:schemeClr val="tx1"/>
                </a:solidFill>
                <a:effectLst/>
                <a:latin typeface="+mn-lt"/>
                <a:ea typeface="+mn-ea"/>
                <a:cs typeface="+mn-cs"/>
              </a:rPr>
              <a:t>工廠線（裸板 </a:t>
            </a:r>
            <a:r>
              <a:rPr lang="en-US" altLang="zh-TW" sz="1200" b="1" i="0" u="none" strike="noStrike" kern="1200" dirty="0">
                <a:solidFill>
                  <a:schemeClr val="tx1"/>
                </a:solidFill>
                <a:effectLst/>
                <a:latin typeface="+mn-lt"/>
                <a:ea typeface="+mn-ea"/>
                <a:cs typeface="+mn-cs"/>
              </a:rPr>
              <a:t>MLB</a:t>
            </a:r>
            <a:r>
              <a:rPr lang="zh-TW" altLang="en-US" sz="1200" b="1" i="0" u="none" strike="noStrike" kern="1200" dirty="0">
                <a:solidFill>
                  <a:schemeClr val="tx1"/>
                </a:solidFill>
                <a:effectLst/>
                <a:latin typeface="+mn-lt"/>
                <a:ea typeface="+mn-ea"/>
                <a:cs typeface="+mn-cs"/>
              </a:rPr>
              <a:t>）測試用</a:t>
            </a:r>
            <a:r>
              <a:rPr lang="en-US" altLang="zh-TW" sz="1200" b="1" i="0" u="none" strike="noStrike" kern="1200" dirty="0">
                <a:solidFill>
                  <a:schemeClr val="tx1"/>
                </a:solidFill>
                <a:effectLst/>
                <a:latin typeface="+mn-lt"/>
                <a:ea typeface="+mn-ea"/>
                <a:cs typeface="+mn-cs"/>
              </a:rPr>
              <a:t>  </a:t>
            </a:r>
            <a:r>
              <a:rPr lang="zh-TW" altLang="en-US" sz="1200" b="1" i="0" u="none" strike="noStrike" kern="1200" dirty="0">
                <a:solidFill>
                  <a:schemeClr val="tx1"/>
                </a:solidFill>
                <a:effectLst/>
                <a:latin typeface="+mn-lt"/>
                <a:ea typeface="+mn-ea"/>
                <a:cs typeface="+mn-cs"/>
              </a:rPr>
              <a:t>最高效能 </a:t>
            </a:r>
            <a:r>
              <a:rPr lang="en-US" altLang="zh-TW" sz="1200" b="1" i="0" u="none" strike="noStrike" kern="1200" dirty="0">
                <a:solidFill>
                  <a:schemeClr val="tx1"/>
                </a:solidFill>
                <a:effectLst/>
                <a:latin typeface="+mn-lt"/>
                <a:ea typeface="+mn-ea"/>
                <a:cs typeface="+mn-cs"/>
              </a:rPr>
              <a:t>/ </a:t>
            </a:r>
            <a:r>
              <a:rPr lang="zh-TW" altLang="en-US" sz="1200" b="1" i="0" u="none" strike="noStrike" kern="1200" dirty="0">
                <a:solidFill>
                  <a:schemeClr val="tx1"/>
                </a:solidFill>
                <a:effectLst/>
                <a:latin typeface="+mn-lt"/>
                <a:ea typeface="+mn-ea"/>
                <a:cs typeface="+mn-cs"/>
              </a:rPr>
              <a:t>高功耗</a:t>
            </a:r>
            <a:r>
              <a:rPr lang="en-US" altLang="zh-TW" sz="1200" b="0" i="0" u="none" strike="noStrike" kern="1200" dirty="0">
                <a:solidFill>
                  <a:schemeClr val="tx1"/>
                </a:solidFill>
                <a:effectLst/>
                <a:latin typeface="+mn-lt"/>
                <a:ea typeface="+mn-ea"/>
                <a:cs typeface="+mn-cs"/>
              </a:rPr>
              <a:t>)</a:t>
            </a:r>
            <a:endParaRPr lang="zh-TW" altLang="zh-TW" sz="1200" b="0" i="0" u="none" strike="noStrike" kern="1200" dirty="0">
              <a:solidFill>
                <a:schemeClr val="tx1"/>
              </a:solidFill>
              <a:effectLst/>
              <a:latin typeface="+mn-lt"/>
              <a:ea typeface="+mn-ea"/>
              <a:cs typeface="+mn-cs"/>
            </a:endParaRPr>
          </a:p>
          <a:p>
            <a:pPr rtl="0" eaLnBrk="1" fontAlgn="auto" latinLnBrk="0" hangingPunct="1">
              <a:lnSpc>
                <a:spcPct val="150000"/>
              </a:lnSpc>
            </a:pPr>
            <a:r>
              <a:rPr lang="en-US" altLang="zh-TW" sz="1200" b="0" i="0" u="none" strike="noStrike" kern="1200" dirty="0" err="1">
                <a:solidFill>
                  <a:schemeClr val="tx1"/>
                </a:solidFill>
                <a:effectLst/>
                <a:latin typeface="+mn-lt"/>
                <a:ea typeface="+mn-ea"/>
                <a:cs typeface="+mn-cs"/>
              </a:rPr>
              <a:t>PowerMux</a:t>
            </a:r>
            <a:r>
              <a:rPr lang="zh-TW" altLang="en-US" sz="1200" b="0" i="0" u="none" strike="noStrike" kern="1200" dirty="0">
                <a:solidFill>
                  <a:schemeClr val="tx1"/>
                </a:solidFill>
                <a:effectLst/>
                <a:latin typeface="+mn-lt"/>
                <a:ea typeface="+mn-ea"/>
                <a:cs typeface="+mn-cs"/>
              </a:rPr>
              <a:t>：讀取</a:t>
            </a:r>
            <a:r>
              <a:rPr lang="en-US" altLang="zh-TW" sz="1200" b="0" kern="1200" dirty="0">
                <a:solidFill>
                  <a:schemeClr val="tx1"/>
                </a:solidFill>
                <a:effectLst/>
                <a:latin typeface="+mn-lt"/>
                <a:ea typeface="+mn-ea"/>
                <a:cs typeface="+mn-cs"/>
              </a:rPr>
              <a:t>GPIO</a:t>
            </a:r>
            <a:r>
              <a:rPr lang="zh-TW" altLang="en-US" sz="1200" b="0" kern="1200" dirty="0">
                <a:solidFill>
                  <a:schemeClr val="tx1"/>
                </a:solidFill>
                <a:effectLst/>
                <a:latin typeface="+mn-lt"/>
                <a:ea typeface="+mn-ea"/>
                <a:cs typeface="+mn-cs"/>
              </a:rPr>
              <a:t> 晶片資料</a:t>
            </a:r>
            <a:endParaRPr lang="zh-TW" altLang="zh-TW" sz="1200" b="0" i="0" u="none" strike="noStrike" kern="1200" dirty="0">
              <a:solidFill>
                <a:schemeClr val="tx1"/>
              </a:solidFill>
              <a:effectLst/>
              <a:latin typeface="+mn-lt"/>
              <a:ea typeface="+mn-ea"/>
              <a:cs typeface="+mn-cs"/>
            </a:endParaRPr>
          </a:p>
          <a:p>
            <a:pPr rtl="0" eaLnBrk="1" fontAlgn="auto" latinLnBrk="0" hangingPunct="1">
              <a:lnSpc>
                <a:spcPct val="150000"/>
              </a:lnSpc>
            </a:pPr>
            <a:r>
              <a:rPr lang="en-US" altLang="zh-TW" sz="1200" b="0" i="0" u="none" strike="noStrike" kern="1200" dirty="0">
                <a:solidFill>
                  <a:schemeClr val="tx1"/>
                </a:solidFill>
                <a:effectLst/>
                <a:latin typeface="+mn-lt"/>
                <a:ea typeface="+mn-ea"/>
                <a:cs typeface="+mn-cs"/>
              </a:rPr>
              <a:t>Battery</a:t>
            </a:r>
            <a:r>
              <a:rPr lang="zh-TW" altLang="en-US" sz="1200" b="0" i="0" u="none" strike="noStrike" kern="1200" dirty="0">
                <a:solidFill>
                  <a:schemeClr val="tx1"/>
                </a:solidFill>
                <a:effectLst/>
                <a:latin typeface="+mn-lt"/>
                <a:ea typeface="+mn-ea"/>
                <a:cs typeface="+mn-cs"/>
              </a:rPr>
              <a:t>（</a:t>
            </a:r>
            <a:r>
              <a:rPr lang="en-US" altLang="zh-TW" sz="1200" b="0" i="0" u="none" strike="noStrike" kern="1200" dirty="0">
                <a:solidFill>
                  <a:schemeClr val="tx1"/>
                </a:solidFill>
                <a:effectLst/>
                <a:latin typeface="+mn-lt"/>
                <a:ea typeface="+mn-ea"/>
                <a:cs typeface="+mn-cs"/>
              </a:rPr>
              <a:t>Dis / Charge</a:t>
            </a:r>
            <a:r>
              <a:rPr lang="zh-TW" altLang="en-US" sz="1200" b="0" i="0" u="none" strike="noStrike" kern="1200" dirty="0">
                <a:solidFill>
                  <a:schemeClr val="tx1"/>
                </a:solidFill>
                <a:effectLst/>
                <a:latin typeface="+mn-lt"/>
                <a:ea typeface="+mn-ea"/>
                <a:cs typeface="+mn-cs"/>
              </a:rPr>
              <a:t>）</a:t>
            </a:r>
            <a:r>
              <a:rPr lang="en-US" altLang="zh-TW" sz="1200" b="0" i="0" u="none" strike="noStrike" kern="1200" dirty="0">
                <a:solidFill>
                  <a:schemeClr val="tx1"/>
                </a:solidFill>
                <a:effectLst/>
                <a:latin typeface="+mn-lt"/>
                <a:ea typeface="+mn-ea"/>
                <a:cs typeface="+mn-cs"/>
              </a:rPr>
              <a:t>Status</a:t>
            </a:r>
            <a:r>
              <a:rPr lang="zh-TW" altLang="en-US" sz="1200" b="0" i="0" u="none" strike="noStrike" kern="1200" dirty="0">
                <a:solidFill>
                  <a:schemeClr val="tx1"/>
                </a:solidFill>
                <a:effectLst/>
                <a:latin typeface="+mn-lt"/>
                <a:ea typeface="+mn-ea"/>
                <a:cs typeface="+mn-cs"/>
              </a:rPr>
              <a:t>：驗證充電盒在充電和未充電下的電壓、電流、電量和溫度</a:t>
            </a:r>
            <a:endParaRPr lang="zh-TW" altLang="zh-TW" sz="1200" b="0" i="0" u="none" strike="noStrike" kern="1200" dirty="0">
              <a:solidFill>
                <a:schemeClr val="tx1"/>
              </a:solidFill>
              <a:effectLst/>
              <a:latin typeface="+mn-lt"/>
              <a:ea typeface="+mn-ea"/>
              <a:cs typeface="+mn-cs"/>
            </a:endParaRPr>
          </a:p>
          <a:p>
            <a:pPr rtl="0" eaLnBrk="1" fontAlgn="auto" latinLnBrk="0" hangingPunct="1">
              <a:lnSpc>
                <a:spcPct val="150000"/>
              </a:lnSpc>
            </a:pPr>
            <a:r>
              <a:rPr lang="en-US" altLang="zh-TW" sz="1200" b="0" i="0" u="none" strike="noStrike" kern="1200" dirty="0">
                <a:solidFill>
                  <a:schemeClr val="tx1"/>
                </a:solidFill>
                <a:effectLst/>
                <a:latin typeface="+mn-lt"/>
                <a:ea typeface="+mn-ea"/>
                <a:cs typeface="+mn-cs"/>
              </a:rPr>
              <a:t>Info</a:t>
            </a:r>
            <a:r>
              <a:rPr lang="zh-TW" altLang="en-US" sz="1200" b="0" i="0" u="none" strike="noStrike" kern="1200" dirty="0">
                <a:solidFill>
                  <a:schemeClr val="tx1"/>
                </a:solidFill>
                <a:effectLst/>
                <a:latin typeface="+mn-lt"/>
                <a:ea typeface="+mn-ea"/>
                <a:cs typeface="+mn-cs"/>
              </a:rPr>
              <a:t>：確認電池狀態與電量記晶片的校準資訊並重新設定</a:t>
            </a:r>
            <a:endParaRPr lang="zh-TW" altLang="zh-TW" sz="1200" b="0" i="0" u="none" strike="noStrike" kern="1200" dirty="0">
              <a:solidFill>
                <a:schemeClr val="tx1"/>
              </a:solidFill>
              <a:effectLst/>
              <a:latin typeface="+mn-lt"/>
              <a:ea typeface="+mn-ea"/>
              <a:cs typeface="+mn-cs"/>
            </a:endParaRPr>
          </a:p>
          <a:p>
            <a:pPr rtl="0" eaLnBrk="1" fontAlgn="auto" latinLnBrk="0" hangingPunct="1">
              <a:lnSpc>
                <a:spcPct val="150000"/>
              </a:lnSpc>
            </a:pPr>
            <a:r>
              <a:rPr lang="en-US" altLang="zh-TW" sz="1200" b="0" i="0" u="none" strike="noStrike" kern="1200" dirty="0">
                <a:solidFill>
                  <a:schemeClr val="tx1"/>
                </a:solidFill>
                <a:effectLst/>
                <a:latin typeface="+mn-lt"/>
                <a:ea typeface="+mn-ea"/>
                <a:cs typeface="+mn-cs"/>
              </a:rPr>
              <a:t>Brightness</a:t>
            </a:r>
            <a:r>
              <a:rPr lang="zh-TW" altLang="en-US" sz="1200" b="0" i="0" u="none" strike="noStrike" kern="1200" dirty="0">
                <a:solidFill>
                  <a:schemeClr val="tx1"/>
                </a:solidFill>
                <a:effectLst/>
                <a:latin typeface="+mn-lt"/>
                <a:ea typeface="+mn-ea"/>
                <a:cs typeface="+mn-cs"/>
              </a:rPr>
              <a:t>：量測充電盒的</a:t>
            </a:r>
            <a:r>
              <a:rPr lang="en-US" altLang="zh-TW" sz="1200" b="0" i="0" u="none" strike="noStrike" kern="1200" dirty="0">
                <a:solidFill>
                  <a:schemeClr val="tx1"/>
                </a:solidFill>
                <a:effectLst/>
                <a:latin typeface="+mn-lt"/>
                <a:ea typeface="+mn-ea"/>
                <a:cs typeface="+mn-cs"/>
              </a:rPr>
              <a:t>LED</a:t>
            </a:r>
            <a:r>
              <a:rPr lang="zh-TW" altLang="en-US" sz="1200" b="0" i="0" u="none" strike="noStrike" kern="1200" dirty="0">
                <a:solidFill>
                  <a:schemeClr val="tx1"/>
                </a:solidFill>
                <a:effectLst/>
                <a:latin typeface="+mn-lt"/>
                <a:ea typeface="+mn-ea"/>
                <a:cs typeface="+mn-cs"/>
              </a:rPr>
              <a:t>指示燈在無光、白光、紅光等情況下的各項參數（光強度）</a:t>
            </a:r>
            <a:endParaRPr lang="zh-TW" altLang="zh-TW" sz="1200" b="0" i="0" u="none" strike="noStrike" kern="1200" dirty="0">
              <a:solidFill>
                <a:schemeClr val="tx1"/>
              </a:solidFill>
              <a:effectLst/>
              <a:latin typeface="+mn-lt"/>
              <a:ea typeface="+mn-ea"/>
              <a:cs typeface="+mn-cs"/>
            </a:endParaRPr>
          </a:p>
          <a:p>
            <a:pPr rtl="0" eaLnBrk="1" fontAlgn="auto" latinLnBrk="0" hangingPunct="1">
              <a:lnSpc>
                <a:spcPct val="150000"/>
              </a:lnSpc>
            </a:pPr>
            <a:r>
              <a:rPr lang="en-US" altLang="zh-TW" sz="1200" b="0" i="0" u="none" strike="noStrike" kern="1200" dirty="0" err="1">
                <a:solidFill>
                  <a:schemeClr val="tx1"/>
                </a:solidFill>
                <a:effectLst/>
                <a:latin typeface="+mn-lt"/>
                <a:ea typeface="+mn-ea"/>
                <a:cs typeface="+mn-cs"/>
              </a:rPr>
              <a:t>GPIOCheck_Button</a:t>
            </a:r>
            <a:r>
              <a:rPr lang="en-US" altLang="zh-TW" sz="1200" b="0" i="0" u="none" strike="noStrike" kern="1200" dirty="0">
                <a:solidFill>
                  <a:schemeClr val="tx1"/>
                </a:solidFill>
                <a:effectLst/>
                <a:latin typeface="+mn-lt"/>
                <a:ea typeface="+mn-ea"/>
                <a:cs typeface="+mn-cs"/>
              </a:rPr>
              <a:t>_(Status)</a:t>
            </a:r>
            <a:r>
              <a:rPr lang="zh-TW" altLang="en-US" sz="1200" b="0" i="0" u="none" strike="noStrike" kern="1200" dirty="0">
                <a:solidFill>
                  <a:schemeClr val="tx1"/>
                </a:solidFill>
                <a:effectLst/>
                <a:latin typeface="+mn-lt"/>
                <a:ea typeface="+mn-ea"/>
                <a:cs typeface="+mn-cs"/>
              </a:rPr>
              <a:t>：指令控制汽缸下壓按鈕並確認按鈕狀態</a:t>
            </a:r>
            <a:endParaRPr lang="zh-TW" altLang="zh-TW" sz="1200" b="0" i="0" u="none" strike="noStrike" kern="1200" dirty="0">
              <a:solidFill>
                <a:schemeClr val="tx1"/>
              </a:solidFill>
              <a:effectLst/>
              <a:latin typeface="+mn-lt"/>
              <a:ea typeface="+mn-ea"/>
              <a:cs typeface="+mn-cs"/>
            </a:endParaRPr>
          </a:p>
          <a:p>
            <a:pPr rtl="0" eaLnBrk="1" fontAlgn="auto" latinLnBrk="0" hangingPunct="1">
              <a:lnSpc>
                <a:spcPct val="150000"/>
              </a:lnSpc>
            </a:pPr>
            <a:r>
              <a:rPr lang="en-US" altLang="zh-TW" sz="1200" b="0" i="0" u="none" strike="noStrike" kern="1200" dirty="0">
                <a:solidFill>
                  <a:schemeClr val="tx1"/>
                </a:solidFill>
                <a:effectLst/>
                <a:latin typeface="+mn-lt"/>
                <a:ea typeface="+mn-ea"/>
                <a:cs typeface="+mn-cs"/>
              </a:rPr>
              <a:t>OVP</a:t>
            </a:r>
            <a:r>
              <a:rPr lang="zh-TW" altLang="en-US" sz="1200" b="0" i="0" u="none" strike="noStrike" kern="1200" dirty="0">
                <a:solidFill>
                  <a:schemeClr val="tx1"/>
                </a:solidFill>
                <a:effectLst/>
                <a:latin typeface="+mn-lt"/>
                <a:ea typeface="+mn-ea"/>
                <a:cs typeface="+mn-cs"/>
              </a:rPr>
              <a:t>：驗證</a:t>
            </a:r>
            <a:r>
              <a:rPr lang="en-US" altLang="zh-TW" sz="1200" b="0" i="0" u="none" strike="noStrike" kern="1200" dirty="0">
                <a:solidFill>
                  <a:schemeClr val="tx1"/>
                </a:solidFill>
                <a:effectLst/>
                <a:latin typeface="+mn-lt"/>
                <a:ea typeface="+mn-ea"/>
                <a:cs typeface="+mn-cs"/>
              </a:rPr>
              <a:t>VBUS</a:t>
            </a:r>
            <a:r>
              <a:rPr lang="zh-TW" altLang="en-US" sz="1200" b="0" i="0" u="none" strike="noStrike" kern="1200" dirty="0">
                <a:solidFill>
                  <a:schemeClr val="tx1"/>
                </a:solidFill>
                <a:effectLst/>
                <a:latin typeface="+mn-lt"/>
                <a:ea typeface="+mn-ea"/>
                <a:cs typeface="+mn-cs"/>
              </a:rPr>
              <a:t>在過壓保護（</a:t>
            </a:r>
            <a:r>
              <a:rPr lang="en-US" altLang="zh-TW" sz="1200" b="0" i="0" u="none" strike="noStrike" kern="1200" dirty="0">
                <a:solidFill>
                  <a:schemeClr val="tx1"/>
                </a:solidFill>
                <a:effectLst/>
                <a:latin typeface="+mn-lt"/>
                <a:ea typeface="+mn-ea"/>
                <a:cs typeface="+mn-cs"/>
              </a:rPr>
              <a:t>OVP</a:t>
            </a:r>
            <a:r>
              <a:rPr lang="zh-TW" altLang="en-US" sz="1200" b="0" i="0" u="none" strike="noStrike" kern="1200" dirty="0">
                <a:solidFill>
                  <a:schemeClr val="tx1"/>
                </a:solidFill>
                <a:effectLst/>
                <a:latin typeface="+mn-lt"/>
                <a:ea typeface="+mn-ea"/>
                <a:cs typeface="+mn-cs"/>
              </a:rPr>
              <a:t>）開啟的狀態下電壓值在正常區間</a:t>
            </a:r>
            <a:endParaRPr lang="zh-TW" altLang="zh-TW" sz="1200" b="0" i="0" u="none" strike="noStrike" kern="1200" dirty="0">
              <a:solidFill>
                <a:schemeClr val="tx1"/>
              </a:solidFill>
              <a:effectLst/>
              <a:latin typeface="+mn-lt"/>
              <a:ea typeface="+mn-ea"/>
              <a:cs typeface="+mn-cs"/>
            </a:endParaRPr>
          </a:p>
          <a:p>
            <a:pPr rtl="0" eaLnBrk="1" fontAlgn="auto" latinLnBrk="0" hangingPunct="1">
              <a:lnSpc>
                <a:spcPct val="150000"/>
              </a:lnSpc>
            </a:pPr>
            <a:r>
              <a:rPr lang="en-US" altLang="zh-TW" sz="1200" b="0" i="0" u="none" strike="noStrike" kern="1200" dirty="0">
                <a:solidFill>
                  <a:schemeClr val="tx1"/>
                </a:solidFill>
                <a:effectLst/>
                <a:latin typeface="+mn-lt"/>
                <a:ea typeface="+mn-ea"/>
                <a:cs typeface="+mn-cs"/>
              </a:rPr>
              <a:t>Transition</a:t>
            </a:r>
            <a:r>
              <a:rPr lang="zh-TW" altLang="en-US" sz="1200" b="0" i="0" u="none" strike="noStrike" kern="1200" dirty="0">
                <a:solidFill>
                  <a:schemeClr val="tx1"/>
                </a:solidFill>
                <a:effectLst/>
                <a:latin typeface="+mn-lt"/>
                <a:ea typeface="+mn-ea"/>
                <a:cs typeface="+mn-cs"/>
              </a:rPr>
              <a:t>：測試充電盒進入</a:t>
            </a:r>
            <a:r>
              <a:rPr lang="en-US" altLang="zh-TW" sz="1200" b="0" kern="1200" dirty="0">
                <a:solidFill>
                  <a:schemeClr val="tx1"/>
                </a:solidFill>
                <a:effectLst/>
                <a:latin typeface="+mn-lt"/>
                <a:ea typeface="+mn-ea"/>
                <a:cs typeface="+mn-cs"/>
              </a:rPr>
              <a:t>ship mode</a:t>
            </a:r>
            <a:r>
              <a:rPr lang="zh-TW" altLang="en-US" sz="1200" b="0" kern="1200" dirty="0">
                <a:solidFill>
                  <a:schemeClr val="tx1"/>
                </a:solidFill>
                <a:effectLst/>
                <a:latin typeface="+mn-lt"/>
                <a:ea typeface="+mn-ea"/>
                <a:cs typeface="+mn-cs"/>
              </a:rPr>
              <a:t>功能後退出（斷連後重新連結）</a:t>
            </a:r>
            <a:endParaRPr lang="zh-TW" altLang="zh-TW" sz="1200" b="0" i="0" u="none" strike="noStrike" kern="1200" dirty="0">
              <a:solidFill>
                <a:schemeClr val="tx1"/>
              </a:solidFill>
              <a:effectLst/>
              <a:latin typeface="+mn-lt"/>
              <a:ea typeface="+mn-ea"/>
              <a:cs typeface="+mn-cs"/>
            </a:endParaRPr>
          </a:p>
          <a:p>
            <a:pPr rtl="0" eaLnBrk="1" fontAlgn="auto" latinLnBrk="0" hangingPunct="1">
              <a:lnSpc>
                <a:spcPct val="150000"/>
              </a:lnSpc>
            </a:pPr>
            <a:r>
              <a:rPr lang="en-US" altLang="zh-TW" sz="1200" b="0" i="0" u="none" strike="noStrike" kern="1200" dirty="0">
                <a:solidFill>
                  <a:schemeClr val="tx1"/>
                </a:solidFill>
                <a:effectLst/>
                <a:latin typeface="+mn-lt"/>
                <a:ea typeface="+mn-ea"/>
                <a:cs typeface="+mn-cs"/>
              </a:rPr>
              <a:t>Constant</a:t>
            </a:r>
            <a:r>
              <a:rPr lang="zh-TW" altLang="en-US" sz="1200" b="0" i="0" u="none" strike="noStrike" kern="1200" dirty="0">
                <a:solidFill>
                  <a:schemeClr val="tx1"/>
                </a:solidFill>
                <a:effectLst/>
                <a:latin typeface="+mn-lt"/>
                <a:ea typeface="+mn-ea"/>
                <a:cs typeface="+mn-cs"/>
              </a:rPr>
              <a:t>：量測左右耳 </a:t>
            </a:r>
            <a:r>
              <a:rPr lang="en-US" altLang="zh-TW" sz="1200" b="0" i="0" u="none" strike="noStrike" kern="1200" dirty="0">
                <a:solidFill>
                  <a:schemeClr val="tx1"/>
                </a:solidFill>
                <a:effectLst/>
                <a:latin typeface="+mn-lt"/>
                <a:ea typeface="+mn-ea"/>
                <a:cs typeface="+mn-cs"/>
              </a:rPr>
              <a:t>POS</a:t>
            </a:r>
            <a:r>
              <a:rPr lang="zh-TW" altLang="en-US" sz="1200" b="0" i="0" u="none" strike="noStrike" kern="1200" dirty="0">
                <a:solidFill>
                  <a:schemeClr val="tx1"/>
                </a:solidFill>
                <a:effectLst/>
                <a:latin typeface="+mn-lt"/>
                <a:ea typeface="+mn-ea"/>
                <a:cs typeface="+mn-cs"/>
              </a:rPr>
              <a:t>端 在有</a:t>
            </a:r>
            <a:r>
              <a:rPr lang="en-US" altLang="zh-TW" sz="1200" b="0" i="0" u="none" strike="noStrike" kern="1200" dirty="0">
                <a:solidFill>
                  <a:schemeClr val="tx1"/>
                </a:solidFill>
                <a:effectLst/>
                <a:latin typeface="+mn-lt"/>
                <a:ea typeface="+mn-ea"/>
                <a:cs typeface="+mn-cs"/>
              </a:rPr>
              <a:t>/</a:t>
            </a:r>
            <a:r>
              <a:rPr lang="zh-TW" altLang="en-US" sz="1200" b="0" i="0" u="none" strike="noStrike" kern="1200" dirty="0">
                <a:solidFill>
                  <a:schemeClr val="tx1"/>
                </a:solidFill>
                <a:effectLst/>
                <a:latin typeface="+mn-lt"/>
                <a:ea typeface="+mn-ea"/>
                <a:cs typeface="+mn-cs"/>
              </a:rPr>
              <a:t>無電子負載時的輸出電壓和電流 （確認 </a:t>
            </a:r>
            <a:r>
              <a:rPr lang="en-US" altLang="zh-TW" sz="1200" b="0" i="0" u="none" strike="noStrike" kern="1200" dirty="0">
                <a:solidFill>
                  <a:schemeClr val="tx1"/>
                </a:solidFill>
                <a:effectLst/>
                <a:latin typeface="+mn-lt"/>
                <a:ea typeface="+mn-ea"/>
                <a:cs typeface="+mn-cs"/>
              </a:rPr>
              <a:t>Case </a:t>
            </a:r>
            <a:r>
              <a:rPr lang="zh-TW" altLang="en-US" sz="1200" b="0" i="0" u="none" strike="noStrike" kern="1200" dirty="0">
                <a:solidFill>
                  <a:schemeClr val="tx1"/>
                </a:solidFill>
                <a:effectLst/>
                <a:latin typeface="+mn-lt"/>
                <a:ea typeface="+mn-ea"/>
                <a:cs typeface="+mn-cs"/>
              </a:rPr>
              <a:t>的 </a:t>
            </a:r>
            <a:r>
              <a:rPr lang="en-US" altLang="zh-TW" sz="1200" b="1" i="0" u="none" strike="noStrike" kern="1200" dirty="0">
                <a:solidFill>
                  <a:schemeClr val="tx1"/>
                </a:solidFill>
                <a:effectLst/>
                <a:latin typeface="+mn-lt"/>
                <a:ea typeface="+mn-ea"/>
                <a:cs typeface="+mn-cs"/>
              </a:rPr>
              <a:t>5V </a:t>
            </a:r>
            <a:r>
              <a:rPr lang="zh-TW" altLang="en-US" sz="1200" b="1" i="0" u="none" strike="noStrike" kern="1200" dirty="0">
                <a:solidFill>
                  <a:schemeClr val="tx1"/>
                </a:solidFill>
                <a:effectLst/>
                <a:latin typeface="+mn-lt"/>
                <a:ea typeface="+mn-ea"/>
                <a:cs typeface="+mn-cs"/>
              </a:rPr>
              <a:t>電源輸出功能正常</a:t>
            </a:r>
            <a:r>
              <a:rPr lang="zh-TW" altLang="en-US" sz="1200" b="0" i="0" u="none" strike="noStrike" kern="1200" dirty="0">
                <a:solidFill>
                  <a:schemeClr val="tx1"/>
                </a:solidFill>
                <a:effectLst/>
                <a:latin typeface="+mn-lt"/>
                <a:ea typeface="+mn-ea"/>
                <a:cs typeface="+mn-cs"/>
              </a:rPr>
              <a:t>）</a:t>
            </a:r>
            <a:endParaRPr lang="zh-TW" altLang="zh-TW" sz="1200" b="0" i="0" u="none" strike="noStrike" kern="1200" dirty="0">
              <a:solidFill>
                <a:schemeClr val="tx1"/>
              </a:solidFill>
              <a:effectLst/>
              <a:latin typeface="+mn-lt"/>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lang="en-US" altLang="zh-TW" sz="1200" b="0" i="0" u="none" strike="noStrike" kern="1200" dirty="0" err="1">
                <a:solidFill>
                  <a:schemeClr val="tx1"/>
                </a:solidFill>
                <a:effectLst/>
                <a:latin typeface="+mn-lt"/>
                <a:ea typeface="+mn-ea"/>
                <a:cs typeface="+mn-cs"/>
              </a:rPr>
              <a:t>ConnectivityTest_BuddyLink</a:t>
            </a:r>
            <a:r>
              <a:rPr lang="en-US" altLang="zh-TW" sz="1200" b="0" i="0" u="none" strike="noStrike" kern="1200" dirty="0">
                <a:solidFill>
                  <a:schemeClr val="tx1"/>
                </a:solidFill>
                <a:effectLst/>
                <a:latin typeface="+mn-lt"/>
                <a:ea typeface="+mn-ea"/>
                <a:cs typeface="+mn-cs"/>
              </a:rPr>
              <a:t>(Right/Left)</a:t>
            </a:r>
            <a:r>
              <a:rPr lang="zh-TW" altLang="en-US" sz="1200" b="0" i="0" u="none" strike="noStrike" kern="1200" dirty="0">
                <a:solidFill>
                  <a:schemeClr val="tx1"/>
                </a:solidFill>
                <a:effectLst/>
                <a:latin typeface="+mn-lt"/>
                <a:ea typeface="+mn-ea"/>
                <a:cs typeface="+mn-cs"/>
              </a:rPr>
              <a:t>：確認左右真耳與充電盒的通訊狀態（</a:t>
            </a:r>
            <a:r>
              <a:rPr lang="en-US" altLang="zh-TW" sz="1200" kern="1200" dirty="0">
                <a:solidFill>
                  <a:schemeClr val="tx1"/>
                </a:solidFill>
                <a:effectLst/>
                <a:latin typeface="+mn-lt"/>
                <a:ea typeface="+mn-ea"/>
                <a:cs typeface="+mn-cs"/>
              </a:rPr>
              <a:t>bud detect L/R</a:t>
            </a:r>
            <a:r>
              <a:rPr lang="zh-TW" altLang="en-US" sz="1200" kern="1200" dirty="0">
                <a:solidFill>
                  <a:schemeClr val="tx1"/>
                </a:solidFill>
                <a:effectLst/>
                <a:latin typeface="+mn-lt"/>
                <a:ea typeface="+mn-ea"/>
                <a:cs typeface="+mn-cs"/>
              </a:rPr>
              <a:t>）</a:t>
            </a:r>
            <a:r>
              <a:rPr lang="zh-TW" altLang="en-US" sz="1200" b="0" i="0" u="none" strike="noStrike" kern="1200" dirty="0">
                <a:solidFill>
                  <a:schemeClr val="tx1"/>
                </a:solidFill>
                <a:effectLst/>
                <a:latin typeface="+mn-lt"/>
                <a:ea typeface="+mn-ea"/>
                <a:cs typeface="+mn-cs"/>
              </a:rPr>
              <a:t>、發送指令讀取 </a:t>
            </a:r>
            <a:r>
              <a:rPr lang="en-US" altLang="zh-TW" sz="1200" b="0" i="0" u="none" strike="noStrike" kern="1200" dirty="0">
                <a:solidFill>
                  <a:schemeClr val="tx1"/>
                </a:solidFill>
                <a:effectLst/>
                <a:latin typeface="+mn-lt"/>
                <a:ea typeface="+mn-ea"/>
                <a:cs typeface="+mn-cs"/>
              </a:rPr>
              <a:t>TX </a:t>
            </a:r>
            <a:r>
              <a:rPr lang="zh-TW" altLang="en-US" sz="1200" b="0" i="0" u="none" strike="noStrike" kern="1200" dirty="0">
                <a:solidFill>
                  <a:schemeClr val="tx1"/>
                </a:solidFill>
                <a:effectLst/>
                <a:latin typeface="+mn-lt"/>
                <a:ea typeface="+mn-ea"/>
                <a:cs typeface="+mn-cs"/>
              </a:rPr>
              <a:t>與 </a:t>
            </a:r>
            <a:r>
              <a:rPr lang="en-US" altLang="zh-TW" sz="1200" b="0" i="0" u="none" strike="noStrike" kern="1200" dirty="0">
                <a:solidFill>
                  <a:schemeClr val="tx1"/>
                </a:solidFill>
                <a:effectLst/>
                <a:latin typeface="+mn-lt"/>
                <a:ea typeface="+mn-ea"/>
                <a:cs typeface="+mn-cs"/>
              </a:rPr>
              <a:t>RX </a:t>
            </a:r>
            <a:r>
              <a:rPr lang="zh-TW" altLang="en-US" sz="1200" b="0" i="0" u="none" strike="noStrike" kern="1200" dirty="0">
                <a:solidFill>
                  <a:schemeClr val="tx1"/>
                </a:solidFill>
                <a:effectLst/>
                <a:latin typeface="+mn-lt"/>
                <a:ea typeface="+mn-ea"/>
                <a:cs typeface="+mn-cs"/>
              </a:rPr>
              <a:t>確認通訊功能（</a:t>
            </a:r>
            <a:r>
              <a:rPr lang="en-US" altLang="zh-TW" sz="1200" kern="1200" dirty="0">
                <a:solidFill>
                  <a:schemeClr val="tx1"/>
                </a:solidFill>
                <a:effectLst/>
                <a:latin typeface="+mn-lt"/>
                <a:ea typeface="+mn-ea"/>
                <a:cs typeface="+mn-cs"/>
              </a:rPr>
              <a:t>bud link test</a:t>
            </a:r>
            <a:r>
              <a:rPr lang="zh-TW" altLang="en-US" sz="1200" kern="1200" dirty="0">
                <a:solidFill>
                  <a:schemeClr val="tx1"/>
                </a:solidFill>
                <a:effectLst/>
                <a:latin typeface="+mn-lt"/>
                <a:ea typeface="+mn-ea"/>
                <a:cs typeface="+mn-cs"/>
              </a:rPr>
              <a:t> </a:t>
            </a:r>
            <a:r>
              <a:rPr lang="en-US" altLang="zh-TW" sz="1200" kern="1200" dirty="0">
                <a:solidFill>
                  <a:schemeClr val="tx1"/>
                </a:solidFill>
                <a:effectLst/>
                <a:latin typeface="+mn-lt"/>
                <a:ea typeface="+mn-ea"/>
                <a:cs typeface="+mn-cs"/>
              </a:rPr>
              <a:t>L/R</a:t>
            </a:r>
            <a:r>
              <a:rPr lang="zh-TW" altLang="en-US" sz="1200" kern="1200" dirty="0">
                <a:solidFill>
                  <a:schemeClr val="tx1"/>
                </a:solidFill>
                <a:effectLst/>
                <a:latin typeface="+mn-lt"/>
                <a:ea typeface="+mn-ea"/>
                <a:cs typeface="+mn-cs"/>
              </a:rPr>
              <a:t>）</a:t>
            </a:r>
            <a:endParaRPr lang="zh-TW" altLang="zh-TW" sz="1200" b="0" i="0" u="none" strike="noStrike" kern="1200" dirty="0">
              <a:solidFill>
                <a:schemeClr val="tx1"/>
              </a:solidFill>
              <a:effectLst/>
              <a:latin typeface="+mn-lt"/>
              <a:ea typeface="+mn-ea"/>
              <a:cs typeface="+mn-cs"/>
            </a:endParaRPr>
          </a:p>
          <a:p>
            <a:pPr rtl="0" eaLnBrk="1" fontAlgn="auto" latinLnBrk="0" hangingPunct="1">
              <a:lnSpc>
                <a:spcPct val="150000"/>
              </a:lnSpc>
            </a:pPr>
            <a:r>
              <a:rPr lang="en-US" altLang="zh-TW" sz="1200" b="0" i="0" u="none" strike="noStrike" kern="1200" dirty="0" err="1">
                <a:solidFill>
                  <a:schemeClr val="tx1"/>
                </a:solidFill>
                <a:effectLst/>
                <a:latin typeface="+mn-lt"/>
                <a:ea typeface="+mn-ea"/>
                <a:cs typeface="+mn-cs"/>
              </a:rPr>
              <a:t>LidStatusCheck</a:t>
            </a:r>
            <a:r>
              <a:rPr lang="zh-TW" altLang="en-US" sz="1200" b="0" i="0" u="none" strike="noStrike" kern="1200" dirty="0">
                <a:solidFill>
                  <a:schemeClr val="tx1"/>
                </a:solidFill>
                <a:effectLst/>
                <a:latin typeface="+mn-lt"/>
                <a:ea typeface="+mn-ea"/>
                <a:cs typeface="+mn-cs"/>
              </a:rPr>
              <a:t>：透過</a:t>
            </a:r>
            <a:r>
              <a:rPr lang="en-US" altLang="zh-TW" sz="1200" b="0" i="0" u="none" strike="noStrike" kern="1200" dirty="0">
                <a:solidFill>
                  <a:schemeClr val="tx1"/>
                </a:solidFill>
                <a:effectLst/>
                <a:latin typeface="+mn-lt"/>
                <a:ea typeface="+mn-ea"/>
                <a:cs typeface="+mn-cs"/>
              </a:rPr>
              <a:t>dev lid get </a:t>
            </a:r>
            <a:r>
              <a:rPr lang="zh-TW" altLang="en-US" sz="1200" b="0" i="0" u="none" strike="noStrike" kern="1200" dirty="0">
                <a:solidFill>
                  <a:schemeClr val="tx1"/>
                </a:solidFill>
                <a:effectLst/>
                <a:latin typeface="+mn-lt"/>
                <a:ea typeface="+mn-ea"/>
                <a:cs typeface="+mn-cs"/>
              </a:rPr>
              <a:t>讀取確認充電盒的開關蓋狀況</a:t>
            </a:r>
            <a:r>
              <a:rPr lang="en-US" altLang="zh-TW" sz="1200" b="0" i="0" u="none" strike="noStrike" kern="1200" dirty="0">
                <a:solidFill>
                  <a:schemeClr val="tx1"/>
                </a:solidFill>
                <a:effectLst/>
                <a:latin typeface="+mn-lt"/>
                <a:ea typeface="+mn-ea"/>
                <a:cs typeface="+mn-cs"/>
              </a:rPr>
              <a:t> (Open/Close)</a:t>
            </a:r>
            <a:endParaRPr lang="zh-TW" altLang="zh-TW" sz="1200" b="0" i="0" u="none" strike="noStrike" kern="1200" dirty="0">
              <a:solidFill>
                <a:schemeClr val="tx1"/>
              </a:solidFill>
              <a:effectLst/>
              <a:latin typeface="+mn-lt"/>
              <a:ea typeface="+mn-ea"/>
              <a:cs typeface="+mn-cs"/>
            </a:endParaRPr>
          </a:p>
          <a:p>
            <a:endParaRPr kumimoji="1" lang="zh-TW" altLang="en-US" dirty="0"/>
          </a:p>
          <a:p>
            <a:endParaRPr kumimoji="1" lang="zh-TW" altLang="en-US" dirty="0"/>
          </a:p>
        </p:txBody>
      </p:sp>
    </p:spTree>
    <p:extLst>
      <p:ext uri="{BB962C8B-B14F-4D97-AF65-F5344CB8AC3E}">
        <p14:creationId xmlns:p14="http://schemas.microsoft.com/office/powerpoint/2010/main" val="33076639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2812BA-89F6-790D-292D-2A5B80877F22}"/>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7755D91E-BBB0-5D91-B994-5A5C75306137}"/>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3B80219B-1AAA-5225-CDF8-6B7D6F12997B}"/>
              </a:ext>
            </a:extLst>
          </p:cNvPr>
          <p:cNvSpPr>
            <a:spLocks noGrp="1"/>
          </p:cNvSpPr>
          <p:nvPr>
            <p:ph type="body" idx="1"/>
          </p:nvPr>
        </p:nvSpPr>
        <p:spPr/>
        <p:txBody>
          <a:bodyPr/>
          <a:lstStyle/>
          <a:p>
            <a:pPr rtl="0" eaLnBrk="1" fontAlgn="auto" latinLnBrk="0" hangingPunct="1">
              <a:lnSpc>
                <a:spcPct val="150000"/>
              </a:lnSpc>
            </a:pPr>
            <a:r>
              <a:rPr lang="en-US" altLang="zh-TW" sz="1200" b="0" i="0" u="none" strike="noStrike" kern="1200" dirty="0">
                <a:solidFill>
                  <a:schemeClr val="tx1"/>
                </a:solidFill>
                <a:effectLst/>
                <a:latin typeface="+mn-lt"/>
                <a:ea typeface="+mn-ea"/>
                <a:cs typeface="+mn-cs"/>
              </a:rPr>
              <a:t>DCR</a:t>
            </a:r>
            <a:r>
              <a:rPr lang="zh-TW" altLang="en-US" sz="1200" b="0" i="0" u="none" strike="noStrike" kern="1200" dirty="0">
                <a:solidFill>
                  <a:schemeClr val="tx1"/>
                </a:solidFill>
                <a:effectLst/>
                <a:latin typeface="+mn-lt"/>
                <a:ea typeface="+mn-ea"/>
                <a:cs typeface="+mn-cs"/>
              </a:rPr>
              <a:t>：透過</a:t>
            </a:r>
            <a:r>
              <a:rPr lang="en-US" altLang="zh-TW" sz="1200" b="0" i="0" u="none" strike="noStrike" kern="1200" dirty="0">
                <a:solidFill>
                  <a:schemeClr val="tx1"/>
                </a:solidFill>
                <a:effectLst/>
                <a:latin typeface="+mn-lt"/>
                <a:ea typeface="+mn-ea"/>
                <a:cs typeface="+mn-cs"/>
              </a:rPr>
              <a:t>Dummy bud </a:t>
            </a:r>
            <a:r>
              <a:rPr lang="zh-TW" altLang="en-US" sz="1200" b="0" i="0" u="none" strike="noStrike" kern="1200" dirty="0">
                <a:solidFill>
                  <a:schemeClr val="tx1"/>
                </a:solidFill>
                <a:effectLst/>
                <a:latin typeface="+mn-lt"/>
                <a:ea typeface="+mn-ea"/>
                <a:cs typeface="+mn-cs"/>
              </a:rPr>
              <a:t>，量測</a:t>
            </a:r>
            <a:r>
              <a:rPr lang="en-US" altLang="zh-TW" sz="1200" b="0" i="0" u="none" strike="noStrike" kern="1200" dirty="0">
                <a:solidFill>
                  <a:schemeClr val="tx1"/>
                </a:solidFill>
                <a:effectLst/>
                <a:latin typeface="+mn-lt"/>
                <a:ea typeface="+mn-ea"/>
                <a:cs typeface="+mn-cs"/>
              </a:rPr>
              <a:t>Type-C </a:t>
            </a:r>
            <a:r>
              <a:rPr lang="zh-TW" altLang="en-US" sz="1200" b="0" i="0" u="none" strike="noStrike" kern="1200" dirty="0">
                <a:solidFill>
                  <a:schemeClr val="tx1"/>
                </a:solidFill>
                <a:effectLst/>
                <a:latin typeface="+mn-lt"/>
                <a:ea typeface="+mn-ea"/>
                <a:cs typeface="+mn-cs"/>
              </a:rPr>
              <a:t>端到 </a:t>
            </a:r>
            <a:r>
              <a:rPr lang="en-US" altLang="zh-TW" sz="1200" b="0" i="0" u="none" strike="noStrike" kern="1200" dirty="0">
                <a:solidFill>
                  <a:schemeClr val="tx1"/>
                </a:solidFill>
                <a:effectLst/>
                <a:latin typeface="+mn-lt"/>
                <a:ea typeface="+mn-ea"/>
                <a:cs typeface="+mn-cs"/>
              </a:rPr>
              <a:t>BUD </a:t>
            </a:r>
            <a:r>
              <a:rPr lang="zh-TW" altLang="en-US" sz="1200" b="0" i="0" u="none" strike="noStrike" kern="1200" dirty="0">
                <a:solidFill>
                  <a:schemeClr val="tx1"/>
                </a:solidFill>
                <a:effectLst/>
                <a:latin typeface="+mn-lt"/>
                <a:ea typeface="+mn-ea"/>
                <a:cs typeface="+mn-cs"/>
              </a:rPr>
              <a:t>左／右負極（</a:t>
            </a:r>
            <a:r>
              <a:rPr lang="en-US" altLang="zh-TW" sz="1200" b="0" i="0" u="none" strike="noStrike" kern="1200" dirty="0">
                <a:solidFill>
                  <a:schemeClr val="tx1"/>
                </a:solidFill>
                <a:effectLst/>
                <a:latin typeface="+mn-lt"/>
                <a:ea typeface="+mn-ea"/>
                <a:cs typeface="+mn-cs"/>
              </a:rPr>
              <a:t>BUD_L/R_NEG</a:t>
            </a:r>
            <a:r>
              <a:rPr lang="zh-TW" altLang="en-US" sz="1200" b="0" i="0" u="none" strike="noStrike" kern="1200" dirty="0">
                <a:solidFill>
                  <a:schemeClr val="tx1"/>
                </a:solidFill>
                <a:effectLst/>
                <a:latin typeface="+mn-lt"/>
                <a:ea typeface="+mn-ea"/>
                <a:cs typeface="+mn-cs"/>
              </a:rPr>
              <a:t>）的接地直流電阻（</a:t>
            </a:r>
            <a:r>
              <a:rPr lang="en-US" altLang="zh-TW" sz="1200" b="0" i="0" u="none" strike="noStrike" kern="1200" dirty="0">
                <a:solidFill>
                  <a:schemeClr val="tx1"/>
                </a:solidFill>
                <a:effectLst/>
                <a:latin typeface="+mn-lt"/>
                <a:ea typeface="+mn-ea"/>
                <a:cs typeface="+mn-cs"/>
              </a:rPr>
              <a:t>GND DCR</a:t>
            </a:r>
            <a:r>
              <a:rPr lang="zh-TW" altLang="en-US" sz="1200" b="0" i="0" u="none" strike="noStrike" kern="1200" dirty="0">
                <a:solidFill>
                  <a:schemeClr val="tx1"/>
                </a:solidFill>
                <a:effectLst/>
                <a:latin typeface="+mn-lt"/>
                <a:ea typeface="+mn-ea"/>
                <a:cs typeface="+mn-cs"/>
              </a:rPr>
              <a:t>）</a:t>
            </a:r>
            <a:endParaRPr lang="zh-TW" altLang="zh-TW" sz="1200" b="0" i="0" u="none" strike="noStrike" kern="1200" dirty="0">
              <a:solidFill>
                <a:schemeClr val="tx1"/>
              </a:solidFill>
              <a:effectLst/>
              <a:latin typeface="+mn-lt"/>
              <a:ea typeface="+mn-ea"/>
              <a:cs typeface="+mn-cs"/>
            </a:endParaRPr>
          </a:p>
          <a:p>
            <a:pPr rtl="0" eaLnBrk="1" fontAlgn="auto" latinLnBrk="0" hangingPunct="1">
              <a:lnSpc>
                <a:spcPct val="150000"/>
              </a:lnSpc>
            </a:pPr>
            <a:r>
              <a:rPr lang="en-US" altLang="zh-TW" sz="1200" b="0" i="0" u="none" strike="noStrike" kern="1200" dirty="0" err="1">
                <a:solidFill>
                  <a:schemeClr val="tx1"/>
                </a:solidFill>
                <a:effectLst/>
                <a:latin typeface="+mn-lt"/>
                <a:ea typeface="+mn-ea"/>
                <a:cs typeface="+mn-cs"/>
              </a:rPr>
              <a:t>DUTPowerON</a:t>
            </a:r>
            <a:r>
              <a:rPr lang="zh-TW" altLang="en-US" sz="1200" b="0" i="0" u="none" strike="noStrike" kern="1200" dirty="0">
                <a:solidFill>
                  <a:schemeClr val="tx1"/>
                </a:solidFill>
                <a:effectLst/>
                <a:latin typeface="+mn-lt"/>
                <a:ea typeface="+mn-ea"/>
                <a:cs typeface="+mn-cs"/>
              </a:rPr>
              <a:t>：控制</a:t>
            </a:r>
            <a:r>
              <a:rPr lang="en-US" altLang="zh-TW" sz="1200" b="0" i="0" u="none" strike="noStrike" kern="1200" dirty="0" err="1">
                <a:solidFill>
                  <a:schemeClr val="tx1"/>
                </a:solidFill>
                <a:effectLst/>
                <a:latin typeface="+mn-lt"/>
                <a:ea typeface="+mn-ea"/>
                <a:cs typeface="+mn-cs"/>
              </a:rPr>
              <a:t>TypeC</a:t>
            </a:r>
            <a:r>
              <a:rPr lang="zh-TW" altLang="en-US" sz="1200" b="0" i="0" u="none" strike="noStrike" kern="1200" dirty="0">
                <a:solidFill>
                  <a:schemeClr val="tx1"/>
                </a:solidFill>
                <a:effectLst/>
                <a:latin typeface="+mn-lt"/>
                <a:ea typeface="+mn-ea"/>
                <a:cs typeface="+mn-cs"/>
              </a:rPr>
              <a:t>板 打開</a:t>
            </a:r>
            <a:r>
              <a:rPr lang="en-US" altLang="zh-TW" sz="1200" b="0" i="0" u="none" strike="noStrike" kern="1200" dirty="0">
                <a:solidFill>
                  <a:schemeClr val="tx1"/>
                </a:solidFill>
                <a:effectLst/>
                <a:latin typeface="+mn-lt"/>
                <a:ea typeface="+mn-ea"/>
                <a:cs typeface="+mn-cs"/>
              </a:rPr>
              <a:t>DUT</a:t>
            </a:r>
            <a:r>
              <a:rPr lang="zh-TW" altLang="en-US" sz="1200" b="0" i="0" u="none" strike="noStrike" kern="1200" dirty="0">
                <a:solidFill>
                  <a:schemeClr val="tx1"/>
                </a:solidFill>
                <a:effectLst/>
                <a:latin typeface="+mn-lt"/>
                <a:ea typeface="+mn-ea"/>
                <a:cs typeface="+mn-cs"/>
              </a:rPr>
              <a:t>通信通道（</a:t>
            </a:r>
            <a:r>
              <a:rPr lang="en-US" altLang="zh-TW" sz="1200" b="0" i="0" u="none" strike="noStrike" kern="1200" dirty="0">
                <a:solidFill>
                  <a:schemeClr val="tx1"/>
                </a:solidFill>
                <a:effectLst/>
                <a:latin typeface="+mn-lt"/>
                <a:ea typeface="+mn-ea"/>
                <a:cs typeface="+mn-cs"/>
              </a:rPr>
              <a:t>USB</a:t>
            </a:r>
            <a:r>
              <a:rPr lang="zh-TW" altLang="en-US" sz="1200" b="0" i="0" u="none" strike="noStrike" kern="1200" dirty="0">
                <a:solidFill>
                  <a:schemeClr val="tx1"/>
                </a:solidFill>
                <a:effectLst/>
                <a:latin typeface="+mn-lt"/>
                <a:ea typeface="+mn-ea"/>
                <a:cs typeface="+mn-cs"/>
              </a:rPr>
              <a:t>）</a:t>
            </a:r>
            <a:endParaRPr lang="zh-TW" altLang="zh-TW" sz="1200" b="0" i="0" u="none" strike="noStrike" kern="1200" dirty="0">
              <a:solidFill>
                <a:schemeClr val="tx1"/>
              </a:solidFill>
              <a:effectLst/>
              <a:latin typeface="+mn-lt"/>
              <a:ea typeface="+mn-ea"/>
              <a:cs typeface="+mn-cs"/>
            </a:endParaRPr>
          </a:p>
          <a:p>
            <a:pPr rtl="0" eaLnBrk="1" fontAlgn="auto" latinLnBrk="0" hangingPunct="1">
              <a:lnSpc>
                <a:spcPct val="150000"/>
              </a:lnSpc>
            </a:pPr>
            <a:r>
              <a:rPr lang="en-US" altLang="zh-TW" sz="1200" b="0" i="0" u="none" strike="noStrike" kern="1200" dirty="0" err="1">
                <a:solidFill>
                  <a:schemeClr val="tx1"/>
                </a:solidFill>
                <a:effectLst/>
                <a:latin typeface="+mn-lt"/>
                <a:ea typeface="+mn-ea"/>
                <a:cs typeface="+mn-cs"/>
              </a:rPr>
              <a:t>Bootmode</a:t>
            </a:r>
            <a:r>
              <a:rPr lang="zh-TW" altLang="en-US" sz="1200" b="0" i="0" u="none" strike="noStrike" kern="1200" dirty="0">
                <a:solidFill>
                  <a:schemeClr val="tx1"/>
                </a:solidFill>
                <a:effectLst/>
                <a:latin typeface="+mn-lt"/>
                <a:ea typeface="+mn-ea"/>
                <a:cs typeface="+mn-cs"/>
              </a:rPr>
              <a:t>：設定為 </a:t>
            </a:r>
            <a:r>
              <a:rPr lang="en-US" altLang="zh-TW" sz="1200" b="0" i="0" u="none" strike="noStrike" kern="1200" dirty="0" err="1">
                <a:solidFill>
                  <a:schemeClr val="tx1"/>
                </a:solidFill>
                <a:effectLst/>
                <a:latin typeface="+mn-lt"/>
                <a:ea typeface="+mn-ea"/>
                <a:cs typeface="+mn-cs"/>
              </a:rPr>
              <a:t>Bootmode</a:t>
            </a:r>
            <a:r>
              <a:rPr lang="en-US" altLang="zh-TW" sz="1200" b="0" i="0" u="none" strike="noStrike" kern="1200" dirty="0">
                <a:solidFill>
                  <a:schemeClr val="tx1"/>
                </a:solidFill>
                <a:effectLst/>
                <a:latin typeface="+mn-lt"/>
                <a:ea typeface="+mn-ea"/>
                <a:cs typeface="+mn-cs"/>
              </a:rPr>
              <a:t> 2 </a:t>
            </a:r>
            <a:r>
              <a:rPr lang="zh-TW" altLang="en-US" sz="1200" b="0" i="0" u="none" strike="noStrike" kern="1200" dirty="0">
                <a:solidFill>
                  <a:schemeClr val="tx1"/>
                </a:solidFill>
                <a:effectLst/>
                <a:latin typeface="+mn-lt"/>
                <a:ea typeface="+mn-ea"/>
                <a:cs typeface="+mn-cs"/>
              </a:rPr>
              <a:t>並確認設定成功 以方便後續測試</a:t>
            </a:r>
            <a:r>
              <a:rPr lang="en-US" altLang="zh-TW" sz="1200" b="0" i="0" u="none" strike="noStrike" kern="1200" dirty="0">
                <a:solidFill>
                  <a:schemeClr val="tx1"/>
                </a:solidFill>
                <a:effectLst/>
                <a:latin typeface="+mn-lt"/>
                <a:ea typeface="+mn-ea"/>
                <a:cs typeface="+mn-cs"/>
              </a:rPr>
              <a:t>. (mode 2 </a:t>
            </a:r>
            <a:r>
              <a:rPr lang="en-US" altLang="zh-TW" sz="1200" b="1" i="0" u="none" strike="noStrike" kern="1200" dirty="0">
                <a:solidFill>
                  <a:schemeClr val="tx1"/>
                </a:solidFill>
                <a:effectLst/>
                <a:latin typeface="+mn-lt"/>
                <a:ea typeface="+mn-ea"/>
                <a:cs typeface="+mn-cs"/>
              </a:rPr>
              <a:t>SMT </a:t>
            </a:r>
            <a:r>
              <a:rPr lang="zh-TW" altLang="en-US" sz="1200" b="1" i="0" u="none" strike="noStrike" kern="1200" dirty="0">
                <a:solidFill>
                  <a:schemeClr val="tx1"/>
                </a:solidFill>
                <a:effectLst/>
                <a:latin typeface="+mn-lt"/>
                <a:ea typeface="+mn-ea"/>
                <a:cs typeface="+mn-cs"/>
              </a:rPr>
              <a:t>工廠線（裸板 </a:t>
            </a:r>
            <a:r>
              <a:rPr lang="en-US" altLang="zh-TW" sz="1200" b="1" i="0" u="none" strike="noStrike" kern="1200" dirty="0">
                <a:solidFill>
                  <a:schemeClr val="tx1"/>
                </a:solidFill>
                <a:effectLst/>
                <a:latin typeface="+mn-lt"/>
                <a:ea typeface="+mn-ea"/>
                <a:cs typeface="+mn-cs"/>
              </a:rPr>
              <a:t>MLB</a:t>
            </a:r>
            <a:r>
              <a:rPr lang="zh-TW" altLang="en-US" sz="1200" b="1" i="0" u="none" strike="noStrike" kern="1200" dirty="0">
                <a:solidFill>
                  <a:schemeClr val="tx1"/>
                </a:solidFill>
                <a:effectLst/>
                <a:latin typeface="+mn-lt"/>
                <a:ea typeface="+mn-ea"/>
                <a:cs typeface="+mn-cs"/>
              </a:rPr>
              <a:t>）測試用</a:t>
            </a:r>
            <a:r>
              <a:rPr lang="en-US" altLang="zh-TW" sz="1200" b="1" i="0" u="none" strike="noStrike" kern="1200" dirty="0">
                <a:solidFill>
                  <a:schemeClr val="tx1"/>
                </a:solidFill>
                <a:effectLst/>
                <a:latin typeface="+mn-lt"/>
                <a:ea typeface="+mn-ea"/>
                <a:cs typeface="+mn-cs"/>
              </a:rPr>
              <a:t>  </a:t>
            </a:r>
            <a:r>
              <a:rPr lang="zh-TW" altLang="en-US" sz="1200" b="1" i="0" u="none" strike="noStrike" kern="1200" dirty="0">
                <a:solidFill>
                  <a:schemeClr val="tx1"/>
                </a:solidFill>
                <a:effectLst/>
                <a:latin typeface="+mn-lt"/>
                <a:ea typeface="+mn-ea"/>
                <a:cs typeface="+mn-cs"/>
              </a:rPr>
              <a:t>最高效能 </a:t>
            </a:r>
            <a:r>
              <a:rPr lang="en-US" altLang="zh-TW" sz="1200" b="1" i="0" u="none" strike="noStrike" kern="1200" dirty="0">
                <a:solidFill>
                  <a:schemeClr val="tx1"/>
                </a:solidFill>
                <a:effectLst/>
                <a:latin typeface="+mn-lt"/>
                <a:ea typeface="+mn-ea"/>
                <a:cs typeface="+mn-cs"/>
              </a:rPr>
              <a:t>/ </a:t>
            </a:r>
            <a:r>
              <a:rPr lang="zh-TW" altLang="en-US" sz="1200" b="1" i="0" u="none" strike="noStrike" kern="1200" dirty="0">
                <a:solidFill>
                  <a:schemeClr val="tx1"/>
                </a:solidFill>
                <a:effectLst/>
                <a:latin typeface="+mn-lt"/>
                <a:ea typeface="+mn-ea"/>
                <a:cs typeface="+mn-cs"/>
              </a:rPr>
              <a:t>高功耗</a:t>
            </a:r>
            <a:r>
              <a:rPr lang="en-US" altLang="zh-TW" sz="1200" b="0" i="0" u="none" strike="noStrike" kern="1200" dirty="0">
                <a:solidFill>
                  <a:schemeClr val="tx1"/>
                </a:solidFill>
                <a:effectLst/>
                <a:latin typeface="+mn-lt"/>
                <a:ea typeface="+mn-ea"/>
                <a:cs typeface="+mn-cs"/>
              </a:rPr>
              <a:t>)</a:t>
            </a:r>
            <a:endParaRPr lang="zh-TW" altLang="zh-TW" sz="1200" b="0" i="0" u="none" strike="noStrike" kern="1200" dirty="0">
              <a:solidFill>
                <a:schemeClr val="tx1"/>
              </a:solidFill>
              <a:effectLst/>
              <a:latin typeface="+mn-lt"/>
              <a:ea typeface="+mn-ea"/>
              <a:cs typeface="+mn-cs"/>
            </a:endParaRPr>
          </a:p>
          <a:p>
            <a:pPr rtl="0" eaLnBrk="1" fontAlgn="t" latinLnBrk="0" hangingPunct="1"/>
            <a:r>
              <a:rPr lang="en-US" altLang="zh-TW" sz="1200" b="0" i="0" u="none" strike="noStrike" kern="1200" dirty="0">
                <a:solidFill>
                  <a:schemeClr val="tx1"/>
                </a:solidFill>
                <a:effectLst/>
                <a:latin typeface="+mn-lt"/>
                <a:ea typeface="+mn-ea"/>
                <a:cs typeface="+mn-cs"/>
              </a:rPr>
              <a:t>MLBSN</a:t>
            </a:r>
            <a:r>
              <a:rPr lang="zh-TW" altLang="en-US" sz="1200" b="0" i="0" u="none" strike="noStrike" kern="1200" dirty="0">
                <a:solidFill>
                  <a:schemeClr val="tx1"/>
                </a:solidFill>
                <a:effectLst/>
                <a:latin typeface="+mn-lt"/>
                <a:ea typeface="+mn-ea"/>
                <a:cs typeface="+mn-cs"/>
              </a:rPr>
              <a:t>：讀取驗證</a:t>
            </a:r>
            <a:r>
              <a:rPr lang="en-US" altLang="zh-TW" sz="1200" b="0" i="0" u="none" strike="noStrike" kern="1200" dirty="0">
                <a:solidFill>
                  <a:schemeClr val="tx1"/>
                </a:solidFill>
                <a:effectLst/>
                <a:latin typeface="+mn-lt"/>
                <a:ea typeface="+mn-ea"/>
                <a:cs typeface="+mn-cs"/>
              </a:rPr>
              <a:t>MLBSN</a:t>
            </a:r>
            <a:endParaRPr lang="zh-TW" altLang="zh-TW" sz="1200" b="0" i="0" u="none" strike="noStrike" kern="1200" dirty="0">
              <a:solidFill>
                <a:schemeClr val="tx1"/>
              </a:solidFill>
              <a:effectLst/>
              <a:latin typeface="+mn-lt"/>
              <a:ea typeface="+mn-ea"/>
              <a:cs typeface="+mn-cs"/>
            </a:endParaRPr>
          </a:p>
          <a:p>
            <a:pPr rtl="0" eaLnBrk="1" fontAlgn="t" latinLnBrk="0" hangingPunct="1"/>
            <a:r>
              <a:rPr lang="en-US" altLang="zh-TW" sz="1200" b="0" i="0" u="none" strike="noStrike" kern="1200" dirty="0" err="1">
                <a:solidFill>
                  <a:schemeClr val="tx1"/>
                </a:solidFill>
                <a:effectLst/>
                <a:latin typeface="+mn-lt"/>
                <a:ea typeface="+mn-ea"/>
                <a:cs typeface="+mn-cs"/>
              </a:rPr>
              <a:t>SNWrite_SrNm</a:t>
            </a:r>
            <a:r>
              <a:rPr lang="zh-TW" altLang="en-US" sz="1200" b="0" i="0" u="none" strike="noStrike" kern="1200" dirty="0">
                <a:solidFill>
                  <a:schemeClr val="tx1"/>
                </a:solidFill>
                <a:effectLst/>
                <a:latin typeface="+mn-lt"/>
                <a:ea typeface="+mn-ea"/>
                <a:cs typeface="+mn-cs"/>
              </a:rPr>
              <a:t>：讀取ＳＮ並寫入ＦＧＳＮ</a:t>
            </a:r>
            <a:endParaRPr lang="zh-TW" altLang="zh-TW" sz="1200" b="0" i="0" u="none" strike="noStrike" kern="1200" dirty="0">
              <a:solidFill>
                <a:schemeClr val="tx1"/>
              </a:solidFill>
              <a:effectLst/>
              <a:latin typeface="+mn-lt"/>
              <a:ea typeface="+mn-ea"/>
              <a:cs typeface="+mn-cs"/>
            </a:endParaRPr>
          </a:p>
          <a:p>
            <a:pPr rtl="0" eaLnBrk="1" fontAlgn="t" latinLnBrk="0" hangingPunct="1"/>
            <a:r>
              <a:rPr lang="en-US" altLang="zh-TW" sz="1200" b="0" i="0" u="none" strike="noStrike" kern="1200" dirty="0" err="1">
                <a:solidFill>
                  <a:schemeClr val="tx1"/>
                </a:solidFill>
                <a:effectLst/>
                <a:latin typeface="+mn-lt"/>
                <a:ea typeface="+mn-ea"/>
                <a:cs typeface="+mn-cs"/>
              </a:rPr>
              <a:t>SrNm</a:t>
            </a:r>
            <a:r>
              <a:rPr lang="zh-TW" altLang="en-US" sz="1200" b="0" i="0" u="none" strike="noStrike" kern="1200" dirty="0">
                <a:solidFill>
                  <a:schemeClr val="tx1"/>
                </a:solidFill>
                <a:effectLst/>
                <a:latin typeface="+mn-lt"/>
                <a:ea typeface="+mn-ea"/>
                <a:cs typeface="+mn-cs"/>
              </a:rPr>
              <a:t>：驗證ＳＮ和ＦＧＳＮ是否匹配</a:t>
            </a:r>
            <a:endParaRPr lang="zh-TW" altLang="zh-TW" sz="1200" b="0" i="0" u="none" strike="noStrike" kern="1200" dirty="0">
              <a:solidFill>
                <a:schemeClr val="tx1"/>
              </a:solidFill>
              <a:effectLst/>
              <a:latin typeface="+mn-lt"/>
              <a:ea typeface="+mn-ea"/>
              <a:cs typeface="+mn-cs"/>
            </a:endParaRPr>
          </a:p>
          <a:p>
            <a:endParaRPr kumimoji="1" lang="zh-TW" altLang="en-US" dirty="0"/>
          </a:p>
        </p:txBody>
      </p:sp>
    </p:spTree>
    <p:extLst>
      <p:ext uri="{BB962C8B-B14F-4D97-AF65-F5344CB8AC3E}">
        <p14:creationId xmlns:p14="http://schemas.microsoft.com/office/powerpoint/2010/main" val="15053525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A90D5B-D8D6-59E5-A89B-EAABC8D8779B}"/>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D96B48A5-AA6C-FBDC-5EDA-9D869196028C}"/>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0311AC02-BE33-8D98-C3A8-8725871689E8}"/>
              </a:ext>
            </a:extLst>
          </p:cNvPr>
          <p:cNvSpPr>
            <a:spLocks noGrp="1"/>
          </p:cNvSpPr>
          <p:nvPr>
            <p:ph type="body" idx="1"/>
          </p:nvPr>
        </p:nvSpPr>
        <p:spPr/>
        <p:txBody>
          <a:bodyPr/>
          <a:lstStyle/>
          <a:p>
            <a:pPr rtl="0" eaLnBrk="1" fontAlgn="t" latinLnBrk="0" hangingPunct="1"/>
            <a:r>
              <a:rPr lang="en-US" altLang="zh-TW" sz="1200" b="0" i="0" u="none" strike="noStrike" kern="1200" dirty="0" err="1">
                <a:solidFill>
                  <a:schemeClr val="tx1"/>
                </a:solidFill>
                <a:effectLst/>
                <a:latin typeface="+mn-lt"/>
                <a:ea typeface="+mn-ea"/>
                <a:cs typeface="+mn-cs"/>
              </a:rPr>
              <a:t>BoardID</a:t>
            </a:r>
            <a:r>
              <a:rPr lang="zh-TW" altLang="en-US" sz="1200" b="0" i="0" u="none" strike="noStrike" kern="1200" dirty="0">
                <a:solidFill>
                  <a:schemeClr val="tx1"/>
                </a:solidFill>
                <a:effectLst/>
                <a:latin typeface="+mn-lt"/>
                <a:ea typeface="+mn-ea"/>
                <a:cs typeface="+mn-cs"/>
              </a:rPr>
              <a:t>：寫入</a:t>
            </a:r>
            <a:r>
              <a:rPr lang="en-US" altLang="zh-TW" sz="1200" b="0" kern="1200" dirty="0">
                <a:solidFill>
                  <a:schemeClr val="tx1"/>
                </a:solidFill>
                <a:effectLst/>
                <a:latin typeface="+mn-lt"/>
                <a:ea typeface="+mn-ea"/>
                <a:cs typeface="+mn-cs"/>
              </a:rPr>
              <a:t>HWID</a:t>
            </a:r>
            <a:r>
              <a:rPr lang="zh-TW" altLang="en-US" sz="1200" b="0" kern="1200" dirty="0">
                <a:solidFill>
                  <a:schemeClr val="tx1"/>
                </a:solidFill>
                <a:effectLst/>
                <a:latin typeface="+mn-lt"/>
                <a:ea typeface="+mn-ea"/>
                <a:cs typeface="+mn-cs"/>
              </a:rPr>
              <a:t> 和</a:t>
            </a:r>
            <a:r>
              <a:rPr lang="en-US" altLang="zh-TW" sz="1200" b="0" kern="1200" dirty="0">
                <a:solidFill>
                  <a:schemeClr val="tx1"/>
                </a:solidFill>
                <a:effectLst/>
                <a:latin typeface="+mn-lt"/>
                <a:ea typeface="+mn-ea"/>
                <a:cs typeface="+mn-cs"/>
              </a:rPr>
              <a:t> PID</a:t>
            </a:r>
            <a:endParaRPr lang="zh-TW" altLang="zh-TW" sz="1200" b="0" i="0" u="none" strike="noStrike" kern="1200" dirty="0">
              <a:solidFill>
                <a:schemeClr val="tx1"/>
              </a:solidFill>
              <a:effectLst/>
              <a:latin typeface="+mn-lt"/>
              <a:ea typeface="+mn-ea"/>
              <a:cs typeface="+mn-cs"/>
            </a:endParaRPr>
          </a:p>
          <a:p>
            <a:pPr rtl="0" eaLnBrk="1" fontAlgn="t" latinLnBrk="0" hangingPunct="1"/>
            <a:r>
              <a:rPr lang="en-US" altLang="zh-TW" sz="1200" b="0" i="0" u="none" strike="noStrike" kern="1200" dirty="0">
                <a:solidFill>
                  <a:schemeClr val="tx1"/>
                </a:solidFill>
                <a:effectLst/>
                <a:latin typeface="+mn-lt"/>
                <a:ea typeface="+mn-ea"/>
                <a:cs typeface="+mn-cs"/>
              </a:rPr>
              <a:t>FW</a:t>
            </a:r>
            <a:r>
              <a:rPr lang="zh-TW" altLang="en-US" sz="1200" b="0" i="0" u="none" strike="noStrike" kern="1200" dirty="0">
                <a:solidFill>
                  <a:schemeClr val="tx1"/>
                </a:solidFill>
                <a:effectLst/>
                <a:latin typeface="+mn-lt"/>
                <a:ea typeface="+mn-ea"/>
                <a:cs typeface="+mn-cs"/>
              </a:rPr>
              <a:t>：讀取驗證ＦＷ版本</a:t>
            </a:r>
            <a:endParaRPr lang="zh-TW" altLang="zh-TW" sz="1200" b="0" i="0" u="none" strike="noStrike" kern="1200" dirty="0">
              <a:solidFill>
                <a:schemeClr val="tx1"/>
              </a:solidFill>
              <a:effectLst/>
              <a:latin typeface="+mn-lt"/>
              <a:ea typeface="+mn-ea"/>
              <a:cs typeface="+mn-cs"/>
            </a:endParaRPr>
          </a:p>
          <a:p>
            <a:pPr rtl="0" eaLnBrk="1" fontAlgn="t" latinLnBrk="0" hangingPunct="1"/>
            <a:r>
              <a:rPr lang="en-US" altLang="zh-TW" sz="1200" b="0" i="0" u="none" strike="noStrike" kern="1200" dirty="0">
                <a:solidFill>
                  <a:schemeClr val="tx1"/>
                </a:solidFill>
                <a:effectLst/>
                <a:latin typeface="+mn-lt"/>
                <a:ea typeface="+mn-ea"/>
                <a:cs typeface="+mn-cs"/>
              </a:rPr>
              <a:t>BTID</a:t>
            </a:r>
            <a:r>
              <a:rPr lang="zh-TW" altLang="en-US" sz="1200" b="0" i="0" u="none" strike="noStrike" kern="1200" dirty="0">
                <a:solidFill>
                  <a:schemeClr val="tx1"/>
                </a:solidFill>
                <a:effectLst/>
                <a:latin typeface="+mn-lt"/>
                <a:ea typeface="+mn-ea"/>
                <a:cs typeface="+mn-cs"/>
              </a:rPr>
              <a:t>：讀取驗證</a:t>
            </a:r>
            <a:r>
              <a:rPr lang="en-US" altLang="zh-TW" sz="1200" b="0" kern="1200" dirty="0">
                <a:solidFill>
                  <a:schemeClr val="tx1"/>
                </a:solidFill>
                <a:effectLst/>
                <a:latin typeface="+mn-lt"/>
                <a:ea typeface="+mn-ea"/>
                <a:cs typeface="+mn-cs"/>
              </a:rPr>
              <a:t>BTID</a:t>
            </a:r>
            <a:endParaRPr lang="zh-TW" altLang="zh-TW" sz="1200" b="0" i="0" u="none" strike="noStrike" kern="1200" dirty="0">
              <a:solidFill>
                <a:schemeClr val="tx1"/>
              </a:solidFill>
              <a:effectLst/>
              <a:latin typeface="+mn-lt"/>
              <a:ea typeface="+mn-ea"/>
              <a:cs typeface="+mn-cs"/>
            </a:endParaRPr>
          </a:p>
          <a:p>
            <a:pPr rtl="0" eaLnBrk="1" fontAlgn="t" latinLnBrk="0" hangingPunct="1"/>
            <a:r>
              <a:rPr lang="en-US" altLang="zh-TW" sz="1200" b="0" i="0" u="none" strike="noStrike" kern="1200" dirty="0">
                <a:solidFill>
                  <a:schemeClr val="tx1"/>
                </a:solidFill>
                <a:effectLst/>
                <a:latin typeface="+mn-lt"/>
                <a:ea typeface="+mn-ea"/>
                <a:cs typeface="+mn-cs"/>
              </a:rPr>
              <a:t>USB</a:t>
            </a:r>
            <a:r>
              <a:rPr lang="zh-TW" altLang="en-US" sz="1200" b="0" i="0" u="none" strike="noStrike" kern="1200" dirty="0">
                <a:solidFill>
                  <a:schemeClr val="tx1"/>
                </a:solidFill>
                <a:effectLst/>
                <a:latin typeface="+mn-lt"/>
                <a:ea typeface="+mn-ea"/>
                <a:cs typeface="+mn-cs"/>
              </a:rPr>
              <a:t>：獲取</a:t>
            </a:r>
            <a:r>
              <a:rPr lang="en-US" altLang="zh-TW" sz="1200" b="0" kern="1200" dirty="0">
                <a:solidFill>
                  <a:schemeClr val="tx1"/>
                </a:solidFill>
                <a:effectLst/>
                <a:latin typeface="+mn-lt"/>
                <a:ea typeface="+mn-ea"/>
                <a:cs typeface="+mn-cs"/>
              </a:rPr>
              <a:t>USB information </a:t>
            </a:r>
            <a:r>
              <a:rPr lang="zh-TW" altLang="en-US" sz="1200" b="0" kern="1200" dirty="0">
                <a:solidFill>
                  <a:schemeClr val="tx1"/>
                </a:solidFill>
                <a:effectLst/>
                <a:latin typeface="+mn-lt"/>
                <a:ea typeface="+mn-ea"/>
                <a:cs typeface="+mn-cs"/>
              </a:rPr>
              <a:t> （</a:t>
            </a:r>
            <a:r>
              <a:rPr lang="en-US" altLang="zh-TW" sz="1200" b="0" kern="1200" dirty="0">
                <a:solidFill>
                  <a:schemeClr val="tx1"/>
                </a:solidFill>
                <a:effectLst/>
                <a:latin typeface="+mn-lt"/>
                <a:ea typeface="+mn-ea"/>
                <a:cs typeface="+mn-cs"/>
              </a:rPr>
              <a:t>Product / Vendor ID</a:t>
            </a:r>
            <a:r>
              <a:rPr lang="zh-TW" altLang="en-US" sz="1200" b="0" kern="1200" dirty="0">
                <a:solidFill>
                  <a:schemeClr val="tx1"/>
                </a:solidFill>
                <a:effectLst/>
                <a:latin typeface="+mn-lt"/>
                <a:ea typeface="+mn-ea"/>
                <a:cs typeface="+mn-cs"/>
              </a:rPr>
              <a:t>）</a:t>
            </a:r>
            <a:endParaRPr lang="en-US" altLang="zh-TW" sz="1200" b="0" i="0" u="none" strike="noStrike" kern="1200" dirty="0">
              <a:solidFill>
                <a:schemeClr val="tx1"/>
              </a:solidFill>
              <a:effectLst/>
              <a:latin typeface="+mn-lt"/>
              <a:ea typeface="+mn-ea"/>
              <a:cs typeface="+mn-cs"/>
            </a:endParaRPr>
          </a:p>
          <a:p>
            <a:pPr rtl="0" eaLnBrk="1" fontAlgn="auto" latinLnBrk="0" hangingPunct="1">
              <a:lnSpc>
                <a:spcPct val="150000"/>
              </a:lnSpc>
            </a:pPr>
            <a:r>
              <a:rPr lang="en-US" altLang="zh-TW" sz="1200" b="0" i="0" u="none" strike="noStrike" kern="1200" dirty="0" err="1">
                <a:solidFill>
                  <a:schemeClr val="tx1"/>
                </a:solidFill>
                <a:effectLst/>
                <a:latin typeface="+mn-lt"/>
                <a:ea typeface="+mn-ea"/>
                <a:cs typeface="+mn-cs"/>
              </a:rPr>
              <a:t>PowerMux</a:t>
            </a:r>
            <a:r>
              <a:rPr lang="zh-TW" altLang="en-US" sz="1200" b="0" i="0" u="none" strike="noStrike" kern="1200" dirty="0">
                <a:solidFill>
                  <a:schemeClr val="tx1"/>
                </a:solidFill>
                <a:effectLst/>
                <a:latin typeface="+mn-lt"/>
                <a:ea typeface="+mn-ea"/>
                <a:cs typeface="+mn-cs"/>
              </a:rPr>
              <a:t>：讀取</a:t>
            </a:r>
            <a:r>
              <a:rPr lang="en-US" altLang="zh-TW" sz="1200" b="0" kern="1200" dirty="0">
                <a:solidFill>
                  <a:schemeClr val="tx1"/>
                </a:solidFill>
                <a:effectLst/>
                <a:latin typeface="+mn-lt"/>
                <a:ea typeface="+mn-ea"/>
                <a:cs typeface="+mn-cs"/>
              </a:rPr>
              <a:t>GPIO</a:t>
            </a:r>
            <a:r>
              <a:rPr lang="zh-TW" altLang="en-US" sz="1200" b="0" kern="1200" dirty="0">
                <a:solidFill>
                  <a:schemeClr val="tx1"/>
                </a:solidFill>
                <a:effectLst/>
                <a:latin typeface="+mn-lt"/>
                <a:ea typeface="+mn-ea"/>
                <a:cs typeface="+mn-cs"/>
              </a:rPr>
              <a:t> 晶片資料</a:t>
            </a:r>
            <a:endParaRPr lang="zh-TW" altLang="zh-TW" sz="1200" b="0" i="0" u="none" strike="noStrike" kern="1200" dirty="0">
              <a:solidFill>
                <a:schemeClr val="tx1"/>
              </a:solidFill>
              <a:effectLst/>
              <a:latin typeface="+mn-lt"/>
              <a:ea typeface="+mn-ea"/>
              <a:cs typeface="+mn-cs"/>
            </a:endParaRPr>
          </a:p>
          <a:p>
            <a:pPr rtl="0" eaLnBrk="1" fontAlgn="auto" latinLnBrk="0" hangingPunct="1">
              <a:lnSpc>
                <a:spcPct val="150000"/>
              </a:lnSpc>
            </a:pPr>
            <a:r>
              <a:rPr lang="en-US" altLang="zh-TW" sz="1200" b="0" i="0" u="none" strike="noStrike" kern="1200" dirty="0">
                <a:solidFill>
                  <a:schemeClr val="tx1"/>
                </a:solidFill>
                <a:effectLst/>
                <a:latin typeface="+mn-lt"/>
                <a:ea typeface="+mn-ea"/>
                <a:cs typeface="+mn-cs"/>
              </a:rPr>
              <a:t>Battery</a:t>
            </a:r>
            <a:r>
              <a:rPr lang="zh-TW" altLang="en-US" sz="1200" b="0" i="0" u="none" strike="noStrike" kern="1200" dirty="0">
                <a:solidFill>
                  <a:schemeClr val="tx1"/>
                </a:solidFill>
                <a:effectLst/>
                <a:latin typeface="+mn-lt"/>
                <a:ea typeface="+mn-ea"/>
                <a:cs typeface="+mn-cs"/>
              </a:rPr>
              <a:t>（</a:t>
            </a:r>
            <a:r>
              <a:rPr lang="en-US" altLang="zh-TW" sz="1200" b="0" i="0" u="none" strike="noStrike" kern="1200" dirty="0">
                <a:solidFill>
                  <a:schemeClr val="tx1"/>
                </a:solidFill>
                <a:effectLst/>
                <a:latin typeface="+mn-lt"/>
                <a:ea typeface="+mn-ea"/>
                <a:cs typeface="+mn-cs"/>
              </a:rPr>
              <a:t>Dis / Charge</a:t>
            </a:r>
            <a:r>
              <a:rPr lang="zh-TW" altLang="en-US" sz="1200" b="0" i="0" u="none" strike="noStrike" kern="1200" dirty="0">
                <a:solidFill>
                  <a:schemeClr val="tx1"/>
                </a:solidFill>
                <a:effectLst/>
                <a:latin typeface="+mn-lt"/>
                <a:ea typeface="+mn-ea"/>
                <a:cs typeface="+mn-cs"/>
              </a:rPr>
              <a:t>）</a:t>
            </a:r>
            <a:r>
              <a:rPr lang="en-US" altLang="zh-TW" sz="1200" b="0" i="0" u="none" strike="noStrike" kern="1200" dirty="0">
                <a:solidFill>
                  <a:schemeClr val="tx1"/>
                </a:solidFill>
                <a:effectLst/>
                <a:latin typeface="+mn-lt"/>
                <a:ea typeface="+mn-ea"/>
                <a:cs typeface="+mn-cs"/>
              </a:rPr>
              <a:t>Status</a:t>
            </a:r>
            <a:r>
              <a:rPr lang="zh-TW" altLang="en-US" sz="1200" b="0" i="0" u="none" strike="noStrike" kern="1200" dirty="0">
                <a:solidFill>
                  <a:schemeClr val="tx1"/>
                </a:solidFill>
                <a:effectLst/>
                <a:latin typeface="+mn-lt"/>
                <a:ea typeface="+mn-ea"/>
                <a:cs typeface="+mn-cs"/>
              </a:rPr>
              <a:t>：驗證充電盒在充電和未充電下的電壓、電流、電量和溫度</a:t>
            </a:r>
            <a:endParaRPr lang="zh-TW" altLang="zh-TW" sz="1200" b="0" i="0" u="none" strike="noStrike" kern="1200" dirty="0">
              <a:solidFill>
                <a:schemeClr val="tx1"/>
              </a:solidFill>
              <a:effectLst/>
              <a:latin typeface="+mn-lt"/>
              <a:ea typeface="+mn-ea"/>
              <a:cs typeface="+mn-cs"/>
            </a:endParaRPr>
          </a:p>
          <a:p>
            <a:pPr rtl="0" eaLnBrk="1" fontAlgn="auto" latinLnBrk="0" hangingPunct="1">
              <a:lnSpc>
                <a:spcPct val="150000"/>
              </a:lnSpc>
            </a:pPr>
            <a:r>
              <a:rPr lang="en-US" altLang="zh-TW" sz="1200" b="0" i="0" u="none" strike="noStrike" kern="1200" dirty="0">
                <a:solidFill>
                  <a:schemeClr val="tx1"/>
                </a:solidFill>
                <a:effectLst/>
                <a:latin typeface="+mn-lt"/>
                <a:ea typeface="+mn-ea"/>
                <a:cs typeface="+mn-cs"/>
              </a:rPr>
              <a:t>Info</a:t>
            </a:r>
            <a:r>
              <a:rPr lang="zh-TW" altLang="en-US" sz="1200" b="0" i="0" u="none" strike="noStrike" kern="1200" dirty="0">
                <a:solidFill>
                  <a:schemeClr val="tx1"/>
                </a:solidFill>
                <a:effectLst/>
                <a:latin typeface="+mn-lt"/>
                <a:ea typeface="+mn-ea"/>
                <a:cs typeface="+mn-cs"/>
              </a:rPr>
              <a:t>：確認電池狀態與電量記晶片的校準資訊並重新設定</a:t>
            </a:r>
            <a:endParaRPr lang="zh-TW" altLang="zh-TW" sz="1200" b="0" i="0" u="none" strike="noStrike" kern="1200" dirty="0">
              <a:solidFill>
                <a:schemeClr val="tx1"/>
              </a:solidFill>
              <a:effectLst/>
              <a:latin typeface="+mn-lt"/>
              <a:ea typeface="+mn-ea"/>
              <a:cs typeface="+mn-cs"/>
            </a:endParaRPr>
          </a:p>
          <a:p>
            <a:pPr rtl="0" eaLnBrk="1" fontAlgn="auto" latinLnBrk="0" hangingPunct="1">
              <a:lnSpc>
                <a:spcPct val="150000"/>
              </a:lnSpc>
            </a:pPr>
            <a:r>
              <a:rPr lang="en-US" altLang="zh-TW" sz="1200" b="0" i="0" u="none" strike="noStrike" kern="1200" dirty="0">
                <a:solidFill>
                  <a:schemeClr val="tx1"/>
                </a:solidFill>
                <a:effectLst/>
                <a:latin typeface="+mn-lt"/>
                <a:ea typeface="+mn-ea"/>
                <a:cs typeface="+mn-cs"/>
              </a:rPr>
              <a:t>Brightness</a:t>
            </a:r>
            <a:r>
              <a:rPr lang="zh-TW" altLang="en-US" sz="1200" b="0" i="0" u="none" strike="noStrike" kern="1200" dirty="0">
                <a:solidFill>
                  <a:schemeClr val="tx1"/>
                </a:solidFill>
                <a:effectLst/>
                <a:latin typeface="+mn-lt"/>
                <a:ea typeface="+mn-ea"/>
                <a:cs typeface="+mn-cs"/>
              </a:rPr>
              <a:t>：量測充電盒的</a:t>
            </a:r>
            <a:r>
              <a:rPr lang="en-US" altLang="zh-TW" sz="1200" b="0" i="0" u="none" strike="noStrike" kern="1200" dirty="0">
                <a:solidFill>
                  <a:schemeClr val="tx1"/>
                </a:solidFill>
                <a:effectLst/>
                <a:latin typeface="+mn-lt"/>
                <a:ea typeface="+mn-ea"/>
                <a:cs typeface="+mn-cs"/>
              </a:rPr>
              <a:t>LED</a:t>
            </a:r>
            <a:r>
              <a:rPr lang="zh-TW" altLang="en-US" sz="1200" b="0" i="0" u="none" strike="noStrike" kern="1200" dirty="0">
                <a:solidFill>
                  <a:schemeClr val="tx1"/>
                </a:solidFill>
                <a:effectLst/>
                <a:latin typeface="+mn-lt"/>
                <a:ea typeface="+mn-ea"/>
                <a:cs typeface="+mn-cs"/>
              </a:rPr>
              <a:t>指示燈在無光、白光、紅光等情況下的各項參數（光強度）</a:t>
            </a:r>
            <a:endParaRPr lang="zh-TW" altLang="zh-TW" sz="1200" b="0" i="0" u="none" strike="noStrike" kern="1200" dirty="0">
              <a:solidFill>
                <a:schemeClr val="tx1"/>
              </a:solidFill>
              <a:effectLst/>
              <a:latin typeface="+mn-lt"/>
              <a:ea typeface="+mn-ea"/>
              <a:cs typeface="+mn-cs"/>
            </a:endParaRPr>
          </a:p>
          <a:p>
            <a:pPr rtl="0" eaLnBrk="1" fontAlgn="auto" latinLnBrk="0" hangingPunct="1">
              <a:lnSpc>
                <a:spcPct val="150000"/>
              </a:lnSpc>
            </a:pPr>
            <a:r>
              <a:rPr lang="en-US" altLang="zh-TW" sz="1200" b="0" i="0" u="none" strike="noStrike" kern="1200" dirty="0" err="1">
                <a:solidFill>
                  <a:schemeClr val="tx1"/>
                </a:solidFill>
                <a:effectLst/>
                <a:latin typeface="+mn-lt"/>
                <a:ea typeface="+mn-ea"/>
                <a:cs typeface="+mn-cs"/>
              </a:rPr>
              <a:t>GPIOCheck_Button</a:t>
            </a:r>
            <a:r>
              <a:rPr lang="en-US" altLang="zh-TW" sz="1200" b="0" i="0" u="none" strike="noStrike" kern="1200" dirty="0">
                <a:solidFill>
                  <a:schemeClr val="tx1"/>
                </a:solidFill>
                <a:effectLst/>
                <a:latin typeface="+mn-lt"/>
                <a:ea typeface="+mn-ea"/>
                <a:cs typeface="+mn-cs"/>
              </a:rPr>
              <a:t>_(Status)</a:t>
            </a:r>
            <a:r>
              <a:rPr lang="zh-TW" altLang="en-US" sz="1200" b="0" i="0" u="none" strike="noStrike" kern="1200" dirty="0">
                <a:solidFill>
                  <a:schemeClr val="tx1"/>
                </a:solidFill>
                <a:effectLst/>
                <a:latin typeface="+mn-lt"/>
                <a:ea typeface="+mn-ea"/>
                <a:cs typeface="+mn-cs"/>
              </a:rPr>
              <a:t>：指令控制汽缸下壓按鈕並確認按鈕狀態</a:t>
            </a:r>
            <a:endParaRPr lang="zh-TW" altLang="zh-TW" sz="1200" b="0" i="0" u="none" strike="noStrike" kern="1200" dirty="0">
              <a:solidFill>
                <a:schemeClr val="tx1"/>
              </a:solidFill>
              <a:effectLst/>
              <a:latin typeface="+mn-lt"/>
              <a:ea typeface="+mn-ea"/>
              <a:cs typeface="+mn-cs"/>
            </a:endParaRPr>
          </a:p>
          <a:p>
            <a:pPr rtl="0" eaLnBrk="1" fontAlgn="auto" latinLnBrk="0" hangingPunct="1">
              <a:lnSpc>
                <a:spcPct val="150000"/>
              </a:lnSpc>
            </a:pPr>
            <a:r>
              <a:rPr lang="en-US" altLang="zh-TW" sz="1200" b="0" i="0" u="none" strike="noStrike" kern="1200" dirty="0">
                <a:solidFill>
                  <a:schemeClr val="tx1"/>
                </a:solidFill>
                <a:effectLst/>
                <a:latin typeface="+mn-lt"/>
                <a:ea typeface="+mn-ea"/>
                <a:cs typeface="+mn-cs"/>
              </a:rPr>
              <a:t>OVP</a:t>
            </a:r>
            <a:r>
              <a:rPr lang="zh-TW" altLang="en-US" sz="1200" b="0" i="0" u="none" strike="noStrike" kern="1200" dirty="0">
                <a:solidFill>
                  <a:schemeClr val="tx1"/>
                </a:solidFill>
                <a:effectLst/>
                <a:latin typeface="+mn-lt"/>
                <a:ea typeface="+mn-ea"/>
                <a:cs typeface="+mn-cs"/>
              </a:rPr>
              <a:t>：驗證</a:t>
            </a:r>
            <a:r>
              <a:rPr lang="en-US" altLang="zh-TW" sz="1200" b="0" i="0" u="none" strike="noStrike" kern="1200" dirty="0">
                <a:solidFill>
                  <a:schemeClr val="tx1"/>
                </a:solidFill>
                <a:effectLst/>
                <a:latin typeface="+mn-lt"/>
                <a:ea typeface="+mn-ea"/>
                <a:cs typeface="+mn-cs"/>
              </a:rPr>
              <a:t>VBUS</a:t>
            </a:r>
            <a:r>
              <a:rPr lang="zh-TW" altLang="en-US" sz="1200" b="0" i="0" u="none" strike="noStrike" kern="1200" dirty="0">
                <a:solidFill>
                  <a:schemeClr val="tx1"/>
                </a:solidFill>
                <a:effectLst/>
                <a:latin typeface="+mn-lt"/>
                <a:ea typeface="+mn-ea"/>
                <a:cs typeface="+mn-cs"/>
              </a:rPr>
              <a:t>在過壓保護（</a:t>
            </a:r>
            <a:r>
              <a:rPr lang="en-US" altLang="zh-TW" sz="1200" b="0" i="0" u="none" strike="noStrike" kern="1200" dirty="0">
                <a:solidFill>
                  <a:schemeClr val="tx1"/>
                </a:solidFill>
                <a:effectLst/>
                <a:latin typeface="+mn-lt"/>
                <a:ea typeface="+mn-ea"/>
                <a:cs typeface="+mn-cs"/>
              </a:rPr>
              <a:t>OVP</a:t>
            </a:r>
            <a:r>
              <a:rPr lang="zh-TW" altLang="en-US" sz="1200" b="0" i="0" u="none" strike="noStrike" kern="1200" dirty="0">
                <a:solidFill>
                  <a:schemeClr val="tx1"/>
                </a:solidFill>
                <a:effectLst/>
                <a:latin typeface="+mn-lt"/>
                <a:ea typeface="+mn-ea"/>
                <a:cs typeface="+mn-cs"/>
              </a:rPr>
              <a:t>）開啟的狀態下電壓值在正常區間</a:t>
            </a:r>
            <a:endParaRPr lang="en-US" altLang="zh-TW" sz="1200" b="0" i="0" u="none" strike="noStrike" kern="1200" dirty="0">
              <a:solidFill>
                <a:schemeClr val="tx1"/>
              </a:solidFill>
              <a:effectLst/>
              <a:latin typeface="+mn-lt"/>
              <a:ea typeface="+mn-ea"/>
              <a:cs typeface="+mn-cs"/>
            </a:endParaRPr>
          </a:p>
          <a:p>
            <a:pPr rtl="0" eaLnBrk="1" fontAlgn="auto" latinLnBrk="0" hangingPunct="1">
              <a:lnSpc>
                <a:spcPct val="150000"/>
              </a:lnSpc>
            </a:pPr>
            <a:r>
              <a:rPr lang="en-US" altLang="zh-TW" sz="1200" b="0" i="0" u="none" strike="noStrike" kern="1200" dirty="0">
                <a:solidFill>
                  <a:schemeClr val="tx1"/>
                </a:solidFill>
                <a:effectLst/>
                <a:latin typeface="+mn-lt"/>
                <a:ea typeface="+mn-ea"/>
                <a:cs typeface="+mn-cs"/>
              </a:rPr>
              <a:t>Reset:</a:t>
            </a:r>
            <a:r>
              <a:rPr lang="zh-TW" altLang="en-US" sz="1200" b="0" i="0" u="none" strike="noStrike" kern="1200" dirty="0">
                <a:solidFill>
                  <a:schemeClr val="tx1"/>
                </a:solidFill>
                <a:effectLst/>
                <a:latin typeface="+mn-lt"/>
                <a:ea typeface="+mn-ea"/>
                <a:cs typeface="+mn-cs"/>
              </a:rPr>
              <a:t>驗證 </a:t>
            </a:r>
            <a:r>
              <a:rPr lang="en-US" altLang="zh-TW" sz="1200" b="0" i="0" u="none" strike="noStrike" kern="1200" dirty="0">
                <a:solidFill>
                  <a:schemeClr val="tx1"/>
                </a:solidFill>
                <a:effectLst/>
                <a:latin typeface="+mn-lt"/>
                <a:ea typeface="+mn-ea"/>
                <a:cs typeface="+mn-cs"/>
              </a:rPr>
              <a:t>DUT </a:t>
            </a:r>
            <a:r>
              <a:rPr lang="zh-TW" altLang="en-US" sz="1200" b="0" i="0" u="none" strike="noStrike" kern="1200" dirty="0">
                <a:solidFill>
                  <a:schemeClr val="tx1"/>
                </a:solidFill>
                <a:effectLst/>
                <a:latin typeface="+mn-lt"/>
                <a:ea typeface="+mn-ea"/>
                <a:cs typeface="+mn-cs"/>
              </a:rPr>
              <a:t>在 </a:t>
            </a:r>
            <a:r>
              <a:rPr lang="en-US" altLang="zh-TW" sz="1200" b="0" i="0" u="none" strike="noStrike" kern="1200" dirty="0">
                <a:solidFill>
                  <a:schemeClr val="tx1"/>
                </a:solidFill>
                <a:effectLst/>
                <a:latin typeface="+mn-lt"/>
                <a:ea typeface="+mn-ea"/>
                <a:cs typeface="+mn-cs"/>
              </a:rPr>
              <a:t>VBUS </a:t>
            </a:r>
            <a:r>
              <a:rPr lang="zh-TW" altLang="en-US" sz="1200" b="0" i="0" u="none" strike="noStrike" kern="1200" dirty="0">
                <a:solidFill>
                  <a:schemeClr val="tx1"/>
                </a:solidFill>
                <a:effectLst/>
                <a:latin typeface="+mn-lt"/>
                <a:ea typeface="+mn-ea"/>
                <a:cs typeface="+mn-cs"/>
              </a:rPr>
              <a:t>移除情況下是否能正常執行 </a:t>
            </a:r>
            <a:r>
              <a:rPr lang="en-US" altLang="zh-TW" sz="1200" b="0" i="0" u="none" strike="noStrike" kern="1200" dirty="0">
                <a:solidFill>
                  <a:schemeClr val="tx1"/>
                </a:solidFill>
                <a:effectLst/>
                <a:latin typeface="+mn-lt"/>
                <a:ea typeface="+mn-ea"/>
                <a:cs typeface="+mn-cs"/>
              </a:rPr>
              <a:t>reset </a:t>
            </a:r>
            <a:r>
              <a:rPr lang="zh-TW" altLang="en-US" sz="1200" b="0" i="0" u="none" strike="noStrike" kern="1200" dirty="0">
                <a:solidFill>
                  <a:schemeClr val="tx1"/>
                </a:solidFill>
                <a:effectLst/>
                <a:latin typeface="+mn-lt"/>
                <a:ea typeface="+mn-ea"/>
                <a:cs typeface="+mn-cs"/>
              </a:rPr>
              <a:t>功能</a:t>
            </a:r>
            <a:endParaRPr lang="en-US" altLang="zh-TW" sz="1200" b="0" i="0" u="none" strike="noStrike" kern="1200" dirty="0">
              <a:solidFill>
                <a:schemeClr val="tx1"/>
              </a:solidFill>
              <a:effectLst/>
              <a:latin typeface="+mn-lt"/>
              <a:ea typeface="+mn-ea"/>
              <a:cs typeface="+mn-cs"/>
            </a:endParaRPr>
          </a:p>
          <a:p>
            <a:pPr rtl="0" eaLnBrk="1" fontAlgn="auto" latinLnBrk="0" hangingPunct="1">
              <a:lnSpc>
                <a:spcPct val="150000"/>
              </a:lnSpc>
            </a:pPr>
            <a:r>
              <a:rPr lang="en-US" altLang="zh-TW" sz="1200" b="0" i="0" u="none" strike="noStrike" kern="1200" dirty="0">
                <a:solidFill>
                  <a:schemeClr val="tx1"/>
                </a:solidFill>
                <a:effectLst/>
                <a:latin typeface="+mn-lt"/>
                <a:ea typeface="+mn-ea"/>
                <a:cs typeface="+mn-cs"/>
              </a:rPr>
              <a:t>Transition</a:t>
            </a:r>
            <a:r>
              <a:rPr lang="zh-TW" altLang="en-US" sz="1200" b="0" i="0" u="none" strike="noStrike" kern="1200" dirty="0">
                <a:solidFill>
                  <a:schemeClr val="tx1"/>
                </a:solidFill>
                <a:effectLst/>
                <a:latin typeface="+mn-lt"/>
                <a:ea typeface="+mn-ea"/>
                <a:cs typeface="+mn-cs"/>
              </a:rPr>
              <a:t>：測試充電盒進入</a:t>
            </a:r>
            <a:r>
              <a:rPr lang="en-US" altLang="zh-TW" sz="1200" b="0" kern="1200" dirty="0">
                <a:solidFill>
                  <a:schemeClr val="tx1"/>
                </a:solidFill>
                <a:effectLst/>
                <a:latin typeface="+mn-lt"/>
                <a:ea typeface="+mn-ea"/>
                <a:cs typeface="+mn-cs"/>
              </a:rPr>
              <a:t>ship mode</a:t>
            </a:r>
            <a:r>
              <a:rPr lang="zh-TW" altLang="en-US" sz="1200" b="0" kern="1200" dirty="0">
                <a:solidFill>
                  <a:schemeClr val="tx1"/>
                </a:solidFill>
                <a:effectLst/>
                <a:latin typeface="+mn-lt"/>
                <a:ea typeface="+mn-ea"/>
                <a:cs typeface="+mn-cs"/>
              </a:rPr>
              <a:t>功能後退出（斷連後重新連結）</a:t>
            </a:r>
            <a:endParaRPr lang="zh-TW" altLang="zh-TW" sz="1200" b="0" i="0" u="none" strike="noStrike" kern="1200" dirty="0">
              <a:solidFill>
                <a:schemeClr val="tx1"/>
              </a:solidFill>
              <a:effectLst/>
              <a:latin typeface="+mn-lt"/>
              <a:ea typeface="+mn-ea"/>
              <a:cs typeface="+mn-cs"/>
            </a:endParaRPr>
          </a:p>
          <a:p>
            <a:pPr rtl="0" eaLnBrk="1" fontAlgn="auto" latinLnBrk="0" hangingPunct="1">
              <a:lnSpc>
                <a:spcPct val="150000"/>
              </a:lnSpc>
            </a:pPr>
            <a:r>
              <a:rPr lang="en-US" altLang="zh-TW" sz="1200" b="0" i="0" u="none" strike="noStrike" kern="1200" dirty="0">
                <a:solidFill>
                  <a:schemeClr val="tx1"/>
                </a:solidFill>
                <a:effectLst/>
                <a:latin typeface="+mn-lt"/>
                <a:ea typeface="+mn-ea"/>
                <a:cs typeface="+mn-cs"/>
              </a:rPr>
              <a:t>Constant</a:t>
            </a:r>
            <a:r>
              <a:rPr lang="zh-TW" altLang="en-US" sz="1200" b="0" i="0" u="none" strike="noStrike" kern="1200" dirty="0">
                <a:solidFill>
                  <a:schemeClr val="tx1"/>
                </a:solidFill>
                <a:effectLst/>
                <a:latin typeface="+mn-lt"/>
                <a:ea typeface="+mn-ea"/>
                <a:cs typeface="+mn-cs"/>
              </a:rPr>
              <a:t>：量測左右耳 </a:t>
            </a:r>
            <a:r>
              <a:rPr lang="en-US" altLang="zh-TW" sz="1200" b="0" i="0" u="none" strike="noStrike" kern="1200" dirty="0">
                <a:solidFill>
                  <a:schemeClr val="tx1"/>
                </a:solidFill>
                <a:effectLst/>
                <a:latin typeface="+mn-lt"/>
                <a:ea typeface="+mn-ea"/>
                <a:cs typeface="+mn-cs"/>
              </a:rPr>
              <a:t>POS</a:t>
            </a:r>
            <a:r>
              <a:rPr lang="zh-TW" altLang="en-US" sz="1200" b="0" i="0" u="none" strike="noStrike" kern="1200" dirty="0">
                <a:solidFill>
                  <a:schemeClr val="tx1"/>
                </a:solidFill>
                <a:effectLst/>
                <a:latin typeface="+mn-lt"/>
                <a:ea typeface="+mn-ea"/>
                <a:cs typeface="+mn-cs"/>
              </a:rPr>
              <a:t>端 在有</a:t>
            </a:r>
            <a:r>
              <a:rPr lang="en-US" altLang="zh-TW" sz="1200" b="0" i="0" u="none" strike="noStrike" kern="1200" dirty="0">
                <a:solidFill>
                  <a:schemeClr val="tx1"/>
                </a:solidFill>
                <a:effectLst/>
                <a:latin typeface="+mn-lt"/>
                <a:ea typeface="+mn-ea"/>
                <a:cs typeface="+mn-cs"/>
              </a:rPr>
              <a:t>/</a:t>
            </a:r>
            <a:r>
              <a:rPr lang="zh-TW" altLang="en-US" sz="1200" b="0" i="0" u="none" strike="noStrike" kern="1200" dirty="0">
                <a:solidFill>
                  <a:schemeClr val="tx1"/>
                </a:solidFill>
                <a:effectLst/>
                <a:latin typeface="+mn-lt"/>
                <a:ea typeface="+mn-ea"/>
                <a:cs typeface="+mn-cs"/>
              </a:rPr>
              <a:t>無電子負載時的輸出電壓和電流 （確認 </a:t>
            </a:r>
            <a:r>
              <a:rPr lang="en-US" altLang="zh-TW" sz="1200" b="0" i="0" u="none" strike="noStrike" kern="1200" dirty="0">
                <a:solidFill>
                  <a:schemeClr val="tx1"/>
                </a:solidFill>
                <a:effectLst/>
                <a:latin typeface="+mn-lt"/>
                <a:ea typeface="+mn-ea"/>
                <a:cs typeface="+mn-cs"/>
              </a:rPr>
              <a:t>Case </a:t>
            </a:r>
            <a:r>
              <a:rPr lang="zh-TW" altLang="en-US" sz="1200" b="0" i="0" u="none" strike="noStrike" kern="1200" dirty="0">
                <a:solidFill>
                  <a:schemeClr val="tx1"/>
                </a:solidFill>
                <a:effectLst/>
                <a:latin typeface="+mn-lt"/>
                <a:ea typeface="+mn-ea"/>
                <a:cs typeface="+mn-cs"/>
              </a:rPr>
              <a:t>的 </a:t>
            </a:r>
            <a:r>
              <a:rPr lang="en-US" altLang="zh-TW" sz="1200" b="1" i="0" u="none" strike="noStrike" kern="1200" dirty="0">
                <a:solidFill>
                  <a:schemeClr val="tx1"/>
                </a:solidFill>
                <a:effectLst/>
                <a:latin typeface="+mn-lt"/>
                <a:ea typeface="+mn-ea"/>
                <a:cs typeface="+mn-cs"/>
              </a:rPr>
              <a:t>5V </a:t>
            </a:r>
            <a:r>
              <a:rPr lang="zh-TW" altLang="en-US" sz="1200" b="1" i="0" u="none" strike="noStrike" kern="1200" dirty="0">
                <a:solidFill>
                  <a:schemeClr val="tx1"/>
                </a:solidFill>
                <a:effectLst/>
                <a:latin typeface="+mn-lt"/>
                <a:ea typeface="+mn-ea"/>
                <a:cs typeface="+mn-cs"/>
              </a:rPr>
              <a:t>電源輸出功能正常</a:t>
            </a:r>
            <a:r>
              <a:rPr lang="zh-TW" altLang="en-US" sz="1200" b="0" i="0" u="none" strike="noStrike" kern="1200" dirty="0">
                <a:solidFill>
                  <a:schemeClr val="tx1"/>
                </a:solidFill>
                <a:effectLst/>
                <a:latin typeface="+mn-lt"/>
                <a:ea typeface="+mn-ea"/>
                <a:cs typeface="+mn-cs"/>
              </a:rPr>
              <a:t>）</a:t>
            </a:r>
            <a:endParaRPr lang="zh-TW" altLang="zh-TW" sz="1200" b="0" i="0" u="none" strike="noStrike" kern="1200" dirty="0">
              <a:solidFill>
                <a:schemeClr val="tx1"/>
              </a:solidFill>
              <a:effectLst/>
              <a:latin typeface="+mn-lt"/>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lang="en-US" altLang="zh-TW" sz="1200" b="0" i="0" u="none" strike="noStrike" kern="1200" dirty="0" err="1">
                <a:solidFill>
                  <a:schemeClr val="tx1"/>
                </a:solidFill>
                <a:effectLst/>
                <a:latin typeface="+mn-lt"/>
                <a:ea typeface="+mn-ea"/>
                <a:cs typeface="+mn-cs"/>
              </a:rPr>
              <a:t>ConnectivityTest_</a:t>
            </a:r>
            <a:r>
              <a:rPr lang="en-US" altLang="zh-TW" sz="1200" b="0" kern="1200" dirty="0" err="1">
                <a:solidFill>
                  <a:schemeClr val="tx1"/>
                </a:solidFill>
                <a:effectLst/>
                <a:latin typeface="+mn-lt"/>
                <a:ea typeface="+mn-ea"/>
                <a:cs typeface="+mn-cs"/>
              </a:rPr>
              <a:t>PARROT</a:t>
            </a:r>
            <a:r>
              <a:rPr lang="zh-TW" altLang="en-US" sz="1200" b="0" i="0" u="none" strike="noStrike" kern="1200" dirty="0">
                <a:solidFill>
                  <a:schemeClr val="tx1"/>
                </a:solidFill>
                <a:effectLst/>
                <a:latin typeface="+mn-lt"/>
                <a:ea typeface="+mn-ea"/>
                <a:cs typeface="+mn-cs"/>
              </a:rPr>
              <a:t>：驗證 </a:t>
            </a:r>
            <a:r>
              <a:rPr lang="en-US" altLang="zh-TW" sz="1200" b="0" i="0" u="none" strike="noStrike" kern="1200" dirty="0">
                <a:solidFill>
                  <a:schemeClr val="tx1"/>
                </a:solidFill>
                <a:effectLst/>
                <a:latin typeface="+mn-lt"/>
                <a:ea typeface="+mn-ea"/>
                <a:cs typeface="+mn-cs"/>
              </a:rPr>
              <a:t>DUT </a:t>
            </a:r>
            <a:r>
              <a:rPr lang="zh-TW" altLang="en-US" sz="1200" b="0" i="0" u="none" strike="noStrike" kern="1200" dirty="0">
                <a:solidFill>
                  <a:schemeClr val="tx1"/>
                </a:solidFill>
                <a:effectLst/>
                <a:latin typeface="+mn-lt"/>
                <a:ea typeface="+mn-ea"/>
                <a:cs typeface="+mn-cs"/>
              </a:rPr>
              <a:t>是否能正確連線到 </a:t>
            </a:r>
            <a:r>
              <a:rPr lang="en-US" altLang="zh-TW" sz="1200" b="0" i="0" u="none" strike="noStrike" kern="1200" dirty="0">
                <a:solidFill>
                  <a:schemeClr val="tx1"/>
                </a:solidFill>
                <a:effectLst/>
                <a:latin typeface="+mn-lt"/>
                <a:ea typeface="+mn-ea"/>
                <a:cs typeface="+mn-cs"/>
              </a:rPr>
              <a:t>PARROT </a:t>
            </a:r>
            <a:r>
              <a:rPr lang="zh-TW" altLang="en-US" sz="1200" b="0" i="0" u="none" strike="noStrike" kern="1200" dirty="0">
                <a:solidFill>
                  <a:schemeClr val="tx1"/>
                </a:solidFill>
                <a:effectLst/>
                <a:latin typeface="+mn-lt"/>
                <a:ea typeface="+mn-ea"/>
                <a:cs typeface="+mn-cs"/>
              </a:rPr>
              <a:t>裝置</a:t>
            </a:r>
            <a:endParaRPr kumimoji="1" lang="zh-TW" altLang="en-US" dirty="0"/>
          </a:p>
          <a:p>
            <a:endParaRPr kumimoji="1" lang="zh-TW" altLang="en-US" dirty="0"/>
          </a:p>
        </p:txBody>
      </p:sp>
    </p:spTree>
    <p:extLst>
      <p:ext uri="{BB962C8B-B14F-4D97-AF65-F5344CB8AC3E}">
        <p14:creationId xmlns:p14="http://schemas.microsoft.com/office/powerpoint/2010/main" val="1245879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C525F-C36B-3A17-D569-058557D068DE}"/>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6DB3C967-5CB1-65D6-B633-58966A35C409}"/>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4E147748-D84D-FC72-6F91-74CEC5911682}"/>
              </a:ext>
            </a:extLst>
          </p:cNvPr>
          <p:cNvSpPr>
            <a:spLocks noGrp="1"/>
          </p:cNvSpPr>
          <p:nvPr>
            <p:ph type="body" idx="1"/>
          </p:nvPr>
        </p:nvSpPr>
        <p:spPr/>
        <p: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zh-TW" altLang="en-US" sz="1200" b="0" kern="1200" dirty="0">
                <a:solidFill>
                  <a:schemeClr val="tx1"/>
                </a:solidFill>
                <a:effectLst/>
                <a:latin typeface="+mn-lt"/>
                <a:ea typeface="+mn-ea"/>
                <a:cs typeface="+mn-cs"/>
              </a:rPr>
              <a:t>（</a:t>
            </a:r>
            <a:r>
              <a:rPr lang="en-US" altLang="zh-TW" sz="1200" b="0" kern="1200" dirty="0">
                <a:solidFill>
                  <a:schemeClr val="tx1"/>
                </a:solidFill>
                <a:effectLst/>
                <a:latin typeface="+mn-lt"/>
                <a:ea typeface="+mn-ea"/>
                <a:cs typeface="+mn-cs"/>
              </a:rPr>
              <a:t>Open/Close</a:t>
            </a:r>
            <a:r>
              <a:rPr lang="zh-TW" altLang="en-US" sz="1200" b="0" kern="1200" dirty="0">
                <a:solidFill>
                  <a:schemeClr val="tx1"/>
                </a:solidFill>
                <a:effectLst/>
                <a:latin typeface="+mn-lt"/>
                <a:ea typeface="+mn-ea"/>
                <a:cs typeface="+mn-cs"/>
              </a:rPr>
              <a:t>）</a:t>
            </a:r>
            <a:r>
              <a:rPr lang="en-US" altLang="zh-TW" sz="1200" b="0" kern="1200" dirty="0" err="1">
                <a:solidFill>
                  <a:schemeClr val="tx1"/>
                </a:solidFill>
                <a:effectLst/>
                <a:latin typeface="+mn-lt"/>
                <a:ea typeface="+mn-ea"/>
                <a:cs typeface="+mn-cs"/>
              </a:rPr>
              <a:t>BudlinkChannel</a:t>
            </a:r>
            <a:r>
              <a:rPr lang="en-US" altLang="zh-TW" sz="1200" b="0" kern="1200" dirty="0">
                <a:solidFill>
                  <a:schemeClr val="tx1"/>
                </a:solidFill>
                <a:effectLst/>
                <a:latin typeface="+mn-lt"/>
                <a:ea typeface="+mn-ea"/>
                <a:cs typeface="+mn-cs"/>
              </a:rPr>
              <a:t>:</a:t>
            </a:r>
            <a:r>
              <a:rPr lang="zh-TW" altLang="en-US" sz="1200" b="0" kern="1200" dirty="0">
                <a:solidFill>
                  <a:schemeClr val="tx1"/>
                </a:solidFill>
                <a:effectLst/>
                <a:latin typeface="+mn-lt"/>
                <a:ea typeface="+mn-ea"/>
                <a:cs typeface="+mn-cs"/>
              </a:rPr>
              <a:t>開啟</a:t>
            </a:r>
            <a:r>
              <a:rPr lang="en-US" altLang="zh-TW" sz="1200" b="0" kern="1200" dirty="0">
                <a:solidFill>
                  <a:schemeClr val="tx1"/>
                </a:solidFill>
                <a:effectLst/>
                <a:latin typeface="+mn-lt"/>
                <a:ea typeface="+mn-ea"/>
                <a:cs typeface="+mn-cs"/>
              </a:rPr>
              <a:t>or</a:t>
            </a:r>
            <a:r>
              <a:rPr lang="zh-TW" altLang="en-US" sz="1200" b="0" kern="1200" dirty="0">
                <a:solidFill>
                  <a:schemeClr val="tx1"/>
                </a:solidFill>
                <a:effectLst/>
                <a:latin typeface="+mn-lt"/>
                <a:ea typeface="+mn-ea"/>
                <a:cs typeface="+mn-cs"/>
              </a:rPr>
              <a:t>關閉</a:t>
            </a:r>
            <a:r>
              <a:rPr lang="en-US" altLang="zh-TW" sz="1200" b="0" kern="1200" dirty="0">
                <a:solidFill>
                  <a:schemeClr val="tx1"/>
                </a:solidFill>
                <a:effectLst/>
                <a:latin typeface="+mn-lt"/>
                <a:ea typeface="+mn-ea"/>
                <a:cs typeface="+mn-cs"/>
              </a:rPr>
              <a:t>dummy board</a:t>
            </a:r>
            <a:r>
              <a:rPr lang="zh-TW" altLang="en-US" sz="1200" b="0" kern="1200" dirty="0">
                <a:solidFill>
                  <a:schemeClr val="tx1"/>
                </a:solidFill>
                <a:effectLst/>
                <a:latin typeface="+mn-lt"/>
                <a:ea typeface="+mn-ea"/>
                <a:cs typeface="+mn-cs"/>
              </a:rPr>
              <a:t> </a:t>
            </a:r>
            <a:r>
              <a:rPr lang="en-US" altLang="zh-TW" sz="1200" b="0" kern="1200" dirty="0" err="1">
                <a:solidFill>
                  <a:schemeClr val="tx1"/>
                </a:solidFill>
                <a:effectLst/>
                <a:latin typeface="+mn-lt"/>
                <a:ea typeface="+mn-ea"/>
                <a:cs typeface="+mn-cs"/>
              </a:rPr>
              <a:t>budlink</a:t>
            </a:r>
            <a:r>
              <a:rPr lang="zh-TW" altLang="en-US" sz="1200" b="0" kern="1200" dirty="0">
                <a:solidFill>
                  <a:schemeClr val="tx1"/>
                </a:solidFill>
                <a:effectLst/>
                <a:latin typeface="+mn-lt"/>
                <a:ea typeface="+mn-ea"/>
                <a:cs typeface="+mn-cs"/>
              </a:rPr>
              <a:t>通道</a:t>
            </a:r>
            <a:endParaRPr lang="en-US" altLang="zh-TW" sz="1200" b="0" i="0" u="none" strike="noStrike" kern="1200" dirty="0">
              <a:solidFill>
                <a:schemeClr val="tx1"/>
              </a:solidFill>
              <a:effectLst/>
              <a:latin typeface="+mn-lt"/>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lang="en-US" altLang="zh-TW" sz="1200" b="0" i="0" u="none" strike="noStrike" kern="1200" dirty="0" err="1">
                <a:solidFill>
                  <a:schemeClr val="tx1"/>
                </a:solidFill>
                <a:effectLst/>
                <a:latin typeface="+mn-lt"/>
                <a:ea typeface="+mn-ea"/>
                <a:cs typeface="+mn-cs"/>
              </a:rPr>
              <a:t>ConnectivityTest_BuddyLink</a:t>
            </a:r>
            <a:r>
              <a:rPr lang="en-US" altLang="zh-TW" sz="1200" b="0" i="0" u="none" strike="noStrike" kern="1200" dirty="0">
                <a:solidFill>
                  <a:schemeClr val="tx1"/>
                </a:solidFill>
                <a:effectLst/>
                <a:latin typeface="+mn-lt"/>
                <a:ea typeface="+mn-ea"/>
                <a:cs typeface="+mn-cs"/>
              </a:rPr>
              <a:t>(Right/Left)</a:t>
            </a:r>
            <a:r>
              <a:rPr lang="zh-TW" altLang="en-US" sz="1200" b="0" i="0" u="none" strike="noStrike" kern="1200" dirty="0">
                <a:solidFill>
                  <a:schemeClr val="tx1"/>
                </a:solidFill>
                <a:effectLst/>
                <a:latin typeface="+mn-lt"/>
                <a:ea typeface="+mn-ea"/>
                <a:cs typeface="+mn-cs"/>
              </a:rPr>
              <a:t>：確認左右真耳與充電盒的通訊狀態（</a:t>
            </a:r>
            <a:r>
              <a:rPr lang="en-US" altLang="zh-TW" sz="1200" kern="1200" dirty="0">
                <a:solidFill>
                  <a:schemeClr val="tx1"/>
                </a:solidFill>
                <a:effectLst/>
                <a:latin typeface="+mn-lt"/>
                <a:ea typeface="+mn-ea"/>
                <a:cs typeface="+mn-cs"/>
              </a:rPr>
              <a:t>bud detect L/R</a:t>
            </a:r>
            <a:r>
              <a:rPr lang="zh-TW" altLang="en-US" sz="1200" kern="1200" dirty="0">
                <a:solidFill>
                  <a:schemeClr val="tx1"/>
                </a:solidFill>
                <a:effectLst/>
                <a:latin typeface="+mn-lt"/>
                <a:ea typeface="+mn-ea"/>
                <a:cs typeface="+mn-cs"/>
              </a:rPr>
              <a:t>）</a:t>
            </a:r>
            <a:r>
              <a:rPr lang="zh-TW" altLang="en-US" sz="1200" b="0" i="0" u="none" strike="noStrike" kern="1200" dirty="0">
                <a:solidFill>
                  <a:schemeClr val="tx1"/>
                </a:solidFill>
                <a:effectLst/>
                <a:latin typeface="+mn-lt"/>
                <a:ea typeface="+mn-ea"/>
                <a:cs typeface="+mn-cs"/>
              </a:rPr>
              <a:t>、發送指令讀取 </a:t>
            </a:r>
            <a:r>
              <a:rPr lang="en-US" altLang="zh-TW" sz="1200" b="0" i="0" u="none" strike="noStrike" kern="1200" dirty="0">
                <a:solidFill>
                  <a:schemeClr val="tx1"/>
                </a:solidFill>
                <a:effectLst/>
                <a:latin typeface="+mn-lt"/>
                <a:ea typeface="+mn-ea"/>
                <a:cs typeface="+mn-cs"/>
              </a:rPr>
              <a:t>TX </a:t>
            </a:r>
            <a:r>
              <a:rPr lang="zh-TW" altLang="en-US" sz="1200" b="0" i="0" u="none" strike="noStrike" kern="1200" dirty="0">
                <a:solidFill>
                  <a:schemeClr val="tx1"/>
                </a:solidFill>
                <a:effectLst/>
                <a:latin typeface="+mn-lt"/>
                <a:ea typeface="+mn-ea"/>
                <a:cs typeface="+mn-cs"/>
              </a:rPr>
              <a:t>與 </a:t>
            </a:r>
            <a:r>
              <a:rPr lang="en-US" altLang="zh-TW" sz="1200" b="0" i="0" u="none" strike="noStrike" kern="1200" dirty="0">
                <a:solidFill>
                  <a:schemeClr val="tx1"/>
                </a:solidFill>
                <a:effectLst/>
                <a:latin typeface="+mn-lt"/>
                <a:ea typeface="+mn-ea"/>
                <a:cs typeface="+mn-cs"/>
              </a:rPr>
              <a:t>RX </a:t>
            </a:r>
            <a:r>
              <a:rPr lang="zh-TW" altLang="en-US" sz="1200" b="0" i="0" u="none" strike="noStrike" kern="1200" dirty="0">
                <a:solidFill>
                  <a:schemeClr val="tx1"/>
                </a:solidFill>
                <a:effectLst/>
                <a:latin typeface="+mn-lt"/>
                <a:ea typeface="+mn-ea"/>
                <a:cs typeface="+mn-cs"/>
              </a:rPr>
              <a:t>確認通訊功能（</a:t>
            </a:r>
            <a:r>
              <a:rPr lang="en-US" altLang="zh-TW" sz="1200" kern="1200" dirty="0">
                <a:solidFill>
                  <a:schemeClr val="tx1"/>
                </a:solidFill>
                <a:effectLst/>
                <a:latin typeface="+mn-lt"/>
                <a:ea typeface="+mn-ea"/>
                <a:cs typeface="+mn-cs"/>
              </a:rPr>
              <a:t>bud link test</a:t>
            </a:r>
            <a:r>
              <a:rPr lang="zh-TW" altLang="en-US" sz="1200" kern="1200" dirty="0">
                <a:solidFill>
                  <a:schemeClr val="tx1"/>
                </a:solidFill>
                <a:effectLst/>
                <a:latin typeface="+mn-lt"/>
                <a:ea typeface="+mn-ea"/>
                <a:cs typeface="+mn-cs"/>
              </a:rPr>
              <a:t> </a:t>
            </a:r>
            <a:r>
              <a:rPr lang="en-US" altLang="zh-TW" sz="1200" kern="1200" dirty="0">
                <a:solidFill>
                  <a:schemeClr val="tx1"/>
                </a:solidFill>
                <a:effectLst/>
                <a:latin typeface="+mn-lt"/>
                <a:ea typeface="+mn-ea"/>
                <a:cs typeface="+mn-cs"/>
              </a:rPr>
              <a:t>L/R</a:t>
            </a:r>
            <a:r>
              <a:rPr lang="zh-TW" altLang="en-US" sz="1200" kern="1200" dirty="0">
                <a:solidFill>
                  <a:schemeClr val="tx1"/>
                </a:solidFill>
                <a:effectLst/>
                <a:latin typeface="+mn-lt"/>
                <a:ea typeface="+mn-ea"/>
                <a:cs typeface="+mn-cs"/>
              </a:rPr>
              <a:t>）</a:t>
            </a:r>
            <a:endParaRPr lang="en-US" altLang="zh-TW" sz="1200" kern="1200" dirty="0">
              <a:solidFill>
                <a:schemeClr val="tx1"/>
              </a:solidFill>
              <a:effectLst/>
              <a:latin typeface="+mn-lt"/>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lang="en-US" altLang="zh-TW" sz="1200" b="0" kern="1200" dirty="0" err="1">
                <a:solidFill>
                  <a:schemeClr val="tx1"/>
                </a:solidFill>
                <a:effectLst/>
                <a:latin typeface="+mn-lt"/>
                <a:ea typeface="+mn-ea"/>
                <a:cs typeface="+mn-cs"/>
              </a:rPr>
              <a:t>Release_DUT</a:t>
            </a:r>
            <a:r>
              <a:rPr lang="zh-TW" altLang="en-US" sz="1200" b="0" i="0" u="none" strike="noStrike" kern="1200" dirty="0">
                <a:solidFill>
                  <a:schemeClr val="tx1"/>
                </a:solidFill>
                <a:effectLst/>
                <a:latin typeface="+mn-lt"/>
                <a:ea typeface="+mn-ea"/>
                <a:cs typeface="+mn-cs"/>
              </a:rPr>
              <a:t>：升起假耳模組釋放</a:t>
            </a:r>
            <a:r>
              <a:rPr lang="en-US" altLang="zh-TW" sz="1200" b="0" i="0" u="none" strike="noStrike" kern="1200" dirty="0">
                <a:solidFill>
                  <a:schemeClr val="tx1"/>
                </a:solidFill>
                <a:effectLst/>
                <a:latin typeface="+mn-lt"/>
                <a:ea typeface="+mn-ea"/>
                <a:cs typeface="+mn-cs"/>
              </a:rPr>
              <a:t>DUT</a:t>
            </a:r>
            <a:r>
              <a:rPr lang="zh-TW" altLang="en-US" sz="1200" b="0" i="0" u="none" strike="noStrike" kern="1200" dirty="0">
                <a:solidFill>
                  <a:schemeClr val="tx1"/>
                </a:solidFill>
                <a:effectLst/>
                <a:latin typeface="+mn-lt"/>
                <a:ea typeface="+mn-ea"/>
                <a:cs typeface="+mn-cs"/>
              </a:rPr>
              <a:t>裝置</a:t>
            </a:r>
            <a:endParaRPr lang="zh-TW" altLang="zh-TW" sz="1200" b="0" i="0" u="none" strike="noStrike" kern="1200" dirty="0">
              <a:solidFill>
                <a:schemeClr val="tx1"/>
              </a:solidFill>
              <a:effectLst/>
              <a:latin typeface="+mn-lt"/>
              <a:ea typeface="+mn-ea"/>
              <a:cs typeface="+mn-cs"/>
            </a:endParaRPr>
          </a:p>
          <a:p>
            <a:pPr rtl="0" eaLnBrk="1" fontAlgn="auto" latinLnBrk="0" hangingPunct="1">
              <a:lnSpc>
                <a:spcPct val="150000"/>
              </a:lnSpc>
            </a:pPr>
            <a:r>
              <a:rPr lang="en-US" altLang="zh-TW" sz="1200" b="0" i="0" u="none" strike="noStrike" kern="1200" dirty="0" err="1">
                <a:solidFill>
                  <a:schemeClr val="tx1"/>
                </a:solidFill>
                <a:effectLst/>
                <a:latin typeface="+mn-lt"/>
                <a:ea typeface="+mn-ea"/>
                <a:cs typeface="+mn-cs"/>
              </a:rPr>
              <a:t>LidStatusCheck</a:t>
            </a:r>
            <a:r>
              <a:rPr lang="zh-TW" altLang="en-US" sz="1200" b="0" i="0" u="none" strike="noStrike" kern="1200" dirty="0">
                <a:solidFill>
                  <a:schemeClr val="tx1"/>
                </a:solidFill>
                <a:effectLst/>
                <a:latin typeface="+mn-lt"/>
                <a:ea typeface="+mn-ea"/>
                <a:cs typeface="+mn-cs"/>
              </a:rPr>
              <a:t>：透過</a:t>
            </a:r>
            <a:r>
              <a:rPr lang="en-US" altLang="zh-TW" sz="1200" b="0" i="0" u="none" strike="noStrike" kern="1200" dirty="0">
                <a:solidFill>
                  <a:schemeClr val="tx1"/>
                </a:solidFill>
                <a:effectLst/>
                <a:latin typeface="+mn-lt"/>
                <a:ea typeface="+mn-ea"/>
                <a:cs typeface="+mn-cs"/>
              </a:rPr>
              <a:t>dev lid get </a:t>
            </a:r>
            <a:r>
              <a:rPr lang="zh-TW" altLang="en-US" sz="1200" b="0" i="0" u="none" strike="noStrike" kern="1200" dirty="0">
                <a:solidFill>
                  <a:schemeClr val="tx1"/>
                </a:solidFill>
                <a:effectLst/>
                <a:latin typeface="+mn-lt"/>
                <a:ea typeface="+mn-ea"/>
                <a:cs typeface="+mn-cs"/>
              </a:rPr>
              <a:t>讀取確認充電盒的開關蓋狀況</a:t>
            </a:r>
            <a:r>
              <a:rPr lang="en-US" altLang="zh-TW" sz="1200" b="0" i="0" u="none" strike="noStrike" kern="1200" dirty="0">
                <a:solidFill>
                  <a:schemeClr val="tx1"/>
                </a:solidFill>
                <a:effectLst/>
                <a:latin typeface="+mn-lt"/>
                <a:ea typeface="+mn-ea"/>
                <a:cs typeface="+mn-cs"/>
              </a:rPr>
              <a:t> (Open/Close)</a:t>
            </a:r>
          </a:p>
          <a:p>
            <a:pPr marL="0" marR="0" lvl="0" indent="0" algn="l" defTabSz="914400" rtl="0" eaLnBrk="1" fontAlgn="auto" latinLnBrk="0" hangingPunct="1">
              <a:lnSpc>
                <a:spcPct val="150000"/>
              </a:lnSpc>
              <a:spcBef>
                <a:spcPts val="0"/>
              </a:spcBef>
              <a:spcAft>
                <a:spcPts val="0"/>
              </a:spcAft>
              <a:buClrTx/>
              <a:buSzTx/>
              <a:buFontTx/>
              <a:buNone/>
              <a:tabLst/>
              <a:defRPr/>
            </a:pPr>
            <a:r>
              <a:rPr lang="en-US" altLang="zh-TW" sz="1200" b="0" kern="1200" dirty="0" err="1">
                <a:solidFill>
                  <a:schemeClr val="tx1"/>
                </a:solidFill>
                <a:effectLst/>
                <a:latin typeface="+mn-lt"/>
                <a:ea typeface="+mn-ea"/>
                <a:cs typeface="+mn-cs"/>
              </a:rPr>
              <a:t>SystemReset</a:t>
            </a:r>
            <a:r>
              <a:rPr lang="zh-TW" altLang="en-US" sz="1200" b="0" kern="1200" dirty="0">
                <a:solidFill>
                  <a:schemeClr val="tx1"/>
                </a:solidFill>
                <a:effectLst/>
                <a:latin typeface="+mn-lt"/>
                <a:ea typeface="+mn-ea"/>
                <a:cs typeface="+mn-cs"/>
              </a:rPr>
              <a:t>：測試結束 重置ＤＵＴ</a:t>
            </a:r>
            <a:endParaRPr lang="en-US" altLang="zh-TW" sz="1200" b="0" kern="1200" dirty="0">
              <a:solidFill>
                <a:schemeClr val="tx1"/>
              </a:solidFill>
              <a:effectLst/>
              <a:latin typeface="+mn-lt"/>
              <a:ea typeface="+mn-ea"/>
              <a:cs typeface="+mn-cs"/>
            </a:endParaRPr>
          </a:p>
          <a:p>
            <a:pPr rtl="0" eaLnBrk="1" fontAlgn="auto" latinLnBrk="0" hangingPunct="1">
              <a:lnSpc>
                <a:spcPct val="150000"/>
              </a:lnSpc>
            </a:pPr>
            <a:endParaRPr lang="en-US" altLang="zh-TW" sz="1200" b="0" i="0" u="none" strike="noStrike" kern="1200" dirty="0">
              <a:solidFill>
                <a:schemeClr val="tx1"/>
              </a:solidFill>
              <a:effectLst/>
              <a:latin typeface="+mn-lt"/>
              <a:ea typeface="+mn-ea"/>
              <a:cs typeface="+mn-cs"/>
            </a:endParaRPr>
          </a:p>
          <a:p>
            <a:pPr rtl="0" eaLnBrk="1" fontAlgn="auto" latinLnBrk="0" hangingPunct="1">
              <a:lnSpc>
                <a:spcPct val="150000"/>
              </a:lnSpc>
            </a:pPr>
            <a:endParaRPr lang="zh-TW" altLang="zh-TW" sz="1200" b="0" i="0" u="none" strike="noStrike" kern="1200" dirty="0">
              <a:solidFill>
                <a:schemeClr val="tx1"/>
              </a:solidFill>
              <a:effectLst/>
              <a:latin typeface="+mn-lt"/>
              <a:ea typeface="+mn-ea"/>
              <a:cs typeface="+mn-cs"/>
            </a:endParaRPr>
          </a:p>
          <a:p>
            <a:pPr rtl="0" eaLnBrk="1" fontAlgn="auto" latinLnBrk="0" hangingPunct="1"/>
            <a:r>
              <a:rPr lang="en-US" altLang="zh-TW" sz="1200" b="0" i="0" u="none" strike="noStrike" kern="1200" dirty="0" err="1">
                <a:solidFill>
                  <a:schemeClr val="tx1"/>
                </a:solidFill>
                <a:effectLst/>
                <a:latin typeface="+mn-lt"/>
                <a:ea typeface="+mn-ea"/>
                <a:cs typeface="+mn-cs"/>
              </a:rPr>
              <a:t>FixtureReset</a:t>
            </a:r>
            <a:r>
              <a:rPr lang="zh-TW" altLang="en-US" sz="1200" b="0" i="0" u="none" strike="noStrike" kern="1200" dirty="0">
                <a:solidFill>
                  <a:schemeClr val="tx1"/>
                </a:solidFill>
                <a:effectLst/>
                <a:latin typeface="+mn-lt"/>
                <a:ea typeface="+mn-ea"/>
                <a:cs typeface="+mn-cs"/>
              </a:rPr>
              <a:t>：復位治具確保回到初始位置</a:t>
            </a:r>
            <a:endParaRPr lang="zh-TW" altLang="zh-TW" sz="1200" b="0" i="0" u="none" strike="noStrike" kern="1200" dirty="0">
              <a:solidFill>
                <a:schemeClr val="tx1"/>
              </a:solidFill>
              <a:effectLst/>
              <a:latin typeface="+mn-lt"/>
              <a:ea typeface="+mn-ea"/>
              <a:cs typeface="+mn-cs"/>
            </a:endParaRPr>
          </a:p>
          <a:p>
            <a:pPr rtl="0" eaLnBrk="1" fontAlgn="auto" latinLnBrk="0" hangingPunct="1"/>
            <a:r>
              <a:rPr lang="en-US" altLang="zh-TW" sz="1200" b="0" i="0" u="none" strike="noStrike" kern="1200" dirty="0" err="1">
                <a:solidFill>
                  <a:schemeClr val="tx1"/>
                </a:solidFill>
                <a:effectLst/>
                <a:latin typeface="+mn-lt"/>
                <a:ea typeface="+mn-ea"/>
                <a:cs typeface="+mn-cs"/>
              </a:rPr>
              <a:t>cleanSN</a:t>
            </a:r>
            <a:r>
              <a:rPr lang="zh-TW" altLang="en-US" sz="1200" b="0" i="0" u="none" strike="noStrike" kern="1200" dirty="0">
                <a:solidFill>
                  <a:schemeClr val="tx1"/>
                </a:solidFill>
                <a:effectLst/>
                <a:latin typeface="+mn-lt"/>
                <a:ea typeface="+mn-ea"/>
                <a:cs typeface="+mn-cs"/>
              </a:rPr>
              <a:t>：清除 </a:t>
            </a:r>
            <a:r>
              <a:rPr lang="en-US" altLang="zh-TW" sz="1200" b="0" i="0" u="none" strike="noStrike" kern="1200" dirty="0">
                <a:solidFill>
                  <a:schemeClr val="tx1"/>
                </a:solidFill>
                <a:effectLst/>
                <a:latin typeface="+mn-lt"/>
                <a:ea typeface="+mn-ea"/>
                <a:cs typeface="+mn-cs"/>
              </a:rPr>
              <a:t>DUT SN</a:t>
            </a:r>
            <a:r>
              <a:rPr lang="zh-TW" altLang="en-US" sz="1200" b="0" i="0" u="none" strike="noStrike" kern="1200" dirty="0">
                <a:solidFill>
                  <a:schemeClr val="tx1"/>
                </a:solidFill>
                <a:effectLst/>
                <a:latin typeface="+mn-lt"/>
                <a:ea typeface="+mn-ea"/>
                <a:cs typeface="+mn-cs"/>
              </a:rPr>
              <a:t>，以便重新寫入或重新測試</a:t>
            </a:r>
            <a:endParaRPr lang="zh-TW" altLang="zh-TW" sz="1200" b="0" i="0" u="none" strike="noStrike" kern="1200" dirty="0">
              <a:solidFill>
                <a:schemeClr val="tx1"/>
              </a:solidFill>
              <a:effectLst/>
              <a:latin typeface="+mn-lt"/>
              <a:ea typeface="+mn-ea"/>
              <a:cs typeface="+mn-cs"/>
            </a:endParaRPr>
          </a:p>
          <a:p>
            <a:endParaRPr kumimoji="1" lang="zh-TW" altLang="en-US" dirty="0"/>
          </a:p>
          <a:p>
            <a:endParaRPr kumimoji="1" lang="zh-TW" altLang="en-US" dirty="0"/>
          </a:p>
        </p:txBody>
      </p:sp>
    </p:spTree>
    <p:extLst>
      <p:ext uri="{BB962C8B-B14F-4D97-AF65-F5344CB8AC3E}">
        <p14:creationId xmlns:p14="http://schemas.microsoft.com/office/powerpoint/2010/main" val="3852115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3889E-9118-7230-C057-F8A5E4818EB6}"/>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7DB3275E-D648-A2F9-B6D8-030417BADB8E}"/>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7F3FFFE9-7274-94F6-765B-31824A3F6794}"/>
              </a:ext>
            </a:extLst>
          </p:cNvPr>
          <p:cNvSpPr>
            <a:spLocks noGrp="1"/>
          </p:cNvSpPr>
          <p:nvPr>
            <p:ph type="body" idx="1"/>
          </p:nvPr>
        </p:nvSpPr>
        <p:spPr/>
        <p:txBody>
          <a:bodyPr/>
          <a:lstStyle/>
          <a:p>
            <a:endParaRPr kumimoji="1" lang="zh-TW" altLang="en-US" dirty="0"/>
          </a:p>
          <a:p>
            <a:endParaRPr kumimoji="1" lang="zh-TW" altLang="en-US" dirty="0"/>
          </a:p>
        </p:txBody>
      </p:sp>
    </p:spTree>
    <p:extLst>
      <p:ext uri="{BB962C8B-B14F-4D97-AF65-F5344CB8AC3E}">
        <p14:creationId xmlns:p14="http://schemas.microsoft.com/office/powerpoint/2010/main" val="7769482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94CDDC-D588-8DF8-E678-492211881157}"/>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5AA87D8A-76C8-C0AA-19B2-AE2CFBF42977}"/>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77196FCB-575A-038B-2000-1D98E125B3A4}"/>
              </a:ext>
            </a:extLst>
          </p:cNvPr>
          <p:cNvSpPr>
            <a:spLocks noGrp="1"/>
          </p:cNvSpPr>
          <p:nvPr>
            <p:ph type="body" idx="1"/>
          </p:nvPr>
        </p:nvSpPr>
        <p:spPr/>
        <p:txBody>
          <a:bodyPr/>
          <a:lstStyle/>
          <a:p>
            <a:endParaRPr kumimoji="1" lang="zh-TW" altLang="en-US" dirty="0"/>
          </a:p>
          <a:p>
            <a:endParaRPr kumimoji="1" lang="zh-TW" altLang="en-US" dirty="0"/>
          </a:p>
        </p:txBody>
      </p:sp>
    </p:spTree>
    <p:extLst>
      <p:ext uri="{BB962C8B-B14F-4D97-AF65-F5344CB8AC3E}">
        <p14:creationId xmlns:p14="http://schemas.microsoft.com/office/powerpoint/2010/main" val="37763811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7D411-6D8E-87F8-60BC-4A3EBD3D6CAF}"/>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A5A71905-7A85-7A9D-3502-342CDC519603}"/>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91158A20-B38C-DA6E-05BD-4C67CF225CAE}"/>
              </a:ext>
            </a:extLst>
          </p:cNvPr>
          <p:cNvSpPr>
            <a:spLocks noGrp="1"/>
          </p:cNvSpPr>
          <p:nvPr>
            <p:ph type="body" idx="1"/>
          </p:nvPr>
        </p:nvSpPr>
        <p:spPr/>
        <p:txBody>
          <a:bodyPr/>
          <a:lstStyle/>
          <a:p>
            <a:endParaRPr kumimoji="1" lang="zh-TW" altLang="en-US" dirty="0"/>
          </a:p>
          <a:p>
            <a:endParaRPr kumimoji="1" lang="zh-TW" altLang="en-US" dirty="0"/>
          </a:p>
        </p:txBody>
      </p:sp>
    </p:spTree>
    <p:extLst>
      <p:ext uri="{BB962C8B-B14F-4D97-AF65-F5344CB8AC3E}">
        <p14:creationId xmlns:p14="http://schemas.microsoft.com/office/powerpoint/2010/main" val="39481404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6500E3-DEFB-E2FD-5048-99D47F57615E}"/>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7DD593BB-37F0-EDC0-4E4A-CDE513323539}"/>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5380C45B-FABA-741B-F039-EDDD01F8EE8B}"/>
              </a:ext>
            </a:extLst>
          </p:cNvPr>
          <p:cNvSpPr>
            <a:spLocks noGrp="1"/>
          </p:cNvSpPr>
          <p:nvPr>
            <p:ph type="body" idx="1"/>
          </p:nvPr>
        </p:nvSpPr>
        <p:spPr/>
        <p:txBody>
          <a:bodyPr/>
          <a:lstStyle/>
          <a:p>
            <a:endParaRPr kumimoji="1" lang="zh-TW" altLang="en-US" dirty="0"/>
          </a:p>
          <a:p>
            <a:endParaRPr kumimoji="1" lang="zh-TW" altLang="en-US" dirty="0"/>
          </a:p>
        </p:txBody>
      </p:sp>
    </p:spTree>
    <p:extLst>
      <p:ext uri="{BB962C8B-B14F-4D97-AF65-F5344CB8AC3E}">
        <p14:creationId xmlns:p14="http://schemas.microsoft.com/office/powerpoint/2010/main" val="3331941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DE9FE-F579-993B-E8A4-6C39919EED6C}"/>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82213B14-9EFF-E127-F242-959CFCD98911}"/>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ADD4F893-B1CA-72F4-F811-7387602F389E}"/>
              </a:ext>
            </a:extLst>
          </p:cNvPr>
          <p:cNvSpPr>
            <a:spLocks noGrp="1"/>
          </p:cNvSpPr>
          <p:nvPr>
            <p:ph type="body" idx="1"/>
          </p:nvPr>
        </p:nvSpPr>
        <p:spPr/>
        <p:txBody>
          <a:bodyPr/>
          <a:lstStyle/>
          <a:p>
            <a:endParaRPr kumimoji="1" lang="zh-TW" altLang="en-US" dirty="0"/>
          </a:p>
          <a:p>
            <a:endParaRPr kumimoji="1" lang="zh-TW" altLang="en-US" dirty="0"/>
          </a:p>
        </p:txBody>
      </p:sp>
    </p:spTree>
    <p:extLst>
      <p:ext uri="{BB962C8B-B14F-4D97-AF65-F5344CB8AC3E}">
        <p14:creationId xmlns:p14="http://schemas.microsoft.com/office/powerpoint/2010/main" val="18438006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62CC04-CDFF-A3FE-B9FE-3348E9334E07}"/>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81C7FD16-4007-E6D4-B603-7064FC1D568F}"/>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71D10318-49ED-157D-59F9-A6151DE1D3C8}"/>
              </a:ext>
            </a:extLst>
          </p:cNvPr>
          <p:cNvSpPr>
            <a:spLocks noGrp="1"/>
          </p:cNvSpPr>
          <p:nvPr>
            <p:ph type="body" idx="1"/>
          </p:nvPr>
        </p:nvSpPr>
        <p:spPr/>
        <p:txBody>
          <a:bodyPr/>
          <a:lstStyle/>
          <a:p>
            <a:endParaRPr kumimoji="1" lang="zh-TW" altLang="en-US" dirty="0"/>
          </a:p>
          <a:p>
            <a:endParaRPr kumimoji="1" lang="zh-TW" altLang="en-US" dirty="0"/>
          </a:p>
        </p:txBody>
      </p:sp>
    </p:spTree>
    <p:extLst>
      <p:ext uri="{BB962C8B-B14F-4D97-AF65-F5344CB8AC3E}">
        <p14:creationId xmlns:p14="http://schemas.microsoft.com/office/powerpoint/2010/main" val="34661940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D3E044-C7E1-731F-52B4-288D820F1A62}"/>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BEB388F7-3019-447A-607F-A2F6093F5F9B}"/>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5203C956-2395-642D-7C95-676836CEFBBE}"/>
              </a:ext>
            </a:extLst>
          </p:cNvPr>
          <p:cNvSpPr>
            <a:spLocks noGrp="1"/>
          </p:cNvSpPr>
          <p:nvPr>
            <p:ph type="body" idx="1"/>
          </p:nvPr>
        </p:nvSpPr>
        <p:spPr/>
        <p:txBody>
          <a:bodyPr/>
          <a:lstStyle/>
          <a:p>
            <a:endParaRPr kumimoji="1" lang="zh-TW" altLang="en-US" dirty="0"/>
          </a:p>
          <a:p>
            <a:pPr rtl="0" eaLnBrk="1" fontAlgn="auto" latinLnBrk="0" hangingPunct="1">
              <a:lnSpc>
                <a:spcPct val="150000"/>
              </a:lnSpc>
            </a:pPr>
            <a:r>
              <a:rPr lang="en-US" altLang="zh-TW" sz="1200" b="0" i="0" u="none" strike="noStrike" kern="1200" dirty="0">
                <a:solidFill>
                  <a:schemeClr val="tx1"/>
                </a:solidFill>
                <a:effectLst/>
                <a:latin typeface="+mn-lt"/>
                <a:ea typeface="+mn-ea"/>
                <a:cs typeface="+mn-cs"/>
              </a:rPr>
              <a:t>DCR</a:t>
            </a:r>
            <a:r>
              <a:rPr lang="zh-TW" altLang="en-US" sz="1200" b="0" i="0" u="none" strike="noStrike" kern="1200" dirty="0">
                <a:solidFill>
                  <a:schemeClr val="tx1"/>
                </a:solidFill>
                <a:effectLst/>
                <a:latin typeface="+mn-lt"/>
                <a:ea typeface="+mn-ea"/>
                <a:cs typeface="+mn-cs"/>
              </a:rPr>
              <a:t>：透過</a:t>
            </a:r>
            <a:r>
              <a:rPr lang="en-US" altLang="zh-TW" sz="1200" b="0" i="0" u="none" strike="noStrike" kern="1200" dirty="0">
                <a:solidFill>
                  <a:schemeClr val="tx1"/>
                </a:solidFill>
                <a:effectLst/>
                <a:latin typeface="+mn-lt"/>
                <a:ea typeface="+mn-ea"/>
                <a:cs typeface="+mn-cs"/>
              </a:rPr>
              <a:t>Dummy bud </a:t>
            </a:r>
            <a:r>
              <a:rPr lang="zh-TW" altLang="en-US" sz="1200" b="0" i="0" u="none" strike="noStrike" kern="1200" dirty="0">
                <a:solidFill>
                  <a:schemeClr val="tx1"/>
                </a:solidFill>
                <a:effectLst/>
                <a:latin typeface="+mn-lt"/>
                <a:ea typeface="+mn-ea"/>
                <a:cs typeface="+mn-cs"/>
              </a:rPr>
              <a:t>，量測</a:t>
            </a:r>
            <a:r>
              <a:rPr lang="en-US" altLang="zh-TW" sz="1200" b="0" i="0" u="none" strike="noStrike" kern="1200" dirty="0">
                <a:solidFill>
                  <a:schemeClr val="tx1"/>
                </a:solidFill>
                <a:effectLst/>
                <a:latin typeface="+mn-lt"/>
                <a:ea typeface="+mn-ea"/>
                <a:cs typeface="+mn-cs"/>
              </a:rPr>
              <a:t>Type-C </a:t>
            </a:r>
            <a:r>
              <a:rPr lang="zh-TW" altLang="en-US" sz="1200" b="0" i="0" u="none" strike="noStrike" kern="1200" dirty="0">
                <a:solidFill>
                  <a:schemeClr val="tx1"/>
                </a:solidFill>
                <a:effectLst/>
                <a:latin typeface="+mn-lt"/>
                <a:ea typeface="+mn-ea"/>
                <a:cs typeface="+mn-cs"/>
              </a:rPr>
              <a:t>端到 </a:t>
            </a:r>
            <a:r>
              <a:rPr lang="en-US" altLang="zh-TW" sz="1200" b="0" i="0" u="none" strike="noStrike" kern="1200" dirty="0">
                <a:solidFill>
                  <a:schemeClr val="tx1"/>
                </a:solidFill>
                <a:effectLst/>
                <a:latin typeface="+mn-lt"/>
                <a:ea typeface="+mn-ea"/>
                <a:cs typeface="+mn-cs"/>
              </a:rPr>
              <a:t>BUD </a:t>
            </a:r>
            <a:r>
              <a:rPr lang="zh-TW" altLang="en-US" sz="1200" b="0" i="0" u="none" strike="noStrike" kern="1200" dirty="0">
                <a:solidFill>
                  <a:schemeClr val="tx1"/>
                </a:solidFill>
                <a:effectLst/>
                <a:latin typeface="+mn-lt"/>
                <a:ea typeface="+mn-ea"/>
                <a:cs typeface="+mn-cs"/>
              </a:rPr>
              <a:t>左／右負極（</a:t>
            </a:r>
            <a:r>
              <a:rPr lang="en-US" altLang="zh-TW" sz="1200" b="0" i="0" u="none" strike="noStrike" kern="1200" dirty="0">
                <a:solidFill>
                  <a:schemeClr val="tx1"/>
                </a:solidFill>
                <a:effectLst/>
                <a:latin typeface="+mn-lt"/>
                <a:ea typeface="+mn-ea"/>
                <a:cs typeface="+mn-cs"/>
              </a:rPr>
              <a:t>BUD_L/R_NEG</a:t>
            </a:r>
            <a:r>
              <a:rPr lang="zh-TW" altLang="en-US" sz="1200" b="0" i="0" u="none" strike="noStrike" kern="1200" dirty="0">
                <a:solidFill>
                  <a:schemeClr val="tx1"/>
                </a:solidFill>
                <a:effectLst/>
                <a:latin typeface="+mn-lt"/>
                <a:ea typeface="+mn-ea"/>
                <a:cs typeface="+mn-cs"/>
              </a:rPr>
              <a:t>）的接地直流電阻（</a:t>
            </a:r>
            <a:r>
              <a:rPr lang="en-US" altLang="zh-TW" sz="1200" b="0" i="0" u="none" strike="noStrike" kern="1200" dirty="0">
                <a:solidFill>
                  <a:schemeClr val="tx1"/>
                </a:solidFill>
                <a:effectLst/>
                <a:latin typeface="+mn-lt"/>
                <a:ea typeface="+mn-ea"/>
                <a:cs typeface="+mn-cs"/>
              </a:rPr>
              <a:t>GND DCR</a:t>
            </a:r>
            <a:r>
              <a:rPr lang="zh-TW" altLang="en-US" sz="1200" b="0" i="0" u="none" strike="noStrike" kern="1200" dirty="0">
                <a:solidFill>
                  <a:schemeClr val="tx1"/>
                </a:solidFill>
                <a:effectLst/>
                <a:latin typeface="+mn-lt"/>
                <a:ea typeface="+mn-ea"/>
                <a:cs typeface="+mn-cs"/>
              </a:rPr>
              <a:t>）</a:t>
            </a:r>
            <a:endParaRPr lang="zh-TW" altLang="zh-TW" sz="1200" b="0" i="0" u="none" strike="noStrike" kern="1200" dirty="0">
              <a:solidFill>
                <a:schemeClr val="tx1"/>
              </a:solidFill>
              <a:effectLst/>
              <a:latin typeface="+mn-lt"/>
              <a:ea typeface="+mn-ea"/>
              <a:cs typeface="+mn-cs"/>
            </a:endParaRPr>
          </a:p>
          <a:p>
            <a:endParaRPr kumimoji="1" lang="en-US" altLang="zh-TW" dirty="0"/>
          </a:p>
          <a:p>
            <a:r>
              <a:rPr kumimoji="1" lang="zh-TW" altLang="en-US" dirty="0"/>
              <a:t>每一邊假耳量測兩次ＤＣＲ</a:t>
            </a:r>
          </a:p>
        </p:txBody>
      </p:sp>
    </p:spTree>
    <p:extLst>
      <p:ext uri="{BB962C8B-B14F-4D97-AF65-F5344CB8AC3E}">
        <p14:creationId xmlns:p14="http://schemas.microsoft.com/office/powerpoint/2010/main" val="30715041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667661-0630-4B97-D581-4E30AB63DE6B}"/>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DCA9A1AC-267D-B9E6-DCD9-D5694A475712}"/>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70EE11ED-7BF7-8D69-BC77-63C5B6060289}"/>
              </a:ext>
            </a:extLst>
          </p:cNvPr>
          <p:cNvSpPr>
            <a:spLocks noGrp="1"/>
          </p:cNvSpPr>
          <p:nvPr>
            <p:ph type="body" idx="1"/>
          </p:nvPr>
        </p:nvSpPr>
        <p:spPr/>
        <p:txBody>
          <a:bodyPr/>
          <a:lstStyle/>
          <a:p>
            <a:endParaRPr kumimoji="1" lang="zh-TW" altLang="en-US" dirty="0"/>
          </a:p>
          <a:p>
            <a:pPr rtl="0" eaLnBrk="1" fontAlgn="auto" latinLnBrk="0" hangingPunct="1">
              <a:lnSpc>
                <a:spcPct val="150000"/>
              </a:lnSpc>
            </a:pPr>
            <a:r>
              <a:rPr lang="en-US" altLang="zh-TW" sz="1200" b="0" i="0" u="none" strike="noStrike" kern="1200" dirty="0" err="1">
                <a:solidFill>
                  <a:schemeClr val="tx1"/>
                </a:solidFill>
                <a:effectLst/>
                <a:latin typeface="+mn-lt"/>
                <a:ea typeface="+mn-ea"/>
                <a:cs typeface="+mn-cs"/>
              </a:rPr>
              <a:t>DUTPowerON</a:t>
            </a:r>
            <a:r>
              <a:rPr lang="zh-TW" altLang="en-US" sz="1200" b="0" i="0" u="none" strike="noStrike" kern="1200" dirty="0">
                <a:solidFill>
                  <a:schemeClr val="tx1"/>
                </a:solidFill>
                <a:effectLst/>
                <a:latin typeface="+mn-lt"/>
                <a:ea typeface="+mn-ea"/>
                <a:cs typeface="+mn-cs"/>
              </a:rPr>
              <a:t>：控制</a:t>
            </a:r>
            <a:r>
              <a:rPr lang="en-US" altLang="zh-TW" sz="1200" b="0" i="0" u="none" strike="noStrike" kern="1200" dirty="0" err="1">
                <a:solidFill>
                  <a:schemeClr val="tx1"/>
                </a:solidFill>
                <a:effectLst/>
                <a:latin typeface="+mn-lt"/>
                <a:ea typeface="+mn-ea"/>
                <a:cs typeface="+mn-cs"/>
              </a:rPr>
              <a:t>TypeC</a:t>
            </a:r>
            <a:r>
              <a:rPr lang="zh-TW" altLang="en-US" sz="1200" b="0" i="0" u="none" strike="noStrike" kern="1200" dirty="0">
                <a:solidFill>
                  <a:schemeClr val="tx1"/>
                </a:solidFill>
                <a:effectLst/>
                <a:latin typeface="+mn-lt"/>
                <a:ea typeface="+mn-ea"/>
                <a:cs typeface="+mn-cs"/>
              </a:rPr>
              <a:t>板 打開</a:t>
            </a:r>
            <a:r>
              <a:rPr lang="en-US" altLang="zh-TW" sz="1200" b="0" i="0" u="none" strike="noStrike" kern="1200" dirty="0">
                <a:solidFill>
                  <a:schemeClr val="tx1"/>
                </a:solidFill>
                <a:effectLst/>
                <a:latin typeface="+mn-lt"/>
                <a:ea typeface="+mn-ea"/>
                <a:cs typeface="+mn-cs"/>
              </a:rPr>
              <a:t>DUT</a:t>
            </a:r>
            <a:r>
              <a:rPr lang="zh-TW" altLang="en-US" sz="1200" b="0" i="0" u="none" strike="noStrike" kern="1200" dirty="0">
                <a:solidFill>
                  <a:schemeClr val="tx1"/>
                </a:solidFill>
                <a:effectLst/>
                <a:latin typeface="+mn-lt"/>
                <a:ea typeface="+mn-ea"/>
                <a:cs typeface="+mn-cs"/>
              </a:rPr>
              <a:t>通信通道（</a:t>
            </a:r>
            <a:r>
              <a:rPr lang="en-US" altLang="zh-TW" sz="1200" b="0" i="0" u="none" strike="noStrike" kern="1200" dirty="0">
                <a:solidFill>
                  <a:schemeClr val="tx1"/>
                </a:solidFill>
                <a:effectLst/>
                <a:latin typeface="+mn-lt"/>
                <a:ea typeface="+mn-ea"/>
                <a:cs typeface="+mn-cs"/>
              </a:rPr>
              <a:t>USB</a:t>
            </a:r>
            <a:r>
              <a:rPr lang="zh-TW" altLang="en-US" sz="1200" b="0" i="0" u="none" strike="noStrike" kern="1200" dirty="0">
                <a:solidFill>
                  <a:schemeClr val="tx1"/>
                </a:solidFill>
                <a:effectLst/>
                <a:latin typeface="+mn-lt"/>
                <a:ea typeface="+mn-ea"/>
                <a:cs typeface="+mn-cs"/>
              </a:rPr>
              <a:t>）</a:t>
            </a:r>
            <a:endParaRPr lang="zh-TW" altLang="zh-TW" sz="1200" b="0" i="0" u="none" strike="noStrike" kern="1200" dirty="0">
              <a:solidFill>
                <a:schemeClr val="tx1"/>
              </a:solidFill>
              <a:effectLst/>
              <a:latin typeface="+mn-lt"/>
              <a:ea typeface="+mn-ea"/>
              <a:cs typeface="+mn-cs"/>
            </a:endParaRPr>
          </a:p>
          <a:p>
            <a:endParaRPr kumimoji="1" lang="zh-TW" altLang="en-US" dirty="0"/>
          </a:p>
        </p:txBody>
      </p:sp>
    </p:spTree>
    <p:extLst>
      <p:ext uri="{BB962C8B-B14F-4D97-AF65-F5344CB8AC3E}">
        <p14:creationId xmlns:p14="http://schemas.microsoft.com/office/powerpoint/2010/main" val="23088952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85092D-AFCC-C576-62E6-F0B5B5B43CCE}"/>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687ACB94-6743-1E6A-C24B-16CF73A87929}"/>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112DABA5-539D-1E6F-7921-62EBB4D34E95}"/>
              </a:ext>
            </a:extLst>
          </p:cNvPr>
          <p:cNvSpPr>
            <a:spLocks noGrp="1"/>
          </p:cNvSpPr>
          <p:nvPr>
            <p:ph type="body" idx="1"/>
          </p:nvPr>
        </p:nvSpPr>
        <p:spPr/>
        <p:txBody>
          <a:bodyPr/>
          <a:lstStyle/>
          <a:p>
            <a:endParaRPr kumimoji="1" lang="zh-TW" altLang="en-US" dirty="0"/>
          </a:p>
          <a:p>
            <a:pPr marL="0" marR="0" lvl="0" indent="0" algn="l" defTabSz="914400" rtl="0" eaLnBrk="1" fontAlgn="auto" latinLnBrk="0" hangingPunct="1">
              <a:lnSpc>
                <a:spcPct val="150000"/>
              </a:lnSpc>
              <a:spcBef>
                <a:spcPts val="0"/>
              </a:spcBef>
              <a:spcAft>
                <a:spcPts val="0"/>
              </a:spcAft>
              <a:buClrTx/>
              <a:buSzTx/>
              <a:buFontTx/>
              <a:buNone/>
              <a:tabLst/>
              <a:defRPr/>
            </a:pPr>
            <a:r>
              <a:rPr lang="zh-TW" altLang="en-US" sz="1200" b="0" i="0" u="none" strike="noStrike" kern="1200" dirty="0">
                <a:solidFill>
                  <a:schemeClr val="tx1"/>
                </a:solidFill>
                <a:effectLst/>
                <a:latin typeface="+mn-lt"/>
                <a:ea typeface="+mn-ea"/>
                <a:cs typeface="+mn-cs"/>
              </a:rPr>
              <a:t>自動尋找 </a:t>
            </a:r>
            <a:r>
              <a:rPr lang="en-US" altLang="zh-TW" sz="1200" b="0" i="0" u="none" strike="noStrike" kern="1200" dirty="0">
                <a:solidFill>
                  <a:schemeClr val="tx1"/>
                </a:solidFill>
                <a:effectLst/>
                <a:latin typeface="+mn-lt"/>
                <a:ea typeface="+mn-ea"/>
                <a:cs typeface="+mn-cs"/>
              </a:rPr>
              <a:t>DUT </a:t>
            </a:r>
            <a:r>
              <a:rPr lang="zh-TW" altLang="en-US" sz="1200" b="0" i="0" u="none" strike="noStrike" kern="1200" dirty="0">
                <a:solidFill>
                  <a:schemeClr val="tx1"/>
                </a:solidFill>
                <a:effectLst/>
                <a:latin typeface="+mn-lt"/>
                <a:ea typeface="+mn-ea"/>
                <a:cs typeface="+mn-cs"/>
              </a:rPr>
              <a:t>的 </a:t>
            </a:r>
            <a:r>
              <a:rPr lang="en-US" altLang="zh-TW" sz="1200" b="0" i="0" u="none" strike="noStrike" kern="1200" dirty="0">
                <a:solidFill>
                  <a:schemeClr val="tx1"/>
                </a:solidFill>
                <a:effectLst/>
                <a:latin typeface="+mn-lt"/>
                <a:ea typeface="+mn-ea"/>
                <a:cs typeface="+mn-cs"/>
              </a:rPr>
              <a:t>USB port</a:t>
            </a:r>
            <a:r>
              <a:rPr lang="zh-TW" altLang="en-US" sz="1200" b="0" i="0" u="none" strike="noStrike" kern="1200" dirty="0">
                <a:solidFill>
                  <a:schemeClr val="tx1"/>
                </a:solidFill>
                <a:effectLst/>
                <a:latin typeface="+mn-lt"/>
                <a:ea typeface="+mn-ea"/>
                <a:cs typeface="+mn-cs"/>
              </a:rPr>
              <a:t>，透過 </a:t>
            </a:r>
            <a:r>
              <a:rPr lang="en-US" altLang="zh-TW" sz="1200" b="0" i="0" u="none" strike="noStrike" kern="1200" dirty="0">
                <a:solidFill>
                  <a:schemeClr val="tx1"/>
                </a:solidFill>
                <a:effectLst/>
                <a:latin typeface="+mn-lt"/>
                <a:ea typeface="+mn-ea"/>
                <a:cs typeface="+mn-cs"/>
              </a:rPr>
              <a:t>UART </a:t>
            </a:r>
            <a:r>
              <a:rPr lang="zh-TW" altLang="en-US" sz="1200" b="0" i="0" u="none" strike="noStrike" kern="1200" dirty="0">
                <a:solidFill>
                  <a:schemeClr val="tx1"/>
                </a:solidFill>
                <a:effectLst/>
                <a:latin typeface="+mn-lt"/>
                <a:ea typeface="+mn-ea"/>
                <a:cs typeface="+mn-cs"/>
              </a:rPr>
              <a:t>下 </a:t>
            </a:r>
            <a:r>
              <a:rPr lang="en-US" altLang="zh-TW" sz="1200" b="0" i="0" u="none" strike="noStrike" kern="1200" dirty="0">
                <a:solidFill>
                  <a:schemeClr val="tx1"/>
                </a:solidFill>
                <a:effectLst/>
                <a:latin typeface="+mn-lt"/>
                <a:ea typeface="+mn-ea"/>
                <a:cs typeface="+mn-cs"/>
              </a:rPr>
              <a:t>reset </a:t>
            </a:r>
            <a:r>
              <a:rPr lang="zh-TW" altLang="en-US" sz="1200" b="0" i="0" u="none" strike="noStrike" kern="1200" dirty="0">
                <a:solidFill>
                  <a:schemeClr val="tx1"/>
                </a:solidFill>
                <a:effectLst/>
                <a:latin typeface="+mn-lt"/>
                <a:ea typeface="+mn-ea"/>
                <a:cs typeface="+mn-cs"/>
              </a:rPr>
              <a:t>指令確認 </a:t>
            </a:r>
            <a:r>
              <a:rPr lang="en-US" altLang="zh-TW" sz="1200" b="0" i="0" u="none" strike="noStrike" kern="1200" dirty="0">
                <a:solidFill>
                  <a:schemeClr val="tx1"/>
                </a:solidFill>
                <a:effectLst/>
                <a:latin typeface="+mn-lt"/>
                <a:ea typeface="+mn-ea"/>
                <a:cs typeface="+mn-cs"/>
              </a:rPr>
              <a:t>DUT </a:t>
            </a:r>
            <a:r>
              <a:rPr lang="zh-TW" altLang="en-US" sz="1200" b="0" i="0" u="none" strike="noStrike" kern="1200" dirty="0">
                <a:solidFill>
                  <a:schemeClr val="tx1"/>
                </a:solidFill>
                <a:effectLst/>
                <a:latin typeface="+mn-lt"/>
                <a:ea typeface="+mn-ea"/>
                <a:cs typeface="+mn-cs"/>
              </a:rPr>
              <a:t>回應，若失敗就控制治</a:t>
            </a:r>
            <a:r>
              <a:rPr lang="en-US" altLang="zh-TW" sz="1200" b="0" u="none" strike="noStrike" kern="1200" dirty="0">
                <a:solidFill>
                  <a:schemeClr val="dk1"/>
                </a:solidFill>
                <a:effectLst/>
                <a:latin typeface="+mn-lt"/>
                <a:ea typeface="+mn-ea"/>
                <a:cs typeface="+mn-cs"/>
              </a:rPr>
              <a:t>Type-C</a:t>
            </a:r>
            <a:r>
              <a:rPr lang="zh-TW" altLang="en-US" sz="1200" b="0" u="none" strike="noStrike" kern="1200" dirty="0">
                <a:solidFill>
                  <a:schemeClr val="dk1"/>
                </a:solidFill>
                <a:effectLst/>
                <a:latin typeface="+mn-lt"/>
                <a:ea typeface="+mn-ea"/>
                <a:cs typeface="+mn-cs"/>
              </a:rPr>
              <a:t>插拔</a:t>
            </a:r>
            <a:r>
              <a:rPr lang="zh-TW" altLang="en-US" sz="1200" b="0" i="0" u="none" strike="noStrike" kern="1200" dirty="0">
                <a:solidFill>
                  <a:schemeClr val="tx1"/>
                </a:solidFill>
                <a:effectLst/>
                <a:latin typeface="+mn-lt"/>
                <a:ea typeface="+mn-ea"/>
                <a:cs typeface="+mn-cs"/>
              </a:rPr>
              <a:t>重新嘗試 </a:t>
            </a:r>
            <a:endParaRPr lang="en-US" altLang="zh-TW" sz="1200" b="0" i="0" u="none" strike="noStrike" kern="1200" dirty="0">
              <a:solidFill>
                <a:schemeClr val="tx1"/>
              </a:solidFill>
              <a:effectLst/>
              <a:latin typeface="+mn-lt"/>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lang="en-US" altLang="zh-TW" sz="1200" b="0" i="0" u="none" strike="noStrike" kern="1200" dirty="0">
              <a:solidFill>
                <a:schemeClr val="tx1"/>
              </a:solidFill>
              <a:effectLst/>
              <a:latin typeface="+mn-lt"/>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lang="zh-TW" altLang="en-US" sz="1200" b="0" i="0" u="none" strike="noStrike" kern="1200" dirty="0">
                <a:solidFill>
                  <a:schemeClr val="tx1"/>
                </a:solidFill>
                <a:effectLst/>
                <a:latin typeface="+mn-lt"/>
                <a:ea typeface="+mn-ea"/>
                <a:cs typeface="+mn-cs"/>
              </a:rPr>
              <a:t>希望下 </a:t>
            </a:r>
            <a:r>
              <a:rPr lang="en-US" altLang="zh-TW" sz="1200" b="0" i="0" u="none" strike="noStrike" kern="1200" dirty="0">
                <a:solidFill>
                  <a:schemeClr val="tx1"/>
                </a:solidFill>
                <a:effectLst/>
                <a:latin typeface="+mn-lt"/>
                <a:ea typeface="+mn-ea"/>
                <a:cs typeface="+mn-cs"/>
              </a:rPr>
              <a:t>reset </a:t>
            </a:r>
            <a:r>
              <a:rPr lang="zh-TW" altLang="en-US" sz="1200" b="0" i="0" u="none" strike="noStrike" kern="1200" dirty="0">
                <a:solidFill>
                  <a:schemeClr val="tx1"/>
                </a:solidFill>
                <a:effectLst/>
                <a:latin typeface="+mn-lt"/>
                <a:ea typeface="+mn-ea"/>
                <a:cs typeface="+mn-cs"/>
              </a:rPr>
              <a:t>指令後 </a:t>
            </a:r>
            <a:r>
              <a:rPr lang="en-US" altLang="zh-TW" sz="1200" b="0" i="0" u="none" strike="noStrike" kern="1200" dirty="0">
                <a:solidFill>
                  <a:schemeClr val="tx1"/>
                </a:solidFill>
                <a:effectLst/>
                <a:latin typeface="+mn-lt"/>
                <a:ea typeface="+mn-ea"/>
                <a:cs typeface="+mn-cs"/>
              </a:rPr>
              <a:t>DUT </a:t>
            </a:r>
            <a:r>
              <a:rPr lang="zh-TW" altLang="en-US" sz="1200" b="0" i="0" u="none" strike="noStrike" kern="1200" dirty="0">
                <a:solidFill>
                  <a:schemeClr val="tx1"/>
                </a:solidFill>
                <a:effectLst/>
                <a:latin typeface="+mn-lt"/>
                <a:ea typeface="+mn-ea"/>
                <a:cs typeface="+mn-cs"/>
              </a:rPr>
              <a:t>回應 </a:t>
            </a:r>
            <a:r>
              <a:rPr lang="en-US" altLang="zh-TW" sz="1200" b="0" kern="1200" dirty="0" err="1">
                <a:solidFill>
                  <a:schemeClr val="tx1"/>
                </a:solidFill>
                <a:effectLst/>
                <a:latin typeface="+mn-lt"/>
                <a:ea typeface="+mn-ea"/>
                <a:cs typeface="+mn-cs"/>
              </a:rPr>
              <a:t>Powerbeats</a:t>
            </a:r>
            <a:r>
              <a:rPr lang="zh-TW" altLang="en-US" sz="1200" b="0" i="0" u="none" strike="noStrike" kern="1200" dirty="0">
                <a:solidFill>
                  <a:schemeClr val="tx1"/>
                </a:solidFill>
                <a:effectLst/>
                <a:latin typeface="+mn-lt"/>
                <a:ea typeface="+mn-ea"/>
                <a:cs typeface="+mn-cs"/>
              </a:rPr>
              <a:t>字串</a:t>
            </a:r>
            <a:endParaRPr lang="en-US" altLang="zh-TW" sz="1200" b="0" i="0" u="none" strike="noStrike" kern="1200" dirty="0">
              <a:solidFill>
                <a:schemeClr val="tx1"/>
              </a:solidFill>
              <a:effectLst/>
              <a:latin typeface="+mn-lt"/>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lang="zh-TW" altLang="en-US" sz="1200" b="0" i="0" u="none" strike="noStrike" kern="1200" dirty="0">
                <a:solidFill>
                  <a:schemeClr val="tx1"/>
                </a:solidFill>
                <a:effectLst/>
                <a:latin typeface="+mn-lt"/>
                <a:ea typeface="+mn-ea"/>
                <a:cs typeface="+mn-cs"/>
              </a:rPr>
              <a:t>若回應為亂碼 則對ＤＵＴ再下</a:t>
            </a:r>
            <a:r>
              <a:rPr lang="en-US" altLang="zh-TW" sz="1200" b="0" i="0" u="none" strike="noStrike" kern="1200" dirty="0">
                <a:solidFill>
                  <a:schemeClr val="tx1"/>
                </a:solidFill>
                <a:effectLst/>
                <a:latin typeface="+mn-lt"/>
                <a:ea typeface="+mn-ea"/>
                <a:cs typeface="+mn-cs"/>
              </a:rPr>
              <a:t>f</a:t>
            </a:r>
            <a:r>
              <a:rPr lang="en-US" altLang="zh-TW" sz="1200" b="0" u="none" strike="noStrike" kern="1200" dirty="0">
                <a:solidFill>
                  <a:schemeClr val="dk1"/>
                </a:solidFill>
                <a:effectLst/>
                <a:latin typeface="+mn-lt"/>
                <a:ea typeface="+mn-ea"/>
                <a:cs typeface="+mn-cs"/>
              </a:rPr>
              <a:t>t </a:t>
            </a:r>
            <a:r>
              <a:rPr lang="en-US" altLang="zh-TW" sz="1200" b="0" u="none" strike="noStrike" kern="1200" dirty="0" err="1">
                <a:solidFill>
                  <a:schemeClr val="dk1"/>
                </a:solidFill>
                <a:effectLst/>
                <a:latin typeface="+mn-lt"/>
                <a:ea typeface="+mn-ea"/>
                <a:cs typeface="+mn-cs"/>
              </a:rPr>
              <a:t>fw</a:t>
            </a:r>
            <a:r>
              <a:rPr lang="en-US" altLang="zh-TW" sz="1200" b="0" u="none" strike="noStrike" kern="1200" dirty="0">
                <a:solidFill>
                  <a:schemeClr val="dk1"/>
                </a:solidFill>
                <a:effectLst/>
                <a:latin typeface="+mn-lt"/>
                <a:ea typeface="+mn-ea"/>
                <a:cs typeface="+mn-cs"/>
              </a:rPr>
              <a:t> </a:t>
            </a:r>
            <a:r>
              <a:rPr lang="en-US" altLang="zh-TW" sz="1200" b="0" u="none" strike="noStrike" kern="1200" dirty="0" err="1">
                <a:solidFill>
                  <a:schemeClr val="dk1"/>
                </a:solidFill>
                <a:effectLst/>
                <a:latin typeface="+mn-lt"/>
                <a:ea typeface="+mn-ea"/>
                <a:cs typeface="+mn-cs"/>
              </a:rPr>
              <a:t>ver</a:t>
            </a:r>
            <a:r>
              <a:rPr lang="en-US" altLang="zh-TW" sz="1200" b="0" u="none" strike="noStrike" kern="1200" dirty="0">
                <a:solidFill>
                  <a:schemeClr val="dk1"/>
                </a:solidFill>
                <a:effectLst/>
                <a:latin typeface="+mn-lt"/>
                <a:ea typeface="+mn-ea"/>
                <a:cs typeface="+mn-cs"/>
              </a:rPr>
              <a:t> </a:t>
            </a:r>
            <a:r>
              <a:rPr lang="zh-TW" altLang="en-US" sz="1200" b="0" u="none" strike="noStrike" kern="1200" dirty="0">
                <a:solidFill>
                  <a:schemeClr val="dk1"/>
                </a:solidFill>
                <a:effectLst/>
                <a:latin typeface="+mn-lt"/>
                <a:ea typeface="+mn-ea"/>
                <a:cs typeface="+mn-cs"/>
              </a:rPr>
              <a:t>取得 </a:t>
            </a:r>
            <a:r>
              <a:rPr lang="en-US" altLang="zh-TW" sz="1200" b="0" u="none" strike="noStrike" kern="1200" dirty="0">
                <a:solidFill>
                  <a:schemeClr val="dk1"/>
                </a:solidFill>
                <a:effectLst/>
                <a:latin typeface="+mn-lt"/>
                <a:ea typeface="+mn-ea"/>
                <a:cs typeface="+mn-cs"/>
              </a:rPr>
              <a:t>version </a:t>
            </a:r>
            <a:r>
              <a:rPr lang="zh-TW" altLang="en-US" sz="1200" b="0" u="none" strike="noStrike" kern="1200" dirty="0">
                <a:solidFill>
                  <a:schemeClr val="dk1"/>
                </a:solidFill>
                <a:effectLst/>
                <a:latin typeface="+mn-lt"/>
                <a:ea typeface="+mn-ea"/>
                <a:cs typeface="+mn-cs"/>
              </a:rPr>
              <a:t>以確保ＤＵＴ重啟無問題</a:t>
            </a:r>
            <a:endParaRPr lang="en-US" altLang="zh-TW" sz="1200" b="0" u="none" strike="noStrike" kern="1200" dirty="0">
              <a:solidFill>
                <a:schemeClr val="dk1"/>
              </a:solidFill>
              <a:effectLst/>
              <a:latin typeface="+mn-lt"/>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lang="en-US" altLang="zh-TW" sz="1200" b="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176583581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EA2D33-5796-1356-CE38-EB244374ECF9}"/>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E4B11B26-9F4C-B991-EAD6-DC75CB2D536B}"/>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F6C36A1D-8F26-BAF5-CCC6-C5A2EFE0775B}"/>
              </a:ext>
            </a:extLst>
          </p:cNvPr>
          <p:cNvSpPr>
            <a:spLocks noGrp="1"/>
          </p:cNvSpPr>
          <p:nvPr>
            <p:ph type="body" idx="1"/>
          </p:nvPr>
        </p:nvSpPr>
        <p:spPr/>
        <p:txBody>
          <a:bodyPr/>
          <a:lstStyle/>
          <a:p>
            <a:endParaRPr kumimoji="1" lang="zh-TW" altLang="en-US" dirty="0"/>
          </a:p>
          <a:p>
            <a:r>
              <a:rPr lang="zh-TW" altLang="en-US" sz="1200" b="0" i="0" u="none" strike="noStrike" kern="1200" dirty="0">
                <a:solidFill>
                  <a:schemeClr val="tx1"/>
                </a:solidFill>
                <a:effectLst/>
                <a:latin typeface="+mn-lt"/>
                <a:ea typeface="+mn-ea"/>
                <a:cs typeface="+mn-cs"/>
              </a:rPr>
              <a:t>透過 </a:t>
            </a:r>
            <a:r>
              <a:rPr lang="en-US" altLang="zh-TW" sz="1200" b="0" i="0" u="none" strike="noStrike" kern="1200" dirty="0">
                <a:solidFill>
                  <a:schemeClr val="tx1"/>
                </a:solidFill>
                <a:effectLst/>
                <a:latin typeface="+mn-lt"/>
                <a:ea typeface="+mn-ea"/>
                <a:cs typeface="+mn-cs"/>
              </a:rPr>
              <a:t>UART </a:t>
            </a:r>
            <a:r>
              <a:rPr lang="zh-TW" altLang="en-US" sz="1200" b="0" i="0" u="none" strike="noStrike" kern="1200" dirty="0">
                <a:solidFill>
                  <a:schemeClr val="tx1"/>
                </a:solidFill>
                <a:effectLst/>
                <a:latin typeface="+mn-lt"/>
                <a:ea typeface="+mn-ea"/>
                <a:cs typeface="+mn-cs"/>
              </a:rPr>
              <a:t>發送指令讀取 </a:t>
            </a:r>
            <a:r>
              <a:rPr lang="en-US" altLang="zh-TW" sz="1200" b="0" i="0" u="none" strike="noStrike" kern="1200" dirty="0">
                <a:solidFill>
                  <a:schemeClr val="tx1"/>
                </a:solidFill>
                <a:effectLst/>
                <a:latin typeface="+mn-lt"/>
                <a:ea typeface="+mn-ea"/>
                <a:cs typeface="+mn-cs"/>
              </a:rPr>
              <a:t>FW version</a:t>
            </a:r>
            <a:r>
              <a:rPr lang="zh-TW" altLang="en-US" sz="1200" b="0" i="0" u="none" strike="noStrike" kern="1200" dirty="0">
                <a:solidFill>
                  <a:schemeClr val="tx1"/>
                </a:solidFill>
                <a:effectLst/>
                <a:latin typeface="+mn-lt"/>
                <a:ea typeface="+mn-ea"/>
                <a:cs typeface="+mn-cs"/>
              </a:rPr>
              <a:t>，以清空並確認 </a:t>
            </a:r>
            <a:r>
              <a:rPr lang="en-US" altLang="zh-TW" sz="1200" b="0" i="0" u="none" strike="noStrike" kern="1200" dirty="0">
                <a:solidFill>
                  <a:schemeClr val="tx1"/>
                </a:solidFill>
                <a:effectLst/>
                <a:latin typeface="+mn-lt"/>
                <a:ea typeface="+mn-ea"/>
                <a:cs typeface="+mn-cs"/>
              </a:rPr>
              <a:t>DUT USB port </a:t>
            </a:r>
            <a:r>
              <a:rPr lang="zh-TW" altLang="en-US" sz="1200" b="0" i="0" u="none" strike="noStrike" kern="1200" dirty="0">
                <a:solidFill>
                  <a:schemeClr val="tx1"/>
                </a:solidFill>
                <a:effectLst/>
                <a:latin typeface="+mn-lt"/>
                <a:ea typeface="+mn-ea"/>
                <a:cs typeface="+mn-cs"/>
              </a:rPr>
              <a:t>通訊狀態是否正常</a:t>
            </a:r>
            <a:endParaRPr kumimoji="1" lang="zh-TW" altLang="en-US" b="0" dirty="0"/>
          </a:p>
        </p:txBody>
      </p:sp>
    </p:spTree>
    <p:extLst>
      <p:ext uri="{BB962C8B-B14F-4D97-AF65-F5344CB8AC3E}">
        <p14:creationId xmlns:p14="http://schemas.microsoft.com/office/powerpoint/2010/main" val="41369054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DADE1-50C1-F7C5-42F0-5851DD17267D}"/>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51D314A6-ADAB-3D30-EE92-8C53F15BEC4B}"/>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D7D29D78-49C0-7B11-87C0-7BDDBE33B14D}"/>
              </a:ext>
            </a:extLst>
          </p:cNvPr>
          <p:cNvSpPr>
            <a:spLocks noGrp="1"/>
          </p:cNvSpPr>
          <p:nvPr>
            <p:ph type="body" idx="1"/>
          </p:nvPr>
        </p:nvSpPr>
        <p:spPr/>
        <p:txBody>
          <a:bodyPr/>
          <a:lstStyle/>
          <a:p>
            <a:endParaRPr kumimoji="1" lang="zh-TW" altLang="en-US" dirty="0"/>
          </a:p>
          <a:p>
            <a:pPr rtl="0" eaLnBrk="1" fontAlgn="auto" latinLnBrk="0" hangingPunct="1">
              <a:lnSpc>
                <a:spcPct val="150000"/>
              </a:lnSpc>
            </a:pPr>
            <a:r>
              <a:rPr lang="en-US" altLang="zh-TW" sz="1200" b="0" i="0" u="none" strike="noStrike" kern="1200" dirty="0" err="1">
                <a:solidFill>
                  <a:schemeClr val="tx1"/>
                </a:solidFill>
                <a:effectLst/>
                <a:latin typeface="+mn-lt"/>
                <a:ea typeface="+mn-ea"/>
                <a:cs typeface="+mn-cs"/>
              </a:rPr>
              <a:t>Bootmode</a:t>
            </a:r>
            <a:r>
              <a:rPr lang="zh-TW" altLang="en-US" sz="1200" b="0" i="0" u="none" strike="noStrike" kern="1200" dirty="0">
                <a:solidFill>
                  <a:schemeClr val="tx1"/>
                </a:solidFill>
                <a:effectLst/>
                <a:latin typeface="+mn-lt"/>
                <a:ea typeface="+mn-ea"/>
                <a:cs typeface="+mn-cs"/>
              </a:rPr>
              <a:t>：設定為 </a:t>
            </a:r>
            <a:r>
              <a:rPr lang="en-US" altLang="zh-TW" sz="1200" b="0" i="0" u="none" strike="noStrike" kern="1200" dirty="0" err="1">
                <a:solidFill>
                  <a:schemeClr val="tx1"/>
                </a:solidFill>
                <a:effectLst/>
                <a:latin typeface="+mn-lt"/>
                <a:ea typeface="+mn-ea"/>
                <a:cs typeface="+mn-cs"/>
              </a:rPr>
              <a:t>Bootmode</a:t>
            </a:r>
            <a:r>
              <a:rPr lang="en-US" altLang="zh-TW" sz="1200" b="0" i="0" u="none" strike="noStrike" kern="1200" dirty="0">
                <a:solidFill>
                  <a:schemeClr val="tx1"/>
                </a:solidFill>
                <a:effectLst/>
                <a:latin typeface="+mn-lt"/>
                <a:ea typeface="+mn-ea"/>
                <a:cs typeface="+mn-cs"/>
              </a:rPr>
              <a:t> 2 </a:t>
            </a:r>
            <a:r>
              <a:rPr lang="zh-TW" altLang="en-US" sz="1200" b="0" i="0" u="none" strike="noStrike" kern="1200" dirty="0">
                <a:solidFill>
                  <a:schemeClr val="tx1"/>
                </a:solidFill>
                <a:effectLst/>
                <a:latin typeface="+mn-lt"/>
                <a:ea typeface="+mn-ea"/>
                <a:cs typeface="+mn-cs"/>
              </a:rPr>
              <a:t>並確認設定成功 以方便後續測試</a:t>
            </a:r>
            <a:r>
              <a:rPr lang="en-US" altLang="zh-TW" sz="1200" b="0" i="0" u="none" strike="noStrike" kern="1200" dirty="0">
                <a:solidFill>
                  <a:schemeClr val="tx1"/>
                </a:solidFill>
                <a:effectLst/>
                <a:latin typeface="+mn-lt"/>
                <a:ea typeface="+mn-ea"/>
                <a:cs typeface="+mn-cs"/>
              </a:rPr>
              <a:t>. (mode 2 </a:t>
            </a:r>
            <a:r>
              <a:rPr lang="en-US" altLang="zh-TW" sz="1200" b="1" i="0" u="none" strike="noStrike" kern="1200" dirty="0">
                <a:solidFill>
                  <a:schemeClr val="tx1"/>
                </a:solidFill>
                <a:effectLst/>
                <a:latin typeface="+mn-lt"/>
                <a:ea typeface="+mn-ea"/>
                <a:cs typeface="+mn-cs"/>
              </a:rPr>
              <a:t>SMT </a:t>
            </a:r>
            <a:r>
              <a:rPr lang="zh-TW" altLang="en-US" sz="1200" b="1" i="0" u="none" strike="noStrike" kern="1200" dirty="0">
                <a:solidFill>
                  <a:schemeClr val="tx1"/>
                </a:solidFill>
                <a:effectLst/>
                <a:latin typeface="+mn-lt"/>
                <a:ea typeface="+mn-ea"/>
                <a:cs typeface="+mn-cs"/>
              </a:rPr>
              <a:t>工廠線（裸板 </a:t>
            </a:r>
            <a:r>
              <a:rPr lang="en-US" altLang="zh-TW" sz="1200" b="1" i="0" u="none" strike="noStrike" kern="1200" dirty="0">
                <a:solidFill>
                  <a:schemeClr val="tx1"/>
                </a:solidFill>
                <a:effectLst/>
                <a:latin typeface="+mn-lt"/>
                <a:ea typeface="+mn-ea"/>
                <a:cs typeface="+mn-cs"/>
              </a:rPr>
              <a:t>MLB</a:t>
            </a:r>
            <a:r>
              <a:rPr lang="zh-TW" altLang="en-US" sz="1200" b="1" i="0" u="none" strike="noStrike" kern="1200" dirty="0">
                <a:solidFill>
                  <a:schemeClr val="tx1"/>
                </a:solidFill>
                <a:effectLst/>
                <a:latin typeface="+mn-lt"/>
                <a:ea typeface="+mn-ea"/>
                <a:cs typeface="+mn-cs"/>
              </a:rPr>
              <a:t>）測試用</a:t>
            </a:r>
            <a:r>
              <a:rPr lang="en-US" altLang="zh-TW" sz="1200" b="1" i="0" u="none" strike="noStrike" kern="1200" dirty="0">
                <a:solidFill>
                  <a:schemeClr val="tx1"/>
                </a:solidFill>
                <a:effectLst/>
                <a:latin typeface="+mn-lt"/>
                <a:ea typeface="+mn-ea"/>
                <a:cs typeface="+mn-cs"/>
              </a:rPr>
              <a:t>  </a:t>
            </a:r>
            <a:r>
              <a:rPr lang="zh-TW" altLang="en-US" sz="1200" b="1" i="0" u="none" strike="noStrike" kern="1200" dirty="0">
                <a:solidFill>
                  <a:schemeClr val="tx1"/>
                </a:solidFill>
                <a:effectLst/>
                <a:latin typeface="+mn-lt"/>
                <a:ea typeface="+mn-ea"/>
                <a:cs typeface="+mn-cs"/>
              </a:rPr>
              <a:t>最高效能 </a:t>
            </a:r>
            <a:r>
              <a:rPr lang="en-US" altLang="zh-TW" sz="1200" b="1" i="0" u="none" strike="noStrike" kern="1200" dirty="0">
                <a:solidFill>
                  <a:schemeClr val="tx1"/>
                </a:solidFill>
                <a:effectLst/>
                <a:latin typeface="+mn-lt"/>
                <a:ea typeface="+mn-ea"/>
                <a:cs typeface="+mn-cs"/>
              </a:rPr>
              <a:t>/ </a:t>
            </a:r>
            <a:r>
              <a:rPr lang="zh-TW" altLang="en-US" sz="1200" b="1" i="0" u="none" strike="noStrike" kern="1200" dirty="0">
                <a:solidFill>
                  <a:schemeClr val="tx1"/>
                </a:solidFill>
                <a:effectLst/>
                <a:latin typeface="+mn-lt"/>
                <a:ea typeface="+mn-ea"/>
                <a:cs typeface="+mn-cs"/>
              </a:rPr>
              <a:t>高功耗</a:t>
            </a:r>
            <a:r>
              <a:rPr lang="en-US" altLang="zh-TW" sz="1200" b="0" i="0" u="none" strike="noStrike" kern="1200" dirty="0">
                <a:solidFill>
                  <a:schemeClr val="tx1"/>
                </a:solidFill>
                <a:effectLst/>
                <a:latin typeface="+mn-lt"/>
                <a:ea typeface="+mn-ea"/>
                <a:cs typeface="+mn-cs"/>
              </a:rPr>
              <a:t>)</a:t>
            </a:r>
            <a:endParaRPr lang="zh-TW" altLang="zh-TW" sz="1200" b="0" i="0" u="none" strike="noStrike" kern="1200" dirty="0">
              <a:solidFill>
                <a:schemeClr val="tx1"/>
              </a:solidFill>
              <a:effectLst/>
              <a:latin typeface="+mn-lt"/>
              <a:ea typeface="+mn-ea"/>
              <a:cs typeface="+mn-cs"/>
            </a:endParaRPr>
          </a:p>
          <a:p>
            <a:endParaRPr kumimoji="1" lang="zh-TW" altLang="en-US" dirty="0"/>
          </a:p>
        </p:txBody>
      </p:sp>
    </p:spTree>
    <p:extLst>
      <p:ext uri="{BB962C8B-B14F-4D97-AF65-F5344CB8AC3E}">
        <p14:creationId xmlns:p14="http://schemas.microsoft.com/office/powerpoint/2010/main" val="237352855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EC7B93-F543-F9B4-F48D-B27123171B17}"/>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67713922-DF0A-646A-9979-C0437E838D23}"/>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A180D3FD-6059-61F3-676A-2A600BAAFC0C}"/>
              </a:ext>
            </a:extLst>
          </p:cNvPr>
          <p:cNvSpPr>
            <a:spLocks noGrp="1"/>
          </p:cNvSpPr>
          <p:nvPr>
            <p:ph type="body" idx="1"/>
          </p:nvPr>
        </p:nvSpPr>
        <p:spPr/>
        <p:txBody>
          <a:bodyPr/>
          <a:lstStyle/>
          <a:p>
            <a:pPr rtl="0" eaLnBrk="1" fontAlgn="t" latinLnBrk="0" hangingPunct="1"/>
            <a:r>
              <a:rPr lang="en-US" altLang="zh-TW" sz="1200" b="0" i="0" u="none" strike="noStrike" kern="1200" dirty="0">
                <a:solidFill>
                  <a:schemeClr val="tx1"/>
                </a:solidFill>
                <a:effectLst/>
                <a:latin typeface="+mn-lt"/>
                <a:ea typeface="+mn-ea"/>
                <a:cs typeface="+mn-cs"/>
              </a:rPr>
              <a:t>MLBSN</a:t>
            </a:r>
            <a:r>
              <a:rPr lang="zh-TW" altLang="en-US" sz="1200" b="0" i="0" u="none" strike="noStrike" kern="1200" dirty="0">
                <a:solidFill>
                  <a:schemeClr val="tx1"/>
                </a:solidFill>
                <a:effectLst/>
                <a:latin typeface="+mn-lt"/>
                <a:ea typeface="+mn-ea"/>
                <a:cs typeface="+mn-cs"/>
              </a:rPr>
              <a:t>：讀取驗證</a:t>
            </a:r>
            <a:r>
              <a:rPr lang="en-US" altLang="zh-TW" sz="1200" b="0" i="0" u="none" strike="noStrike" kern="1200" dirty="0">
                <a:solidFill>
                  <a:schemeClr val="tx1"/>
                </a:solidFill>
                <a:effectLst/>
                <a:latin typeface="+mn-lt"/>
                <a:ea typeface="+mn-ea"/>
                <a:cs typeface="+mn-cs"/>
              </a:rPr>
              <a:t>MLBSN</a:t>
            </a:r>
            <a:endParaRPr lang="zh-TW" altLang="zh-TW" sz="1200" b="0" i="0" u="none" strike="noStrike" kern="1200" dirty="0">
              <a:solidFill>
                <a:schemeClr val="tx1"/>
              </a:solidFill>
              <a:effectLst/>
              <a:latin typeface="+mn-lt"/>
              <a:ea typeface="+mn-ea"/>
              <a:cs typeface="+mn-cs"/>
            </a:endParaRPr>
          </a:p>
        </p:txBody>
      </p:sp>
    </p:spTree>
    <p:extLst>
      <p:ext uri="{BB962C8B-B14F-4D97-AF65-F5344CB8AC3E}">
        <p14:creationId xmlns:p14="http://schemas.microsoft.com/office/powerpoint/2010/main" val="13340928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1882E9-45EF-D778-C79B-B16822D3D8F3}"/>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963D8C5F-1BE6-7545-FFE5-B99DE078F340}"/>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C349EF2C-DF8A-2FFF-6CB0-0FC3388EE188}"/>
              </a:ext>
            </a:extLst>
          </p:cNvPr>
          <p:cNvSpPr>
            <a:spLocks noGrp="1"/>
          </p:cNvSpPr>
          <p:nvPr>
            <p:ph type="body" idx="1"/>
          </p:nvPr>
        </p:nvSpPr>
        <p:spPr/>
        <p:txBody>
          <a:bodyPr/>
          <a:lstStyle/>
          <a:p>
            <a:pPr rtl="0" eaLnBrk="1" fontAlgn="t" latinLnBrk="0" hangingPunct="1"/>
            <a:r>
              <a:rPr lang="en-US" altLang="zh-TW" sz="1200" b="0" i="0" u="none" strike="noStrike" kern="1200" dirty="0" err="1">
                <a:solidFill>
                  <a:schemeClr val="tx1"/>
                </a:solidFill>
                <a:effectLst/>
                <a:latin typeface="+mn-lt"/>
                <a:ea typeface="+mn-ea"/>
                <a:cs typeface="+mn-cs"/>
              </a:rPr>
              <a:t>SNWrite_SrNm</a:t>
            </a:r>
            <a:r>
              <a:rPr lang="zh-TW" altLang="en-US" sz="1200" b="0" i="0" u="none" strike="noStrike" kern="1200" dirty="0">
                <a:solidFill>
                  <a:schemeClr val="tx1"/>
                </a:solidFill>
                <a:effectLst/>
                <a:latin typeface="+mn-lt"/>
                <a:ea typeface="+mn-ea"/>
                <a:cs typeface="+mn-cs"/>
              </a:rPr>
              <a:t>：讀取ＳＮ並寫入ＦＧＳＮ</a:t>
            </a:r>
            <a:endParaRPr lang="zh-TW" altLang="zh-TW" sz="1200" b="0" i="0" u="none" strike="noStrike" kern="1200" dirty="0">
              <a:solidFill>
                <a:schemeClr val="tx1"/>
              </a:solidFill>
              <a:effectLst/>
              <a:latin typeface="+mn-lt"/>
              <a:ea typeface="+mn-ea"/>
              <a:cs typeface="+mn-cs"/>
            </a:endParaRPr>
          </a:p>
        </p:txBody>
      </p:sp>
    </p:spTree>
    <p:extLst>
      <p:ext uri="{BB962C8B-B14F-4D97-AF65-F5344CB8AC3E}">
        <p14:creationId xmlns:p14="http://schemas.microsoft.com/office/powerpoint/2010/main" val="235713300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59317E-B7B9-6DAF-B0FC-A132B8878624}"/>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1D6BC39F-6D87-3F00-FC7B-3DD68DB76A09}"/>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09B2834D-CEAA-6828-D930-50F3CE740217}"/>
              </a:ext>
            </a:extLst>
          </p:cNvPr>
          <p:cNvSpPr>
            <a:spLocks noGrp="1"/>
          </p:cNvSpPr>
          <p:nvPr>
            <p:ph type="body" idx="1"/>
          </p:nvPr>
        </p:nvSpPr>
        <p:spPr/>
        <p:txBody>
          <a:bodyPr/>
          <a:lstStyle/>
          <a:p>
            <a:pPr rtl="0" eaLnBrk="1" fontAlgn="t" latinLnBrk="0" hangingPunct="1"/>
            <a:r>
              <a:rPr lang="en-US" altLang="zh-TW" sz="1200" b="0" i="0" u="none" strike="noStrike" kern="1200" dirty="0" err="1">
                <a:solidFill>
                  <a:schemeClr val="tx1"/>
                </a:solidFill>
                <a:effectLst/>
                <a:latin typeface="+mn-lt"/>
                <a:ea typeface="+mn-ea"/>
                <a:cs typeface="+mn-cs"/>
              </a:rPr>
              <a:t>SrNm</a:t>
            </a:r>
            <a:r>
              <a:rPr lang="zh-TW" altLang="en-US" sz="1200" b="0" i="0" u="none" strike="noStrike" kern="1200" dirty="0">
                <a:solidFill>
                  <a:schemeClr val="tx1"/>
                </a:solidFill>
                <a:effectLst/>
                <a:latin typeface="+mn-lt"/>
                <a:ea typeface="+mn-ea"/>
                <a:cs typeface="+mn-cs"/>
              </a:rPr>
              <a:t>：驗證ＳＮ和ＦＧＳＮ是否匹配</a:t>
            </a:r>
            <a:endParaRPr lang="zh-TW" altLang="zh-TW" sz="1200" b="0" i="0" u="none" strike="noStrike"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73568491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52832C-DEFF-B297-0179-D3C5477B9479}"/>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358136F6-8AD5-17E9-B848-779A21190710}"/>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0C4A07B6-7D36-9D63-0B2B-020F2CD6E2C9}"/>
              </a:ext>
            </a:extLst>
          </p:cNvPr>
          <p:cNvSpPr>
            <a:spLocks noGrp="1"/>
          </p:cNvSpPr>
          <p:nvPr>
            <p:ph type="body" idx="1"/>
          </p:nvPr>
        </p:nvSpPr>
        <p:spPr/>
        <p:txBody>
          <a:bodyPr/>
          <a:lstStyle/>
          <a:p>
            <a:pPr rtl="0" eaLnBrk="1" fontAlgn="t" latinLnBrk="0" hangingPunct="1"/>
            <a:r>
              <a:rPr lang="en-US" altLang="zh-TW" sz="1200" b="0" i="0" u="none" strike="noStrike" kern="1200" dirty="0" err="1">
                <a:solidFill>
                  <a:schemeClr val="tx1"/>
                </a:solidFill>
                <a:effectLst/>
                <a:latin typeface="+mn-lt"/>
                <a:ea typeface="+mn-ea"/>
                <a:cs typeface="+mn-cs"/>
              </a:rPr>
              <a:t>BoardID</a:t>
            </a:r>
            <a:r>
              <a:rPr lang="zh-TW" altLang="en-US" sz="1200" b="0" i="0" u="none" strike="noStrike" kern="1200" dirty="0">
                <a:solidFill>
                  <a:schemeClr val="tx1"/>
                </a:solidFill>
                <a:effectLst/>
                <a:latin typeface="+mn-lt"/>
                <a:ea typeface="+mn-ea"/>
                <a:cs typeface="+mn-cs"/>
              </a:rPr>
              <a:t>：讀取驗證</a:t>
            </a:r>
            <a:r>
              <a:rPr lang="en-US" altLang="zh-TW" sz="1200" b="0" kern="1200" dirty="0">
                <a:solidFill>
                  <a:schemeClr val="tx1"/>
                </a:solidFill>
                <a:effectLst/>
                <a:latin typeface="+mn-lt"/>
                <a:ea typeface="+mn-ea"/>
                <a:cs typeface="+mn-cs"/>
              </a:rPr>
              <a:t>HWID</a:t>
            </a:r>
            <a:r>
              <a:rPr lang="zh-TW" altLang="en-US" sz="1200" b="0" kern="1200" dirty="0">
                <a:solidFill>
                  <a:schemeClr val="tx1"/>
                </a:solidFill>
                <a:effectLst/>
                <a:latin typeface="+mn-lt"/>
                <a:ea typeface="+mn-ea"/>
                <a:cs typeface="+mn-cs"/>
              </a:rPr>
              <a:t> 和</a:t>
            </a:r>
            <a:r>
              <a:rPr lang="en-US" altLang="zh-TW" sz="1200" b="0" kern="1200" dirty="0">
                <a:solidFill>
                  <a:schemeClr val="tx1"/>
                </a:solidFill>
                <a:effectLst/>
                <a:latin typeface="+mn-lt"/>
                <a:ea typeface="+mn-ea"/>
                <a:cs typeface="+mn-cs"/>
              </a:rPr>
              <a:t> PID</a:t>
            </a:r>
            <a:endParaRPr lang="zh-TW" altLang="zh-TW" sz="1200" b="0" i="0" u="none" strike="noStrike"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75772687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567761-B449-3965-C103-BD5F2A016141}"/>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71A7E256-4481-4669-7541-A31EE6D6AA48}"/>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439F6C6E-9BDF-4CEF-4ABB-CFEEFB9C48C5}"/>
              </a:ext>
            </a:extLst>
          </p:cNvPr>
          <p:cNvSpPr>
            <a:spLocks noGrp="1"/>
          </p:cNvSpPr>
          <p:nvPr>
            <p:ph type="body" idx="1"/>
          </p:nvPr>
        </p:nvSpPr>
        <p:spPr/>
        <p:txBody>
          <a:bodyPr/>
          <a:lstStyle/>
          <a:p>
            <a:pPr rtl="0" eaLnBrk="1" fontAlgn="t" latinLnBrk="0" hangingPunct="1"/>
            <a:r>
              <a:rPr lang="en-US" altLang="zh-TW" sz="1200" b="0" i="0" u="none" strike="noStrike" kern="1200" dirty="0">
                <a:solidFill>
                  <a:schemeClr val="tx1"/>
                </a:solidFill>
                <a:effectLst/>
                <a:latin typeface="+mn-lt"/>
                <a:ea typeface="+mn-ea"/>
                <a:cs typeface="+mn-cs"/>
              </a:rPr>
              <a:t>FW</a:t>
            </a:r>
            <a:r>
              <a:rPr lang="zh-TW" altLang="en-US" sz="1200" b="0" i="0" u="none" strike="noStrike" kern="1200" dirty="0">
                <a:solidFill>
                  <a:schemeClr val="tx1"/>
                </a:solidFill>
                <a:effectLst/>
                <a:latin typeface="+mn-lt"/>
                <a:ea typeface="+mn-ea"/>
                <a:cs typeface="+mn-cs"/>
              </a:rPr>
              <a:t>：讀取驗證雙韌體區（</a:t>
            </a:r>
            <a:r>
              <a:rPr lang="en-US" altLang="zh-TW" sz="1200" b="0" i="0" u="none" strike="noStrike" kern="1200" dirty="0">
                <a:solidFill>
                  <a:schemeClr val="tx1"/>
                </a:solidFill>
                <a:effectLst/>
                <a:latin typeface="+mn-lt"/>
                <a:ea typeface="+mn-ea"/>
                <a:cs typeface="+mn-cs"/>
              </a:rPr>
              <a:t>Active / Inactive</a:t>
            </a:r>
            <a:r>
              <a:rPr lang="zh-TW" altLang="en-US" sz="1200" b="0" i="0" u="none" strike="noStrike" kern="1200" dirty="0">
                <a:solidFill>
                  <a:schemeClr val="tx1"/>
                </a:solidFill>
                <a:effectLst/>
                <a:latin typeface="+mn-lt"/>
                <a:ea typeface="+mn-ea"/>
                <a:cs typeface="+mn-cs"/>
              </a:rPr>
              <a:t>）的 </a:t>
            </a:r>
            <a:r>
              <a:rPr lang="en-US" altLang="zh-TW" sz="1200" b="0" i="0" u="none" strike="noStrike" kern="1200" dirty="0">
                <a:solidFill>
                  <a:schemeClr val="tx1"/>
                </a:solidFill>
                <a:effectLst/>
                <a:latin typeface="+mn-lt"/>
                <a:ea typeface="+mn-ea"/>
                <a:cs typeface="+mn-cs"/>
              </a:rPr>
              <a:t>FW </a:t>
            </a:r>
            <a:r>
              <a:rPr lang="zh-TW" altLang="en-US" sz="1200" b="0" i="0" u="none" strike="noStrike" kern="1200" dirty="0">
                <a:solidFill>
                  <a:schemeClr val="tx1"/>
                </a:solidFill>
                <a:effectLst/>
                <a:latin typeface="+mn-lt"/>
                <a:ea typeface="+mn-ea"/>
                <a:cs typeface="+mn-cs"/>
              </a:rPr>
              <a:t>版本</a:t>
            </a:r>
            <a:endParaRPr lang="zh-TW" altLang="zh-TW" sz="1200" b="0" i="0" u="none" strike="noStrike" kern="1200" dirty="0">
              <a:solidFill>
                <a:schemeClr val="tx1"/>
              </a:solidFill>
              <a:effectLst/>
              <a:latin typeface="+mn-lt"/>
              <a:ea typeface="+mn-ea"/>
              <a:cs typeface="+mn-cs"/>
            </a:endParaRPr>
          </a:p>
        </p:txBody>
      </p:sp>
    </p:spTree>
    <p:extLst>
      <p:ext uri="{BB962C8B-B14F-4D97-AF65-F5344CB8AC3E}">
        <p14:creationId xmlns:p14="http://schemas.microsoft.com/office/powerpoint/2010/main" val="252564467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0B369E-AD42-E01A-3393-D13570D48F8C}"/>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B6AC5181-7C0A-F7E5-BD79-7739F9AD768C}"/>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D33849AE-A90E-31F7-1E64-97589F9C3371}"/>
              </a:ext>
            </a:extLst>
          </p:cNvPr>
          <p:cNvSpPr>
            <a:spLocks noGrp="1"/>
          </p:cNvSpPr>
          <p:nvPr>
            <p:ph type="body" idx="1"/>
          </p:nvPr>
        </p:nvSpPr>
        <p:spPr/>
        <p:txBody>
          <a:bodyPr/>
          <a:lstStyle/>
          <a:p>
            <a:pPr rtl="0" eaLnBrk="1" fontAlgn="t" latinLnBrk="0" hangingPunct="1"/>
            <a:r>
              <a:rPr lang="en-US" altLang="zh-TW" sz="1200" b="0" i="0" u="none" strike="noStrike" kern="1200" dirty="0">
                <a:solidFill>
                  <a:schemeClr val="tx1"/>
                </a:solidFill>
                <a:effectLst/>
                <a:latin typeface="+mn-lt"/>
                <a:ea typeface="+mn-ea"/>
                <a:cs typeface="+mn-cs"/>
              </a:rPr>
              <a:t>BTID</a:t>
            </a:r>
            <a:r>
              <a:rPr lang="zh-TW" altLang="en-US" sz="1200" b="0" i="0" u="none" strike="noStrike" kern="1200" dirty="0">
                <a:solidFill>
                  <a:schemeClr val="tx1"/>
                </a:solidFill>
                <a:effectLst/>
                <a:latin typeface="+mn-lt"/>
                <a:ea typeface="+mn-ea"/>
                <a:cs typeface="+mn-cs"/>
              </a:rPr>
              <a:t>：讀取驗證</a:t>
            </a:r>
            <a:r>
              <a:rPr lang="en-US" altLang="zh-TW" sz="1200" b="0" kern="1200" dirty="0">
                <a:solidFill>
                  <a:schemeClr val="tx1"/>
                </a:solidFill>
                <a:effectLst/>
                <a:latin typeface="+mn-lt"/>
                <a:ea typeface="+mn-ea"/>
                <a:cs typeface="+mn-cs"/>
              </a:rPr>
              <a:t>BTID</a:t>
            </a:r>
            <a:endParaRPr lang="zh-TW" altLang="zh-TW" sz="1200" b="0" i="0" u="none" strike="noStrike" kern="1200" dirty="0">
              <a:solidFill>
                <a:schemeClr val="tx1"/>
              </a:solidFill>
              <a:effectLst/>
              <a:latin typeface="+mn-lt"/>
              <a:ea typeface="+mn-ea"/>
              <a:cs typeface="+mn-cs"/>
            </a:endParaRPr>
          </a:p>
        </p:txBody>
      </p:sp>
    </p:spTree>
    <p:extLst>
      <p:ext uri="{BB962C8B-B14F-4D97-AF65-F5344CB8AC3E}">
        <p14:creationId xmlns:p14="http://schemas.microsoft.com/office/powerpoint/2010/main" val="369883286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882FA5-C824-2FF1-A970-34A2330052E8}"/>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C92252CD-2CB4-F3C3-E92F-50742FAE2FD0}"/>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A5DA880E-3E27-F2C3-71D3-353EA7F4790E}"/>
              </a:ext>
            </a:extLst>
          </p:cNvPr>
          <p:cNvSpPr>
            <a:spLocks noGrp="1"/>
          </p:cNvSpPr>
          <p:nvPr>
            <p:ph type="body" idx="1"/>
          </p:nvPr>
        </p:nvSpPr>
        <p:spPr/>
        <p:txBody>
          <a:bodyPr/>
          <a:lstStyle/>
          <a:p>
            <a:pPr rtl="0" eaLnBrk="1" fontAlgn="t" latinLnBrk="0" hangingPunct="1"/>
            <a:r>
              <a:rPr lang="en-US" altLang="zh-TW" sz="1200" b="0" i="0" u="none" strike="noStrike" kern="1200" dirty="0">
                <a:solidFill>
                  <a:schemeClr val="tx1"/>
                </a:solidFill>
                <a:effectLst/>
                <a:latin typeface="+mn-lt"/>
                <a:ea typeface="+mn-ea"/>
                <a:cs typeface="+mn-cs"/>
              </a:rPr>
              <a:t>USB</a:t>
            </a:r>
            <a:r>
              <a:rPr lang="zh-TW" altLang="en-US" sz="1200" b="0" i="0" u="none" strike="noStrike" kern="1200" dirty="0">
                <a:solidFill>
                  <a:schemeClr val="tx1"/>
                </a:solidFill>
                <a:effectLst/>
                <a:latin typeface="+mn-lt"/>
                <a:ea typeface="+mn-ea"/>
                <a:cs typeface="+mn-cs"/>
              </a:rPr>
              <a:t>：獲取</a:t>
            </a:r>
            <a:r>
              <a:rPr lang="en-US" altLang="zh-TW" sz="1200" b="0" kern="1200" dirty="0">
                <a:solidFill>
                  <a:schemeClr val="tx1"/>
                </a:solidFill>
                <a:effectLst/>
                <a:latin typeface="+mn-lt"/>
                <a:ea typeface="+mn-ea"/>
                <a:cs typeface="+mn-cs"/>
              </a:rPr>
              <a:t>USB information </a:t>
            </a:r>
            <a:r>
              <a:rPr lang="zh-TW" altLang="en-US" sz="1200" b="0" kern="1200" dirty="0">
                <a:solidFill>
                  <a:schemeClr val="tx1"/>
                </a:solidFill>
                <a:effectLst/>
                <a:latin typeface="+mn-lt"/>
                <a:ea typeface="+mn-ea"/>
                <a:cs typeface="+mn-cs"/>
              </a:rPr>
              <a:t> （</a:t>
            </a:r>
            <a:r>
              <a:rPr lang="en-US" altLang="zh-TW" sz="1200" b="0" kern="1200" dirty="0">
                <a:solidFill>
                  <a:schemeClr val="tx1"/>
                </a:solidFill>
                <a:effectLst/>
                <a:latin typeface="+mn-lt"/>
                <a:ea typeface="+mn-ea"/>
                <a:cs typeface="+mn-cs"/>
              </a:rPr>
              <a:t>Product / Vendor ID</a:t>
            </a:r>
            <a:r>
              <a:rPr lang="zh-TW" altLang="en-US" sz="1200" b="0" kern="1200" dirty="0">
                <a:solidFill>
                  <a:schemeClr val="tx1"/>
                </a:solidFill>
                <a:effectLst/>
                <a:latin typeface="+mn-lt"/>
                <a:ea typeface="+mn-ea"/>
                <a:cs typeface="+mn-cs"/>
              </a:rPr>
              <a:t>）</a:t>
            </a:r>
            <a:endParaRPr lang="en-US" altLang="zh-TW" sz="1200" b="0" i="0" u="none" strike="noStrike" kern="1200" dirty="0">
              <a:solidFill>
                <a:schemeClr val="tx1"/>
              </a:solidFill>
              <a:effectLst/>
              <a:latin typeface="+mn-lt"/>
              <a:ea typeface="+mn-ea"/>
              <a:cs typeface="+mn-cs"/>
            </a:endParaRPr>
          </a:p>
        </p:txBody>
      </p:sp>
    </p:spTree>
    <p:extLst>
      <p:ext uri="{BB962C8B-B14F-4D97-AF65-F5344CB8AC3E}">
        <p14:creationId xmlns:p14="http://schemas.microsoft.com/office/powerpoint/2010/main" val="167416909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2B4A44-ADE9-71AC-EFEB-C1094FD91AAC}"/>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C0D0D62D-F9F4-A1E5-45E4-30523F72445A}"/>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CD862054-059B-E573-B0DE-34359EC9AC34}"/>
              </a:ext>
            </a:extLst>
          </p:cNvPr>
          <p:cNvSpPr>
            <a:spLocks noGrp="1"/>
          </p:cNvSpPr>
          <p:nvPr>
            <p:ph type="body" idx="1"/>
          </p:nvPr>
        </p:nvSpPr>
        <p:spPr/>
        <p:txBody>
          <a:bodyPr/>
          <a:lstStyle/>
          <a:p>
            <a:pPr rtl="0" eaLnBrk="1" fontAlgn="auto" latinLnBrk="0" hangingPunct="1">
              <a:lnSpc>
                <a:spcPct val="150000"/>
              </a:lnSpc>
            </a:pPr>
            <a:r>
              <a:rPr lang="en-US" altLang="zh-TW" sz="1200" b="0" i="0" u="none" strike="noStrike" kern="1200" dirty="0" err="1">
                <a:solidFill>
                  <a:schemeClr val="tx1"/>
                </a:solidFill>
                <a:effectLst/>
                <a:latin typeface="+mn-lt"/>
                <a:ea typeface="+mn-ea"/>
                <a:cs typeface="+mn-cs"/>
              </a:rPr>
              <a:t>PowerMux</a:t>
            </a:r>
            <a:r>
              <a:rPr lang="zh-TW" altLang="en-US" sz="1200" b="0" i="0" u="none" strike="noStrike" kern="1200" dirty="0">
                <a:solidFill>
                  <a:schemeClr val="tx1"/>
                </a:solidFill>
                <a:effectLst/>
                <a:latin typeface="+mn-lt"/>
                <a:ea typeface="+mn-ea"/>
                <a:cs typeface="+mn-cs"/>
              </a:rPr>
              <a:t>：讀取</a:t>
            </a:r>
            <a:r>
              <a:rPr lang="en-US" altLang="zh-TW" sz="1200" b="0" kern="1200" dirty="0">
                <a:solidFill>
                  <a:schemeClr val="tx1"/>
                </a:solidFill>
                <a:effectLst/>
                <a:latin typeface="+mn-lt"/>
                <a:ea typeface="+mn-ea"/>
                <a:cs typeface="+mn-cs"/>
              </a:rPr>
              <a:t>GPIO</a:t>
            </a:r>
            <a:r>
              <a:rPr lang="zh-TW" altLang="en-US" sz="1200" b="0" kern="1200" dirty="0">
                <a:solidFill>
                  <a:schemeClr val="tx1"/>
                </a:solidFill>
                <a:effectLst/>
                <a:latin typeface="+mn-lt"/>
                <a:ea typeface="+mn-ea"/>
                <a:cs typeface="+mn-cs"/>
              </a:rPr>
              <a:t> 晶片資料</a:t>
            </a:r>
            <a:endParaRPr lang="zh-TW" altLang="zh-TW" sz="1200" b="0" i="0" u="none" strike="noStrike" kern="1200" dirty="0">
              <a:solidFill>
                <a:schemeClr val="tx1"/>
              </a:solidFill>
              <a:effectLst/>
              <a:latin typeface="+mn-lt"/>
              <a:ea typeface="+mn-ea"/>
              <a:cs typeface="+mn-cs"/>
            </a:endParaRPr>
          </a:p>
          <a:p>
            <a:endParaRPr kumimoji="1" lang="zh-TW" altLang="en-US" dirty="0"/>
          </a:p>
        </p:txBody>
      </p:sp>
    </p:spTree>
    <p:extLst>
      <p:ext uri="{BB962C8B-B14F-4D97-AF65-F5344CB8AC3E}">
        <p14:creationId xmlns:p14="http://schemas.microsoft.com/office/powerpoint/2010/main" val="19749075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71D1D3-99A7-E84A-6147-DFDC145BE450}"/>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4C293B6F-C80E-9D44-E399-370F8E01355C}"/>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E6B11D25-75ED-279C-5B96-E29A12B8630D}"/>
              </a:ext>
            </a:extLst>
          </p:cNvPr>
          <p:cNvSpPr>
            <a:spLocks noGrp="1"/>
          </p:cNvSpPr>
          <p:nvPr>
            <p:ph type="body" idx="1"/>
          </p:nvPr>
        </p:nvSpPr>
        <p:spPr/>
        <p:txBody>
          <a:bodyPr/>
          <a:lstStyle/>
          <a:p>
            <a:endParaRPr kumimoji="1" lang="zh-TW" altLang="en-US" dirty="0"/>
          </a:p>
          <a:p>
            <a:pPr rtl="0" eaLnBrk="1" fontAlgn="auto" latinLnBrk="0" hangingPunct="1">
              <a:lnSpc>
                <a:spcPct val="150000"/>
              </a:lnSpc>
            </a:pPr>
            <a:r>
              <a:rPr lang="en-US" altLang="zh-TW" sz="1200" b="0" i="0" u="none" strike="noStrike" kern="1200" dirty="0">
                <a:solidFill>
                  <a:schemeClr val="tx1"/>
                </a:solidFill>
                <a:effectLst/>
                <a:latin typeface="+mn-lt"/>
                <a:ea typeface="+mn-ea"/>
                <a:cs typeface="+mn-cs"/>
              </a:rPr>
              <a:t>Battery</a:t>
            </a:r>
            <a:r>
              <a:rPr lang="zh-TW" altLang="en-US" sz="1200" b="0" i="0" u="none" strike="noStrike" kern="1200" dirty="0">
                <a:solidFill>
                  <a:schemeClr val="tx1"/>
                </a:solidFill>
                <a:effectLst/>
                <a:latin typeface="+mn-lt"/>
                <a:ea typeface="+mn-ea"/>
                <a:cs typeface="+mn-cs"/>
              </a:rPr>
              <a:t>（</a:t>
            </a:r>
            <a:r>
              <a:rPr lang="en-US" altLang="zh-TW" sz="1200" b="0" i="0" u="none" strike="noStrike" kern="1200" dirty="0">
                <a:solidFill>
                  <a:schemeClr val="tx1"/>
                </a:solidFill>
                <a:effectLst/>
                <a:latin typeface="+mn-lt"/>
                <a:ea typeface="+mn-ea"/>
                <a:cs typeface="+mn-cs"/>
              </a:rPr>
              <a:t>Dis / Charge</a:t>
            </a:r>
            <a:r>
              <a:rPr lang="zh-TW" altLang="en-US" sz="1200" b="0" i="0" u="none" strike="noStrike" kern="1200" dirty="0">
                <a:solidFill>
                  <a:schemeClr val="tx1"/>
                </a:solidFill>
                <a:effectLst/>
                <a:latin typeface="+mn-lt"/>
                <a:ea typeface="+mn-ea"/>
                <a:cs typeface="+mn-cs"/>
              </a:rPr>
              <a:t>）</a:t>
            </a:r>
            <a:r>
              <a:rPr lang="en-US" altLang="zh-TW" sz="1200" b="0" i="0" u="none" strike="noStrike" kern="1200" dirty="0">
                <a:solidFill>
                  <a:schemeClr val="tx1"/>
                </a:solidFill>
                <a:effectLst/>
                <a:latin typeface="+mn-lt"/>
                <a:ea typeface="+mn-ea"/>
                <a:cs typeface="+mn-cs"/>
              </a:rPr>
              <a:t>Status</a:t>
            </a:r>
            <a:r>
              <a:rPr lang="zh-TW" altLang="en-US" sz="1200" b="0" i="0" u="none" strike="noStrike" kern="1200" dirty="0">
                <a:solidFill>
                  <a:schemeClr val="tx1"/>
                </a:solidFill>
                <a:effectLst/>
                <a:latin typeface="+mn-lt"/>
                <a:ea typeface="+mn-ea"/>
                <a:cs typeface="+mn-cs"/>
              </a:rPr>
              <a:t>：驗證充電盒在充電和未充電下的電壓、電流、電量和溫度</a:t>
            </a:r>
            <a:endParaRPr lang="zh-TW" altLang="zh-TW" sz="1200" b="0" i="0" u="none" strike="noStrike" kern="1200" dirty="0">
              <a:solidFill>
                <a:schemeClr val="tx1"/>
              </a:solidFill>
              <a:effectLst/>
              <a:latin typeface="+mn-lt"/>
              <a:ea typeface="+mn-ea"/>
              <a:cs typeface="+mn-cs"/>
            </a:endParaRPr>
          </a:p>
          <a:p>
            <a:endParaRPr kumimoji="1" lang="zh-TW" altLang="en-US" dirty="0"/>
          </a:p>
        </p:txBody>
      </p:sp>
    </p:spTree>
    <p:extLst>
      <p:ext uri="{BB962C8B-B14F-4D97-AF65-F5344CB8AC3E}">
        <p14:creationId xmlns:p14="http://schemas.microsoft.com/office/powerpoint/2010/main" val="266756026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54292E-C4BC-54F7-B448-59BEE8574DD0}"/>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35505F41-C3AC-D0C7-2BF0-B3A1129262B7}"/>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C79B682D-D42B-4746-FDD2-3BB900A7E6B8}"/>
              </a:ext>
            </a:extLst>
          </p:cNvPr>
          <p:cNvSpPr>
            <a:spLocks noGrp="1"/>
          </p:cNvSpPr>
          <p:nvPr>
            <p:ph type="body" idx="1"/>
          </p:nvPr>
        </p:nvSpPr>
        <p:spPr/>
        <p:txBody>
          <a:bodyPr/>
          <a:lstStyle/>
          <a:p>
            <a:endParaRPr kumimoji="1" lang="zh-TW" altLang="en-US" dirty="0"/>
          </a:p>
          <a:p>
            <a:pPr rtl="0" eaLnBrk="1" fontAlgn="auto" latinLnBrk="0" hangingPunct="1">
              <a:lnSpc>
                <a:spcPct val="150000"/>
              </a:lnSpc>
            </a:pPr>
            <a:r>
              <a:rPr lang="en-US" altLang="zh-TW" sz="1200" b="0" i="0" u="none" strike="noStrike" kern="1200" dirty="0">
                <a:solidFill>
                  <a:schemeClr val="tx1"/>
                </a:solidFill>
                <a:effectLst/>
                <a:latin typeface="+mn-lt"/>
                <a:ea typeface="+mn-ea"/>
                <a:cs typeface="+mn-cs"/>
              </a:rPr>
              <a:t>Info</a:t>
            </a:r>
            <a:r>
              <a:rPr lang="zh-TW" altLang="en-US" sz="1200" b="0" i="0" u="none" strike="noStrike" kern="1200" dirty="0">
                <a:solidFill>
                  <a:schemeClr val="tx1"/>
                </a:solidFill>
                <a:effectLst/>
                <a:latin typeface="+mn-lt"/>
                <a:ea typeface="+mn-ea"/>
                <a:cs typeface="+mn-cs"/>
              </a:rPr>
              <a:t>：確認電池狀態與電量記晶片的校準資訊並重新設定</a:t>
            </a:r>
            <a:endParaRPr lang="zh-TW" altLang="zh-TW" sz="1200" b="0" i="0" u="none" strike="noStrike" kern="1200" dirty="0">
              <a:solidFill>
                <a:schemeClr val="tx1"/>
              </a:solidFill>
              <a:effectLst/>
              <a:latin typeface="+mn-lt"/>
              <a:ea typeface="+mn-ea"/>
              <a:cs typeface="+mn-cs"/>
            </a:endParaRPr>
          </a:p>
          <a:p>
            <a:endParaRPr kumimoji="1" lang="zh-TW" altLang="en-US" dirty="0"/>
          </a:p>
        </p:txBody>
      </p:sp>
    </p:spTree>
    <p:extLst>
      <p:ext uri="{BB962C8B-B14F-4D97-AF65-F5344CB8AC3E}">
        <p14:creationId xmlns:p14="http://schemas.microsoft.com/office/powerpoint/2010/main" val="203419477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7632B4-5B5B-6A1C-7D5E-90D36EF96363}"/>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74191A34-3E05-6735-84B3-DA96B02DB246}"/>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5C11EA36-99E6-516D-CFDA-707A1B07F1A4}"/>
              </a:ext>
            </a:extLst>
          </p:cNvPr>
          <p:cNvSpPr>
            <a:spLocks noGrp="1"/>
          </p:cNvSpPr>
          <p:nvPr>
            <p:ph type="body" idx="1"/>
          </p:nvPr>
        </p:nvSpPr>
        <p:spPr/>
        <p:txBody>
          <a:bodyPr/>
          <a:lstStyle/>
          <a:p>
            <a:endParaRPr kumimoji="1" lang="zh-TW" altLang="en-US" dirty="0"/>
          </a:p>
          <a:p>
            <a:pPr rtl="0" eaLnBrk="1" fontAlgn="auto" latinLnBrk="0" hangingPunct="1">
              <a:lnSpc>
                <a:spcPct val="150000"/>
              </a:lnSpc>
            </a:pPr>
            <a:r>
              <a:rPr lang="en-US" altLang="zh-TW" sz="1200" b="0" i="0" u="none" strike="noStrike" kern="1200" dirty="0">
                <a:solidFill>
                  <a:schemeClr val="tx1"/>
                </a:solidFill>
                <a:effectLst/>
                <a:latin typeface="+mn-lt"/>
                <a:ea typeface="+mn-ea"/>
                <a:cs typeface="+mn-cs"/>
              </a:rPr>
              <a:t>Brightness</a:t>
            </a:r>
            <a:r>
              <a:rPr lang="zh-TW" altLang="en-US" sz="1200" b="0" i="0" u="none" strike="noStrike" kern="1200" dirty="0">
                <a:solidFill>
                  <a:schemeClr val="tx1"/>
                </a:solidFill>
                <a:effectLst/>
                <a:latin typeface="+mn-lt"/>
                <a:ea typeface="+mn-ea"/>
                <a:cs typeface="+mn-cs"/>
              </a:rPr>
              <a:t>：量測充電盒的</a:t>
            </a:r>
            <a:r>
              <a:rPr lang="en-US" altLang="zh-TW" sz="1200" b="0" i="0" u="none" strike="noStrike" kern="1200" dirty="0">
                <a:solidFill>
                  <a:schemeClr val="tx1"/>
                </a:solidFill>
                <a:effectLst/>
                <a:latin typeface="+mn-lt"/>
                <a:ea typeface="+mn-ea"/>
                <a:cs typeface="+mn-cs"/>
              </a:rPr>
              <a:t>LED</a:t>
            </a:r>
            <a:r>
              <a:rPr lang="zh-TW" altLang="en-US" sz="1200" b="0" i="0" u="none" strike="noStrike" kern="1200" dirty="0">
                <a:solidFill>
                  <a:schemeClr val="tx1"/>
                </a:solidFill>
                <a:effectLst/>
                <a:latin typeface="+mn-lt"/>
                <a:ea typeface="+mn-ea"/>
                <a:cs typeface="+mn-cs"/>
              </a:rPr>
              <a:t>指示燈在無光、白光、紅光等情況下的各項參數（光強度）</a:t>
            </a:r>
            <a:endParaRPr lang="zh-TW" altLang="zh-TW" sz="1200" b="0" i="0" u="none" strike="noStrike" kern="1200" dirty="0">
              <a:solidFill>
                <a:schemeClr val="tx1"/>
              </a:solidFill>
              <a:effectLst/>
              <a:latin typeface="+mn-lt"/>
              <a:ea typeface="+mn-ea"/>
              <a:cs typeface="+mn-cs"/>
            </a:endParaRPr>
          </a:p>
          <a:p>
            <a:endParaRPr kumimoji="1" lang="zh-TW" altLang="en-US" dirty="0"/>
          </a:p>
        </p:txBody>
      </p:sp>
    </p:spTree>
    <p:extLst>
      <p:ext uri="{BB962C8B-B14F-4D97-AF65-F5344CB8AC3E}">
        <p14:creationId xmlns:p14="http://schemas.microsoft.com/office/powerpoint/2010/main" val="328100240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12C2C-A2DB-C888-0395-3BB9EE2815DE}"/>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9EA1458C-A684-58FD-C4C7-647BA59B1573}"/>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83496C12-4A37-38E3-AC82-F3C2E94508C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i="0" u="none" strike="noStrike" kern="1200" dirty="0" err="1">
                <a:solidFill>
                  <a:schemeClr val="tx1"/>
                </a:solidFill>
                <a:effectLst/>
                <a:latin typeface="+mn-lt"/>
                <a:ea typeface="+mn-ea"/>
                <a:cs typeface="+mn-cs"/>
              </a:rPr>
              <a:t>GPIOCheck_Button</a:t>
            </a:r>
            <a:r>
              <a:rPr lang="en-US" altLang="zh-TW" sz="1200" b="0" i="0" u="none" strike="noStrike" kern="1200" dirty="0">
                <a:solidFill>
                  <a:schemeClr val="tx1"/>
                </a:solidFill>
                <a:effectLst/>
                <a:latin typeface="+mn-lt"/>
                <a:ea typeface="+mn-ea"/>
                <a:cs typeface="+mn-cs"/>
              </a:rPr>
              <a:t>_(Status)</a:t>
            </a:r>
            <a:r>
              <a:rPr lang="zh-TW" altLang="en-US" sz="1200" b="0" i="0" u="none" strike="noStrike" kern="1200" dirty="0">
                <a:solidFill>
                  <a:schemeClr val="tx1"/>
                </a:solidFill>
                <a:effectLst/>
                <a:latin typeface="+mn-lt"/>
                <a:ea typeface="+mn-ea"/>
                <a:cs typeface="+mn-cs"/>
              </a:rPr>
              <a:t>：指令控制汽缸下壓按鈕並確認按鈕狀態</a:t>
            </a:r>
            <a:endParaRPr lang="zh-TW" altLang="zh-TW" sz="1200" b="0" i="0" u="none" strike="noStrike" kern="1200" dirty="0">
              <a:solidFill>
                <a:schemeClr val="tx1"/>
              </a:solidFill>
              <a:effectLst/>
              <a:latin typeface="+mn-lt"/>
              <a:ea typeface="+mn-ea"/>
              <a:cs typeface="+mn-cs"/>
            </a:endParaRPr>
          </a:p>
          <a:p>
            <a:endParaRPr kumimoji="1" lang="zh-TW" altLang="en-US" dirty="0"/>
          </a:p>
        </p:txBody>
      </p:sp>
    </p:spTree>
    <p:extLst>
      <p:ext uri="{BB962C8B-B14F-4D97-AF65-F5344CB8AC3E}">
        <p14:creationId xmlns:p14="http://schemas.microsoft.com/office/powerpoint/2010/main" val="395540043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0DB6C3-34A5-B465-254F-E33AD1484426}"/>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FD2B406D-A343-656B-08D1-0AC68FF9185D}"/>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09B50E24-F555-CDDC-228B-4B6F80893B13}"/>
              </a:ext>
            </a:extLst>
          </p:cNvPr>
          <p:cNvSpPr>
            <a:spLocks noGrp="1"/>
          </p:cNvSpPr>
          <p:nvPr>
            <p:ph type="body" idx="1"/>
          </p:nvPr>
        </p:nvSpPr>
        <p:spPr/>
        <p:txBody>
          <a:bodyPr/>
          <a:lstStyle/>
          <a:p>
            <a:pPr rtl="0" eaLnBrk="1" fontAlgn="auto" latinLnBrk="0" hangingPunct="1">
              <a:lnSpc>
                <a:spcPct val="150000"/>
              </a:lnSpc>
            </a:pPr>
            <a:r>
              <a:rPr lang="en-US" altLang="zh-TW" sz="1200" b="0" i="0" u="none" strike="noStrike" kern="1200" dirty="0">
                <a:solidFill>
                  <a:schemeClr val="tx1"/>
                </a:solidFill>
                <a:effectLst/>
                <a:latin typeface="+mn-lt"/>
                <a:ea typeface="+mn-ea"/>
                <a:cs typeface="+mn-cs"/>
              </a:rPr>
              <a:t>OVP</a:t>
            </a:r>
            <a:r>
              <a:rPr lang="zh-TW" altLang="en-US" sz="1200" b="0" i="0" u="none" strike="noStrike" kern="1200" dirty="0">
                <a:solidFill>
                  <a:schemeClr val="tx1"/>
                </a:solidFill>
                <a:effectLst/>
                <a:latin typeface="+mn-lt"/>
                <a:ea typeface="+mn-ea"/>
                <a:cs typeface="+mn-cs"/>
              </a:rPr>
              <a:t>：驗證</a:t>
            </a:r>
            <a:r>
              <a:rPr lang="en-US" altLang="zh-TW" sz="1200" b="0" i="0" u="none" strike="noStrike" kern="1200" dirty="0">
                <a:solidFill>
                  <a:schemeClr val="tx1"/>
                </a:solidFill>
                <a:effectLst/>
                <a:latin typeface="+mn-lt"/>
                <a:ea typeface="+mn-ea"/>
                <a:cs typeface="+mn-cs"/>
              </a:rPr>
              <a:t>VBUS</a:t>
            </a:r>
            <a:r>
              <a:rPr lang="zh-TW" altLang="en-US" sz="1200" b="0" i="0" u="none" strike="noStrike" kern="1200" dirty="0">
                <a:solidFill>
                  <a:schemeClr val="tx1"/>
                </a:solidFill>
                <a:effectLst/>
                <a:latin typeface="+mn-lt"/>
                <a:ea typeface="+mn-ea"/>
                <a:cs typeface="+mn-cs"/>
              </a:rPr>
              <a:t>在過壓保護（</a:t>
            </a:r>
            <a:r>
              <a:rPr lang="en-US" altLang="zh-TW" sz="1200" b="0" i="0" u="none" strike="noStrike" kern="1200" dirty="0">
                <a:solidFill>
                  <a:schemeClr val="tx1"/>
                </a:solidFill>
                <a:effectLst/>
                <a:latin typeface="+mn-lt"/>
                <a:ea typeface="+mn-ea"/>
                <a:cs typeface="+mn-cs"/>
              </a:rPr>
              <a:t>OVP</a:t>
            </a:r>
            <a:r>
              <a:rPr lang="zh-TW" altLang="en-US" sz="1200" b="0" i="0" u="none" strike="noStrike" kern="1200" dirty="0">
                <a:solidFill>
                  <a:schemeClr val="tx1"/>
                </a:solidFill>
                <a:effectLst/>
                <a:latin typeface="+mn-lt"/>
                <a:ea typeface="+mn-ea"/>
                <a:cs typeface="+mn-cs"/>
              </a:rPr>
              <a:t>）開啟的狀態下電壓值在正常區間</a:t>
            </a:r>
            <a:endParaRPr lang="zh-TW" altLang="zh-TW" sz="1200" b="0" i="0" u="none" strike="noStrike" kern="1200" dirty="0">
              <a:solidFill>
                <a:schemeClr val="tx1"/>
              </a:solidFill>
              <a:effectLst/>
              <a:latin typeface="+mn-lt"/>
              <a:ea typeface="+mn-ea"/>
              <a:cs typeface="+mn-cs"/>
            </a:endParaRPr>
          </a:p>
          <a:p>
            <a:endParaRPr kumimoji="1" lang="zh-TW" altLang="en-US" dirty="0"/>
          </a:p>
        </p:txBody>
      </p:sp>
    </p:spTree>
    <p:extLst>
      <p:ext uri="{BB962C8B-B14F-4D97-AF65-F5344CB8AC3E}">
        <p14:creationId xmlns:p14="http://schemas.microsoft.com/office/powerpoint/2010/main" val="37219224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494D46-62F5-AEB5-71B3-B01910C7C7A5}"/>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FFAF9AB9-82CA-F6B2-DD43-22F430595431}"/>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2DE96F9F-C3B1-55F3-8CCE-A7E19C7AC295}"/>
              </a:ext>
            </a:extLst>
          </p:cNvPr>
          <p:cNvSpPr>
            <a:spLocks noGrp="1"/>
          </p:cNvSpPr>
          <p:nvPr>
            <p:ph type="body" idx="1"/>
          </p:nvPr>
        </p:nvSpPr>
        <p:spPr/>
        <p:txBody>
          <a:bodyPr/>
          <a:lstStyle/>
          <a:p>
            <a:endParaRPr kumimoji="1" lang="zh-TW" altLang="en-US" dirty="0"/>
          </a:p>
          <a:p>
            <a:pPr rtl="0" eaLnBrk="1" fontAlgn="auto" latinLnBrk="0" hangingPunct="1">
              <a:lnSpc>
                <a:spcPct val="150000"/>
              </a:lnSpc>
            </a:pPr>
            <a:r>
              <a:rPr lang="en-US" altLang="zh-TW" sz="1200" b="0" i="0" u="none" strike="noStrike" kern="1200" dirty="0">
                <a:solidFill>
                  <a:schemeClr val="tx1"/>
                </a:solidFill>
                <a:effectLst/>
                <a:latin typeface="+mn-lt"/>
                <a:ea typeface="+mn-ea"/>
                <a:cs typeface="+mn-cs"/>
              </a:rPr>
              <a:t>Transition</a:t>
            </a:r>
            <a:r>
              <a:rPr lang="zh-TW" altLang="en-US" sz="1200" b="0" i="0" u="none" strike="noStrike" kern="1200" dirty="0">
                <a:solidFill>
                  <a:schemeClr val="tx1"/>
                </a:solidFill>
                <a:effectLst/>
                <a:latin typeface="+mn-lt"/>
                <a:ea typeface="+mn-ea"/>
                <a:cs typeface="+mn-cs"/>
              </a:rPr>
              <a:t>：測試充電盒進入</a:t>
            </a:r>
            <a:r>
              <a:rPr lang="en-US" altLang="zh-TW" sz="1200" b="0" kern="1200" dirty="0">
                <a:solidFill>
                  <a:schemeClr val="tx1"/>
                </a:solidFill>
                <a:effectLst/>
                <a:latin typeface="+mn-lt"/>
                <a:ea typeface="+mn-ea"/>
                <a:cs typeface="+mn-cs"/>
              </a:rPr>
              <a:t>ship mode</a:t>
            </a:r>
            <a:r>
              <a:rPr lang="zh-TW" altLang="en-US" sz="1200" b="0" kern="1200" dirty="0">
                <a:solidFill>
                  <a:schemeClr val="tx1"/>
                </a:solidFill>
                <a:effectLst/>
                <a:latin typeface="+mn-lt"/>
                <a:ea typeface="+mn-ea"/>
                <a:cs typeface="+mn-cs"/>
              </a:rPr>
              <a:t>功能後退出（斷連後重新連結）</a:t>
            </a:r>
            <a:endParaRPr lang="zh-TW" altLang="zh-TW" sz="1200" b="0" i="0" u="none" strike="noStrike" kern="1200" dirty="0">
              <a:solidFill>
                <a:schemeClr val="tx1"/>
              </a:solidFill>
              <a:effectLst/>
              <a:latin typeface="+mn-lt"/>
              <a:ea typeface="+mn-ea"/>
              <a:cs typeface="+mn-cs"/>
            </a:endParaRPr>
          </a:p>
          <a:p>
            <a:endParaRPr kumimoji="1" lang="zh-TW" altLang="en-US" dirty="0"/>
          </a:p>
        </p:txBody>
      </p:sp>
    </p:spTree>
    <p:extLst>
      <p:ext uri="{BB962C8B-B14F-4D97-AF65-F5344CB8AC3E}">
        <p14:creationId xmlns:p14="http://schemas.microsoft.com/office/powerpoint/2010/main" val="398352050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9DD73A-E5EC-2E2D-64F2-802339AE07CB}"/>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6130A570-A2D2-0453-8429-6AEF0786FBBE}"/>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B97D15EC-06A9-7757-1669-DF4E0645C550}"/>
              </a:ext>
            </a:extLst>
          </p:cNvPr>
          <p:cNvSpPr>
            <a:spLocks noGrp="1"/>
          </p:cNvSpPr>
          <p:nvPr>
            <p:ph type="body" idx="1"/>
          </p:nvPr>
        </p:nvSpPr>
        <p:spPr/>
        <p:txBody>
          <a:bodyPr/>
          <a:lstStyle/>
          <a:p>
            <a:endParaRPr kumimoji="1" lang="zh-TW" altLang="en-US" dirty="0"/>
          </a:p>
          <a:p>
            <a:pPr rtl="0" eaLnBrk="1" fontAlgn="auto" latinLnBrk="0" hangingPunct="1">
              <a:lnSpc>
                <a:spcPct val="150000"/>
              </a:lnSpc>
            </a:pPr>
            <a:r>
              <a:rPr lang="en-US" altLang="zh-TW" sz="1200" b="0" i="0" u="none" strike="noStrike" kern="1200" dirty="0">
                <a:solidFill>
                  <a:schemeClr val="tx1"/>
                </a:solidFill>
                <a:effectLst/>
                <a:latin typeface="+mn-lt"/>
                <a:ea typeface="+mn-ea"/>
                <a:cs typeface="+mn-cs"/>
              </a:rPr>
              <a:t>Constant</a:t>
            </a:r>
            <a:r>
              <a:rPr lang="zh-TW" altLang="en-US" sz="1200" b="0" i="0" u="none" strike="noStrike" kern="1200" dirty="0">
                <a:solidFill>
                  <a:schemeClr val="tx1"/>
                </a:solidFill>
                <a:effectLst/>
                <a:latin typeface="+mn-lt"/>
                <a:ea typeface="+mn-ea"/>
                <a:cs typeface="+mn-cs"/>
              </a:rPr>
              <a:t>：量測左右耳 </a:t>
            </a:r>
            <a:r>
              <a:rPr lang="en-US" altLang="zh-TW" sz="1200" b="0" i="0" u="none" strike="noStrike" kern="1200" dirty="0">
                <a:solidFill>
                  <a:schemeClr val="tx1"/>
                </a:solidFill>
                <a:effectLst/>
                <a:latin typeface="+mn-lt"/>
                <a:ea typeface="+mn-ea"/>
                <a:cs typeface="+mn-cs"/>
              </a:rPr>
              <a:t>POS</a:t>
            </a:r>
            <a:r>
              <a:rPr lang="zh-TW" altLang="en-US" sz="1200" b="0" i="0" u="none" strike="noStrike" kern="1200" dirty="0">
                <a:solidFill>
                  <a:schemeClr val="tx1"/>
                </a:solidFill>
                <a:effectLst/>
                <a:latin typeface="+mn-lt"/>
                <a:ea typeface="+mn-ea"/>
                <a:cs typeface="+mn-cs"/>
              </a:rPr>
              <a:t>端 在有</a:t>
            </a:r>
            <a:r>
              <a:rPr lang="en-US" altLang="zh-TW" sz="1200" b="0" i="0" u="none" strike="noStrike" kern="1200" dirty="0">
                <a:solidFill>
                  <a:schemeClr val="tx1"/>
                </a:solidFill>
                <a:effectLst/>
                <a:latin typeface="+mn-lt"/>
                <a:ea typeface="+mn-ea"/>
                <a:cs typeface="+mn-cs"/>
              </a:rPr>
              <a:t>/</a:t>
            </a:r>
            <a:r>
              <a:rPr lang="zh-TW" altLang="en-US" sz="1200" b="0" i="0" u="none" strike="noStrike" kern="1200" dirty="0">
                <a:solidFill>
                  <a:schemeClr val="tx1"/>
                </a:solidFill>
                <a:effectLst/>
                <a:latin typeface="+mn-lt"/>
                <a:ea typeface="+mn-ea"/>
                <a:cs typeface="+mn-cs"/>
              </a:rPr>
              <a:t>無電子負載時的輸出電壓和電流 （確認 </a:t>
            </a:r>
            <a:r>
              <a:rPr lang="en-US" altLang="zh-TW" sz="1200" b="0" i="0" u="none" strike="noStrike" kern="1200" dirty="0">
                <a:solidFill>
                  <a:schemeClr val="tx1"/>
                </a:solidFill>
                <a:effectLst/>
                <a:latin typeface="+mn-lt"/>
                <a:ea typeface="+mn-ea"/>
                <a:cs typeface="+mn-cs"/>
              </a:rPr>
              <a:t>Case </a:t>
            </a:r>
            <a:r>
              <a:rPr lang="zh-TW" altLang="en-US" sz="1200" b="0" i="0" u="none" strike="noStrike" kern="1200" dirty="0">
                <a:solidFill>
                  <a:schemeClr val="tx1"/>
                </a:solidFill>
                <a:effectLst/>
                <a:latin typeface="+mn-lt"/>
                <a:ea typeface="+mn-ea"/>
                <a:cs typeface="+mn-cs"/>
              </a:rPr>
              <a:t>的 </a:t>
            </a:r>
            <a:r>
              <a:rPr lang="en-US" altLang="zh-TW" sz="1200" b="1" i="0" u="none" strike="noStrike" kern="1200" dirty="0">
                <a:solidFill>
                  <a:schemeClr val="tx1"/>
                </a:solidFill>
                <a:effectLst/>
                <a:latin typeface="+mn-lt"/>
                <a:ea typeface="+mn-ea"/>
                <a:cs typeface="+mn-cs"/>
              </a:rPr>
              <a:t>5V </a:t>
            </a:r>
            <a:r>
              <a:rPr lang="zh-TW" altLang="en-US" sz="1200" b="1" i="0" u="none" strike="noStrike" kern="1200" dirty="0">
                <a:solidFill>
                  <a:schemeClr val="tx1"/>
                </a:solidFill>
                <a:effectLst/>
                <a:latin typeface="+mn-lt"/>
                <a:ea typeface="+mn-ea"/>
                <a:cs typeface="+mn-cs"/>
              </a:rPr>
              <a:t>電源輸出功能正常</a:t>
            </a:r>
            <a:r>
              <a:rPr lang="zh-TW" altLang="en-US" sz="1200" b="0" i="0" u="none" strike="noStrike" kern="1200" dirty="0">
                <a:solidFill>
                  <a:schemeClr val="tx1"/>
                </a:solidFill>
                <a:effectLst/>
                <a:latin typeface="+mn-lt"/>
                <a:ea typeface="+mn-ea"/>
                <a:cs typeface="+mn-cs"/>
              </a:rPr>
              <a:t>）</a:t>
            </a:r>
            <a:endParaRPr lang="zh-TW" altLang="zh-TW" sz="1200" b="0" i="0" u="none" strike="noStrike" kern="1200" dirty="0">
              <a:solidFill>
                <a:schemeClr val="tx1"/>
              </a:solidFill>
              <a:effectLst/>
              <a:latin typeface="+mn-lt"/>
              <a:ea typeface="+mn-ea"/>
              <a:cs typeface="+mn-cs"/>
            </a:endParaRPr>
          </a:p>
          <a:p>
            <a:endParaRPr kumimoji="1" lang="en-US" altLang="zh-TW" dirty="0"/>
          </a:p>
          <a:p>
            <a:r>
              <a:rPr lang="zh-TW" altLang="en-US" b="1" dirty="0"/>
              <a:t>切斷外部 </a:t>
            </a:r>
            <a:r>
              <a:rPr lang="en-US" altLang="zh-TW" b="1" dirty="0"/>
              <a:t>USB </a:t>
            </a:r>
            <a:r>
              <a:rPr lang="zh-TW" altLang="en-US" b="1" dirty="0"/>
              <a:t>充電影響</a:t>
            </a:r>
            <a:endParaRPr lang="zh-TW" altLang="en-US" dirty="0"/>
          </a:p>
          <a:p>
            <a:r>
              <a:rPr lang="zh-TW" altLang="en-US" b="1" dirty="0"/>
              <a:t>關掉 </a:t>
            </a:r>
            <a:r>
              <a:rPr lang="en-US" altLang="zh-TW" b="1" dirty="0"/>
              <a:t>charger </a:t>
            </a:r>
            <a:r>
              <a:rPr lang="zh-TW" altLang="en-US" b="1" dirty="0"/>
              <a:t>正常充電模式</a:t>
            </a:r>
            <a:endParaRPr lang="zh-TW" altLang="en-US" dirty="0"/>
          </a:p>
          <a:p>
            <a:r>
              <a:rPr lang="zh-TW" altLang="en-US" b="1" dirty="0"/>
              <a:t>改用 </a:t>
            </a:r>
            <a:r>
              <a:rPr lang="en-US" altLang="zh-TW" b="1" dirty="0"/>
              <a:t>Case </a:t>
            </a:r>
            <a:r>
              <a:rPr lang="zh-TW" altLang="en-US" b="1" dirty="0"/>
              <a:t>內部電池升壓（</a:t>
            </a:r>
            <a:r>
              <a:rPr lang="en-US" altLang="zh-TW" b="1" dirty="0"/>
              <a:t>boost</a:t>
            </a:r>
            <a:r>
              <a:rPr lang="zh-TW" altLang="en-US" b="1" dirty="0"/>
              <a:t>）產生 </a:t>
            </a:r>
            <a:r>
              <a:rPr lang="en-US" altLang="zh-TW" b="1" dirty="0"/>
              <a:t>5V</a:t>
            </a:r>
            <a:endParaRPr lang="en-US" altLang="zh-TW" dirty="0"/>
          </a:p>
          <a:p>
            <a:r>
              <a:rPr lang="zh-TW" altLang="en-US" b="1" dirty="0"/>
              <a:t>驗證 </a:t>
            </a:r>
            <a:r>
              <a:rPr lang="en-US" altLang="zh-TW" b="1" dirty="0"/>
              <a:t>Case </a:t>
            </a:r>
            <a:r>
              <a:rPr lang="zh-TW" altLang="en-US" b="1" dirty="0"/>
              <a:t>在「沒插線」時，是否能正確輸出 </a:t>
            </a:r>
            <a:r>
              <a:rPr lang="en-US" altLang="zh-TW" b="1" dirty="0"/>
              <a:t>5V</a:t>
            </a:r>
            <a:r>
              <a:rPr lang="zh-TW" altLang="en-US" b="1" dirty="0"/>
              <a:t>（給 </a:t>
            </a:r>
            <a:r>
              <a:rPr lang="en-US" altLang="zh-TW" b="1" dirty="0"/>
              <a:t>Bud / POS / Test pin</a:t>
            </a:r>
            <a:r>
              <a:rPr lang="zh-TW" altLang="en-US" b="1" dirty="0"/>
              <a:t>）</a:t>
            </a:r>
            <a:endParaRPr lang="en-US" altLang="zh-TW" dirty="0"/>
          </a:p>
          <a:p>
            <a:r>
              <a:rPr lang="zh-TW" altLang="en-US" sz="1200" b="1" i="0" u="none" strike="noStrike" kern="1200" dirty="0">
                <a:solidFill>
                  <a:schemeClr val="tx1"/>
                </a:solidFill>
                <a:effectLst/>
                <a:latin typeface="+mn-lt"/>
                <a:ea typeface="+mn-ea"/>
                <a:cs typeface="+mn-cs"/>
              </a:rPr>
              <a:t>電子負載精準模擬耳機充電電流，驗證 </a:t>
            </a:r>
            <a:r>
              <a:rPr lang="en-US" altLang="zh-TW" sz="1200" b="1" i="0" u="none" strike="noStrike" kern="1200" dirty="0">
                <a:solidFill>
                  <a:schemeClr val="tx1"/>
                </a:solidFill>
                <a:effectLst/>
                <a:latin typeface="+mn-lt"/>
                <a:ea typeface="+mn-ea"/>
                <a:cs typeface="+mn-cs"/>
              </a:rPr>
              <a:t>Case </a:t>
            </a:r>
            <a:r>
              <a:rPr lang="zh-TW" altLang="en-US" sz="1200" b="1" i="0" u="none" strike="noStrike" kern="1200" dirty="0">
                <a:solidFill>
                  <a:schemeClr val="tx1"/>
                </a:solidFill>
                <a:effectLst/>
                <a:latin typeface="+mn-lt"/>
                <a:ea typeface="+mn-ea"/>
                <a:cs typeface="+mn-cs"/>
              </a:rPr>
              <a:t>在負載變化下</a:t>
            </a:r>
            <a:r>
              <a:rPr lang="en-US" altLang="zh-TW" sz="1200" b="1" i="0" u="none" strike="noStrike" kern="1200" dirty="0">
                <a:solidFill>
                  <a:schemeClr val="tx1"/>
                </a:solidFill>
                <a:effectLst/>
                <a:latin typeface="+mn-lt"/>
                <a:ea typeface="+mn-ea"/>
                <a:cs typeface="+mn-cs"/>
              </a:rPr>
              <a:t>5V</a:t>
            </a:r>
            <a:r>
              <a:rPr lang="zh-TW" altLang="en-US" sz="1200" b="1" i="0" u="none" strike="noStrike" kern="1200" dirty="0">
                <a:solidFill>
                  <a:schemeClr val="tx1"/>
                </a:solidFill>
                <a:effectLst/>
                <a:latin typeface="+mn-lt"/>
                <a:ea typeface="+mn-ea"/>
                <a:cs typeface="+mn-cs"/>
              </a:rPr>
              <a:t>輸出是否可靠</a:t>
            </a:r>
            <a:endParaRPr kumimoji="1" lang="zh-TW" altLang="en-US" b="1" dirty="0"/>
          </a:p>
        </p:txBody>
      </p:sp>
    </p:spTree>
    <p:extLst>
      <p:ext uri="{BB962C8B-B14F-4D97-AF65-F5344CB8AC3E}">
        <p14:creationId xmlns:p14="http://schemas.microsoft.com/office/powerpoint/2010/main" val="422714815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874AE7-A0B6-8680-B29F-8182FCF27264}"/>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FF27EE16-8C71-3DB0-2E89-0B92D4A7AD38}"/>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E7A98836-DD08-E5CD-FCA0-5BC01A41BA25}"/>
              </a:ext>
            </a:extLst>
          </p:cNvPr>
          <p:cNvSpPr>
            <a:spLocks noGrp="1"/>
          </p:cNvSpPr>
          <p:nvPr>
            <p:ph type="body" idx="1"/>
          </p:nvPr>
        </p:nvSpPr>
        <p:spPr/>
        <p:txBody>
          <a:bodyPr/>
          <a:lstStyle/>
          <a:p>
            <a:pPr rtl="0" eaLnBrk="1" fontAlgn="auto" latinLnBrk="0" hangingPunct="1">
              <a:lnSpc>
                <a:spcPct val="150000"/>
              </a:lnSpc>
            </a:pPr>
            <a:r>
              <a:rPr lang="en-US" altLang="zh-TW" sz="1200" b="0" i="0" u="none" strike="noStrike" kern="1200" dirty="0">
                <a:solidFill>
                  <a:schemeClr val="tx1"/>
                </a:solidFill>
                <a:effectLst/>
                <a:latin typeface="+mn-lt"/>
                <a:ea typeface="+mn-ea"/>
                <a:cs typeface="+mn-cs"/>
              </a:rPr>
              <a:t>Constant</a:t>
            </a:r>
            <a:r>
              <a:rPr lang="zh-TW" altLang="en-US" sz="1200" b="0" i="0" u="none" strike="noStrike" kern="1200" dirty="0">
                <a:solidFill>
                  <a:schemeClr val="tx1"/>
                </a:solidFill>
                <a:effectLst/>
                <a:latin typeface="+mn-lt"/>
                <a:ea typeface="+mn-ea"/>
                <a:cs typeface="+mn-cs"/>
              </a:rPr>
              <a:t>：量測左右耳 </a:t>
            </a:r>
            <a:r>
              <a:rPr lang="en-US" altLang="zh-TW" sz="1200" b="0" i="0" u="none" strike="noStrike" kern="1200" dirty="0">
                <a:solidFill>
                  <a:schemeClr val="tx1"/>
                </a:solidFill>
                <a:effectLst/>
                <a:latin typeface="+mn-lt"/>
                <a:ea typeface="+mn-ea"/>
                <a:cs typeface="+mn-cs"/>
              </a:rPr>
              <a:t>POS</a:t>
            </a:r>
            <a:r>
              <a:rPr lang="zh-TW" altLang="en-US" sz="1200" b="0" i="0" u="none" strike="noStrike" kern="1200" dirty="0">
                <a:solidFill>
                  <a:schemeClr val="tx1"/>
                </a:solidFill>
                <a:effectLst/>
                <a:latin typeface="+mn-lt"/>
                <a:ea typeface="+mn-ea"/>
                <a:cs typeface="+mn-cs"/>
              </a:rPr>
              <a:t>端 在有</a:t>
            </a:r>
            <a:r>
              <a:rPr lang="en-US" altLang="zh-TW" sz="1200" b="0" i="0" u="none" strike="noStrike" kern="1200" dirty="0">
                <a:solidFill>
                  <a:schemeClr val="tx1"/>
                </a:solidFill>
                <a:effectLst/>
                <a:latin typeface="+mn-lt"/>
                <a:ea typeface="+mn-ea"/>
                <a:cs typeface="+mn-cs"/>
              </a:rPr>
              <a:t>/</a:t>
            </a:r>
            <a:r>
              <a:rPr lang="zh-TW" altLang="en-US" sz="1200" b="0" i="0" u="none" strike="noStrike" kern="1200" dirty="0">
                <a:solidFill>
                  <a:schemeClr val="tx1"/>
                </a:solidFill>
                <a:effectLst/>
                <a:latin typeface="+mn-lt"/>
                <a:ea typeface="+mn-ea"/>
                <a:cs typeface="+mn-cs"/>
              </a:rPr>
              <a:t>無電子負載時的輸出電壓和電流 （確認 </a:t>
            </a:r>
            <a:r>
              <a:rPr lang="en-US" altLang="zh-TW" sz="1200" b="0" i="0" u="none" strike="noStrike" kern="1200" dirty="0">
                <a:solidFill>
                  <a:schemeClr val="tx1"/>
                </a:solidFill>
                <a:effectLst/>
                <a:latin typeface="+mn-lt"/>
                <a:ea typeface="+mn-ea"/>
                <a:cs typeface="+mn-cs"/>
              </a:rPr>
              <a:t>Case </a:t>
            </a:r>
            <a:r>
              <a:rPr lang="zh-TW" altLang="en-US" sz="1200" b="0" i="0" u="none" strike="noStrike" kern="1200" dirty="0">
                <a:solidFill>
                  <a:schemeClr val="tx1"/>
                </a:solidFill>
                <a:effectLst/>
                <a:latin typeface="+mn-lt"/>
                <a:ea typeface="+mn-ea"/>
                <a:cs typeface="+mn-cs"/>
              </a:rPr>
              <a:t>的 </a:t>
            </a:r>
            <a:r>
              <a:rPr lang="en-US" altLang="zh-TW" sz="1200" b="1" i="0" u="none" strike="noStrike" kern="1200" dirty="0">
                <a:solidFill>
                  <a:schemeClr val="tx1"/>
                </a:solidFill>
                <a:effectLst/>
                <a:latin typeface="+mn-lt"/>
                <a:ea typeface="+mn-ea"/>
                <a:cs typeface="+mn-cs"/>
              </a:rPr>
              <a:t>5V </a:t>
            </a:r>
            <a:r>
              <a:rPr lang="zh-TW" altLang="en-US" sz="1200" b="1" i="0" u="none" strike="noStrike" kern="1200" dirty="0">
                <a:solidFill>
                  <a:schemeClr val="tx1"/>
                </a:solidFill>
                <a:effectLst/>
                <a:latin typeface="+mn-lt"/>
                <a:ea typeface="+mn-ea"/>
                <a:cs typeface="+mn-cs"/>
              </a:rPr>
              <a:t>電源輸出功能正常</a:t>
            </a:r>
            <a:r>
              <a:rPr lang="zh-TW" altLang="en-US" sz="1200" b="0" i="0" u="none" strike="noStrike" kern="1200" dirty="0">
                <a:solidFill>
                  <a:schemeClr val="tx1"/>
                </a:solidFill>
                <a:effectLst/>
                <a:latin typeface="+mn-lt"/>
                <a:ea typeface="+mn-ea"/>
                <a:cs typeface="+mn-cs"/>
              </a:rPr>
              <a:t>）</a:t>
            </a:r>
            <a:endParaRPr lang="zh-TW" altLang="zh-TW" sz="1200" b="0" i="0" u="none" strike="noStrike" kern="1200" dirty="0">
              <a:solidFill>
                <a:schemeClr val="tx1"/>
              </a:solidFill>
              <a:effectLst/>
              <a:latin typeface="+mn-lt"/>
              <a:ea typeface="+mn-ea"/>
              <a:cs typeface="+mn-cs"/>
            </a:endParaRPr>
          </a:p>
          <a:p>
            <a:endParaRPr kumimoji="1" lang="en-US" altLang="zh-TW" dirty="0"/>
          </a:p>
          <a:p>
            <a:r>
              <a:rPr lang="zh-TW" altLang="en-US" b="1" dirty="0"/>
              <a:t>切斷外部 </a:t>
            </a:r>
            <a:r>
              <a:rPr lang="en-US" altLang="zh-TW" b="1" dirty="0"/>
              <a:t>USB </a:t>
            </a:r>
            <a:r>
              <a:rPr lang="zh-TW" altLang="en-US" b="1" dirty="0"/>
              <a:t>充電影響</a:t>
            </a:r>
            <a:endParaRPr lang="zh-TW" altLang="en-US" dirty="0"/>
          </a:p>
          <a:p>
            <a:r>
              <a:rPr lang="zh-TW" altLang="en-US" b="1" dirty="0"/>
              <a:t>關掉 </a:t>
            </a:r>
            <a:r>
              <a:rPr lang="en-US" altLang="zh-TW" b="1" dirty="0"/>
              <a:t>charger </a:t>
            </a:r>
            <a:r>
              <a:rPr lang="zh-TW" altLang="en-US" b="1" dirty="0"/>
              <a:t>正常充電模式</a:t>
            </a:r>
            <a:endParaRPr lang="zh-TW" altLang="en-US" dirty="0"/>
          </a:p>
          <a:p>
            <a:r>
              <a:rPr lang="zh-TW" altLang="en-US" b="1" dirty="0"/>
              <a:t>改用 </a:t>
            </a:r>
            <a:r>
              <a:rPr lang="en-US" altLang="zh-TW" b="1" dirty="0"/>
              <a:t>Case </a:t>
            </a:r>
            <a:r>
              <a:rPr lang="zh-TW" altLang="en-US" b="1" dirty="0"/>
              <a:t>內部電池升壓（</a:t>
            </a:r>
            <a:r>
              <a:rPr lang="en-US" altLang="zh-TW" b="1" dirty="0"/>
              <a:t>boost</a:t>
            </a:r>
            <a:r>
              <a:rPr lang="zh-TW" altLang="en-US" b="1" dirty="0"/>
              <a:t>）產生 </a:t>
            </a:r>
            <a:r>
              <a:rPr lang="en-US" altLang="zh-TW" b="1" dirty="0"/>
              <a:t>5V</a:t>
            </a:r>
            <a:endParaRPr lang="en-US" altLang="zh-TW" dirty="0"/>
          </a:p>
          <a:p>
            <a:r>
              <a:rPr lang="zh-TW" altLang="en-US" b="1" dirty="0"/>
              <a:t>驗證 </a:t>
            </a:r>
            <a:r>
              <a:rPr lang="en-US" altLang="zh-TW" b="1" dirty="0"/>
              <a:t>Case </a:t>
            </a:r>
            <a:r>
              <a:rPr lang="zh-TW" altLang="en-US" b="1" dirty="0"/>
              <a:t>在「沒插線」時，是否能正確輸出 </a:t>
            </a:r>
            <a:r>
              <a:rPr lang="en-US" altLang="zh-TW" b="1" dirty="0"/>
              <a:t>5V</a:t>
            </a:r>
            <a:r>
              <a:rPr lang="zh-TW" altLang="en-US" b="1" dirty="0"/>
              <a:t>（給 </a:t>
            </a:r>
            <a:r>
              <a:rPr lang="en-US" altLang="zh-TW" b="1" dirty="0"/>
              <a:t>Bud / POS / Test pin</a:t>
            </a:r>
            <a:r>
              <a:rPr lang="zh-TW" altLang="en-US" b="1" dirty="0"/>
              <a:t>）</a:t>
            </a:r>
            <a:endParaRPr lang="en-US" altLang="zh-TW" dirty="0"/>
          </a:p>
          <a:p>
            <a:r>
              <a:rPr lang="zh-TW" altLang="en-US" sz="1200" b="1" i="0" u="none" strike="noStrike" kern="1200" dirty="0">
                <a:solidFill>
                  <a:schemeClr val="tx1"/>
                </a:solidFill>
                <a:effectLst/>
                <a:latin typeface="+mn-lt"/>
                <a:ea typeface="+mn-ea"/>
                <a:cs typeface="+mn-cs"/>
              </a:rPr>
              <a:t>電子負載精準模擬耳機充電電流，驗證 </a:t>
            </a:r>
            <a:r>
              <a:rPr lang="en-US" altLang="zh-TW" sz="1200" b="1" i="0" u="none" strike="noStrike" kern="1200" dirty="0">
                <a:solidFill>
                  <a:schemeClr val="tx1"/>
                </a:solidFill>
                <a:effectLst/>
                <a:latin typeface="+mn-lt"/>
                <a:ea typeface="+mn-ea"/>
                <a:cs typeface="+mn-cs"/>
              </a:rPr>
              <a:t>Case </a:t>
            </a:r>
            <a:r>
              <a:rPr lang="zh-TW" altLang="en-US" sz="1200" b="1" i="0" u="none" strike="noStrike" kern="1200" dirty="0">
                <a:solidFill>
                  <a:schemeClr val="tx1"/>
                </a:solidFill>
                <a:effectLst/>
                <a:latin typeface="+mn-lt"/>
                <a:ea typeface="+mn-ea"/>
                <a:cs typeface="+mn-cs"/>
              </a:rPr>
              <a:t>在負載變化下</a:t>
            </a:r>
            <a:r>
              <a:rPr lang="en-US" altLang="zh-TW" sz="1200" b="1" i="0" u="none" strike="noStrike" kern="1200" dirty="0">
                <a:solidFill>
                  <a:schemeClr val="tx1"/>
                </a:solidFill>
                <a:effectLst/>
                <a:latin typeface="+mn-lt"/>
                <a:ea typeface="+mn-ea"/>
                <a:cs typeface="+mn-cs"/>
              </a:rPr>
              <a:t>5V</a:t>
            </a:r>
            <a:r>
              <a:rPr lang="zh-TW" altLang="en-US" sz="1200" b="1" i="0" u="none" strike="noStrike" kern="1200" dirty="0">
                <a:solidFill>
                  <a:schemeClr val="tx1"/>
                </a:solidFill>
                <a:effectLst/>
                <a:latin typeface="+mn-lt"/>
                <a:ea typeface="+mn-ea"/>
                <a:cs typeface="+mn-cs"/>
              </a:rPr>
              <a:t>輸出是否可靠</a:t>
            </a:r>
            <a:endParaRPr kumimoji="1" lang="zh-TW" altLang="en-US" dirty="0"/>
          </a:p>
        </p:txBody>
      </p:sp>
    </p:spTree>
    <p:extLst>
      <p:ext uri="{BB962C8B-B14F-4D97-AF65-F5344CB8AC3E}">
        <p14:creationId xmlns:p14="http://schemas.microsoft.com/office/powerpoint/2010/main" val="105887856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CB162F-2A83-E1A3-6FD2-265A1B488879}"/>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5DAE56EC-3DC3-B91E-C300-54A6D04DEFE8}"/>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973C685E-8012-F158-D923-7AAEBBBF7440}"/>
              </a:ext>
            </a:extLst>
          </p:cNvPr>
          <p:cNvSpPr>
            <a:spLocks noGrp="1"/>
          </p:cNvSpPr>
          <p:nvPr>
            <p:ph type="body" idx="1"/>
          </p:nvPr>
        </p:nvSpPr>
        <p:spPr/>
        <p:txBody>
          <a:bodyPr/>
          <a:lstStyle/>
          <a:p>
            <a:endParaRPr kumimoji="1" lang="zh-TW" alt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i="0" u="none" strike="noStrike" kern="1200" dirty="0" err="1">
                <a:solidFill>
                  <a:schemeClr val="tx1"/>
                </a:solidFill>
                <a:effectLst/>
                <a:latin typeface="+mn-lt"/>
                <a:ea typeface="+mn-ea"/>
                <a:cs typeface="+mn-cs"/>
              </a:rPr>
              <a:t>ConnectivityTest_</a:t>
            </a:r>
            <a:r>
              <a:rPr lang="en-US" altLang="zh-TW" sz="1200" b="0" kern="1200" dirty="0" err="1">
                <a:solidFill>
                  <a:schemeClr val="tx1"/>
                </a:solidFill>
                <a:effectLst/>
                <a:latin typeface="+mn-lt"/>
                <a:ea typeface="+mn-ea"/>
                <a:cs typeface="+mn-cs"/>
              </a:rPr>
              <a:t>PARROT</a:t>
            </a:r>
            <a:r>
              <a:rPr lang="zh-TW" altLang="en-US" sz="1200" b="0" i="0" u="none" strike="noStrike" kern="1200" dirty="0">
                <a:solidFill>
                  <a:schemeClr val="tx1"/>
                </a:solidFill>
                <a:effectLst/>
                <a:latin typeface="+mn-lt"/>
                <a:ea typeface="+mn-ea"/>
                <a:cs typeface="+mn-cs"/>
              </a:rPr>
              <a:t>：驗證 </a:t>
            </a:r>
            <a:r>
              <a:rPr lang="en-US" altLang="zh-TW" sz="1200" b="0" i="0" u="none" strike="noStrike" kern="1200" dirty="0">
                <a:solidFill>
                  <a:schemeClr val="tx1"/>
                </a:solidFill>
                <a:effectLst/>
                <a:latin typeface="+mn-lt"/>
                <a:ea typeface="+mn-ea"/>
                <a:cs typeface="+mn-cs"/>
              </a:rPr>
              <a:t>DUT </a:t>
            </a:r>
            <a:r>
              <a:rPr lang="zh-TW" altLang="en-US" sz="1200" b="0" i="0" u="none" strike="noStrike" kern="1200" dirty="0">
                <a:solidFill>
                  <a:schemeClr val="tx1"/>
                </a:solidFill>
                <a:effectLst/>
                <a:latin typeface="+mn-lt"/>
                <a:ea typeface="+mn-ea"/>
                <a:cs typeface="+mn-cs"/>
              </a:rPr>
              <a:t>是否能正確連線到 </a:t>
            </a:r>
            <a:r>
              <a:rPr lang="en-US" altLang="zh-TW" sz="1200" b="0" i="0" u="none" strike="noStrike" kern="1200" dirty="0">
                <a:solidFill>
                  <a:schemeClr val="tx1"/>
                </a:solidFill>
                <a:effectLst/>
                <a:latin typeface="+mn-lt"/>
                <a:ea typeface="+mn-ea"/>
                <a:cs typeface="+mn-cs"/>
              </a:rPr>
              <a:t>PARROT </a:t>
            </a:r>
            <a:r>
              <a:rPr lang="zh-TW" altLang="en-US" sz="1200" b="0" i="0" u="none" strike="noStrike" kern="1200" dirty="0">
                <a:solidFill>
                  <a:schemeClr val="tx1"/>
                </a:solidFill>
                <a:effectLst/>
                <a:latin typeface="+mn-lt"/>
                <a:ea typeface="+mn-ea"/>
                <a:cs typeface="+mn-cs"/>
              </a:rPr>
              <a:t>裝置</a:t>
            </a:r>
            <a:endParaRPr kumimoji="1" lang="zh-TW" altLang="en-US" dirty="0"/>
          </a:p>
          <a:p>
            <a:endParaRPr kumimoji="1" lang="zh-TW" altLang="en-US" dirty="0"/>
          </a:p>
        </p:txBody>
      </p:sp>
    </p:spTree>
    <p:extLst>
      <p:ext uri="{BB962C8B-B14F-4D97-AF65-F5344CB8AC3E}">
        <p14:creationId xmlns:p14="http://schemas.microsoft.com/office/powerpoint/2010/main" val="200683559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1DB108-C6AF-91FC-3765-2019EB984229}"/>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B4600714-D7DB-D8E7-1625-CD896F028DF7}"/>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D521C275-07CB-4F01-6D72-79434D50501E}"/>
              </a:ext>
            </a:extLst>
          </p:cNvPr>
          <p:cNvSpPr>
            <a:spLocks noGrp="1"/>
          </p:cNvSpPr>
          <p:nvPr>
            <p:ph type="body" idx="1"/>
          </p:nvPr>
        </p:nvSpPr>
        <p:spPr/>
        <p:txBody>
          <a:bodyPr/>
          <a:lstStyle/>
          <a:p>
            <a:endParaRPr kumimoji="1" lang="zh-TW" altLang="en-US" dirty="0"/>
          </a:p>
          <a:p>
            <a:endParaRPr kumimoji="1" lang="zh-TW" altLang="en-US" dirty="0"/>
          </a:p>
        </p:txBody>
      </p:sp>
    </p:spTree>
    <p:extLst>
      <p:ext uri="{BB962C8B-B14F-4D97-AF65-F5344CB8AC3E}">
        <p14:creationId xmlns:p14="http://schemas.microsoft.com/office/powerpoint/2010/main" val="168469065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74D652-B5BE-359B-6E92-26F57ED81726}"/>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A95BB1FE-F029-B117-4C06-D710F901BB86}"/>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CCFC61A1-CC2D-C128-D649-5B0A58869CFE}"/>
              </a:ext>
            </a:extLst>
          </p:cNvPr>
          <p:cNvSpPr>
            <a:spLocks noGrp="1"/>
          </p:cNvSpPr>
          <p:nvPr>
            <p:ph type="body" idx="1"/>
          </p:nvPr>
        </p:nvSpPr>
        <p:spPr/>
        <p:txBody>
          <a:bodyPr/>
          <a:lstStyle/>
          <a:p>
            <a:endParaRPr kumimoji="1" lang="zh-TW" altLang="en-US" dirty="0"/>
          </a:p>
          <a:p>
            <a:pPr marL="0" marR="0" lvl="0" indent="0" algn="l" defTabSz="914400" rtl="0" eaLnBrk="1" fontAlgn="auto" latinLnBrk="0" hangingPunct="1">
              <a:lnSpc>
                <a:spcPct val="150000"/>
              </a:lnSpc>
              <a:spcBef>
                <a:spcPts val="0"/>
              </a:spcBef>
              <a:spcAft>
                <a:spcPts val="0"/>
              </a:spcAft>
              <a:buClrTx/>
              <a:buSzTx/>
              <a:buFontTx/>
              <a:buNone/>
              <a:tabLst/>
              <a:defRPr/>
            </a:pPr>
            <a:r>
              <a:rPr lang="en-US" altLang="zh-TW" sz="1200" b="0" i="0" u="none" strike="noStrike" kern="1200" dirty="0" err="1">
                <a:solidFill>
                  <a:schemeClr val="tx1"/>
                </a:solidFill>
                <a:effectLst/>
                <a:latin typeface="+mn-lt"/>
                <a:ea typeface="+mn-ea"/>
                <a:cs typeface="+mn-cs"/>
              </a:rPr>
              <a:t>ConnectivityTest_BuddyLink</a:t>
            </a:r>
            <a:r>
              <a:rPr lang="en-US" altLang="zh-TW" sz="1200" b="0" i="0" u="none" strike="noStrike" kern="1200" dirty="0">
                <a:solidFill>
                  <a:schemeClr val="tx1"/>
                </a:solidFill>
                <a:effectLst/>
                <a:latin typeface="+mn-lt"/>
                <a:ea typeface="+mn-ea"/>
                <a:cs typeface="+mn-cs"/>
              </a:rPr>
              <a:t>(Right/Left)</a:t>
            </a:r>
            <a:r>
              <a:rPr lang="zh-TW" altLang="en-US" sz="1200" b="0" i="0" u="none" strike="noStrike" kern="1200" dirty="0">
                <a:solidFill>
                  <a:schemeClr val="tx1"/>
                </a:solidFill>
                <a:effectLst/>
                <a:latin typeface="+mn-lt"/>
                <a:ea typeface="+mn-ea"/>
                <a:cs typeface="+mn-cs"/>
              </a:rPr>
              <a:t>：確認左右真耳與充電盒的通訊狀態（</a:t>
            </a:r>
            <a:r>
              <a:rPr lang="en-US" altLang="zh-TW" sz="1200" kern="1200" dirty="0">
                <a:solidFill>
                  <a:schemeClr val="tx1"/>
                </a:solidFill>
                <a:effectLst/>
                <a:latin typeface="+mn-lt"/>
                <a:ea typeface="+mn-ea"/>
                <a:cs typeface="+mn-cs"/>
              </a:rPr>
              <a:t>bud detect L/R</a:t>
            </a:r>
            <a:r>
              <a:rPr lang="zh-TW" altLang="en-US" sz="1200" kern="1200" dirty="0">
                <a:solidFill>
                  <a:schemeClr val="tx1"/>
                </a:solidFill>
                <a:effectLst/>
                <a:latin typeface="+mn-lt"/>
                <a:ea typeface="+mn-ea"/>
                <a:cs typeface="+mn-cs"/>
              </a:rPr>
              <a:t>）</a:t>
            </a:r>
            <a:r>
              <a:rPr lang="zh-TW" altLang="en-US" sz="1200" b="0" i="0" u="none" strike="noStrike" kern="1200" dirty="0">
                <a:solidFill>
                  <a:schemeClr val="tx1"/>
                </a:solidFill>
                <a:effectLst/>
                <a:latin typeface="+mn-lt"/>
                <a:ea typeface="+mn-ea"/>
                <a:cs typeface="+mn-cs"/>
              </a:rPr>
              <a:t>、發送指令讀取 </a:t>
            </a:r>
            <a:r>
              <a:rPr lang="en-US" altLang="zh-TW" sz="1200" b="0" i="0" u="none" strike="noStrike" kern="1200" dirty="0">
                <a:solidFill>
                  <a:schemeClr val="tx1"/>
                </a:solidFill>
                <a:effectLst/>
                <a:latin typeface="+mn-lt"/>
                <a:ea typeface="+mn-ea"/>
                <a:cs typeface="+mn-cs"/>
              </a:rPr>
              <a:t>TX </a:t>
            </a:r>
            <a:r>
              <a:rPr lang="zh-TW" altLang="en-US" sz="1200" b="0" i="0" u="none" strike="noStrike" kern="1200" dirty="0">
                <a:solidFill>
                  <a:schemeClr val="tx1"/>
                </a:solidFill>
                <a:effectLst/>
                <a:latin typeface="+mn-lt"/>
                <a:ea typeface="+mn-ea"/>
                <a:cs typeface="+mn-cs"/>
              </a:rPr>
              <a:t>與 </a:t>
            </a:r>
            <a:r>
              <a:rPr lang="en-US" altLang="zh-TW" sz="1200" b="0" i="0" u="none" strike="noStrike" kern="1200" dirty="0">
                <a:solidFill>
                  <a:schemeClr val="tx1"/>
                </a:solidFill>
                <a:effectLst/>
                <a:latin typeface="+mn-lt"/>
                <a:ea typeface="+mn-ea"/>
                <a:cs typeface="+mn-cs"/>
              </a:rPr>
              <a:t>RX </a:t>
            </a:r>
            <a:r>
              <a:rPr lang="zh-TW" altLang="en-US" sz="1200" b="0" i="0" u="none" strike="noStrike" kern="1200" dirty="0">
                <a:solidFill>
                  <a:schemeClr val="tx1"/>
                </a:solidFill>
                <a:effectLst/>
                <a:latin typeface="+mn-lt"/>
                <a:ea typeface="+mn-ea"/>
                <a:cs typeface="+mn-cs"/>
              </a:rPr>
              <a:t>確認通訊功能（</a:t>
            </a:r>
            <a:r>
              <a:rPr lang="en-US" altLang="zh-TW" sz="1200" kern="1200" dirty="0">
                <a:solidFill>
                  <a:schemeClr val="tx1"/>
                </a:solidFill>
                <a:effectLst/>
                <a:latin typeface="+mn-lt"/>
                <a:ea typeface="+mn-ea"/>
                <a:cs typeface="+mn-cs"/>
              </a:rPr>
              <a:t>bud link test</a:t>
            </a:r>
            <a:r>
              <a:rPr lang="zh-TW" altLang="en-US" sz="1200" kern="1200" dirty="0">
                <a:solidFill>
                  <a:schemeClr val="tx1"/>
                </a:solidFill>
                <a:effectLst/>
                <a:latin typeface="+mn-lt"/>
                <a:ea typeface="+mn-ea"/>
                <a:cs typeface="+mn-cs"/>
              </a:rPr>
              <a:t> </a:t>
            </a:r>
            <a:r>
              <a:rPr lang="en-US" altLang="zh-TW" sz="1200" kern="1200" dirty="0">
                <a:solidFill>
                  <a:schemeClr val="tx1"/>
                </a:solidFill>
                <a:effectLst/>
                <a:latin typeface="+mn-lt"/>
                <a:ea typeface="+mn-ea"/>
                <a:cs typeface="+mn-cs"/>
              </a:rPr>
              <a:t>L/R</a:t>
            </a:r>
            <a:r>
              <a:rPr lang="zh-TW" altLang="en-US" sz="1200" kern="1200" dirty="0">
                <a:solidFill>
                  <a:schemeClr val="tx1"/>
                </a:solidFill>
                <a:effectLst/>
                <a:latin typeface="+mn-lt"/>
                <a:ea typeface="+mn-ea"/>
                <a:cs typeface="+mn-cs"/>
              </a:rPr>
              <a:t>）</a:t>
            </a:r>
            <a:endParaRPr lang="zh-TW" altLang="zh-TW" sz="1200" b="0" i="0" u="none" strike="noStrike"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b="0" kern="1200" dirty="0">
              <a:solidFill>
                <a:schemeClr val="dk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kern="1200" dirty="0" err="1">
                <a:solidFill>
                  <a:schemeClr val="dk1"/>
                </a:solidFill>
                <a:effectLst/>
                <a:latin typeface="+mn-lt"/>
                <a:ea typeface="+mn-ea"/>
                <a:cs typeface="+mn-cs"/>
              </a:rPr>
              <a:t>dbg</a:t>
            </a:r>
            <a:r>
              <a:rPr lang="en-US" altLang="zh-TW" sz="1200" b="0" kern="1200" dirty="0">
                <a:solidFill>
                  <a:schemeClr val="dk1"/>
                </a:solidFill>
                <a:effectLst/>
                <a:latin typeface="+mn-lt"/>
                <a:ea typeface="+mn-ea"/>
                <a:cs typeface="+mn-cs"/>
              </a:rPr>
              <a:t> set all none</a:t>
            </a:r>
            <a:r>
              <a:rPr lang="zh-TW" altLang="en-US" sz="1200" b="0" kern="1200" dirty="0">
                <a:solidFill>
                  <a:schemeClr val="dk1"/>
                </a:solidFill>
                <a:effectLst/>
                <a:latin typeface="+mn-lt"/>
                <a:ea typeface="+mn-ea"/>
                <a:cs typeface="+mn-cs"/>
              </a:rPr>
              <a:t>：</a:t>
            </a:r>
            <a:r>
              <a:rPr lang="zh-TW" altLang="en-US" sz="1200" b="0" i="0" u="none" strike="noStrike" kern="1200" dirty="0">
                <a:solidFill>
                  <a:schemeClr val="tx1"/>
                </a:solidFill>
                <a:effectLst/>
                <a:latin typeface="+mn-lt"/>
                <a:ea typeface="+mn-ea"/>
                <a:cs typeface="+mn-cs"/>
              </a:rPr>
              <a:t>關閉所有 </a:t>
            </a:r>
            <a:r>
              <a:rPr lang="en-US" altLang="zh-TW" sz="1200" b="0" i="0" u="none" strike="noStrike" kern="1200" dirty="0">
                <a:solidFill>
                  <a:schemeClr val="tx1"/>
                </a:solidFill>
                <a:effectLst/>
                <a:latin typeface="+mn-lt"/>
                <a:ea typeface="+mn-ea"/>
                <a:cs typeface="+mn-cs"/>
              </a:rPr>
              <a:t>Debug log</a:t>
            </a:r>
            <a:r>
              <a:rPr lang="zh-TW" altLang="en-US" sz="1200" b="0" i="0" u="none" strike="noStrike" kern="1200" dirty="0">
                <a:solidFill>
                  <a:schemeClr val="tx1"/>
                </a:solidFill>
                <a:effectLst/>
                <a:latin typeface="+mn-lt"/>
                <a:ea typeface="+mn-ea"/>
                <a:cs typeface="+mn-cs"/>
              </a:rPr>
              <a:t> ，避免 </a:t>
            </a:r>
            <a:r>
              <a:rPr lang="en-US" altLang="zh-TW" sz="1200" b="0" i="0" u="none" strike="noStrike" kern="1200" dirty="0">
                <a:solidFill>
                  <a:schemeClr val="tx1"/>
                </a:solidFill>
                <a:effectLst/>
                <a:latin typeface="+mn-lt"/>
                <a:ea typeface="+mn-ea"/>
                <a:cs typeface="+mn-cs"/>
              </a:rPr>
              <a:t>log </a:t>
            </a:r>
            <a:r>
              <a:rPr lang="zh-TW" altLang="en-US" sz="1200" b="0" i="0" u="none" strike="noStrike" kern="1200" dirty="0">
                <a:solidFill>
                  <a:schemeClr val="tx1"/>
                </a:solidFill>
                <a:effectLst/>
                <a:latin typeface="+mn-lt"/>
                <a:ea typeface="+mn-ea"/>
                <a:cs typeface="+mn-cs"/>
              </a:rPr>
              <a:t>影響測試穩定性</a:t>
            </a:r>
            <a:endParaRPr lang="en-US" altLang="zh-TW" sz="1200" b="0" i="0" u="none" strike="noStrike"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bud </a:t>
            </a:r>
            <a:r>
              <a:rPr lang="en-US" altLang="zh-TW" dirty="0" err="1"/>
              <a:t>mgr</a:t>
            </a:r>
            <a:r>
              <a:rPr lang="en-US" altLang="zh-TW" dirty="0"/>
              <a:t> disable</a:t>
            </a:r>
            <a:r>
              <a:rPr lang="zh-TW" altLang="en-US" dirty="0"/>
              <a:t>：</a:t>
            </a:r>
            <a:r>
              <a:rPr lang="zh-TW" altLang="en-US" sz="1200" b="0" i="0" u="none" strike="noStrike" kern="1200" dirty="0">
                <a:solidFill>
                  <a:schemeClr val="tx1"/>
                </a:solidFill>
                <a:effectLst/>
                <a:latin typeface="+mn-lt"/>
                <a:ea typeface="+mn-ea"/>
                <a:cs typeface="+mn-cs"/>
              </a:rPr>
              <a:t>暫停該側 </a:t>
            </a:r>
            <a:r>
              <a:rPr lang="en-US" altLang="zh-TW" sz="1200" b="0" i="0" u="none" strike="noStrike" kern="1200" dirty="0">
                <a:solidFill>
                  <a:schemeClr val="tx1"/>
                </a:solidFill>
                <a:effectLst/>
                <a:latin typeface="+mn-lt"/>
                <a:ea typeface="+mn-ea"/>
                <a:cs typeface="+mn-cs"/>
              </a:rPr>
              <a:t>Bud </a:t>
            </a:r>
            <a:r>
              <a:rPr lang="zh-TW" altLang="en-US" sz="1200" b="0" i="0" u="none" strike="noStrike" kern="1200" dirty="0">
                <a:solidFill>
                  <a:schemeClr val="tx1"/>
                </a:solidFill>
                <a:effectLst/>
                <a:latin typeface="+mn-lt"/>
                <a:ea typeface="+mn-ea"/>
                <a:cs typeface="+mn-cs"/>
              </a:rPr>
              <a:t>的管理</a:t>
            </a:r>
            <a:endParaRPr lang="en-US" altLang="zh-TW" sz="1200" b="0" i="0" u="none" strike="noStrike"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bud detect</a:t>
            </a:r>
            <a:r>
              <a:rPr lang="zh-TW" altLang="en-US" dirty="0"/>
              <a:t>：</a:t>
            </a:r>
            <a:r>
              <a:rPr lang="zh-TW" altLang="en-US" sz="1200" b="0" i="0" u="none" strike="noStrike" kern="1200" dirty="0">
                <a:solidFill>
                  <a:schemeClr val="tx1"/>
                </a:solidFill>
                <a:effectLst/>
                <a:latin typeface="+mn-lt"/>
                <a:ea typeface="+mn-ea"/>
                <a:cs typeface="+mn-cs"/>
              </a:rPr>
              <a:t>主動偵測</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bud </a:t>
            </a:r>
            <a:r>
              <a:rPr lang="en-US" altLang="zh-TW" dirty="0" err="1"/>
              <a:t>mgr</a:t>
            </a:r>
            <a:r>
              <a:rPr lang="en-US" altLang="zh-TW" dirty="0"/>
              <a:t> enable</a:t>
            </a:r>
            <a:r>
              <a:rPr lang="zh-TW" altLang="en-US" dirty="0"/>
              <a:t>：</a:t>
            </a:r>
            <a:r>
              <a:rPr lang="zh-TW" altLang="en-US" sz="1200" b="0" i="0" u="none" strike="noStrike" kern="1200" dirty="0">
                <a:solidFill>
                  <a:schemeClr val="tx1"/>
                </a:solidFill>
                <a:effectLst/>
                <a:latin typeface="+mn-lt"/>
                <a:ea typeface="+mn-ea"/>
                <a:cs typeface="+mn-cs"/>
              </a:rPr>
              <a:t>恢復該側 </a:t>
            </a:r>
            <a:r>
              <a:rPr lang="en-US" altLang="zh-TW" sz="1200" b="0" i="0" u="none" strike="noStrike" kern="1200" dirty="0">
                <a:solidFill>
                  <a:schemeClr val="tx1"/>
                </a:solidFill>
                <a:effectLst/>
                <a:latin typeface="+mn-lt"/>
                <a:ea typeface="+mn-ea"/>
                <a:cs typeface="+mn-cs"/>
              </a:rPr>
              <a:t>Bud </a:t>
            </a:r>
            <a:r>
              <a:rPr lang="zh-TW" altLang="en-US" sz="1200" b="0" i="0" u="none" strike="noStrike" kern="1200" dirty="0">
                <a:solidFill>
                  <a:schemeClr val="tx1"/>
                </a:solidFill>
                <a:effectLst/>
                <a:latin typeface="+mn-lt"/>
                <a:ea typeface="+mn-ea"/>
                <a:cs typeface="+mn-cs"/>
              </a:rPr>
              <a:t>的完整管理，開始通訊</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bud link test </a:t>
            </a:r>
            <a:r>
              <a:rPr lang="zh-TW" altLang="en-US" dirty="0"/>
              <a:t>：</a:t>
            </a:r>
            <a:r>
              <a:rPr lang="zh-TW" altLang="en-US" sz="1200" b="0" i="0" u="none" strike="noStrike" kern="1200" dirty="0">
                <a:solidFill>
                  <a:schemeClr val="tx1"/>
                </a:solidFill>
                <a:effectLst/>
                <a:latin typeface="+mn-lt"/>
                <a:ea typeface="+mn-ea"/>
                <a:cs typeface="+mn-cs"/>
              </a:rPr>
              <a:t>執行 </a:t>
            </a:r>
            <a:r>
              <a:rPr lang="zh-TW" altLang="en-US" sz="1200" b="1" i="0" u="none" strike="noStrike" kern="1200" dirty="0">
                <a:solidFill>
                  <a:schemeClr val="tx1"/>
                </a:solidFill>
                <a:effectLst/>
                <a:latin typeface="+mn-lt"/>
                <a:ea typeface="+mn-ea"/>
                <a:cs typeface="+mn-cs"/>
              </a:rPr>
              <a:t>通訊測試，</a:t>
            </a:r>
            <a:r>
              <a:rPr lang="zh-TW" altLang="en-US" sz="1200" b="0" i="0" u="none" strike="noStrike" kern="1200" dirty="0">
                <a:solidFill>
                  <a:schemeClr val="tx1"/>
                </a:solidFill>
                <a:effectLst/>
                <a:latin typeface="+mn-lt"/>
                <a:ea typeface="+mn-ea"/>
                <a:cs typeface="+mn-cs"/>
              </a:rPr>
              <a:t>驗證能回應、資料通</a:t>
            </a:r>
            <a:endParaRPr kumimoji="1" lang="zh-TW" altLang="en-US" dirty="0"/>
          </a:p>
        </p:txBody>
      </p:sp>
    </p:spTree>
    <p:extLst>
      <p:ext uri="{BB962C8B-B14F-4D97-AF65-F5344CB8AC3E}">
        <p14:creationId xmlns:p14="http://schemas.microsoft.com/office/powerpoint/2010/main" val="381177683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EDECE0-AC98-CB9B-5ECD-7E9B52C2C4B6}"/>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76FBF337-CCFC-0BE6-413E-6795A0841379}"/>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0CE910D4-4068-2D45-CD9B-FD649FACF359}"/>
              </a:ext>
            </a:extLst>
          </p:cNvPr>
          <p:cNvSpPr>
            <a:spLocks noGrp="1"/>
          </p:cNvSpPr>
          <p:nvPr>
            <p:ph type="body" idx="1"/>
          </p:nvPr>
        </p:nvSpPr>
        <p:spPr/>
        <p:txBody>
          <a:bodyPr/>
          <a:lstStyle/>
          <a:p>
            <a:endParaRPr kumimoji="1" lang="zh-TW" alt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kern="1200" dirty="0" err="1">
                <a:solidFill>
                  <a:schemeClr val="tx1"/>
                </a:solidFill>
                <a:effectLst/>
                <a:latin typeface="+mn-lt"/>
                <a:ea typeface="+mn-ea"/>
                <a:cs typeface="+mn-cs"/>
              </a:rPr>
              <a:t>Release_DUT</a:t>
            </a:r>
            <a:r>
              <a:rPr lang="zh-TW" altLang="en-US" sz="1200" b="0" i="0" u="none" strike="noStrike" kern="1200" dirty="0">
                <a:solidFill>
                  <a:schemeClr val="tx1"/>
                </a:solidFill>
                <a:effectLst/>
                <a:latin typeface="+mn-lt"/>
                <a:ea typeface="+mn-ea"/>
                <a:cs typeface="+mn-cs"/>
              </a:rPr>
              <a:t>：升起假耳模組釋放</a:t>
            </a:r>
            <a:r>
              <a:rPr lang="en-US" altLang="zh-TW" sz="1200" b="0" i="0" u="none" strike="noStrike" kern="1200" dirty="0">
                <a:solidFill>
                  <a:schemeClr val="tx1"/>
                </a:solidFill>
                <a:effectLst/>
                <a:latin typeface="+mn-lt"/>
                <a:ea typeface="+mn-ea"/>
                <a:cs typeface="+mn-cs"/>
              </a:rPr>
              <a:t>DUT</a:t>
            </a:r>
            <a:r>
              <a:rPr lang="zh-TW" altLang="en-US" sz="1200" b="0" i="0" u="none" strike="noStrike" kern="1200" dirty="0">
                <a:solidFill>
                  <a:schemeClr val="tx1"/>
                </a:solidFill>
                <a:effectLst/>
                <a:latin typeface="+mn-lt"/>
                <a:ea typeface="+mn-ea"/>
                <a:cs typeface="+mn-cs"/>
              </a:rPr>
              <a:t>裝置</a:t>
            </a:r>
            <a:endParaRPr lang="zh-TW" altLang="zh-TW" sz="1200" b="0" i="0" u="none" strike="noStrike" kern="1200" dirty="0">
              <a:solidFill>
                <a:schemeClr val="tx1"/>
              </a:solidFill>
              <a:effectLst/>
              <a:latin typeface="+mn-lt"/>
              <a:ea typeface="+mn-ea"/>
              <a:cs typeface="+mn-cs"/>
            </a:endParaRPr>
          </a:p>
          <a:p>
            <a:endParaRPr kumimoji="1" lang="zh-TW" altLang="en-US" dirty="0"/>
          </a:p>
        </p:txBody>
      </p:sp>
    </p:spTree>
    <p:extLst>
      <p:ext uri="{BB962C8B-B14F-4D97-AF65-F5344CB8AC3E}">
        <p14:creationId xmlns:p14="http://schemas.microsoft.com/office/powerpoint/2010/main" val="262119731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5167AF-BD71-623F-AB21-47FF0C0BB7BC}"/>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944B7B2E-32AF-7BD2-270B-F94B0568DB53}"/>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1BD509D8-398B-485E-E3B3-08054FB32FFE}"/>
              </a:ext>
            </a:extLst>
          </p:cNvPr>
          <p:cNvSpPr>
            <a:spLocks noGrp="1"/>
          </p:cNvSpPr>
          <p:nvPr>
            <p:ph type="body" idx="1"/>
          </p:nvPr>
        </p:nvSpPr>
        <p:spPr/>
        <p:txBody>
          <a:bodyPr/>
          <a:lstStyle/>
          <a:p>
            <a:endParaRPr kumimoji="1" lang="zh-TW" alt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i="0" u="none" strike="noStrike" kern="1200" dirty="0" err="1">
                <a:solidFill>
                  <a:schemeClr val="tx1"/>
                </a:solidFill>
                <a:effectLst/>
                <a:latin typeface="+mn-lt"/>
                <a:ea typeface="+mn-ea"/>
                <a:cs typeface="+mn-cs"/>
              </a:rPr>
              <a:t>LidStatusCheck</a:t>
            </a:r>
            <a:r>
              <a:rPr lang="zh-TW" altLang="en-US" sz="1200" b="0" i="0" u="none" strike="noStrike" kern="1200" dirty="0">
                <a:solidFill>
                  <a:schemeClr val="tx1"/>
                </a:solidFill>
                <a:effectLst/>
                <a:latin typeface="+mn-lt"/>
                <a:ea typeface="+mn-ea"/>
                <a:cs typeface="+mn-cs"/>
              </a:rPr>
              <a:t>：透過</a:t>
            </a:r>
            <a:r>
              <a:rPr lang="en-US" altLang="zh-TW" sz="1200" b="0" i="0" u="none" strike="noStrike" kern="1200" dirty="0">
                <a:solidFill>
                  <a:schemeClr val="tx1"/>
                </a:solidFill>
                <a:effectLst/>
                <a:latin typeface="+mn-lt"/>
                <a:ea typeface="+mn-ea"/>
                <a:cs typeface="+mn-cs"/>
              </a:rPr>
              <a:t>dev lid get </a:t>
            </a:r>
            <a:r>
              <a:rPr lang="zh-TW" altLang="en-US" sz="1200" b="0" i="0" u="none" strike="noStrike" kern="1200" dirty="0">
                <a:solidFill>
                  <a:schemeClr val="tx1"/>
                </a:solidFill>
                <a:effectLst/>
                <a:latin typeface="+mn-lt"/>
                <a:ea typeface="+mn-ea"/>
                <a:cs typeface="+mn-cs"/>
              </a:rPr>
              <a:t>讀取確認充電盒的開關蓋狀況</a:t>
            </a:r>
            <a:r>
              <a:rPr lang="en-US" altLang="zh-TW" sz="1200" b="0" i="0" u="none" strike="noStrike" kern="1200" dirty="0">
                <a:solidFill>
                  <a:schemeClr val="tx1"/>
                </a:solidFill>
                <a:effectLst/>
                <a:latin typeface="+mn-lt"/>
                <a:ea typeface="+mn-ea"/>
                <a:cs typeface="+mn-cs"/>
              </a:rPr>
              <a:t> (Open/Close)</a:t>
            </a:r>
            <a:endParaRPr lang="zh-TW" altLang="zh-TW" sz="1200" b="0" i="0" u="none" strike="noStrike" kern="1200" dirty="0">
              <a:solidFill>
                <a:schemeClr val="tx1"/>
              </a:solidFill>
              <a:effectLst/>
              <a:latin typeface="+mn-lt"/>
              <a:ea typeface="+mn-ea"/>
              <a:cs typeface="+mn-cs"/>
            </a:endParaRPr>
          </a:p>
          <a:p>
            <a:endParaRPr kumimoji="1" lang="zh-TW" altLang="en-US" dirty="0"/>
          </a:p>
        </p:txBody>
      </p:sp>
    </p:spTree>
    <p:extLst>
      <p:ext uri="{BB962C8B-B14F-4D97-AF65-F5344CB8AC3E}">
        <p14:creationId xmlns:p14="http://schemas.microsoft.com/office/powerpoint/2010/main" val="413012095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54AF2C-EBBD-C6A6-2550-39BA3BB66A8D}"/>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42316C15-2C06-7F38-0CD9-9087C000540E}"/>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25FD6578-2CAB-A3B3-B94E-0720D49B1782}"/>
              </a:ext>
            </a:extLst>
          </p:cNvPr>
          <p:cNvSpPr>
            <a:spLocks noGrp="1"/>
          </p:cNvSpPr>
          <p:nvPr>
            <p:ph type="body" idx="1"/>
          </p:nvPr>
        </p:nvSpPr>
        <p:spPr/>
        <p:txBody>
          <a:bodyPr/>
          <a:lstStyle/>
          <a:p>
            <a:endParaRPr kumimoji="1" lang="zh-TW" altLang="en-US" dirty="0"/>
          </a:p>
          <a:p>
            <a:pPr marL="0" marR="0" lvl="0" indent="0" algn="l" defTabSz="914400" rtl="0" eaLnBrk="1" fontAlgn="auto" latinLnBrk="0" hangingPunct="1">
              <a:lnSpc>
                <a:spcPct val="150000"/>
              </a:lnSpc>
              <a:spcBef>
                <a:spcPts val="0"/>
              </a:spcBef>
              <a:spcAft>
                <a:spcPts val="0"/>
              </a:spcAft>
              <a:buClrTx/>
              <a:buSzTx/>
              <a:buFontTx/>
              <a:buNone/>
              <a:tabLst/>
              <a:defRPr/>
            </a:pPr>
            <a:r>
              <a:rPr lang="en-US" altLang="zh-TW" sz="1200" b="0" kern="1200" dirty="0" err="1">
                <a:solidFill>
                  <a:schemeClr val="tx1"/>
                </a:solidFill>
                <a:effectLst/>
                <a:latin typeface="+mn-lt"/>
                <a:ea typeface="+mn-ea"/>
                <a:cs typeface="+mn-cs"/>
              </a:rPr>
              <a:t>SystemReset</a:t>
            </a:r>
            <a:r>
              <a:rPr lang="zh-TW" altLang="en-US" sz="1200" b="0" kern="1200" dirty="0">
                <a:solidFill>
                  <a:schemeClr val="tx1"/>
                </a:solidFill>
                <a:effectLst/>
                <a:latin typeface="+mn-lt"/>
                <a:ea typeface="+mn-ea"/>
                <a:cs typeface="+mn-cs"/>
              </a:rPr>
              <a:t>：測試結束 重置ＤＵＴ</a:t>
            </a:r>
            <a:endParaRPr lang="en-US" altLang="zh-TW" sz="1200" b="0" kern="1200" dirty="0">
              <a:solidFill>
                <a:schemeClr val="tx1"/>
              </a:solidFill>
              <a:effectLst/>
              <a:latin typeface="+mn-lt"/>
              <a:ea typeface="+mn-ea"/>
              <a:cs typeface="+mn-cs"/>
            </a:endParaRPr>
          </a:p>
          <a:p>
            <a:pPr rtl="0" eaLnBrk="1" fontAlgn="auto" latinLnBrk="0" hangingPunct="1">
              <a:lnSpc>
                <a:spcPct val="150000"/>
              </a:lnSpc>
            </a:pPr>
            <a:endParaRPr lang="en-US" altLang="zh-TW" sz="1200" b="0" i="0" u="none" strike="noStrike" kern="1200" dirty="0">
              <a:solidFill>
                <a:schemeClr val="tx1"/>
              </a:solidFill>
              <a:effectLst/>
              <a:latin typeface="+mn-lt"/>
              <a:ea typeface="+mn-ea"/>
              <a:cs typeface="+mn-cs"/>
            </a:endParaRPr>
          </a:p>
          <a:p>
            <a:endParaRPr kumimoji="1" lang="zh-TW" altLang="en-US" dirty="0"/>
          </a:p>
        </p:txBody>
      </p:sp>
    </p:spTree>
    <p:extLst>
      <p:ext uri="{BB962C8B-B14F-4D97-AF65-F5344CB8AC3E}">
        <p14:creationId xmlns:p14="http://schemas.microsoft.com/office/powerpoint/2010/main" val="156977970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FBBCEA-06B6-49E4-8321-48D86D342755}"/>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F675F213-DDB5-F980-C03C-C131266D7DA0}"/>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8B4AC7E5-4CAF-2ECC-3EFD-5CE87659091E}"/>
              </a:ext>
            </a:extLst>
          </p:cNvPr>
          <p:cNvSpPr>
            <a:spLocks noGrp="1"/>
          </p:cNvSpPr>
          <p:nvPr>
            <p:ph type="body" idx="1"/>
          </p:nvPr>
        </p:nvSpPr>
        <p:spPr/>
        <p:txBody>
          <a:bodyPr/>
          <a:lstStyle/>
          <a:p>
            <a:endParaRPr kumimoji="1" lang="zh-TW" altLang="en-US" dirty="0"/>
          </a:p>
          <a:p>
            <a:pPr rtl="0" eaLnBrk="1" fontAlgn="auto" latinLnBrk="0" hangingPunct="1">
              <a:lnSpc>
                <a:spcPct val="150000"/>
              </a:lnSpc>
            </a:pPr>
            <a:endParaRPr lang="zh-TW" altLang="zh-TW" sz="1200" b="0" i="0" u="none" strike="noStrike" kern="1200" dirty="0">
              <a:solidFill>
                <a:schemeClr val="tx1"/>
              </a:solidFill>
              <a:effectLst/>
              <a:latin typeface="+mn-lt"/>
              <a:ea typeface="+mn-ea"/>
              <a:cs typeface="+mn-cs"/>
            </a:endParaRPr>
          </a:p>
          <a:p>
            <a:pPr rtl="0" eaLnBrk="1" fontAlgn="auto" latinLnBrk="0" hangingPunct="1"/>
            <a:r>
              <a:rPr lang="en-US" altLang="zh-TW" sz="1200" b="0" i="0" u="none" strike="noStrike" kern="1200" dirty="0" err="1">
                <a:solidFill>
                  <a:schemeClr val="tx1"/>
                </a:solidFill>
                <a:effectLst/>
                <a:latin typeface="+mn-lt"/>
                <a:ea typeface="+mn-ea"/>
                <a:cs typeface="+mn-cs"/>
              </a:rPr>
              <a:t>FixtureReset</a:t>
            </a:r>
            <a:r>
              <a:rPr lang="zh-TW" altLang="en-US" sz="1200" b="0" i="0" u="none" strike="noStrike" kern="1200" dirty="0">
                <a:solidFill>
                  <a:schemeClr val="tx1"/>
                </a:solidFill>
                <a:effectLst/>
                <a:latin typeface="+mn-lt"/>
                <a:ea typeface="+mn-ea"/>
                <a:cs typeface="+mn-cs"/>
              </a:rPr>
              <a:t>：復位治具確保回到初始位置</a:t>
            </a:r>
            <a:endParaRPr lang="zh-TW" altLang="zh-TW" sz="1200" b="0" i="0" u="none" strike="noStrike" kern="1200" dirty="0">
              <a:solidFill>
                <a:schemeClr val="tx1"/>
              </a:solidFill>
              <a:effectLst/>
              <a:latin typeface="+mn-lt"/>
              <a:ea typeface="+mn-ea"/>
              <a:cs typeface="+mn-cs"/>
            </a:endParaRPr>
          </a:p>
          <a:p>
            <a:pPr rtl="0" eaLnBrk="1" fontAlgn="auto" latinLnBrk="0" hangingPunct="1"/>
            <a:r>
              <a:rPr lang="en-US" altLang="zh-TW" sz="1200" b="0" i="0" u="none" strike="noStrike" kern="1200" dirty="0" err="1">
                <a:solidFill>
                  <a:schemeClr val="tx1"/>
                </a:solidFill>
                <a:effectLst/>
                <a:latin typeface="+mn-lt"/>
                <a:ea typeface="+mn-ea"/>
                <a:cs typeface="+mn-cs"/>
              </a:rPr>
              <a:t>cleanSN</a:t>
            </a:r>
            <a:r>
              <a:rPr lang="zh-TW" altLang="en-US" sz="1200" b="0" i="0" u="none" strike="noStrike" kern="1200" dirty="0">
                <a:solidFill>
                  <a:schemeClr val="tx1"/>
                </a:solidFill>
                <a:effectLst/>
                <a:latin typeface="+mn-lt"/>
                <a:ea typeface="+mn-ea"/>
                <a:cs typeface="+mn-cs"/>
              </a:rPr>
              <a:t>：清除 </a:t>
            </a:r>
            <a:r>
              <a:rPr lang="en-US" altLang="zh-TW" sz="1200" b="0" i="0" u="none" strike="noStrike" kern="1200" dirty="0">
                <a:solidFill>
                  <a:schemeClr val="tx1"/>
                </a:solidFill>
                <a:effectLst/>
                <a:latin typeface="+mn-lt"/>
                <a:ea typeface="+mn-ea"/>
                <a:cs typeface="+mn-cs"/>
              </a:rPr>
              <a:t>DUT SN</a:t>
            </a:r>
            <a:r>
              <a:rPr lang="zh-TW" altLang="en-US" sz="1200" b="0" i="0" u="none" strike="noStrike" kern="1200" dirty="0">
                <a:solidFill>
                  <a:schemeClr val="tx1"/>
                </a:solidFill>
                <a:effectLst/>
                <a:latin typeface="+mn-lt"/>
                <a:ea typeface="+mn-ea"/>
                <a:cs typeface="+mn-cs"/>
              </a:rPr>
              <a:t>，以便重新寫入或重新測試</a:t>
            </a:r>
            <a:endParaRPr lang="zh-TW" altLang="zh-TW" sz="1200" b="0" i="0" u="none" strike="noStrike" kern="1200" dirty="0">
              <a:solidFill>
                <a:schemeClr val="tx1"/>
              </a:solidFill>
              <a:effectLst/>
              <a:latin typeface="+mn-lt"/>
              <a:ea typeface="+mn-ea"/>
              <a:cs typeface="+mn-cs"/>
            </a:endParaRPr>
          </a:p>
          <a:p>
            <a:endParaRPr kumimoji="1" lang="zh-TW" altLang="en-US" dirty="0"/>
          </a:p>
        </p:txBody>
      </p:sp>
    </p:spTree>
    <p:extLst>
      <p:ext uri="{BB962C8B-B14F-4D97-AF65-F5344CB8AC3E}">
        <p14:creationId xmlns:p14="http://schemas.microsoft.com/office/powerpoint/2010/main" val="216592251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AB9C2E-5EBE-B3D9-7AED-6CF41C386712}"/>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C61D5731-C656-333D-EEFC-2517AFD6270E}"/>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4AE37D2B-8CC0-C290-07ED-A5F860C46BBD}"/>
              </a:ext>
            </a:extLst>
          </p:cNvPr>
          <p:cNvSpPr>
            <a:spLocks noGrp="1"/>
          </p:cNvSpPr>
          <p:nvPr>
            <p:ph type="body" idx="1"/>
          </p:nvPr>
        </p:nvSpPr>
        <p:spPr/>
        <p:txBody>
          <a:bodyPr/>
          <a:lstStyle/>
          <a:p>
            <a:endParaRPr kumimoji="1" lang="zh-TW" altLang="en-US" dirty="0"/>
          </a:p>
          <a:p>
            <a:endParaRPr kumimoji="1" lang="zh-TW" altLang="en-US" dirty="0"/>
          </a:p>
        </p:txBody>
      </p:sp>
    </p:spTree>
    <p:extLst>
      <p:ext uri="{BB962C8B-B14F-4D97-AF65-F5344CB8AC3E}">
        <p14:creationId xmlns:p14="http://schemas.microsoft.com/office/powerpoint/2010/main" val="232849855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08F97F-4BFE-B38E-2298-C05B4EA3A7D0}"/>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8D77A1C3-F26B-96FE-25C8-C8CB85D6182B}"/>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CA4E17C0-E2D1-107F-3AE2-D546E288FD45}"/>
              </a:ext>
            </a:extLst>
          </p:cNvPr>
          <p:cNvSpPr>
            <a:spLocks noGrp="1"/>
          </p:cNvSpPr>
          <p:nvPr>
            <p:ph type="body" idx="1"/>
          </p:nvPr>
        </p:nvSpPr>
        <p:spPr/>
        <p:txBody>
          <a:bodyPr/>
          <a:lstStyle/>
          <a:p>
            <a:endParaRPr kumimoji="1" lang="zh-TW" altLang="en-US" dirty="0"/>
          </a:p>
          <a:p>
            <a:endParaRPr kumimoji="1" lang="zh-TW" altLang="en-US" dirty="0"/>
          </a:p>
        </p:txBody>
      </p:sp>
    </p:spTree>
    <p:extLst>
      <p:ext uri="{BB962C8B-B14F-4D97-AF65-F5344CB8AC3E}">
        <p14:creationId xmlns:p14="http://schemas.microsoft.com/office/powerpoint/2010/main" val="224079635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82E131-AA3A-3870-2111-61F7828987A9}"/>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D7E4A32D-127C-C888-AE56-EF0318C6263C}"/>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3E15C519-BD9C-04C3-9EB0-210E0536C2B7}"/>
              </a:ext>
            </a:extLst>
          </p:cNvPr>
          <p:cNvSpPr>
            <a:spLocks noGrp="1"/>
          </p:cNvSpPr>
          <p:nvPr>
            <p:ph type="body" idx="1"/>
          </p:nvPr>
        </p:nvSpPr>
        <p:spPr/>
        <p:txBody>
          <a:bodyPr/>
          <a:lstStyle/>
          <a:p>
            <a:endParaRPr kumimoji="1" lang="zh-TW" altLang="en-US" dirty="0"/>
          </a:p>
          <a:p>
            <a:endParaRPr kumimoji="1" lang="zh-TW" altLang="en-US" dirty="0"/>
          </a:p>
        </p:txBody>
      </p:sp>
    </p:spTree>
    <p:extLst>
      <p:ext uri="{BB962C8B-B14F-4D97-AF65-F5344CB8AC3E}">
        <p14:creationId xmlns:p14="http://schemas.microsoft.com/office/powerpoint/2010/main" val="30714870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D1254-1BF4-6242-61F2-1FA5F4168057}"/>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F549A6EC-5CF3-782D-6E6B-5250A227DC48}"/>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2BB7B3CA-29B6-B2E1-4C0F-D827BE5F29E6}"/>
              </a:ext>
            </a:extLst>
          </p:cNvPr>
          <p:cNvSpPr>
            <a:spLocks noGrp="1"/>
          </p:cNvSpPr>
          <p:nvPr>
            <p:ph type="body" idx="1"/>
          </p:nvPr>
        </p:nvSpPr>
        <p:spPr/>
        <p:txBody>
          <a:bodyPr/>
          <a:lstStyle/>
          <a:p>
            <a:endParaRPr kumimoji="1" lang="zh-TW" altLang="en-US" dirty="0"/>
          </a:p>
          <a:p>
            <a:endParaRPr kumimoji="1" lang="zh-TW" altLang="en-US" dirty="0"/>
          </a:p>
        </p:txBody>
      </p:sp>
    </p:spTree>
    <p:extLst>
      <p:ext uri="{BB962C8B-B14F-4D97-AF65-F5344CB8AC3E}">
        <p14:creationId xmlns:p14="http://schemas.microsoft.com/office/powerpoint/2010/main" val="357498385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E5491C-286F-CE15-E01C-A12D2AF6537C}"/>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3B04D4C8-2DCA-1F4B-141D-4C95C7D56161}"/>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281D9CAC-5F3B-3EF4-51F7-FEDBE9CD1ED1}"/>
              </a:ext>
            </a:extLst>
          </p:cNvPr>
          <p:cNvSpPr>
            <a:spLocks noGrp="1"/>
          </p:cNvSpPr>
          <p:nvPr>
            <p:ph type="body" idx="1"/>
          </p:nvPr>
        </p:nvSpPr>
        <p:spPr/>
        <p:txBody>
          <a:bodyPr/>
          <a:lstStyle/>
          <a:p>
            <a:endParaRPr kumimoji="1" lang="zh-TW" altLang="en-US" dirty="0"/>
          </a:p>
          <a:p>
            <a:endParaRPr kumimoji="1" lang="zh-TW" altLang="en-US" dirty="0"/>
          </a:p>
        </p:txBody>
      </p:sp>
    </p:spTree>
    <p:extLst>
      <p:ext uri="{BB962C8B-B14F-4D97-AF65-F5344CB8AC3E}">
        <p14:creationId xmlns:p14="http://schemas.microsoft.com/office/powerpoint/2010/main" val="283412369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ECC165-5915-EBA4-D290-FF3B09C1925E}"/>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0BE3574E-22A8-0CB9-F050-980568C02128}"/>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FA7DD06E-8E75-F538-F22E-56C19B962DC5}"/>
              </a:ext>
            </a:extLst>
          </p:cNvPr>
          <p:cNvSpPr>
            <a:spLocks noGrp="1"/>
          </p:cNvSpPr>
          <p:nvPr>
            <p:ph type="body" idx="1"/>
          </p:nvPr>
        </p:nvSpPr>
        <p:spPr/>
        <p:txBody>
          <a:bodyPr/>
          <a:lstStyle/>
          <a:p>
            <a:endParaRPr kumimoji="1" lang="zh-TW" altLang="en-US" dirty="0"/>
          </a:p>
          <a:p>
            <a:endParaRPr kumimoji="1" lang="zh-TW" altLang="en-US" dirty="0"/>
          </a:p>
        </p:txBody>
      </p:sp>
    </p:spTree>
    <p:extLst>
      <p:ext uri="{BB962C8B-B14F-4D97-AF65-F5344CB8AC3E}">
        <p14:creationId xmlns:p14="http://schemas.microsoft.com/office/powerpoint/2010/main" val="32287167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BB2BE-8C87-B563-C048-C7268BEA25FB}"/>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62A7DDEA-C6FA-4845-EB75-1CE9E2ED2EDA}"/>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B9D0C5E1-C228-3DB1-0552-45DF9EC04F2C}"/>
              </a:ext>
            </a:extLst>
          </p:cNvPr>
          <p:cNvSpPr>
            <a:spLocks noGrp="1"/>
          </p:cNvSpPr>
          <p:nvPr>
            <p:ph type="body" idx="1"/>
          </p:nvPr>
        </p:nvSpPr>
        <p:spPr/>
        <p:txBody>
          <a:bodyPr/>
          <a:lstStyle/>
          <a:p>
            <a:endParaRPr kumimoji="1" lang="zh-TW" altLang="en-US" dirty="0"/>
          </a:p>
          <a:p>
            <a:endParaRPr kumimoji="1" lang="zh-TW" altLang="en-US" dirty="0"/>
          </a:p>
        </p:txBody>
      </p:sp>
    </p:spTree>
    <p:extLst>
      <p:ext uri="{BB962C8B-B14F-4D97-AF65-F5344CB8AC3E}">
        <p14:creationId xmlns:p14="http://schemas.microsoft.com/office/powerpoint/2010/main" val="180831719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TW"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TW" b="0" dirty="0"/>
              <a:t>此測試站為無線充電站</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TW" altLang="en-US" b="0" dirty="0"/>
              <a:t>本站點用於測試產品在 </a:t>
            </a:r>
            <a:r>
              <a:rPr lang="en-US" b="0" dirty="0" err="1"/>
              <a:t>Bootmode</a:t>
            </a:r>
            <a:r>
              <a:rPr lang="en-US" b="0" dirty="0"/>
              <a:t> 2 </a:t>
            </a:r>
            <a:r>
              <a:rPr lang="zh-TW" altLang="en-US" b="0" dirty="0"/>
              <a:t>情境下的 無限功率轉換</a:t>
            </a:r>
            <a:r>
              <a:rPr lang="en-US" altLang="zh-TW" b="0" dirty="0"/>
              <a:t>(WPT)</a:t>
            </a:r>
            <a:r>
              <a:rPr lang="zh-TW" altLang="en-US" b="0" dirty="0"/>
              <a:t>的無線充電功能。</a:t>
            </a:r>
            <a:endParaRPr lang="en-US" altLang="zh-TW" b="0"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zh-TW" altLang="en-US" dirty="0"/>
              <a:t>測試將於多組充電電流條件下進行，包含 </a:t>
            </a:r>
            <a:r>
              <a:rPr lang="en-US" altLang="zh-TW" dirty="0"/>
              <a:t>40</a:t>
            </a:r>
            <a:r>
              <a:rPr lang="en-US" dirty="0"/>
              <a:t>mA、120mA、240mA、360mA、440mA </a:t>
            </a:r>
            <a:r>
              <a:rPr lang="zh-TW" altLang="en-US" dirty="0"/>
              <a:t>與 </a:t>
            </a:r>
            <a:r>
              <a:rPr lang="en-US" altLang="zh-TW" dirty="0"/>
              <a:t>480</a:t>
            </a:r>
            <a:r>
              <a:rPr lang="en-US" dirty="0"/>
              <a:t>mA，</a:t>
            </a:r>
            <a:r>
              <a:rPr lang="zh-TW" altLang="en-US" dirty="0"/>
              <a:t>以確認 </a:t>
            </a:r>
            <a:r>
              <a:rPr lang="en-US" dirty="0"/>
              <a:t>DUT </a:t>
            </a:r>
            <a:r>
              <a:rPr lang="zh-TW" altLang="en-US" dirty="0"/>
              <a:t>在各電流段的測試參數與表現是否符合預期</a:t>
            </a:r>
            <a:endParaRPr lang="en-US" altLang="zh-TW" dirty="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zh-TW" altLang="en-US" dirty="0"/>
              <a:t>接著我們為此測試站所帶來的效益是：</a:t>
            </a:r>
            <a:endParaRPr lang="en-US" altLang="zh-TW" dirty="0"/>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zh-TW" altLang="en-US" dirty="0"/>
              <a:t>無線充電治具擴充至</a:t>
            </a:r>
            <a:r>
              <a:rPr lang="en-US" altLang="zh-TW" dirty="0"/>
              <a:t>3</a:t>
            </a:r>
            <a:r>
              <a:rPr lang="zh-TW" altLang="en-US" dirty="0"/>
              <a:t>穴</a:t>
            </a:r>
            <a:endParaRPr lang="en-US" altLang="zh-TW" dirty="0"/>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zh-TW" altLang="en-US" dirty="0"/>
              <a:t>透過平行化處理的方式，將測試時間減少約</a:t>
            </a:r>
            <a:r>
              <a:rPr lang="en-US" altLang="zh-TW" dirty="0"/>
              <a:t>21%</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b="0" i="0" u="none" strike="noStrike" kern="1200" dirty="0">
                <a:solidFill>
                  <a:schemeClr val="tx1"/>
                </a:solidFill>
                <a:effectLst/>
                <a:latin typeface="+mn-lt"/>
                <a:ea typeface="+mn-ea"/>
                <a:cs typeface="+mn-cs"/>
              </a:rPr>
              <a:t>WASP（</a:t>
            </a:r>
            <a:r>
              <a:rPr lang="zh-TW" altLang="en-US" sz="1200" b="0" i="0" u="none" strike="noStrike" kern="1200" dirty="0">
                <a:solidFill>
                  <a:schemeClr val="tx1"/>
                </a:solidFill>
                <a:effectLst/>
                <a:latin typeface="+mn-lt"/>
                <a:ea typeface="+mn-ea"/>
                <a:cs typeface="+mn-cs"/>
              </a:rPr>
              <a:t>線圈）與 </a:t>
            </a:r>
            <a:r>
              <a:rPr lang="en-US" sz="1200" b="0" i="0" u="none" strike="noStrike" kern="1200" dirty="0">
                <a:solidFill>
                  <a:schemeClr val="tx1"/>
                </a:solidFill>
                <a:effectLst/>
                <a:latin typeface="+mn-lt"/>
                <a:ea typeface="+mn-ea"/>
                <a:cs typeface="+mn-cs"/>
              </a:rPr>
              <a:t>Ginger </a:t>
            </a:r>
            <a:r>
              <a:rPr lang="zh-TW" altLang="en-US" sz="1200" b="0" i="0" u="none" strike="noStrike" kern="1200" dirty="0">
                <a:solidFill>
                  <a:schemeClr val="tx1"/>
                </a:solidFill>
                <a:effectLst/>
                <a:latin typeface="+mn-lt"/>
                <a:ea typeface="+mn-ea"/>
                <a:cs typeface="+mn-cs"/>
              </a:rPr>
              <a:t>板組合，作為 </a:t>
            </a:r>
            <a:r>
              <a:rPr lang="en-US" sz="1200" b="0" i="0" u="none" strike="noStrike" kern="1200" dirty="0">
                <a:solidFill>
                  <a:schemeClr val="tx1"/>
                </a:solidFill>
                <a:effectLst/>
                <a:latin typeface="+mn-lt"/>
                <a:ea typeface="+mn-ea"/>
                <a:cs typeface="+mn-cs"/>
              </a:rPr>
              <a:t>TX </a:t>
            </a:r>
            <a:r>
              <a:rPr lang="zh-TW" altLang="en-US" sz="1200" b="0" i="0" u="none" strike="noStrike" kern="1200" dirty="0">
                <a:solidFill>
                  <a:schemeClr val="tx1"/>
                </a:solidFill>
                <a:effectLst/>
                <a:latin typeface="+mn-lt"/>
                <a:ea typeface="+mn-ea"/>
                <a:cs typeface="+mn-cs"/>
              </a:rPr>
              <a:t>模擬器使用</a:t>
            </a:r>
            <a:endParaRPr lang="en-US" altLang="zh-TW" sz="1200" b="0" i="0" u="none" strike="noStrike"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zh-TW" altLang="en-US" sz="1200" b="1" i="0" u="none" strike="noStrike" kern="1200" dirty="0">
                <a:solidFill>
                  <a:schemeClr val="tx1"/>
                </a:solidFill>
                <a:effectLst/>
                <a:latin typeface="+mn-lt"/>
                <a:ea typeface="+mn-ea"/>
                <a:cs typeface="+mn-cs"/>
              </a:rPr>
              <a:t>一、測試原理概述（</a:t>
            </a:r>
            <a:r>
              <a:rPr lang="en-US" sz="1200" b="1" i="0" u="none" strike="noStrike" kern="1200" dirty="0">
                <a:solidFill>
                  <a:schemeClr val="tx1"/>
                </a:solidFill>
                <a:effectLst/>
                <a:latin typeface="+mn-lt"/>
                <a:ea typeface="+mn-ea"/>
                <a:cs typeface="+mn-cs"/>
              </a:rPr>
              <a:t>Testing Principle）</a:t>
            </a: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zh-TW" altLang="en-US" dirty="0"/>
              <a:t>本測試採用 </a:t>
            </a:r>
            <a:r>
              <a:rPr lang="en-US" b="1" dirty="0" err="1"/>
              <a:t>WASP（coil</a:t>
            </a:r>
            <a:r>
              <a:rPr lang="en-US" b="1" dirty="0"/>
              <a:t>）</a:t>
            </a:r>
            <a:r>
              <a:rPr lang="zh-TW" altLang="en-US" b="1" dirty="0"/>
              <a:t>搭配 </a:t>
            </a:r>
            <a:r>
              <a:rPr lang="en-US" b="1" dirty="0"/>
              <a:t>Ginger board</a:t>
            </a:r>
            <a:r>
              <a:rPr lang="en-US" dirty="0"/>
              <a:t> </a:t>
            </a:r>
            <a:r>
              <a:rPr lang="zh-TW" altLang="en-US" dirty="0"/>
              <a:t>組成之 </a:t>
            </a:r>
            <a:r>
              <a:rPr lang="en-US" b="1" dirty="0"/>
              <a:t>TX </a:t>
            </a:r>
            <a:r>
              <a:rPr lang="zh-TW" altLang="en-US" b="1" dirty="0"/>
              <a:t>模擬器</a:t>
            </a:r>
            <a:r>
              <a:rPr lang="zh-TW" altLang="en-US" dirty="0"/>
              <a:t>。</a:t>
            </a:r>
          </a:p>
          <a:p>
            <a:pPr marL="171450" indent="-171450">
              <a:buFont typeface="Arial" panose="020B0604020202020204" pitchFamily="34" charset="0"/>
              <a:buChar char="•"/>
            </a:pPr>
            <a:r>
              <a:rPr lang="zh-TW" altLang="en-US" dirty="0"/>
              <a:t>測試時由 </a:t>
            </a:r>
            <a:r>
              <a:rPr lang="en-US" dirty="0"/>
              <a:t>Ginger board </a:t>
            </a:r>
            <a:r>
              <a:rPr lang="zh-TW" altLang="en-US" dirty="0"/>
              <a:t>啟動 </a:t>
            </a:r>
            <a:r>
              <a:rPr lang="en-US" b="1" dirty="0"/>
              <a:t>TX mode</a:t>
            </a:r>
            <a:r>
              <a:rPr lang="en-US" dirty="0"/>
              <a:t>，</a:t>
            </a:r>
            <a:r>
              <a:rPr lang="zh-TW" altLang="en-US" dirty="0"/>
              <a:t>並設定固定的 </a:t>
            </a:r>
            <a:r>
              <a:rPr lang="en-US" dirty="0"/>
              <a:t>TX </a:t>
            </a:r>
            <a:r>
              <a:rPr lang="zh-TW" altLang="en-US" dirty="0"/>
              <a:t>頻率。</a:t>
            </a:r>
          </a:p>
          <a:p>
            <a:pPr marL="171450" indent="-171450">
              <a:buFont typeface="Arial" panose="020B0604020202020204" pitchFamily="34" charset="0"/>
              <a:buChar char="•"/>
            </a:pPr>
            <a:r>
              <a:rPr lang="en-US" dirty="0"/>
              <a:t>DUT </a:t>
            </a:r>
            <a:r>
              <a:rPr lang="zh-TW" altLang="en-US" dirty="0"/>
              <a:t>進入無線充電模式後，依序設定不同充電電流條件（</a:t>
            </a:r>
            <a:r>
              <a:rPr lang="en-US" altLang="zh-TW" dirty="0"/>
              <a:t>40 </a:t>
            </a:r>
            <a:r>
              <a:rPr lang="en-US" dirty="0"/>
              <a:t>mA～480 mA），</a:t>
            </a:r>
            <a:r>
              <a:rPr lang="zh-TW" altLang="en-US" dirty="0"/>
              <a:t>並讀取 </a:t>
            </a:r>
            <a:r>
              <a:rPr lang="en-US" dirty="0"/>
              <a:t>DUT </a:t>
            </a:r>
            <a:r>
              <a:rPr lang="zh-TW" altLang="en-US" dirty="0"/>
              <a:t>之無線充電相關測試參數，以評估其表現。</a:t>
            </a:r>
            <a:endParaRPr lang="en-US" altLang="zh-TW" dirty="0"/>
          </a:p>
          <a:p>
            <a:r>
              <a:rPr lang="zh-TW" altLang="en-US" sz="1200" b="1" i="0" u="none" strike="noStrike" kern="1200" dirty="0">
                <a:solidFill>
                  <a:schemeClr val="tx1"/>
                </a:solidFill>
                <a:effectLst/>
                <a:latin typeface="+mn-lt"/>
                <a:ea typeface="+mn-ea"/>
                <a:cs typeface="+mn-cs"/>
              </a:rPr>
              <a:t>二、操作流程（</a:t>
            </a:r>
            <a:r>
              <a:rPr lang="en-US" sz="1200" b="1" i="0" u="none" strike="noStrike" kern="1200" dirty="0">
                <a:solidFill>
                  <a:schemeClr val="tx1"/>
                </a:solidFill>
                <a:effectLst/>
                <a:latin typeface="+mn-lt"/>
                <a:ea typeface="+mn-ea"/>
                <a:cs typeface="+mn-cs"/>
              </a:rPr>
              <a:t>Operation Steps）</a:t>
            </a:r>
          </a:p>
          <a:p>
            <a:pPr marL="228600" indent="-228600">
              <a:buFont typeface="+mj-lt"/>
              <a:buAutoNum type="arabicPeriod"/>
            </a:pPr>
            <a:r>
              <a:rPr lang="zh-TW" altLang="en-US" sz="1200" b="0" i="0" u="none" strike="noStrike" kern="1200" dirty="0">
                <a:solidFill>
                  <a:schemeClr val="tx1"/>
                </a:solidFill>
                <a:effectLst/>
                <a:latin typeface="+mn-lt"/>
                <a:ea typeface="+mn-ea"/>
                <a:cs typeface="+mn-cs"/>
              </a:rPr>
              <a:t>操作者（</a:t>
            </a:r>
            <a:r>
              <a:rPr lang="en-US" sz="1200" b="0" i="0" u="none" strike="noStrike" kern="1200" dirty="0">
                <a:solidFill>
                  <a:schemeClr val="tx1"/>
                </a:solidFill>
                <a:effectLst/>
                <a:latin typeface="+mn-lt"/>
                <a:ea typeface="+mn-ea"/>
                <a:cs typeface="+mn-cs"/>
              </a:rPr>
              <a:t>OP）</a:t>
            </a:r>
            <a:r>
              <a:rPr lang="zh-TW" altLang="en-US" sz="1200" b="0" i="0" u="none" strike="noStrike" kern="1200" dirty="0">
                <a:solidFill>
                  <a:schemeClr val="tx1"/>
                </a:solidFill>
                <a:effectLst/>
                <a:latin typeface="+mn-lt"/>
                <a:ea typeface="+mn-ea"/>
                <a:cs typeface="+mn-cs"/>
              </a:rPr>
              <a:t>先將 </a:t>
            </a:r>
            <a:r>
              <a:rPr lang="en-US" sz="1200" b="0" i="0" u="none" strike="noStrike" kern="1200" dirty="0">
                <a:solidFill>
                  <a:schemeClr val="tx1"/>
                </a:solidFill>
                <a:effectLst/>
                <a:latin typeface="+mn-lt"/>
                <a:ea typeface="+mn-ea"/>
                <a:cs typeface="+mn-cs"/>
              </a:rPr>
              <a:t>DUT </a:t>
            </a:r>
            <a:r>
              <a:rPr lang="zh-TW" altLang="en-US" sz="1200" b="0" i="0" u="none" strike="noStrike" kern="1200" dirty="0">
                <a:solidFill>
                  <a:schemeClr val="tx1"/>
                </a:solidFill>
                <a:effectLst/>
                <a:latin typeface="+mn-lt"/>
                <a:ea typeface="+mn-ea"/>
                <a:cs typeface="+mn-cs"/>
              </a:rPr>
              <a:t>以 </a:t>
            </a:r>
            <a:r>
              <a:rPr lang="en-US" sz="1200" b="1" i="0" u="none" strike="noStrike" kern="1200" dirty="0">
                <a:solidFill>
                  <a:schemeClr val="tx1"/>
                </a:solidFill>
                <a:effectLst/>
                <a:latin typeface="+mn-lt"/>
                <a:ea typeface="+mn-ea"/>
                <a:cs typeface="+mn-cs"/>
              </a:rPr>
              <a:t>Type-C</a:t>
            </a:r>
            <a:r>
              <a:rPr lang="en-US" sz="1200" b="0" i="0" u="none" strike="noStrike" kern="1200" dirty="0">
                <a:solidFill>
                  <a:schemeClr val="tx1"/>
                </a:solidFill>
                <a:effectLst/>
                <a:latin typeface="+mn-lt"/>
                <a:ea typeface="+mn-ea"/>
                <a:cs typeface="+mn-cs"/>
              </a:rPr>
              <a:t> </a:t>
            </a:r>
            <a:r>
              <a:rPr lang="zh-TW" altLang="en-US" sz="1200" b="0" i="0" u="none" strike="noStrike" kern="1200" dirty="0">
                <a:solidFill>
                  <a:schemeClr val="tx1"/>
                </a:solidFill>
                <a:effectLst/>
                <a:latin typeface="+mn-lt"/>
                <a:ea typeface="+mn-ea"/>
                <a:cs typeface="+mn-cs"/>
              </a:rPr>
              <a:t>進行插入</a:t>
            </a:r>
            <a:endParaRPr lang="en-US" altLang="zh-TW" sz="1200" b="0" i="0" u="none" strike="noStrike" kern="1200" dirty="0">
              <a:solidFill>
                <a:schemeClr val="tx1"/>
              </a:solidFill>
              <a:effectLst/>
              <a:latin typeface="+mn-lt"/>
              <a:ea typeface="+mn-ea"/>
              <a:cs typeface="+mn-cs"/>
            </a:endParaRPr>
          </a:p>
          <a:p>
            <a:pPr marL="228600" indent="-228600">
              <a:buFont typeface="+mj-lt"/>
              <a:buAutoNum type="arabicPeriod"/>
            </a:pPr>
            <a:r>
              <a:rPr lang="zh-TW" altLang="en-US" sz="1200" b="0" i="0" u="none" strike="noStrike" kern="1200" dirty="0">
                <a:solidFill>
                  <a:schemeClr val="tx1"/>
                </a:solidFill>
                <a:effectLst/>
                <a:latin typeface="+mn-lt"/>
                <a:ea typeface="+mn-ea"/>
                <a:cs typeface="+mn-cs"/>
              </a:rPr>
              <a:t>接著將 </a:t>
            </a:r>
            <a:r>
              <a:rPr lang="en-US" sz="1200" b="0" i="0" u="none" strike="noStrike" kern="1200" dirty="0">
                <a:solidFill>
                  <a:schemeClr val="tx1"/>
                </a:solidFill>
                <a:effectLst/>
                <a:latin typeface="+mn-lt"/>
                <a:ea typeface="+mn-ea"/>
                <a:cs typeface="+mn-cs"/>
              </a:rPr>
              <a:t>DUT </a:t>
            </a:r>
            <a:r>
              <a:rPr lang="zh-TW" altLang="en-US" sz="1200" b="0" i="0" u="none" strike="noStrike" kern="1200" dirty="0">
                <a:solidFill>
                  <a:schemeClr val="tx1"/>
                </a:solidFill>
                <a:effectLst/>
                <a:latin typeface="+mn-lt"/>
                <a:ea typeface="+mn-ea"/>
                <a:cs typeface="+mn-cs"/>
              </a:rPr>
              <a:t>放置於治具（</a:t>
            </a:r>
            <a:r>
              <a:rPr lang="en-US" sz="1200" b="0" i="0" u="none" strike="noStrike" kern="1200" dirty="0">
                <a:solidFill>
                  <a:schemeClr val="tx1"/>
                </a:solidFill>
                <a:effectLst/>
                <a:latin typeface="+mn-lt"/>
                <a:ea typeface="+mn-ea"/>
                <a:cs typeface="+mn-cs"/>
              </a:rPr>
              <a:t>holder）</a:t>
            </a:r>
            <a:r>
              <a:rPr lang="zh-TW" altLang="en-US" sz="1200" b="0" i="0" u="none" strike="noStrike" kern="1200" dirty="0">
                <a:solidFill>
                  <a:schemeClr val="tx1"/>
                </a:solidFill>
                <a:effectLst/>
                <a:latin typeface="+mn-lt"/>
                <a:ea typeface="+mn-ea"/>
                <a:cs typeface="+mn-cs"/>
              </a:rPr>
              <a:t>中，並使用上方放置壓塊用以固定 </a:t>
            </a:r>
            <a:r>
              <a:rPr lang="en-US" sz="1200" b="0" i="0" u="none" strike="noStrike" kern="1200" dirty="0">
                <a:solidFill>
                  <a:schemeClr val="tx1"/>
                </a:solidFill>
                <a:effectLst/>
                <a:latin typeface="+mn-lt"/>
                <a:ea typeface="+mn-ea"/>
                <a:cs typeface="+mn-cs"/>
              </a:rPr>
              <a:t>DUT </a:t>
            </a:r>
            <a:r>
              <a:rPr lang="zh-TW" altLang="en-US" sz="1200" b="0" i="0" u="none" strike="noStrike" kern="1200" dirty="0">
                <a:solidFill>
                  <a:schemeClr val="tx1"/>
                </a:solidFill>
                <a:effectLst/>
                <a:latin typeface="+mn-lt"/>
                <a:ea typeface="+mn-ea"/>
                <a:cs typeface="+mn-cs"/>
              </a:rPr>
              <a:t>位置。</a:t>
            </a:r>
            <a:endParaRPr lang="en-US" altLang="zh-TW" sz="1200" b="0" i="0" u="none" strike="noStrike" kern="1200" dirty="0">
              <a:solidFill>
                <a:schemeClr val="tx1"/>
              </a:solidFill>
              <a:effectLst/>
              <a:latin typeface="+mn-lt"/>
              <a:ea typeface="+mn-ea"/>
              <a:cs typeface="+mn-cs"/>
            </a:endParaRPr>
          </a:p>
          <a:p>
            <a:pPr marL="228600" indent="-228600">
              <a:buFont typeface="+mj-lt"/>
              <a:buAutoNum type="arabicPeriod"/>
            </a:pPr>
            <a:r>
              <a:rPr lang="zh-TW" altLang="en-US" sz="1200" b="0" i="0" u="none" strike="noStrike" kern="1200" dirty="0">
                <a:solidFill>
                  <a:schemeClr val="tx1"/>
                </a:solidFill>
                <a:effectLst/>
                <a:latin typeface="+mn-lt"/>
                <a:ea typeface="+mn-ea"/>
                <a:cs typeface="+mn-cs"/>
              </a:rPr>
              <a:t>下位機將發送啟動指令啟動 </a:t>
            </a:r>
            <a:r>
              <a:rPr lang="en-US" sz="1200" b="0" i="0" u="none" strike="noStrike" kern="1200" dirty="0">
                <a:solidFill>
                  <a:schemeClr val="tx1"/>
                </a:solidFill>
                <a:effectLst/>
                <a:latin typeface="+mn-lt"/>
                <a:ea typeface="+mn-ea"/>
                <a:cs typeface="+mn-cs"/>
              </a:rPr>
              <a:t>Overlay </a:t>
            </a:r>
            <a:r>
              <a:rPr lang="zh-TW" altLang="en-US" sz="1200" b="0" i="0" u="none" strike="noStrike" kern="1200" dirty="0">
                <a:solidFill>
                  <a:schemeClr val="tx1"/>
                </a:solidFill>
                <a:effectLst/>
                <a:latin typeface="+mn-lt"/>
                <a:ea typeface="+mn-ea"/>
                <a:cs typeface="+mn-cs"/>
              </a:rPr>
              <a:t>測試流程，系統自動進行無線充電測試。</a:t>
            </a:r>
            <a:endParaRPr lang="en-US" altLang="zh-TW" sz="1200" b="0" i="0" u="none" strike="noStrike" kern="1200" dirty="0">
              <a:solidFill>
                <a:schemeClr val="tx1"/>
              </a:solidFill>
              <a:effectLst/>
              <a:latin typeface="+mn-lt"/>
              <a:ea typeface="+mn-ea"/>
              <a:cs typeface="+mn-cs"/>
            </a:endParaRPr>
          </a:p>
          <a:p>
            <a:pPr marL="228600" indent="-228600">
              <a:buFont typeface="+mj-lt"/>
              <a:buAutoNum type="arabicPeriod"/>
            </a:pPr>
            <a:r>
              <a:rPr lang="zh-TW" altLang="en-US" sz="1200" b="0" i="0" u="none" strike="noStrike" kern="1200" dirty="0">
                <a:solidFill>
                  <a:schemeClr val="tx1"/>
                </a:solidFill>
                <a:effectLst/>
                <a:latin typeface="+mn-lt"/>
                <a:ea typeface="+mn-ea"/>
                <a:cs typeface="+mn-cs"/>
              </a:rPr>
              <a:t>測試完成後，取出 </a:t>
            </a:r>
            <a:r>
              <a:rPr lang="en-US" sz="1200" b="0" i="0" u="none" strike="noStrike" kern="1200" dirty="0">
                <a:solidFill>
                  <a:schemeClr val="tx1"/>
                </a:solidFill>
                <a:effectLst/>
                <a:latin typeface="+mn-lt"/>
                <a:ea typeface="+mn-ea"/>
                <a:cs typeface="+mn-cs"/>
              </a:rPr>
              <a:t>DUT，</a:t>
            </a:r>
            <a:r>
              <a:rPr lang="zh-TW" altLang="en-US" sz="1200" b="0" i="0" u="none" strike="noStrike" kern="1200" dirty="0">
                <a:solidFill>
                  <a:schemeClr val="tx1"/>
                </a:solidFill>
                <a:effectLst/>
                <a:latin typeface="+mn-lt"/>
                <a:ea typeface="+mn-ea"/>
                <a:cs typeface="+mn-cs"/>
              </a:rPr>
              <a:t>結束測試。</a:t>
            </a:r>
            <a:endParaRPr lang="en-US" altLang="zh-TW" sz="1200" b="0" i="0" u="none" strike="noStrike" kern="1200" dirty="0">
              <a:solidFill>
                <a:schemeClr val="tx1"/>
              </a:solidFill>
              <a:effectLst/>
              <a:latin typeface="+mn-lt"/>
              <a:ea typeface="+mn-ea"/>
              <a:cs typeface="+mn-cs"/>
            </a:endParaRPr>
          </a:p>
          <a:p>
            <a:r>
              <a:rPr lang="zh-TW" altLang="en-US" sz="1200" b="1" i="0" u="none" strike="noStrike" kern="1200" dirty="0">
                <a:solidFill>
                  <a:schemeClr val="tx1"/>
                </a:solidFill>
                <a:effectLst/>
                <a:latin typeface="+mn-lt"/>
                <a:ea typeface="+mn-ea"/>
                <a:cs typeface="+mn-cs"/>
              </a:rPr>
              <a:t>三、無線充電測試主要量測項目（</a:t>
            </a:r>
            <a:r>
              <a:rPr lang="en-US" sz="1200" b="1" i="0" u="none" strike="noStrike" kern="1200" dirty="0">
                <a:solidFill>
                  <a:schemeClr val="tx1"/>
                </a:solidFill>
                <a:effectLst/>
                <a:latin typeface="+mn-lt"/>
                <a:ea typeface="+mn-ea"/>
                <a:cs typeface="+mn-cs"/>
              </a:rPr>
              <a:t>Main Test Parameters）</a:t>
            </a:r>
          </a:p>
          <a:p>
            <a:pPr marL="228600" indent="-228600">
              <a:buFont typeface="+mj-lt"/>
              <a:buAutoNum type="arabicPeriod"/>
            </a:pPr>
            <a:r>
              <a:rPr lang="zh-TW" altLang="en-US" sz="1200" b="0" i="0" u="none" strike="noStrike" kern="1200" dirty="0">
                <a:solidFill>
                  <a:schemeClr val="tx1"/>
                </a:solidFill>
                <a:effectLst/>
                <a:latin typeface="+mn-lt"/>
                <a:ea typeface="+mn-ea"/>
                <a:cs typeface="+mn-cs"/>
              </a:rPr>
              <a:t>數位轉類比充電數值</a:t>
            </a:r>
          </a:p>
          <a:p>
            <a:pPr marL="228600" indent="-228600">
              <a:buFont typeface="+mj-lt"/>
              <a:buAutoNum type="arabicPeriod"/>
            </a:pPr>
            <a:r>
              <a:rPr lang="en-US" sz="1200" b="0" i="0" u="none" strike="noStrike" kern="1200" dirty="0" err="1">
                <a:solidFill>
                  <a:schemeClr val="tx1"/>
                </a:solidFill>
                <a:effectLst/>
                <a:latin typeface="+mn-lt"/>
                <a:ea typeface="+mn-ea"/>
                <a:cs typeface="+mn-cs"/>
              </a:rPr>
              <a:t>產品電池</a:t>
            </a:r>
            <a:r>
              <a:rPr lang="zh-TW" altLang="en-US" sz="1200" b="0" i="0" u="none" strike="noStrike" kern="1200" dirty="0">
                <a:solidFill>
                  <a:schemeClr val="tx1"/>
                </a:solidFill>
                <a:effectLst/>
                <a:latin typeface="+mn-lt"/>
                <a:ea typeface="+mn-ea"/>
                <a:cs typeface="+mn-cs"/>
              </a:rPr>
              <a:t>資訊（電壓、電流）</a:t>
            </a:r>
          </a:p>
          <a:p>
            <a:pPr marL="228600" indent="-228600">
              <a:buFont typeface="+mj-lt"/>
              <a:buAutoNum type="arabicPeriod"/>
            </a:pPr>
            <a:r>
              <a:rPr lang="zh-TW" altLang="en-US" sz="1200" b="0" i="0" u="none" strike="noStrike" kern="1200" dirty="0">
                <a:solidFill>
                  <a:schemeClr val="tx1"/>
                </a:solidFill>
                <a:effectLst/>
                <a:latin typeface="+mn-lt"/>
                <a:ea typeface="+mn-ea"/>
                <a:cs typeface="+mn-cs"/>
              </a:rPr>
              <a:t>無線充電模組資訊（</a:t>
            </a:r>
            <a:r>
              <a:rPr lang="en-US" sz="1200" b="0" i="0" u="none" strike="noStrike" kern="1200" dirty="0">
                <a:solidFill>
                  <a:schemeClr val="tx1"/>
                </a:solidFill>
                <a:effectLst/>
                <a:latin typeface="+mn-lt"/>
                <a:ea typeface="+mn-ea"/>
                <a:cs typeface="+mn-cs"/>
              </a:rPr>
              <a:t>VRECT、ICUR）</a:t>
            </a:r>
          </a:p>
          <a:p>
            <a:pPr marL="228600" indent="-228600">
              <a:buFont typeface="+mj-lt"/>
              <a:buAutoNum type="arabicPeriod"/>
            </a:pPr>
            <a:r>
              <a:rPr lang="en-US" sz="1200" b="0" i="0" u="none" strike="noStrike" kern="1200" dirty="0">
                <a:solidFill>
                  <a:schemeClr val="tx1"/>
                </a:solidFill>
                <a:effectLst/>
                <a:latin typeface="+mn-lt"/>
                <a:ea typeface="+mn-ea"/>
                <a:cs typeface="+mn-cs"/>
              </a:rPr>
              <a:t>Ginger </a:t>
            </a:r>
            <a:r>
              <a:rPr lang="en-US" sz="1200" b="0" i="0" u="none" strike="noStrike" kern="1200" dirty="0" err="1">
                <a:solidFill>
                  <a:schemeClr val="tx1"/>
                </a:solidFill>
                <a:effectLst/>
                <a:latin typeface="+mn-lt"/>
                <a:ea typeface="+mn-ea"/>
                <a:cs typeface="+mn-cs"/>
              </a:rPr>
              <a:t>power（TX</a:t>
            </a:r>
            <a:r>
              <a:rPr lang="en-US" sz="1200" b="0" i="0" u="none" strike="noStrike" kern="1200" dirty="0">
                <a:solidFill>
                  <a:schemeClr val="tx1"/>
                </a:solidFill>
                <a:effectLst/>
                <a:latin typeface="+mn-lt"/>
                <a:ea typeface="+mn-ea"/>
                <a:cs typeface="+mn-cs"/>
              </a:rPr>
              <a:t> </a:t>
            </a:r>
            <a:r>
              <a:rPr lang="zh-TW" altLang="en-US" sz="1200" b="0" i="0" u="none" strike="noStrike" kern="1200" dirty="0">
                <a:solidFill>
                  <a:schemeClr val="tx1"/>
                </a:solidFill>
                <a:effectLst/>
                <a:latin typeface="+mn-lt"/>
                <a:ea typeface="+mn-ea"/>
                <a:cs typeface="+mn-cs"/>
              </a:rPr>
              <a:t>輸出功率）</a:t>
            </a:r>
          </a:p>
          <a:p>
            <a:pPr marL="228600" indent="-228600">
              <a:buFont typeface="+mj-lt"/>
              <a:buAutoNum type="arabicPeriod"/>
            </a:pPr>
            <a:r>
              <a:rPr lang="en-US" sz="1200" b="0" i="0" u="none" strike="noStrike" kern="1200" dirty="0">
                <a:solidFill>
                  <a:schemeClr val="tx1"/>
                </a:solidFill>
                <a:effectLst/>
                <a:latin typeface="+mn-lt"/>
                <a:ea typeface="+mn-ea"/>
                <a:cs typeface="+mn-cs"/>
              </a:rPr>
              <a:t>Power Transfer Efficiency（</a:t>
            </a:r>
            <a:r>
              <a:rPr lang="zh-TW" altLang="en-US" sz="1200" b="0" i="0" u="none" strike="noStrike" kern="1200" dirty="0">
                <a:solidFill>
                  <a:schemeClr val="tx1"/>
                </a:solidFill>
                <a:effectLst/>
                <a:latin typeface="+mn-lt"/>
                <a:ea typeface="+mn-ea"/>
                <a:cs typeface="+mn-cs"/>
              </a:rPr>
              <a:t>電源轉換效率）</a:t>
            </a:r>
          </a:p>
        </p:txBody>
      </p:sp>
    </p:spTree>
    <p:extLst>
      <p:ext uri="{BB962C8B-B14F-4D97-AF65-F5344CB8AC3E}">
        <p14:creationId xmlns:p14="http://schemas.microsoft.com/office/powerpoint/2010/main" val="23368991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TW"/>
              <a:t>講一下流程</a:t>
            </a:r>
          </a:p>
        </p:txBody>
      </p:sp>
    </p:spTree>
    <p:extLst>
      <p:ext uri="{BB962C8B-B14F-4D97-AF65-F5344CB8AC3E}">
        <p14:creationId xmlns:p14="http://schemas.microsoft.com/office/powerpoint/2010/main" val="395688018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9083BB-A6EA-562F-05B5-D901ABC8B7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C95E78-07CF-D48A-5136-12C1ED1FA6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9B880B-C970-CA1D-FB77-1D2E3F5F6306}"/>
              </a:ext>
            </a:extLst>
          </p:cNvPr>
          <p:cNvSpPr>
            <a:spLocks noGrp="1"/>
          </p:cNvSpPr>
          <p:nvPr>
            <p:ph type="body" idx="1"/>
          </p:nvPr>
        </p:nvSpPr>
        <p:spPr/>
        <p:txBody>
          <a:bodyPr/>
          <a:lstStyle/>
          <a:p>
            <a:r>
              <a:rPr lang="en-TW" dirty="0"/>
              <a:t>講一下流程</a:t>
            </a:r>
          </a:p>
        </p:txBody>
      </p:sp>
    </p:spTree>
    <p:extLst>
      <p:ext uri="{BB962C8B-B14F-4D97-AF65-F5344CB8AC3E}">
        <p14:creationId xmlns:p14="http://schemas.microsoft.com/office/powerpoint/2010/main" val="256845977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48CD65-3181-1FFA-48A7-54DBA89223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627ED1-89DC-82FB-61AF-F7AFDEA1BC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C8431D-653F-8F97-FCA9-61918E1A2EDD}"/>
              </a:ext>
            </a:extLst>
          </p:cNvPr>
          <p:cNvSpPr>
            <a:spLocks noGrp="1"/>
          </p:cNvSpPr>
          <p:nvPr>
            <p:ph type="body" idx="1"/>
          </p:nvPr>
        </p:nvSpPr>
        <p:spPr/>
        <p:txBody>
          <a:bodyPr/>
          <a:lstStyle/>
          <a:p>
            <a:r>
              <a:rPr lang="en-TW"/>
              <a:t>講一下流程</a:t>
            </a:r>
          </a:p>
        </p:txBody>
      </p:sp>
    </p:spTree>
    <p:extLst>
      <p:ext uri="{BB962C8B-B14F-4D97-AF65-F5344CB8AC3E}">
        <p14:creationId xmlns:p14="http://schemas.microsoft.com/office/powerpoint/2010/main" val="17101660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9_FIT Pres Temp - Primary">
    <p:spTree>
      <p:nvGrpSpPr>
        <p:cNvPr id="1" name=""/>
        <p:cNvGrpSpPr/>
        <p:nvPr/>
      </p:nvGrpSpPr>
      <p:grpSpPr>
        <a:xfrm>
          <a:off x="0" y="0"/>
          <a:ext cx="0" cy="0"/>
          <a:chOff x="0" y="0"/>
          <a:chExt cx="0" cy="0"/>
        </a:xfrm>
      </p:grpSpPr>
    </p:spTree>
    <p:extLst>
      <p:ext uri="{BB962C8B-B14F-4D97-AF65-F5344CB8AC3E}">
        <p14:creationId xmlns:p14="http://schemas.microsoft.com/office/powerpoint/2010/main" val="2922758769"/>
      </p:ext>
    </p:extLst>
  </p:cSld>
  <p:clrMapOvr>
    <a:masterClrMapping/>
  </p:clrMapOvr>
  <p:extLst>
    <p:ext uri="{DCECCB84-F9BA-43D5-87BE-67443E8EF086}">
      <p15:sldGuideLst xmlns:p15="http://schemas.microsoft.com/office/powerpoint/2012/main">
        <p15:guide id="1" pos="360">
          <p15:clr>
            <a:srgbClr val="FBAE40"/>
          </p15:clr>
        </p15:guide>
        <p15:guide id="2" orient="horz" pos="360">
          <p15:clr>
            <a:srgbClr val="FBAE40"/>
          </p15:clr>
        </p15:guide>
        <p15:guide id="3" orient="horz" pos="3960">
          <p15:clr>
            <a:srgbClr val="FBAE40"/>
          </p15:clr>
        </p15:guide>
        <p15:guide id="7" pos="7320" userDrawn="1">
          <p15:clr>
            <a:srgbClr val="FBAE40"/>
          </p15:clr>
        </p15:guide>
        <p15:guide id="8"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ection Opener">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587E46B-AD26-0344-8B50-C8C9BC0A2377}"/>
              </a:ext>
            </a:extLst>
          </p:cNvPr>
          <p:cNvSpPr>
            <a:spLocks noGrp="1"/>
          </p:cNvSpPr>
          <p:nvPr>
            <p:ph type="pic" sz="quarter" idx="13"/>
          </p:nvPr>
        </p:nvSpPr>
        <p:spPr>
          <a:xfrm>
            <a:off x="-70338" y="0"/>
            <a:ext cx="11881337" cy="6857999"/>
          </a:xfrm>
          <a:prstGeom prst="rect">
            <a:avLst/>
          </a:prstGeom>
          <a:solidFill>
            <a:schemeClr val="bg1">
              <a:lumMod val="95000"/>
            </a:schemeClr>
          </a:solidFill>
        </p:spPr>
        <p:txBody>
          <a:bodyPr/>
          <a:lstStyle/>
          <a:p>
            <a:r>
              <a:rPr lang="zh-TW" altLang="en-US"/>
              <a:t>按一下圖示以新增圖片</a:t>
            </a:r>
            <a:endParaRPr lang="en-US"/>
          </a:p>
        </p:txBody>
      </p:sp>
      <p:sp>
        <p:nvSpPr>
          <p:cNvPr id="4" name="Rectangle 3">
            <a:extLst>
              <a:ext uri="{FF2B5EF4-FFF2-40B4-BE49-F238E27FC236}">
                <a16:creationId xmlns:a16="http://schemas.microsoft.com/office/drawing/2014/main" id="{D8260519-0A36-FC4E-A441-2C51A9413418}"/>
              </a:ext>
            </a:extLst>
          </p:cNvPr>
          <p:cNvSpPr/>
          <p:nvPr/>
        </p:nvSpPr>
        <p:spPr>
          <a:xfrm>
            <a:off x="11811000" y="1"/>
            <a:ext cx="381000" cy="6857999"/>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5">
            <a:extLst>
              <a:ext uri="{FF2B5EF4-FFF2-40B4-BE49-F238E27FC236}">
                <a16:creationId xmlns:a16="http://schemas.microsoft.com/office/drawing/2014/main" id="{7BF7E0E1-B763-EA4B-83D8-6C299A7CA27F}"/>
              </a:ext>
            </a:extLst>
          </p:cNvPr>
          <p:cNvSpPr>
            <a:spLocks noGrp="1"/>
          </p:cNvSpPr>
          <p:nvPr>
            <p:ph type="sldNum" sz="quarter" idx="12"/>
          </p:nvPr>
        </p:nvSpPr>
        <p:spPr>
          <a:xfrm>
            <a:off x="11823690" y="6104964"/>
            <a:ext cx="368310" cy="194343"/>
          </a:xfrm>
          <a:prstGeom prst="rect">
            <a:avLst/>
          </a:prstGeom>
        </p:spPr>
        <p:txBody>
          <a:bodyPr lIns="0" rIns="0"/>
          <a:lstStyle>
            <a:lvl1pPr algn="ctr">
              <a:defRPr sz="1000" b="0" i="0" baseline="0">
                <a:solidFill>
                  <a:schemeClr val="bg1">
                    <a:lumMod val="65000"/>
                  </a:schemeClr>
                </a:solidFill>
                <a:latin typeface="Arial" panose="020B0604020202020204" pitchFamily="34" charset="0"/>
              </a:defRPr>
            </a:lvl1pPr>
          </a:lstStyle>
          <a:p>
            <a:fld id="{15213995-08BF-9544-B88D-65564A710159}" type="slidenum">
              <a:rPr lang="en-US" smtClean="0"/>
              <a:pPr/>
              <a:t>‹#›</a:t>
            </a:fld>
            <a:endParaRPr lang="en-US"/>
          </a:p>
        </p:txBody>
      </p:sp>
      <p:sp>
        <p:nvSpPr>
          <p:cNvPr id="7" name="Rectangle 6">
            <a:extLst>
              <a:ext uri="{FF2B5EF4-FFF2-40B4-BE49-F238E27FC236}">
                <a16:creationId xmlns:a16="http://schemas.microsoft.com/office/drawing/2014/main" id="{C4E7CF94-AB5C-6947-8340-DD3FE56178A4}"/>
              </a:ext>
            </a:extLst>
          </p:cNvPr>
          <p:cNvSpPr/>
          <p:nvPr/>
        </p:nvSpPr>
        <p:spPr>
          <a:xfrm>
            <a:off x="0" y="1"/>
            <a:ext cx="5905500" cy="6858000"/>
          </a:xfrm>
          <a:prstGeom prst="rect">
            <a:avLst/>
          </a:prstGeom>
          <a:solidFill>
            <a:srgbClr val="40404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12">
            <a:extLst>
              <a:ext uri="{FF2B5EF4-FFF2-40B4-BE49-F238E27FC236}">
                <a16:creationId xmlns:a16="http://schemas.microsoft.com/office/drawing/2014/main" id="{98DD65D2-2102-854C-96EE-72607525B618}"/>
              </a:ext>
            </a:extLst>
          </p:cNvPr>
          <p:cNvSpPr>
            <a:spLocks noGrp="1"/>
          </p:cNvSpPr>
          <p:nvPr>
            <p:ph type="body" sz="quarter" idx="14" hasCustomPrompt="1"/>
          </p:nvPr>
        </p:nvSpPr>
        <p:spPr>
          <a:xfrm>
            <a:off x="571500" y="571500"/>
            <a:ext cx="4762500" cy="5727700"/>
          </a:xfrm>
          <a:prstGeom prst="rect">
            <a:avLst/>
          </a:prstGeom>
        </p:spPr>
        <p:txBody>
          <a:bodyPr lIns="0" tIns="0" rIns="0" bIns="0" anchor="ctr" anchorCtr="0"/>
          <a:lstStyle>
            <a:lvl1pPr marL="0" indent="0">
              <a:lnSpc>
                <a:spcPct val="100000"/>
              </a:lnSpc>
              <a:buNone/>
              <a:defRPr sz="4400" b="1">
                <a:solidFill>
                  <a:schemeClr val="bg1"/>
                </a:solidFill>
              </a:defRPr>
            </a:lvl1pPr>
          </a:lstStyle>
          <a:p>
            <a:pPr lvl="0"/>
            <a:r>
              <a:rPr lang="en-US"/>
              <a:t>Section Header</a:t>
            </a:r>
          </a:p>
        </p:txBody>
      </p:sp>
      <p:pic>
        <p:nvPicPr>
          <p:cNvPr id="8" name="Picture 7">
            <a:extLst>
              <a:ext uri="{FF2B5EF4-FFF2-40B4-BE49-F238E27FC236}">
                <a16:creationId xmlns:a16="http://schemas.microsoft.com/office/drawing/2014/main" id="{D37199EE-5067-DF4C-87CA-3DD7EB22218D}"/>
              </a:ext>
            </a:extLst>
          </p:cNvPr>
          <p:cNvPicPr>
            <a:picLocks noChangeAspect="1"/>
          </p:cNvPicPr>
          <p:nvPr/>
        </p:nvPicPr>
        <p:blipFill>
          <a:blip r:embed="rId2"/>
          <a:stretch>
            <a:fillRect/>
          </a:stretch>
        </p:blipFill>
        <p:spPr>
          <a:xfrm rot="5400000">
            <a:off x="10614538" y="1805269"/>
            <a:ext cx="2792210" cy="203997"/>
          </a:xfrm>
          <a:prstGeom prst="rect">
            <a:avLst/>
          </a:prstGeom>
        </p:spPr>
      </p:pic>
      <p:pic>
        <p:nvPicPr>
          <p:cNvPr id="9" name="Picture 5">
            <a:extLst>
              <a:ext uri="{FF2B5EF4-FFF2-40B4-BE49-F238E27FC236}">
                <a16:creationId xmlns:a16="http://schemas.microsoft.com/office/drawing/2014/main" id="{83F59F38-3EC5-153F-CB3C-3D6E7AA61B0A}"/>
              </a:ext>
            </a:extLst>
          </p:cNvPr>
          <p:cNvPicPr>
            <a:picLocks noChangeAspect="1"/>
          </p:cNvPicPr>
          <p:nvPr/>
        </p:nvPicPr>
        <p:blipFill>
          <a:blip r:embed="rId3"/>
          <a:stretch>
            <a:fillRect/>
          </a:stretch>
        </p:blipFill>
        <p:spPr>
          <a:xfrm>
            <a:off x="11836985" y="1552360"/>
            <a:ext cx="341161" cy="2236860"/>
          </a:xfrm>
          <a:prstGeom prst="rect">
            <a:avLst/>
          </a:prstGeom>
        </p:spPr>
      </p:pic>
      <p:sp>
        <p:nvSpPr>
          <p:cNvPr id="11" name="Rectangle 3">
            <a:extLst>
              <a:ext uri="{FF2B5EF4-FFF2-40B4-BE49-F238E27FC236}">
                <a16:creationId xmlns:a16="http://schemas.microsoft.com/office/drawing/2014/main" id="{D8260519-0A36-FC4E-A441-2C51A9413418}"/>
              </a:ext>
            </a:extLst>
          </p:cNvPr>
          <p:cNvSpPr/>
          <p:nvPr/>
        </p:nvSpPr>
        <p:spPr>
          <a:xfrm>
            <a:off x="11811000" y="1"/>
            <a:ext cx="381000" cy="6857999"/>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6">
            <a:extLst>
              <a:ext uri="{FF2B5EF4-FFF2-40B4-BE49-F238E27FC236}">
                <a16:creationId xmlns:a16="http://schemas.microsoft.com/office/drawing/2014/main" id="{C4E7CF94-AB5C-6947-8340-DD3FE56178A4}"/>
              </a:ext>
            </a:extLst>
          </p:cNvPr>
          <p:cNvSpPr/>
          <p:nvPr/>
        </p:nvSpPr>
        <p:spPr>
          <a:xfrm>
            <a:off x="0" y="1"/>
            <a:ext cx="5905500" cy="6858000"/>
          </a:xfrm>
          <a:prstGeom prst="rect">
            <a:avLst/>
          </a:prstGeom>
          <a:solidFill>
            <a:srgbClr val="40404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3">
            <a:extLst>
              <a:ext uri="{FF2B5EF4-FFF2-40B4-BE49-F238E27FC236}">
                <a16:creationId xmlns:a16="http://schemas.microsoft.com/office/drawing/2014/main" id="{235A500E-57F4-5983-B439-163B3E86213E}"/>
              </a:ext>
            </a:extLst>
          </p:cNvPr>
          <p:cNvSpPr/>
          <p:nvPr/>
        </p:nvSpPr>
        <p:spPr>
          <a:xfrm>
            <a:off x="11811000" y="1"/>
            <a:ext cx="381000" cy="6857999"/>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6">
            <a:extLst>
              <a:ext uri="{FF2B5EF4-FFF2-40B4-BE49-F238E27FC236}">
                <a16:creationId xmlns:a16="http://schemas.microsoft.com/office/drawing/2014/main" id="{BF86EB0C-959C-410B-151E-609EEEDFA961}"/>
              </a:ext>
            </a:extLst>
          </p:cNvPr>
          <p:cNvSpPr/>
          <p:nvPr/>
        </p:nvSpPr>
        <p:spPr>
          <a:xfrm>
            <a:off x="0" y="1"/>
            <a:ext cx="5905500" cy="6858000"/>
          </a:xfrm>
          <a:prstGeom prst="rect">
            <a:avLst/>
          </a:prstGeom>
          <a:solidFill>
            <a:srgbClr val="40404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7">
            <a:extLst>
              <a:ext uri="{FF2B5EF4-FFF2-40B4-BE49-F238E27FC236}">
                <a16:creationId xmlns:a16="http://schemas.microsoft.com/office/drawing/2014/main" id="{54DB7CB3-24EE-B3BE-2E1C-CB57DDAEF2C5}"/>
              </a:ext>
            </a:extLst>
          </p:cNvPr>
          <p:cNvPicPr>
            <a:picLocks noChangeAspect="1"/>
          </p:cNvPicPr>
          <p:nvPr/>
        </p:nvPicPr>
        <p:blipFill>
          <a:blip r:embed="rId2"/>
          <a:stretch>
            <a:fillRect/>
          </a:stretch>
        </p:blipFill>
        <p:spPr>
          <a:xfrm rot="5400000">
            <a:off x="10614538" y="1805269"/>
            <a:ext cx="2792210" cy="203997"/>
          </a:xfrm>
          <a:prstGeom prst="rect">
            <a:avLst/>
          </a:prstGeom>
        </p:spPr>
      </p:pic>
      <p:pic>
        <p:nvPicPr>
          <p:cNvPr id="14" name="Picture 3">
            <a:extLst>
              <a:ext uri="{FF2B5EF4-FFF2-40B4-BE49-F238E27FC236}">
                <a16:creationId xmlns:a16="http://schemas.microsoft.com/office/drawing/2014/main" id="{6267FA3A-D88B-87C6-9766-82E26D5158D6}"/>
              </a:ext>
            </a:extLst>
          </p:cNvPr>
          <p:cNvPicPr>
            <a:picLocks noChangeAspect="1"/>
          </p:cNvPicPr>
          <p:nvPr/>
        </p:nvPicPr>
        <p:blipFill>
          <a:blip r:embed="rId3"/>
          <a:stretch>
            <a:fillRect/>
          </a:stretch>
        </p:blipFill>
        <p:spPr>
          <a:xfrm>
            <a:off x="11830919" y="1552360"/>
            <a:ext cx="341161" cy="2236860"/>
          </a:xfrm>
          <a:prstGeom prst="rect">
            <a:avLst/>
          </a:prstGeom>
        </p:spPr>
      </p:pic>
      <p:sp>
        <p:nvSpPr>
          <p:cNvPr id="15" name="Rectangle 3">
            <a:extLst>
              <a:ext uri="{FF2B5EF4-FFF2-40B4-BE49-F238E27FC236}">
                <a16:creationId xmlns:a16="http://schemas.microsoft.com/office/drawing/2014/main" id="{31716B54-5598-3C00-3ACE-E967F227F15B}"/>
              </a:ext>
            </a:extLst>
          </p:cNvPr>
          <p:cNvSpPr/>
          <p:nvPr userDrawn="1"/>
        </p:nvSpPr>
        <p:spPr>
          <a:xfrm>
            <a:off x="11811000" y="1"/>
            <a:ext cx="381000" cy="6857999"/>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6">
            <a:extLst>
              <a:ext uri="{FF2B5EF4-FFF2-40B4-BE49-F238E27FC236}">
                <a16:creationId xmlns:a16="http://schemas.microsoft.com/office/drawing/2014/main" id="{8DA19DEF-47F4-F392-AF6F-C4B27AE823A9}"/>
              </a:ext>
            </a:extLst>
          </p:cNvPr>
          <p:cNvSpPr/>
          <p:nvPr userDrawn="1"/>
        </p:nvSpPr>
        <p:spPr>
          <a:xfrm>
            <a:off x="0" y="1"/>
            <a:ext cx="5905500" cy="6858000"/>
          </a:xfrm>
          <a:prstGeom prst="rect">
            <a:avLst/>
          </a:prstGeom>
          <a:solidFill>
            <a:srgbClr val="40404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8" name="群組 27">
            <a:extLst>
              <a:ext uri="{FF2B5EF4-FFF2-40B4-BE49-F238E27FC236}">
                <a16:creationId xmlns:a16="http://schemas.microsoft.com/office/drawing/2014/main" id="{7356ADBD-EB18-A1E5-E940-6461EBE451DA}"/>
              </a:ext>
            </a:extLst>
          </p:cNvPr>
          <p:cNvGrpSpPr/>
          <p:nvPr userDrawn="1"/>
        </p:nvGrpSpPr>
        <p:grpSpPr>
          <a:xfrm>
            <a:off x="11756483" y="660266"/>
            <a:ext cx="392419" cy="2081042"/>
            <a:chOff x="4716778" y="1328148"/>
            <a:chExt cx="392419" cy="2081042"/>
          </a:xfrm>
        </p:grpSpPr>
        <p:pic>
          <p:nvPicPr>
            <p:cNvPr id="29" name="Picture 6">
              <a:extLst>
                <a:ext uri="{FF2B5EF4-FFF2-40B4-BE49-F238E27FC236}">
                  <a16:creationId xmlns:a16="http://schemas.microsoft.com/office/drawing/2014/main" id="{D0BB28CC-4DAA-9AD7-3E48-44555198F007}"/>
                </a:ext>
              </a:extLst>
            </p:cNvPr>
            <p:cNvPicPr>
              <a:picLocks noChangeAspect="1"/>
            </p:cNvPicPr>
            <p:nvPr userDrawn="1"/>
          </p:nvPicPr>
          <p:blipFill rotWithShape="1">
            <a:blip r:embed="rId2"/>
            <a:srcRect r="61434" b="-36631"/>
            <a:stretch/>
          </p:blipFill>
          <p:spPr>
            <a:xfrm rot="5400000">
              <a:off x="4287092" y="1757834"/>
              <a:ext cx="1240374" cy="381001"/>
            </a:xfrm>
            <a:prstGeom prst="rect">
              <a:avLst/>
            </a:prstGeom>
          </p:spPr>
        </p:pic>
        <p:pic>
          <p:nvPicPr>
            <p:cNvPr id="30" name="圖片 29" descr="一張含有 字型, 圖形, 文字, 標誌 的圖片&#10;&#10;自動產生的描述">
              <a:extLst>
                <a:ext uri="{FF2B5EF4-FFF2-40B4-BE49-F238E27FC236}">
                  <a16:creationId xmlns:a16="http://schemas.microsoft.com/office/drawing/2014/main" id="{6DA58733-0AE9-8640-8717-412C647A04E5}"/>
                </a:ext>
              </a:extLst>
            </p:cNvPr>
            <p:cNvPicPr>
              <a:picLocks noChangeAspect="1"/>
            </p:cNvPicPr>
            <p:nvPr userDrawn="1"/>
          </p:nvPicPr>
          <p:blipFill>
            <a:blip r:embed="rId4"/>
            <a:stretch>
              <a:fillRect/>
            </a:stretch>
          </p:blipFill>
          <p:spPr>
            <a:xfrm rot="5400000">
              <a:off x="4495000" y="2794994"/>
              <a:ext cx="904393" cy="324000"/>
            </a:xfrm>
            <a:prstGeom prst="rect">
              <a:avLst/>
            </a:prstGeom>
          </p:spPr>
        </p:pic>
      </p:grpSp>
    </p:spTree>
    <p:extLst>
      <p:ext uri="{BB962C8B-B14F-4D97-AF65-F5344CB8AC3E}">
        <p14:creationId xmlns:p14="http://schemas.microsoft.com/office/powerpoint/2010/main" val="3509613301"/>
      </p:ext>
    </p:extLst>
  </p:cSld>
  <p:clrMapOvr>
    <a:masterClrMapping/>
  </p:clrMapOvr>
  <p:extLst>
    <p:ext uri="{DCECCB84-F9BA-43D5-87BE-67443E8EF086}">
      <p15:sldGuideLst xmlns:p15="http://schemas.microsoft.com/office/powerpoint/2012/main">
        <p15:guide id="1" pos="360">
          <p15:clr>
            <a:srgbClr val="FBAE40"/>
          </p15:clr>
        </p15:guide>
        <p15:guide id="2" orient="horz" pos="360">
          <p15:clr>
            <a:srgbClr val="FBAE40"/>
          </p15:clr>
        </p15:guide>
        <p15:guide id="3" pos="7080">
          <p15:clr>
            <a:srgbClr val="FBAE40"/>
          </p15:clr>
        </p15:guide>
        <p15:guide id="4" orient="horz" pos="3960">
          <p15:clr>
            <a:srgbClr val="FBAE40"/>
          </p15:clr>
        </p15:guide>
        <p15:guide id="5" pos="3720">
          <p15:clr>
            <a:srgbClr val="FBAE40"/>
          </p15:clr>
        </p15:guide>
        <p15:guide id="6" pos="7440">
          <p15:clr>
            <a:srgbClr val="FBAE40"/>
          </p15:clr>
        </p15:guide>
        <p15:guide id="7" pos="4080">
          <p15:clr>
            <a:srgbClr val="FBAE40"/>
          </p15:clr>
        </p15:guide>
        <p15:guide id="8" pos="3360">
          <p15:clr>
            <a:srgbClr val="FBAE40"/>
          </p15:clr>
        </p15:guide>
        <p15:guide id="9" pos="2664">
          <p15:clr>
            <a:srgbClr val="FBAE40"/>
          </p15:clr>
        </p15:guide>
        <p15:guide id="10" pos="4944">
          <p15:clr>
            <a:srgbClr val="FBAE40"/>
          </p15:clr>
        </p15:guide>
        <p15:guide id="11" pos="2496">
          <p15:clr>
            <a:srgbClr val="FBAE40"/>
          </p15:clr>
        </p15:guide>
        <p15:guide id="12" pos="4776">
          <p15:clr>
            <a:srgbClr val="FBAE40"/>
          </p15:clr>
        </p15:guide>
        <p15:guide id="13" orient="horz" pos="2160">
          <p15:clr>
            <a:srgbClr val="FBAE40"/>
          </p15:clr>
        </p15:guide>
        <p15:guide id="14" orient="horz" pos="1272">
          <p15:clr>
            <a:srgbClr val="FBAE40"/>
          </p15:clr>
        </p15:guide>
        <p15:guide id="15" orient="horz" pos="60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rimary - Blank - 1 Line Hea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8260519-0A36-FC4E-A441-2C51A9413418}"/>
              </a:ext>
            </a:extLst>
          </p:cNvPr>
          <p:cNvSpPr/>
          <p:nvPr/>
        </p:nvSpPr>
        <p:spPr>
          <a:xfrm>
            <a:off x="11811000" y="1"/>
            <a:ext cx="381000" cy="6857999"/>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5">
            <a:extLst>
              <a:ext uri="{FF2B5EF4-FFF2-40B4-BE49-F238E27FC236}">
                <a16:creationId xmlns:a16="http://schemas.microsoft.com/office/drawing/2014/main" id="{7BF7E0E1-B763-EA4B-83D8-6C299A7CA27F}"/>
              </a:ext>
            </a:extLst>
          </p:cNvPr>
          <p:cNvSpPr>
            <a:spLocks noGrp="1"/>
          </p:cNvSpPr>
          <p:nvPr>
            <p:ph type="sldNum" sz="quarter" idx="12"/>
          </p:nvPr>
        </p:nvSpPr>
        <p:spPr>
          <a:xfrm>
            <a:off x="11823690" y="6104964"/>
            <a:ext cx="368310" cy="194343"/>
          </a:xfrm>
          <a:prstGeom prst="rect">
            <a:avLst/>
          </a:prstGeom>
        </p:spPr>
        <p:txBody>
          <a:bodyPr lIns="0" rIns="0"/>
          <a:lstStyle>
            <a:lvl1pPr algn="ctr">
              <a:defRPr sz="1000" b="0" i="0" baseline="0">
                <a:solidFill>
                  <a:schemeClr val="bg1">
                    <a:lumMod val="65000"/>
                  </a:schemeClr>
                </a:solidFill>
                <a:latin typeface="Arial" panose="020B0604020202020204" pitchFamily="34" charset="0"/>
              </a:defRPr>
            </a:lvl1pPr>
          </a:lstStyle>
          <a:p>
            <a:fld id="{15213995-08BF-9544-B88D-65564A710159}" type="slidenum">
              <a:rPr lang="en-US" smtClean="0"/>
              <a:pPr/>
              <a:t>‹#›</a:t>
            </a:fld>
            <a:endParaRPr lang="en-US"/>
          </a:p>
        </p:txBody>
      </p:sp>
      <p:sp>
        <p:nvSpPr>
          <p:cNvPr id="13" name="Text Placeholder 12">
            <a:extLst>
              <a:ext uri="{FF2B5EF4-FFF2-40B4-BE49-F238E27FC236}">
                <a16:creationId xmlns:a16="http://schemas.microsoft.com/office/drawing/2014/main" id="{307379AA-6FB8-6046-8459-99DFA4FE70F9}"/>
              </a:ext>
            </a:extLst>
          </p:cNvPr>
          <p:cNvSpPr>
            <a:spLocks noGrp="1"/>
          </p:cNvSpPr>
          <p:nvPr>
            <p:ph type="body" sz="quarter" idx="13" hasCustomPrompt="1"/>
          </p:nvPr>
        </p:nvSpPr>
        <p:spPr>
          <a:xfrm>
            <a:off x="571501" y="571501"/>
            <a:ext cx="4762499" cy="366948"/>
          </a:xfrm>
          <a:prstGeom prst="rect">
            <a:avLst/>
          </a:prstGeom>
        </p:spPr>
        <p:txBody>
          <a:bodyPr lIns="0" tIns="0" rIns="0" bIns="0"/>
          <a:lstStyle>
            <a:lvl1pPr marL="0" indent="0">
              <a:buNone/>
              <a:defRPr sz="1800" b="1"/>
            </a:lvl1pPr>
          </a:lstStyle>
          <a:p>
            <a:pPr lvl="0"/>
            <a:r>
              <a:rPr lang="en-US"/>
              <a:t>Headline Goes Here</a:t>
            </a:r>
          </a:p>
        </p:txBody>
      </p:sp>
      <p:sp>
        <p:nvSpPr>
          <p:cNvPr id="18" name="Text Placeholder 17">
            <a:extLst>
              <a:ext uri="{FF2B5EF4-FFF2-40B4-BE49-F238E27FC236}">
                <a16:creationId xmlns:a16="http://schemas.microsoft.com/office/drawing/2014/main" id="{38D45759-6B54-8849-A064-89BA55AF79EE}"/>
              </a:ext>
            </a:extLst>
          </p:cNvPr>
          <p:cNvSpPr>
            <a:spLocks noGrp="1"/>
          </p:cNvSpPr>
          <p:nvPr>
            <p:ph type="body" sz="quarter" idx="15" hasCustomPrompt="1"/>
          </p:nvPr>
        </p:nvSpPr>
        <p:spPr>
          <a:xfrm>
            <a:off x="571500" y="938449"/>
            <a:ext cx="4762500" cy="838477"/>
          </a:xfrm>
          <a:prstGeom prst="rect">
            <a:avLst/>
          </a:prstGeom>
        </p:spPr>
        <p:txBody>
          <a:bodyPr lIns="0" tIns="0" rIns="0" bIns="0"/>
          <a:lstStyle>
            <a:lvl1pPr marL="0" indent="0">
              <a:buNone/>
              <a:defRPr sz="1400">
                <a:solidFill>
                  <a:schemeClr val="tx1">
                    <a:lumMod val="50000"/>
                    <a:lumOff val="50000"/>
                  </a:schemeClr>
                </a:solidFill>
              </a:defRPr>
            </a:lvl1pPr>
          </a:lstStyle>
          <a:p>
            <a:pPr lvl="0"/>
            <a:r>
              <a:rPr lang="en-US"/>
              <a:t>Subhead goes here.</a:t>
            </a:r>
          </a:p>
        </p:txBody>
      </p:sp>
      <p:pic>
        <p:nvPicPr>
          <p:cNvPr id="7" name="Picture 6">
            <a:extLst>
              <a:ext uri="{FF2B5EF4-FFF2-40B4-BE49-F238E27FC236}">
                <a16:creationId xmlns:a16="http://schemas.microsoft.com/office/drawing/2014/main" id="{FB29FC89-2949-EA4D-BB35-7F3283E13813}"/>
              </a:ext>
            </a:extLst>
          </p:cNvPr>
          <p:cNvPicPr>
            <a:picLocks noChangeAspect="1"/>
          </p:cNvPicPr>
          <p:nvPr/>
        </p:nvPicPr>
        <p:blipFill>
          <a:blip r:embed="rId2"/>
          <a:stretch>
            <a:fillRect/>
          </a:stretch>
        </p:blipFill>
        <p:spPr>
          <a:xfrm rot="5400000">
            <a:off x="10614538" y="1805269"/>
            <a:ext cx="2792210" cy="203997"/>
          </a:xfrm>
          <a:prstGeom prst="rect">
            <a:avLst/>
          </a:prstGeom>
        </p:spPr>
      </p:pic>
      <p:pic>
        <p:nvPicPr>
          <p:cNvPr id="8" name="Picture 5">
            <a:extLst>
              <a:ext uri="{FF2B5EF4-FFF2-40B4-BE49-F238E27FC236}">
                <a16:creationId xmlns:a16="http://schemas.microsoft.com/office/drawing/2014/main" id="{600B8C24-95A7-DE9E-9380-71DD7A5B4262}"/>
              </a:ext>
            </a:extLst>
          </p:cNvPr>
          <p:cNvPicPr>
            <a:picLocks noChangeAspect="1"/>
          </p:cNvPicPr>
          <p:nvPr/>
        </p:nvPicPr>
        <p:blipFill>
          <a:blip r:embed="rId3"/>
          <a:stretch>
            <a:fillRect/>
          </a:stretch>
        </p:blipFill>
        <p:spPr>
          <a:xfrm>
            <a:off x="11836985" y="1552360"/>
            <a:ext cx="341161" cy="2236860"/>
          </a:xfrm>
          <a:prstGeom prst="rect">
            <a:avLst/>
          </a:prstGeom>
        </p:spPr>
      </p:pic>
      <p:sp>
        <p:nvSpPr>
          <p:cNvPr id="9" name="Rectangle 3">
            <a:extLst>
              <a:ext uri="{FF2B5EF4-FFF2-40B4-BE49-F238E27FC236}">
                <a16:creationId xmlns:a16="http://schemas.microsoft.com/office/drawing/2014/main" id="{D8260519-0A36-FC4E-A441-2C51A9413418}"/>
              </a:ext>
            </a:extLst>
          </p:cNvPr>
          <p:cNvSpPr/>
          <p:nvPr/>
        </p:nvSpPr>
        <p:spPr>
          <a:xfrm>
            <a:off x="11811000" y="1"/>
            <a:ext cx="381000" cy="6857999"/>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3">
            <a:extLst>
              <a:ext uri="{FF2B5EF4-FFF2-40B4-BE49-F238E27FC236}">
                <a16:creationId xmlns:a16="http://schemas.microsoft.com/office/drawing/2014/main" id="{557A1A51-2427-6407-E444-DE61AD647948}"/>
              </a:ext>
            </a:extLst>
          </p:cNvPr>
          <p:cNvSpPr/>
          <p:nvPr/>
        </p:nvSpPr>
        <p:spPr>
          <a:xfrm>
            <a:off x="11811000" y="1"/>
            <a:ext cx="381000" cy="6857999"/>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6">
            <a:extLst>
              <a:ext uri="{FF2B5EF4-FFF2-40B4-BE49-F238E27FC236}">
                <a16:creationId xmlns:a16="http://schemas.microsoft.com/office/drawing/2014/main" id="{AB21A83B-FD2E-1B69-B31E-688DD6CCD661}"/>
              </a:ext>
            </a:extLst>
          </p:cNvPr>
          <p:cNvPicPr>
            <a:picLocks noChangeAspect="1"/>
          </p:cNvPicPr>
          <p:nvPr/>
        </p:nvPicPr>
        <p:blipFill>
          <a:blip r:embed="rId2"/>
          <a:stretch>
            <a:fillRect/>
          </a:stretch>
        </p:blipFill>
        <p:spPr>
          <a:xfrm rot="5400000">
            <a:off x="10614538" y="1805269"/>
            <a:ext cx="2792210" cy="203997"/>
          </a:xfrm>
          <a:prstGeom prst="rect">
            <a:avLst/>
          </a:prstGeom>
        </p:spPr>
      </p:pic>
      <p:pic>
        <p:nvPicPr>
          <p:cNvPr id="6" name="Picture 3">
            <a:extLst>
              <a:ext uri="{FF2B5EF4-FFF2-40B4-BE49-F238E27FC236}">
                <a16:creationId xmlns:a16="http://schemas.microsoft.com/office/drawing/2014/main" id="{CF07597C-57EE-FCD0-E0EF-A2A6A73A7F94}"/>
              </a:ext>
            </a:extLst>
          </p:cNvPr>
          <p:cNvPicPr>
            <a:picLocks noChangeAspect="1"/>
          </p:cNvPicPr>
          <p:nvPr/>
        </p:nvPicPr>
        <p:blipFill>
          <a:blip r:embed="rId3"/>
          <a:stretch>
            <a:fillRect/>
          </a:stretch>
        </p:blipFill>
        <p:spPr>
          <a:xfrm>
            <a:off x="11830919" y="1552360"/>
            <a:ext cx="341161" cy="2236860"/>
          </a:xfrm>
          <a:prstGeom prst="rect">
            <a:avLst/>
          </a:prstGeom>
        </p:spPr>
      </p:pic>
      <p:sp>
        <p:nvSpPr>
          <p:cNvPr id="10" name="Rectangle 3">
            <a:extLst>
              <a:ext uri="{FF2B5EF4-FFF2-40B4-BE49-F238E27FC236}">
                <a16:creationId xmlns:a16="http://schemas.microsoft.com/office/drawing/2014/main" id="{2A3D9475-7168-8312-C886-731CDCCD71BE}"/>
              </a:ext>
            </a:extLst>
          </p:cNvPr>
          <p:cNvSpPr/>
          <p:nvPr userDrawn="1"/>
        </p:nvSpPr>
        <p:spPr>
          <a:xfrm>
            <a:off x="11811000" y="1"/>
            <a:ext cx="381000" cy="6857999"/>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群組 15">
            <a:extLst>
              <a:ext uri="{FF2B5EF4-FFF2-40B4-BE49-F238E27FC236}">
                <a16:creationId xmlns:a16="http://schemas.microsoft.com/office/drawing/2014/main" id="{BC3CDDF1-00E9-E4D2-A286-36008BFF93C0}"/>
              </a:ext>
            </a:extLst>
          </p:cNvPr>
          <p:cNvGrpSpPr/>
          <p:nvPr userDrawn="1"/>
        </p:nvGrpSpPr>
        <p:grpSpPr>
          <a:xfrm>
            <a:off x="11756483" y="660266"/>
            <a:ext cx="392419" cy="2081042"/>
            <a:chOff x="4716778" y="1328148"/>
            <a:chExt cx="392419" cy="2081042"/>
          </a:xfrm>
        </p:grpSpPr>
        <p:pic>
          <p:nvPicPr>
            <p:cNvPr id="17" name="Picture 6">
              <a:extLst>
                <a:ext uri="{FF2B5EF4-FFF2-40B4-BE49-F238E27FC236}">
                  <a16:creationId xmlns:a16="http://schemas.microsoft.com/office/drawing/2014/main" id="{DFAE7C42-856A-75BC-00B4-19A5C29B3DCA}"/>
                </a:ext>
              </a:extLst>
            </p:cNvPr>
            <p:cNvPicPr>
              <a:picLocks noChangeAspect="1"/>
            </p:cNvPicPr>
            <p:nvPr userDrawn="1"/>
          </p:nvPicPr>
          <p:blipFill rotWithShape="1">
            <a:blip r:embed="rId2"/>
            <a:srcRect r="61434" b="-36631"/>
            <a:stretch/>
          </p:blipFill>
          <p:spPr>
            <a:xfrm rot="5400000">
              <a:off x="4287092" y="1757834"/>
              <a:ext cx="1240374" cy="381001"/>
            </a:xfrm>
            <a:prstGeom prst="rect">
              <a:avLst/>
            </a:prstGeom>
          </p:spPr>
        </p:pic>
        <p:pic>
          <p:nvPicPr>
            <p:cNvPr id="19" name="圖片 18" descr="一張含有 字型, 圖形, 文字, 標誌 的圖片&#10;&#10;自動產生的描述">
              <a:extLst>
                <a:ext uri="{FF2B5EF4-FFF2-40B4-BE49-F238E27FC236}">
                  <a16:creationId xmlns:a16="http://schemas.microsoft.com/office/drawing/2014/main" id="{D3F3C8E0-6DA0-7FCC-5133-BBBF8E1BCA77}"/>
                </a:ext>
              </a:extLst>
            </p:cNvPr>
            <p:cNvPicPr>
              <a:picLocks noChangeAspect="1"/>
            </p:cNvPicPr>
            <p:nvPr userDrawn="1"/>
          </p:nvPicPr>
          <p:blipFill>
            <a:blip r:embed="rId4"/>
            <a:stretch>
              <a:fillRect/>
            </a:stretch>
          </p:blipFill>
          <p:spPr>
            <a:xfrm rot="5400000">
              <a:off x="4495000" y="2794994"/>
              <a:ext cx="904393" cy="324000"/>
            </a:xfrm>
            <a:prstGeom prst="rect">
              <a:avLst/>
            </a:prstGeom>
          </p:spPr>
        </p:pic>
      </p:grpSp>
    </p:spTree>
    <p:extLst>
      <p:ext uri="{BB962C8B-B14F-4D97-AF65-F5344CB8AC3E}">
        <p14:creationId xmlns:p14="http://schemas.microsoft.com/office/powerpoint/2010/main" val="248858700"/>
      </p:ext>
    </p:extLst>
  </p:cSld>
  <p:clrMapOvr>
    <a:masterClrMapping/>
  </p:clrMapOvr>
  <p:extLst>
    <p:ext uri="{DCECCB84-F9BA-43D5-87BE-67443E8EF086}">
      <p15:sldGuideLst xmlns:p15="http://schemas.microsoft.com/office/powerpoint/2012/main">
        <p15:guide id="1" pos="360">
          <p15:clr>
            <a:srgbClr val="FBAE40"/>
          </p15:clr>
        </p15:guide>
        <p15:guide id="2" orient="horz" pos="360">
          <p15:clr>
            <a:srgbClr val="FBAE40"/>
          </p15:clr>
        </p15:guide>
        <p15:guide id="3" pos="7080">
          <p15:clr>
            <a:srgbClr val="FBAE40"/>
          </p15:clr>
        </p15:guide>
        <p15:guide id="4" orient="horz" pos="3960">
          <p15:clr>
            <a:srgbClr val="FBAE40"/>
          </p15:clr>
        </p15:guide>
        <p15:guide id="5" pos="3720">
          <p15:clr>
            <a:srgbClr val="FBAE40"/>
          </p15:clr>
        </p15:guide>
        <p15:guide id="6" pos="7440">
          <p15:clr>
            <a:srgbClr val="FBAE40"/>
          </p15:clr>
        </p15:guide>
        <p15:guide id="7" pos="4080">
          <p15:clr>
            <a:srgbClr val="FBAE40"/>
          </p15:clr>
        </p15:guide>
        <p15:guide id="8" pos="3360">
          <p15:clr>
            <a:srgbClr val="FBAE40"/>
          </p15:clr>
        </p15:guide>
        <p15:guide id="9" pos="2664">
          <p15:clr>
            <a:srgbClr val="FBAE40"/>
          </p15:clr>
        </p15:guide>
        <p15:guide id="10" pos="4944">
          <p15:clr>
            <a:srgbClr val="FBAE40"/>
          </p15:clr>
        </p15:guide>
        <p15:guide id="11" pos="2496">
          <p15:clr>
            <a:srgbClr val="FBAE40"/>
          </p15:clr>
        </p15:guide>
        <p15:guide id="12" pos="4776">
          <p15:clr>
            <a:srgbClr val="FBAE40"/>
          </p15:clr>
        </p15:guide>
        <p15:guide id="19" orient="horz" pos="2160" userDrawn="1">
          <p15:clr>
            <a:srgbClr val="FBAE40"/>
          </p15:clr>
        </p15:guide>
        <p15:guide id="20" orient="horz" pos="1272" userDrawn="1">
          <p15:clr>
            <a:srgbClr val="FBAE40"/>
          </p15:clr>
        </p15:guide>
        <p15:guide id="21" orient="horz" pos="60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rimary - Blank - 2 Line Hea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8260519-0A36-FC4E-A441-2C51A9413418}"/>
              </a:ext>
            </a:extLst>
          </p:cNvPr>
          <p:cNvSpPr/>
          <p:nvPr/>
        </p:nvSpPr>
        <p:spPr>
          <a:xfrm>
            <a:off x="11811000" y="1"/>
            <a:ext cx="381000" cy="6857999"/>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5">
            <a:extLst>
              <a:ext uri="{FF2B5EF4-FFF2-40B4-BE49-F238E27FC236}">
                <a16:creationId xmlns:a16="http://schemas.microsoft.com/office/drawing/2014/main" id="{7BF7E0E1-B763-EA4B-83D8-6C299A7CA27F}"/>
              </a:ext>
            </a:extLst>
          </p:cNvPr>
          <p:cNvSpPr>
            <a:spLocks noGrp="1"/>
          </p:cNvSpPr>
          <p:nvPr>
            <p:ph type="sldNum" sz="quarter" idx="12"/>
          </p:nvPr>
        </p:nvSpPr>
        <p:spPr>
          <a:xfrm>
            <a:off x="11823690" y="6104964"/>
            <a:ext cx="368310" cy="194343"/>
          </a:xfrm>
          <a:prstGeom prst="rect">
            <a:avLst/>
          </a:prstGeom>
        </p:spPr>
        <p:txBody>
          <a:bodyPr lIns="0" rIns="0"/>
          <a:lstStyle>
            <a:lvl1pPr algn="ctr">
              <a:defRPr sz="1000" b="0" i="0" baseline="0">
                <a:solidFill>
                  <a:schemeClr val="bg1">
                    <a:lumMod val="65000"/>
                  </a:schemeClr>
                </a:solidFill>
                <a:latin typeface="Arial" panose="020B0604020202020204" pitchFamily="34" charset="0"/>
              </a:defRPr>
            </a:lvl1pPr>
          </a:lstStyle>
          <a:p>
            <a:fld id="{15213995-08BF-9544-B88D-65564A710159}" type="slidenum">
              <a:rPr lang="en-US" smtClean="0"/>
              <a:pPr/>
              <a:t>‹#›</a:t>
            </a:fld>
            <a:endParaRPr lang="en-US"/>
          </a:p>
        </p:txBody>
      </p:sp>
      <p:sp>
        <p:nvSpPr>
          <p:cNvPr id="13" name="Text Placeholder 12">
            <a:extLst>
              <a:ext uri="{FF2B5EF4-FFF2-40B4-BE49-F238E27FC236}">
                <a16:creationId xmlns:a16="http://schemas.microsoft.com/office/drawing/2014/main" id="{307379AA-6FB8-6046-8459-99DFA4FE70F9}"/>
              </a:ext>
            </a:extLst>
          </p:cNvPr>
          <p:cNvSpPr>
            <a:spLocks noGrp="1"/>
          </p:cNvSpPr>
          <p:nvPr>
            <p:ph type="body" sz="quarter" idx="13" hasCustomPrompt="1"/>
          </p:nvPr>
        </p:nvSpPr>
        <p:spPr>
          <a:xfrm>
            <a:off x="571501" y="571501"/>
            <a:ext cx="4762499" cy="470646"/>
          </a:xfrm>
          <a:prstGeom prst="rect">
            <a:avLst/>
          </a:prstGeom>
        </p:spPr>
        <p:txBody>
          <a:bodyPr lIns="0" tIns="0" rIns="0" bIns="0"/>
          <a:lstStyle>
            <a:lvl1pPr marL="0" indent="0">
              <a:spcBef>
                <a:spcPts val="0"/>
              </a:spcBef>
              <a:buNone/>
              <a:defRPr sz="1800" b="1"/>
            </a:lvl1pPr>
          </a:lstStyle>
          <a:p>
            <a:pPr lvl="0"/>
            <a:r>
              <a:rPr lang="en-US"/>
              <a:t>Headline </a:t>
            </a:r>
          </a:p>
          <a:p>
            <a:pPr lvl="0"/>
            <a:r>
              <a:rPr lang="en-US"/>
              <a:t>Goes Here</a:t>
            </a:r>
          </a:p>
        </p:txBody>
      </p:sp>
      <p:sp>
        <p:nvSpPr>
          <p:cNvPr id="18" name="Text Placeholder 17">
            <a:extLst>
              <a:ext uri="{FF2B5EF4-FFF2-40B4-BE49-F238E27FC236}">
                <a16:creationId xmlns:a16="http://schemas.microsoft.com/office/drawing/2014/main" id="{38D45759-6B54-8849-A064-89BA55AF79EE}"/>
              </a:ext>
            </a:extLst>
          </p:cNvPr>
          <p:cNvSpPr>
            <a:spLocks noGrp="1"/>
          </p:cNvSpPr>
          <p:nvPr>
            <p:ph type="body" sz="quarter" idx="15" hasCustomPrompt="1"/>
          </p:nvPr>
        </p:nvSpPr>
        <p:spPr>
          <a:xfrm>
            <a:off x="571500" y="1196791"/>
            <a:ext cx="4762500" cy="625285"/>
          </a:xfrm>
          <a:prstGeom prst="rect">
            <a:avLst/>
          </a:prstGeom>
        </p:spPr>
        <p:txBody>
          <a:bodyPr lIns="0" tIns="0" rIns="0" bIns="0"/>
          <a:lstStyle>
            <a:lvl1pPr marL="0" indent="0">
              <a:buNone/>
              <a:defRPr sz="1400">
                <a:solidFill>
                  <a:schemeClr val="tx1">
                    <a:lumMod val="50000"/>
                    <a:lumOff val="50000"/>
                  </a:schemeClr>
                </a:solidFill>
              </a:defRPr>
            </a:lvl1pPr>
          </a:lstStyle>
          <a:p>
            <a:pPr lvl="0"/>
            <a:r>
              <a:rPr lang="en-US"/>
              <a:t>Subhead goes here.</a:t>
            </a:r>
          </a:p>
        </p:txBody>
      </p:sp>
      <p:pic>
        <p:nvPicPr>
          <p:cNvPr id="7" name="Picture 6">
            <a:extLst>
              <a:ext uri="{FF2B5EF4-FFF2-40B4-BE49-F238E27FC236}">
                <a16:creationId xmlns:a16="http://schemas.microsoft.com/office/drawing/2014/main" id="{BD3F475F-63C5-1E47-8F26-10A94BCB2127}"/>
              </a:ext>
            </a:extLst>
          </p:cNvPr>
          <p:cNvPicPr>
            <a:picLocks noChangeAspect="1"/>
          </p:cNvPicPr>
          <p:nvPr/>
        </p:nvPicPr>
        <p:blipFill>
          <a:blip r:embed="rId2"/>
          <a:stretch>
            <a:fillRect/>
          </a:stretch>
        </p:blipFill>
        <p:spPr>
          <a:xfrm rot="5400000">
            <a:off x="10614538" y="1805269"/>
            <a:ext cx="2792210" cy="203997"/>
          </a:xfrm>
          <a:prstGeom prst="rect">
            <a:avLst/>
          </a:prstGeom>
        </p:spPr>
      </p:pic>
      <p:pic>
        <p:nvPicPr>
          <p:cNvPr id="8" name="Picture 5">
            <a:extLst>
              <a:ext uri="{FF2B5EF4-FFF2-40B4-BE49-F238E27FC236}">
                <a16:creationId xmlns:a16="http://schemas.microsoft.com/office/drawing/2014/main" id="{63F4A891-AB9A-8A19-375A-1C6866575C4D}"/>
              </a:ext>
            </a:extLst>
          </p:cNvPr>
          <p:cNvPicPr>
            <a:picLocks noChangeAspect="1"/>
          </p:cNvPicPr>
          <p:nvPr/>
        </p:nvPicPr>
        <p:blipFill>
          <a:blip r:embed="rId3"/>
          <a:stretch>
            <a:fillRect/>
          </a:stretch>
        </p:blipFill>
        <p:spPr>
          <a:xfrm>
            <a:off x="11836985" y="1552360"/>
            <a:ext cx="341161" cy="2236860"/>
          </a:xfrm>
          <a:prstGeom prst="rect">
            <a:avLst/>
          </a:prstGeom>
        </p:spPr>
      </p:pic>
      <p:sp>
        <p:nvSpPr>
          <p:cNvPr id="9" name="Rectangle 3">
            <a:extLst>
              <a:ext uri="{FF2B5EF4-FFF2-40B4-BE49-F238E27FC236}">
                <a16:creationId xmlns:a16="http://schemas.microsoft.com/office/drawing/2014/main" id="{D8260519-0A36-FC4E-A441-2C51A9413418}"/>
              </a:ext>
            </a:extLst>
          </p:cNvPr>
          <p:cNvSpPr/>
          <p:nvPr/>
        </p:nvSpPr>
        <p:spPr>
          <a:xfrm>
            <a:off x="11811000" y="1"/>
            <a:ext cx="381000" cy="6857999"/>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3">
            <a:extLst>
              <a:ext uri="{FF2B5EF4-FFF2-40B4-BE49-F238E27FC236}">
                <a16:creationId xmlns:a16="http://schemas.microsoft.com/office/drawing/2014/main" id="{2026C50D-4A5F-0996-7D68-E01BDD71DB15}"/>
              </a:ext>
            </a:extLst>
          </p:cNvPr>
          <p:cNvSpPr/>
          <p:nvPr/>
        </p:nvSpPr>
        <p:spPr>
          <a:xfrm>
            <a:off x="11811000" y="1"/>
            <a:ext cx="381000" cy="6857999"/>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6">
            <a:extLst>
              <a:ext uri="{FF2B5EF4-FFF2-40B4-BE49-F238E27FC236}">
                <a16:creationId xmlns:a16="http://schemas.microsoft.com/office/drawing/2014/main" id="{AEF4E91D-2BB0-606C-1CDC-A35EB797FC7E}"/>
              </a:ext>
            </a:extLst>
          </p:cNvPr>
          <p:cNvPicPr>
            <a:picLocks noChangeAspect="1"/>
          </p:cNvPicPr>
          <p:nvPr/>
        </p:nvPicPr>
        <p:blipFill>
          <a:blip r:embed="rId2"/>
          <a:stretch>
            <a:fillRect/>
          </a:stretch>
        </p:blipFill>
        <p:spPr>
          <a:xfrm rot="5400000">
            <a:off x="10614538" y="1805269"/>
            <a:ext cx="2792210" cy="203997"/>
          </a:xfrm>
          <a:prstGeom prst="rect">
            <a:avLst/>
          </a:prstGeom>
        </p:spPr>
      </p:pic>
      <p:pic>
        <p:nvPicPr>
          <p:cNvPr id="6" name="Picture 3">
            <a:extLst>
              <a:ext uri="{FF2B5EF4-FFF2-40B4-BE49-F238E27FC236}">
                <a16:creationId xmlns:a16="http://schemas.microsoft.com/office/drawing/2014/main" id="{054025FF-3EDA-E885-EA43-EDCE83C4D68B}"/>
              </a:ext>
            </a:extLst>
          </p:cNvPr>
          <p:cNvPicPr>
            <a:picLocks noChangeAspect="1"/>
          </p:cNvPicPr>
          <p:nvPr/>
        </p:nvPicPr>
        <p:blipFill>
          <a:blip r:embed="rId3"/>
          <a:stretch>
            <a:fillRect/>
          </a:stretch>
        </p:blipFill>
        <p:spPr>
          <a:xfrm>
            <a:off x="11830919" y="1552360"/>
            <a:ext cx="341161" cy="2236860"/>
          </a:xfrm>
          <a:prstGeom prst="rect">
            <a:avLst/>
          </a:prstGeom>
        </p:spPr>
      </p:pic>
      <p:sp>
        <p:nvSpPr>
          <p:cNvPr id="10" name="Rectangle 3">
            <a:extLst>
              <a:ext uri="{FF2B5EF4-FFF2-40B4-BE49-F238E27FC236}">
                <a16:creationId xmlns:a16="http://schemas.microsoft.com/office/drawing/2014/main" id="{38F661FF-97E8-29D8-974B-C66C6BD61E3F}"/>
              </a:ext>
            </a:extLst>
          </p:cNvPr>
          <p:cNvSpPr/>
          <p:nvPr userDrawn="1"/>
        </p:nvSpPr>
        <p:spPr>
          <a:xfrm>
            <a:off x="11811000" y="1"/>
            <a:ext cx="381000" cy="6857999"/>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群組 15">
            <a:extLst>
              <a:ext uri="{FF2B5EF4-FFF2-40B4-BE49-F238E27FC236}">
                <a16:creationId xmlns:a16="http://schemas.microsoft.com/office/drawing/2014/main" id="{B4B8CB63-5AB2-64BE-A5B6-3B406ECD73AE}"/>
              </a:ext>
            </a:extLst>
          </p:cNvPr>
          <p:cNvGrpSpPr/>
          <p:nvPr userDrawn="1"/>
        </p:nvGrpSpPr>
        <p:grpSpPr>
          <a:xfrm>
            <a:off x="11756483" y="660266"/>
            <a:ext cx="392419" cy="2081042"/>
            <a:chOff x="4716778" y="1328148"/>
            <a:chExt cx="392419" cy="2081042"/>
          </a:xfrm>
        </p:grpSpPr>
        <p:pic>
          <p:nvPicPr>
            <p:cNvPr id="17" name="Picture 6">
              <a:extLst>
                <a:ext uri="{FF2B5EF4-FFF2-40B4-BE49-F238E27FC236}">
                  <a16:creationId xmlns:a16="http://schemas.microsoft.com/office/drawing/2014/main" id="{4D581970-7F3E-73FD-2AF2-5F3F0A121A49}"/>
                </a:ext>
              </a:extLst>
            </p:cNvPr>
            <p:cNvPicPr>
              <a:picLocks noChangeAspect="1"/>
            </p:cNvPicPr>
            <p:nvPr userDrawn="1"/>
          </p:nvPicPr>
          <p:blipFill rotWithShape="1">
            <a:blip r:embed="rId2"/>
            <a:srcRect r="61434" b="-36631"/>
            <a:stretch/>
          </p:blipFill>
          <p:spPr>
            <a:xfrm rot="5400000">
              <a:off x="4287092" y="1757834"/>
              <a:ext cx="1240374" cy="381001"/>
            </a:xfrm>
            <a:prstGeom prst="rect">
              <a:avLst/>
            </a:prstGeom>
          </p:spPr>
        </p:pic>
        <p:pic>
          <p:nvPicPr>
            <p:cNvPr id="19" name="圖片 18" descr="一張含有 字型, 圖形, 文字, 標誌 的圖片&#10;&#10;自動產生的描述">
              <a:extLst>
                <a:ext uri="{FF2B5EF4-FFF2-40B4-BE49-F238E27FC236}">
                  <a16:creationId xmlns:a16="http://schemas.microsoft.com/office/drawing/2014/main" id="{739875B6-CE19-0436-22E3-09811BE3A115}"/>
                </a:ext>
              </a:extLst>
            </p:cNvPr>
            <p:cNvPicPr>
              <a:picLocks noChangeAspect="1"/>
            </p:cNvPicPr>
            <p:nvPr userDrawn="1"/>
          </p:nvPicPr>
          <p:blipFill>
            <a:blip r:embed="rId4"/>
            <a:stretch>
              <a:fillRect/>
            </a:stretch>
          </p:blipFill>
          <p:spPr>
            <a:xfrm rot="5400000">
              <a:off x="4495000" y="2794994"/>
              <a:ext cx="904393" cy="324000"/>
            </a:xfrm>
            <a:prstGeom prst="rect">
              <a:avLst/>
            </a:prstGeom>
          </p:spPr>
        </p:pic>
      </p:grpSp>
    </p:spTree>
    <p:extLst>
      <p:ext uri="{BB962C8B-B14F-4D97-AF65-F5344CB8AC3E}">
        <p14:creationId xmlns:p14="http://schemas.microsoft.com/office/powerpoint/2010/main" val="1937626221"/>
      </p:ext>
    </p:extLst>
  </p:cSld>
  <p:clrMapOvr>
    <a:masterClrMapping/>
  </p:clrMapOvr>
  <p:extLst>
    <p:ext uri="{DCECCB84-F9BA-43D5-87BE-67443E8EF086}">
      <p15:sldGuideLst xmlns:p15="http://schemas.microsoft.com/office/powerpoint/2012/main">
        <p15:guide id="1" pos="360">
          <p15:clr>
            <a:srgbClr val="FBAE40"/>
          </p15:clr>
        </p15:guide>
        <p15:guide id="2" orient="horz" pos="360">
          <p15:clr>
            <a:srgbClr val="FBAE40"/>
          </p15:clr>
        </p15:guide>
        <p15:guide id="3" pos="7080">
          <p15:clr>
            <a:srgbClr val="FBAE40"/>
          </p15:clr>
        </p15:guide>
        <p15:guide id="4" orient="horz" pos="3960">
          <p15:clr>
            <a:srgbClr val="FBAE40"/>
          </p15:clr>
        </p15:guide>
        <p15:guide id="5" pos="3720">
          <p15:clr>
            <a:srgbClr val="FBAE40"/>
          </p15:clr>
        </p15:guide>
        <p15:guide id="6" pos="7440">
          <p15:clr>
            <a:srgbClr val="FBAE40"/>
          </p15:clr>
        </p15:guide>
        <p15:guide id="7" pos="4080">
          <p15:clr>
            <a:srgbClr val="FBAE40"/>
          </p15:clr>
        </p15:guide>
        <p15:guide id="8" pos="3360">
          <p15:clr>
            <a:srgbClr val="FBAE40"/>
          </p15:clr>
        </p15:guide>
        <p15:guide id="9" pos="2664">
          <p15:clr>
            <a:srgbClr val="FBAE40"/>
          </p15:clr>
        </p15:guide>
        <p15:guide id="10" pos="4944">
          <p15:clr>
            <a:srgbClr val="FBAE40"/>
          </p15:clr>
        </p15:guide>
        <p15:guide id="11" pos="2496">
          <p15:clr>
            <a:srgbClr val="FBAE40"/>
          </p15:clr>
        </p15:guide>
        <p15:guide id="12" pos="4776">
          <p15:clr>
            <a:srgbClr val="FBAE40"/>
          </p15:clr>
        </p15:guide>
        <p15:guide id="13" orient="horz" pos="2160">
          <p15:clr>
            <a:srgbClr val="FBAE40"/>
          </p15:clr>
        </p15:guide>
        <p15:guide id="14" orient="horz" pos="1272">
          <p15:clr>
            <a:srgbClr val="FBAE40"/>
          </p15:clr>
        </p15:guide>
        <p15:guide id="15" orient="horz" pos="744"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1_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307709" y="401637"/>
            <a:ext cx="4468495" cy="1855470"/>
          </a:xfrm>
          <a:prstGeom prst="rect">
            <a:avLst/>
          </a:prstGeom>
        </p:spPr>
        <p:txBody>
          <a:bodyPr wrap="square" lIns="0" tIns="0" rIns="0" bIns="0">
            <a:spAutoFit/>
          </a:bodyPr>
          <a:lstStyle>
            <a:lvl1pPr>
              <a:defRPr sz="4800" b="1" i="0">
                <a:solidFill>
                  <a:srgbClr val="4471C4"/>
                </a:solidFill>
                <a:latin typeface="Arial"/>
                <a:cs typeface="Arial"/>
              </a:defRPr>
            </a:lvl1pPr>
          </a:lstStyle>
          <a:p>
            <a:r>
              <a:rPr lang="zh-TW" altLang="en-US"/>
              <a:t>按一下以編輯母片標題樣式</a:t>
            </a:r>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r>
              <a:rPr lang="zh-TW" altLang="en-US"/>
              <a:t>按一下以編輯母片子標題樣式</a:t>
            </a:r>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lang="zh-TW" alt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D329293E-9D38-41A8-95E3-36BD25464F5C}" type="datetime1">
              <a:rPr lang="en-US" smtClean="0"/>
              <a:t>3/16/26</a:t>
            </a:fld>
            <a:endParaRPr lang="en-US"/>
          </a:p>
        </p:txBody>
      </p:sp>
      <p:sp>
        <p:nvSpPr>
          <p:cNvPr id="6" name="Holder 6"/>
          <p:cNvSpPr>
            <a:spLocks noGrp="1"/>
          </p:cNvSpPr>
          <p:nvPr>
            <p:ph type="sldNum" sz="quarter" idx="7"/>
          </p:nvPr>
        </p:nvSpPr>
        <p:spPr/>
        <p:txBody>
          <a:bodyPr lIns="0" tIns="0" rIns="0" bIns="0"/>
          <a:lstStyle>
            <a:lvl1pPr>
              <a:defRPr sz="1000" b="0" i="0">
                <a:solidFill>
                  <a:srgbClr val="A6A6A6"/>
                </a:solidFill>
                <a:latin typeface="Arial"/>
                <a:cs typeface="Arial"/>
              </a:defRPr>
            </a:lvl1pPr>
          </a:lstStyle>
          <a:p>
            <a:pPr marL="38100">
              <a:lnSpc>
                <a:spcPts val="1200"/>
              </a:lnSpc>
            </a:pPr>
            <a:fld id="{81D60167-4931-47E6-BA6A-407CBD079E47}" type="slidenum">
              <a:rPr lang="en-US" altLang="zh-TW" spc="-5" smtClean="0"/>
              <a:t>‹#›</a:t>
            </a:fld>
            <a:endParaRPr lang="zh-TW" altLang="en-US" spc="-5"/>
          </a:p>
        </p:txBody>
      </p:sp>
    </p:spTree>
    <p:extLst>
      <p:ext uri="{BB962C8B-B14F-4D97-AF65-F5344CB8AC3E}">
        <p14:creationId xmlns:p14="http://schemas.microsoft.com/office/powerpoint/2010/main" val="22772245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1_Section Opener">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587E46B-AD26-0344-8B50-C8C9BC0A2377}"/>
              </a:ext>
            </a:extLst>
          </p:cNvPr>
          <p:cNvSpPr>
            <a:spLocks noGrp="1"/>
          </p:cNvSpPr>
          <p:nvPr>
            <p:ph type="pic" sz="quarter" idx="13"/>
          </p:nvPr>
        </p:nvSpPr>
        <p:spPr>
          <a:xfrm>
            <a:off x="0" y="0"/>
            <a:ext cx="11810999" cy="6857999"/>
          </a:xfrm>
          <a:prstGeom prst="rect">
            <a:avLst/>
          </a:prstGeom>
          <a:solidFill>
            <a:schemeClr val="bg1">
              <a:lumMod val="95000"/>
            </a:schemeClr>
          </a:solidFill>
        </p:spPr>
        <p:txBody>
          <a:bodyPr/>
          <a:lstStyle/>
          <a:p>
            <a:r>
              <a:rPr lang="zh-TW" altLang="en-US"/>
              <a:t>按一下圖示以新增圖片</a:t>
            </a:r>
            <a:endParaRPr lang="en-US"/>
          </a:p>
        </p:txBody>
      </p:sp>
      <p:sp>
        <p:nvSpPr>
          <p:cNvPr id="4" name="Rectangle 3">
            <a:extLst>
              <a:ext uri="{FF2B5EF4-FFF2-40B4-BE49-F238E27FC236}">
                <a16:creationId xmlns:a16="http://schemas.microsoft.com/office/drawing/2014/main" id="{D8260519-0A36-FC4E-A441-2C51A9413418}"/>
              </a:ext>
            </a:extLst>
          </p:cNvPr>
          <p:cNvSpPr/>
          <p:nvPr/>
        </p:nvSpPr>
        <p:spPr>
          <a:xfrm>
            <a:off x="11811000" y="1"/>
            <a:ext cx="381000" cy="6857999"/>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5">
            <a:extLst>
              <a:ext uri="{FF2B5EF4-FFF2-40B4-BE49-F238E27FC236}">
                <a16:creationId xmlns:a16="http://schemas.microsoft.com/office/drawing/2014/main" id="{7BF7E0E1-B763-EA4B-83D8-6C299A7CA27F}"/>
              </a:ext>
            </a:extLst>
          </p:cNvPr>
          <p:cNvSpPr>
            <a:spLocks noGrp="1"/>
          </p:cNvSpPr>
          <p:nvPr>
            <p:ph type="sldNum" sz="quarter" idx="12"/>
          </p:nvPr>
        </p:nvSpPr>
        <p:spPr>
          <a:xfrm>
            <a:off x="11823690" y="6104964"/>
            <a:ext cx="368310" cy="194343"/>
          </a:xfrm>
          <a:prstGeom prst="rect">
            <a:avLst/>
          </a:prstGeom>
        </p:spPr>
        <p:txBody>
          <a:bodyPr lIns="0" rIns="0"/>
          <a:lstStyle>
            <a:lvl1pPr algn="ctr">
              <a:defRPr sz="1000" b="0" i="0" baseline="0">
                <a:solidFill>
                  <a:schemeClr val="bg1">
                    <a:lumMod val="65000"/>
                  </a:schemeClr>
                </a:solidFill>
                <a:latin typeface="Arial" panose="020B0604020202020204" pitchFamily="34" charset="0"/>
              </a:defRPr>
            </a:lvl1pPr>
          </a:lstStyle>
          <a:p>
            <a:fld id="{15213995-08BF-9544-B88D-65564A710159}" type="slidenum">
              <a:rPr lang="en-US" smtClean="0"/>
              <a:pPr/>
              <a:t>‹#›</a:t>
            </a:fld>
            <a:endParaRPr lang="en-US"/>
          </a:p>
        </p:txBody>
      </p:sp>
      <p:sp>
        <p:nvSpPr>
          <p:cNvPr id="7" name="Rectangle 6">
            <a:extLst>
              <a:ext uri="{FF2B5EF4-FFF2-40B4-BE49-F238E27FC236}">
                <a16:creationId xmlns:a16="http://schemas.microsoft.com/office/drawing/2014/main" id="{C4E7CF94-AB5C-6947-8340-DD3FE56178A4}"/>
              </a:ext>
            </a:extLst>
          </p:cNvPr>
          <p:cNvSpPr/>
          <p:nvPr/>
        </p:nvSpPr>
        <p:spPr>
          <a:xfrm>
            <a:off x="0" y="1"/>
            <a:ext cx="5905500" cy="6858000"/>
          </a:xfrm>
          <a:prstGeom prst="rect">
            <a:avLst/>
          </a:prstGeom>
          <a:solidFill>
            <a:srgbClr val="40404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12">
            <a:extLst>
              <a:ext uri="{FF2B5EF4-FFF2-40B4-BE49-F238E27FC236}">
                <a16:creationId xmlns:a16="http://schemas.microsoft.com/office/drawing/2014/main" id="{98DD65D2-2102-854C-96EE-72607525B618}"/>
              </a:ext>
            </a:extLst>
          </p:cNvPr>
          <p:cNvSpPr>
            <a:spLocks noGrp="1"/>
          </p:cNvSpPr>
          <p:nvPr>
            <p:ph type="body" sz="quarter" idx="14" hasCustomPrompt="1"/>
          </p:nvPr>
        </p:nvSpPr>
        <p:spPr>
          <a:xfrm>
            <a:off x="571500" y="571500"/>
            <a:ext cx="4762500" cy="5727700"/>
          </a:xfrm>
          <a:prstGeom prst="rect">
            <a:avLst/>
          </a:prstGeom>
        </p:spPr>
        <p:txBody>
          <a:bodyPr lIns="0" tIns="0" rIns="0" bIns="0" anchor="ctr" anchorCtr="0"/>
          <a:lstStyle>
            <a:lvl1pPr marL="0" indent="0">
              <a:lnSpc>
                <a:spcPct val="100000"/>
              </a:lnSpc>
              <a:buNone/>
              <a:defRPr sz="4400" b="1">
                <a:solidFill>
                  <a:schemeClr val="bg1"/>
                </a:solidFill>
              </a:defRPr>
            </a:lvl1pPr>
          </a:lstStyle>
          <a:p>
            <a:pPr lvl="0"/>
            <a:r>
              <a:rPr lang="en-US"/>
              <a:t>Section Header</a:t>
            </a:r>
          </a:p>
        </p:txBody>
      </p:sp>
      <p:pic>
        <p:nvPicPr>
          <p:cNvPr id="9" name="Picture 8">
            <a:extLst>
              <a:ext uri="{FF2B5EF4-FFF2-40B4-BE49-F238E27FC236}">
                <a16:creationId xmlns:a16="http://schemas.microsoft.com/office/drawing/2014/main" id="{6C2403B3-44F7-744A-9DC6-8E9D83203358}"/>
              </a:ext>
            </a:extLst>
          </p:cNvPr>
          <p:cNvPicPr>
            <a:picLocks noChangeAspect="1"/>
          </p:cNvPicPr>
          <p:nvPr/>
        </p:nvPicPr>
        <p:blipFill>
          <a:blip r:embed="rId2"/>
          <a:stretch>
            <a:fillRect/>
          </a:stretch>
        </p:blipFill>
        <p:spPr>
          <a:xfrm rot="5400000">
            <a:off x="10577457" y="1827871"/>
            <a:ext cx="2837417" cy="203997"/>
          </a:xfrm>
          <a:prstGeom prst="rect">
            <a:avLst/>
          </a:prstGeom>
        </p:spPr>
      </p:pic>
      <p:sp>
        <p:nvSpPr>
          <p:cNvPr id="8" name="Rectangle 7">
            <a:extLst>
              <a:ext uri="{FF2B5EF4-FFF2-40B4-BE49-F238E27FC236}">
                <a16:creationId xmlns:a16="http://schemas.microsoft.com/office/drawing/2014/main" id="{165F525E-6472-2346-8815-D4972C31A5E5}"/>
              </a:ext>
            </a:extLst>
          </p:cNvPr>
          <p:cNvSpPr/>
          <p:nvPr/>
        </p:nvSpPr>
        <p:spPr>
          <a:xfrm>
            <a:off x="11762481" y="0"/>
            <a:ext cx="54864" cy="6857999"/>
          </a:xfrm>
          <a:prstGeom prst="rect">
            <a:avLst/>
          </a:prstGeom>
          <a:gradFill>
            <a:gsLst>
              <a:gs pos="0">
                <a:srgbClr val="8FCE51"/>
              </a:gs>
              <a:gs pos="100000">
                <a:srgbClr val="1275C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5">
            <a:extLst>
              <a:ext uri="{FF2B5EF4-FFF2-40B4-BE49-F238E27FC236}">
                <a16:creationId xmlns:a16="http://schemas.microsoft.com/office/drawing/2014/main" id="{C608D1C8-27DD-45DC-D6BA-FA8D248EB243}"/>
              </a:ext>
            </a:extLst>
          </p:cNvPr>
          <p:cNvPicPr>
            <a:picLocks noChangeAspect="1"/>
          </p:cNvPicPr>
          <p:nvPr/>
        </p:nvPicPr>
        <p:blipFill>
          <a:blip r:embed="rId3"/>
          <a:stretch>
            <a:fillRect/>
          </a:stretch>
        </p:blipFill>
        <p:spPr>
          <a:xfrm>
            <a:off x="11836985" y="1552360"/>
            <a:ext cx="341161" cy="2236860"/>
          </a:xfrm>
          <a:prstGeom prst="rect">
            <a:avLst/>
          </a:prstGeom>
        </p:spPr>
      </p:pic>
      <p:pic>
        <p:nvPicPr>
          <p:cNvPr id="12" name="Picture 5">
            <a:extLst>
              <a:ext uri="{FF2B5EF4-FFF2-40B4-BE49-F238E27FC236}">
                <a16:creationId xmlns:a16="http://schemas.microsoft.com/office/drawing/2014/main" id="{600B8C24-95A7-DE9E-9380-71DD7A5B4262}"/>
              </a:ext>
            </a:extLst>
          </p:cNvPr>
          <p:cNvPicPr>
            <a:picLocks noChangeAspect="1"/>
          </p:cNvPicPr>
          <p:nvPr/>
        </p:nvPicPr>
        <p:blipFill>
          <a:blip r:embed="rId3"/>
          <a:stretch>
            <a:fillRect/>
          </a:stretch>
        </p:blipFill>
        <p:spPr>
          <a:xfrm>
            <a:off x="11823690" y="1622878"/>
            <a:ext cx="341161" cy="2236860"/>
          </a:xfrm>
          <a:prstGeom prst="rect">
            <a:avLst/>
          </a:prstGeom>
        </p:spPr>
      </p:pic>
      <p:sp>
        <p:nvSpPr>
          <p:cNvPr id="2" name="Rectangle 3">
            <a:extLst>
              <a:ext uri="{FF2B5EF4-FFF2-40B4-BE49-F238E27FC236}">
                <a16:creationId xmlns:a16="http://schemas.microsoft.com/office/drawing/2014/main" id="{0F9144AF-CF7E-1D65-C14C-09D89B695EE3}"/>
              </a:ext>
            </a:extLst>
          </p:cNvPr>
          <p:cNvSpPr/>
          <p:nvPr/>
        </p:nvSpPr>
        <p:spPr>
          <a:xfrm>
            <a:off x="11811000" y="1"/>
            <a:ext cx="381000" cy="6857999"/>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6">
            <a:extLst>
              <a:ext uri="{FF2B5EF4-FFF2-40B4-BE49-F238E27FC236}">
                <a16:creationId xmlns:a16="http://schemas.microsoft.com/office/drawing/2014/main" id="{C1B46B0F-9406-1774-F6BF-657009A987A1}"/>
              </a:ext>
            </a:extLst>
          </p:cNvPr>
          <p:cNvSpPr/>
          <p:nvPr/>
        </p:nvSpPr>
        <p:spPr>
          <a:xfrm>
            <a:off x="0" y="1"/>
            <a:ext cx="5905500" cy="6858000"/>
          </a:xfrm>
          <a:prstGeom prst="rect">
            <a:avLst/>
          </a:prstGeom>
          <a:solidFill>
            <a:srgbClr val="40404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7">
            <a:extLst>
              <a:ext uri="{FF2B5EF4-FFF2-40B4-BE49-F238E27FC236}">
                <a16:creationId xmlns:a16="http://schemas.microsoft.com/office/drawing/2014/main" id="{6211BE50-DAEE-9082-3414-C7C43E1A2DFE}"/>
              </a:ext>
            </a:extLst>
          </p:cNvPr>
          <p:cNvSpPr/>
          <p:nvPr/>
        </p:nvSpPr>
        <p:spPr>
          <a:xfrm>
            <a:off x="11762481" y="0"/>
            <a:ext cx="54864" cy="6857999"/>
          </a:xfrm>
          <a:prstGeom prst="rect">
            <a:avLst/>
          </a:prstGeom>
          <a:gradFill>
            <a:gsLst>
              <a:gs pos="0">
                <a:srgbClr val="8FCE51"/>
              </a:gs>
              <a:gs pos="100000">
                <a:srgbClr val="1275C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 name="群組 21">
            <a:extLst>
              <a:ext uri="{FF2B5EF4-FFF2-40B4-BE49-F238E27FC236}">
                <a16:creationId xmlns:a16="http://schemas.microsoft.com/office/drawing/2014/main" id="{4C5C8E3C-A8DB-5080-A654-D3F2E8F7B6E9}"/>
              </a:ext>
            </a:extLst>
          </p:cNvPr>
          <p:cNvGrpSpPr/>
          <p:nvPr userDrawn="1"/>
        </p:nvGrpSpPr>
        <p:grpSpPr>
          <a:xfrm>
            <a:off x="11756483" y="660266"/>
            <a:ext cx="392419" cy="2081042"/>
            <a:chOff x="4716778" y="1328148"/>
            <a:chExt cx="392419" cy="2081042"/>
          </a:xfrm>
        </p:grpSpPr>
        <p:pic>
          <p:nvPicPr>
            <p:cNvPr id="17" name="Picture 6">
              <a:extLst>
                <a:ext uri="{FF2B5EF4-FFF2-40B4-BE49-F238E27FC236}">
                  <a16:creationId xmlns:a16="http://schemas.microsoft.com/office/drawing/2014/main" id="{6552A524-F4D7-CB9F-E280-218E809ABC49}"/>
                </a:ext>
              </a:extLst>
            </p:cNvPr>
            <p:cNvPicPr>
              <a:picLocks noChangeAspect="1"/>
            </p:cNvPicPr>
            <p:nvPr userDrawn="1"/>
          </p:nvPicPr>
          <p:blipFill rotWithShape="1">
            <a:blip r:embed="rId4"/>
            <a:srcRect r="61434" b="-36631"/>
            <a:stretch/>
          </p:blipFill>
          <p:spPr>
            <a:xfrm rot="5400000">
              <a:off x="4287092" y="1757834"/>
              <a:ext cx="1240374" cy="381001"/>
            </a:xfrm>
            <a:prstGeom prst="rect">
              <a:avLst/>
            </a:prstGeom>
          </p:spPr>
        </p:pic>
        <p:pic>
          <p:nvPicPr>
            <p:cNvPr id="21" name="圖片 20" descr="一張含有 字型, 圖形, 文字, 標誌 的圖片&#10;&#10;自動產生的描述">
              <a:extLst>
                <a:ext uri="{FF2B5EF4-FFF2-40B4-BE49-F238E27FC236}">
                  <a16:creationId xmlns:a16="http://schemas.microsoft.com/office/drawing/2014/main" id="{3D538918-6C9F-DD2D-C3D8-80604EA9AFB9}"/>
                </a:ext>
              </a:extLst>
            </p:cNvPr>
            <p:cNvPicPr>
              <a:picLocks noChangeAspect="1"/>
            </p:cNvPicPr>
            <p:nvPr userDrawn="1"/>
          </p:nvPicPr>
          <p:blipFill>
            <a:blip r:embed="rId5"/>
            <a:stretch>
              <a:fillRect/>
            </a:stretch>
          </p:blipFill>
          <p:spPr>
            <a:xfrm rot="5400000">
              <a:off x="4495000" y="2794994"/>
              <a:ext cx="904393" cy="324000"/>
            </a:xfrm>
            <a:prstGeom prst="rect">
              <a:avLst/>
            </a:prstGeom>
          </p:spPr>
        </p:pic>
      </p:grpSp>
    </p:spTree>
    <p:extLst>
      <p:ext uri="{BB962C8B-B14F-4D97-AF65-F5344CB8AC3E}">
        <p14:creationId xmlns:p14="http://schemas.microsoft.com/office/powerpoint/2010/main" val="1048071499"/>
      </p:ext>
    </p:extLst>
  </p:cSld>
  <p:clrMapOvr>
    <a:masterClrMapping/>
  </p:clrMapOvr>
  <p:hf sldNum="0" hdr="0" ftr="0" dt="0"/>
  <p:extLst>
    <p:ext uri="{DCECCB84-F9BA-43D5-87BE-67443E8EF086}">
      <p15:sldGuideLst xmlns:p15="http://schemas.microsoft.com/office/powerpoint/2012/main">
        <p15:guide id="1" pos="360">
          <p15:clr>
            <a:srgbClr val="FBAE40"/>
          </p15:clr>
        </p15:guide>
        <p15:guide id="2" orient="horz" pos="360">
          <p15:clr>
            <a:srgbClr val="FBAE40"/>
          </p15:clr>
        </p15:guide>
        <p15:guide id="3" pos="7080">
          <p15:clr>
            <a:srgbClr val="FBAE40"/>
          </p15:clr>
        </p15:guide>
        <p15:guide id="4" orient="horz" pos="3960">
          <p15:clr>
            <a:srgbClr val="FBAE40"/>
          </p15:clr>
        </p15:guide>
        <p15:guide id="5" pos="3720">
          <p15:clr>
            <a:srgbClr val="FBAE40"/>
          </p15:clr>
        </p15:guide>
        <p15:guide id="6" pos="7440">
          <p15:clr>
            <a:srgbClr val="FBAE40"/>
          </p15:clr>
        </p15:guide>
        <p15:guide id="7" pos="4080">
          <p15:clr>
            <a:srgbClr val="FBAE40"/>
          </p15:clr>
        </p15:guide>
        <p15:guide id="8" pos="3360">
          <p15:clr>
            <a:srgbClr val="FBAE40"/>
          </p15:clr>
        </p15:guide>
        <p15:guide id="9" pos="2664">
          <p15:clr>
            <a:srgbClr val="FBAE40"/>
          </p15:clr>
        </p15:guide>
        <p15:guide id="10" pos="4944">
          <p15:clr>
            <a:srgbClr val="FBAE40"/>
          </p15:clr>
        </p15:guide>
        <p15:guide id="11" pos="2496">
          <p15:clr>
            <a:srgbClr val="FBAE40"/>
          </p15:clr>
        </p15:guide>
        <p15:guide id="12" pos="4776">
          <p15:clr>
            <a:srgbClr val="FBAE40"/>
          </p15:clr>
        </p15:guide>
        <p15:guide id="13" orient="horz" pos="2160">
          <p15:clr>
            <a:srgbClr val="FBAE40"/>
          </p15:clr>
        </p15:guide>
        <p15:guide id="14" orient="horz" pos="1272">
          <p15:clr>
            <a:srgbClr val="FBAE40"/>
          </p15:clr>
        </p15:guide>
        <p15:guide id="15" orient="horz" pos="60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cSld name="2_Section Opener">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B587E46B-AD26-0344-8B50-C8C9BC0A2377}"/>
              </a:ext>
            </a:extLst>
          </p:cNvPr>
          <p:cNvSpPr>
            <a:spLocks noGrp="1"/>
          </p:cNvSpPr>
          <p:nvPr>
            <p:ph type="pic" sz="quarter" idx="13"/>
          </p:nvPr>
        </p:nvSpPr>
        <p:spPr>
          <a:xfrm>
            <a:off x="-70338" y="0"/>
            <a:ext cx="11881337" cy="6857999"/>
          </a:xfrm>
          <a:prstGeom prst="rect">
            <a:avLst/>
          </a:prstGeom>
          <a:solidFill>
            <a:schemeClr val="bg1">
              <a:lumMod val="95000"/>
            </a:schemeClr>
          </a:solidFill>
        </p:spPr>
        <p:txBody>
          <a:bodyPr/>
          <a:lstStyle/>
          <a:p>
            <a:r>
              <a:rPr lang="zh-TW" altLang="en-US"/>
              <a:t>按一下圖示以新增圖片</a:t>
            </a:r>
            <a:endParaRPr lang="en-US"/>
          </a:p>
        </p:txBody>
      </p:sp>
      <p:sp>
        <p:nvSpPr>
          <p:cNvPr id="4" name="Rectangle 3">
            <a:extLst>
              <a:ext uri="{FF2B5EF4-FFF2-40B4-BE49-F238E27FC236}">
                <a16:creationId xmlns:a16="http://schemas.microsoft.com/office/drawing/2014/main" id="{D8260519-0A36-FC4E-A441-2C51A9413418}"/>
              </a:ext>
            </a:extLst>
          </p:cNvPr>
          <p:cNvSpPr/>
          <p:nvPr/>
        </p:nvSpPr>
        <p:spPr>
          <a:xfrm>
            <a:off x="11811000" y="1"/>
            <a:ext cx="381000" cy="6857999"/>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5">
            <a:extLst>
              <a:ext uri="{FF2B5EF4-FFF2-40B4-BE49-F238E27FC236}">
                <a16:creationId xmlns:a16="http://schemas.microsoft.com/office/drawing/2014/main" id="{7BF7E0E1-B763-EA4B-83D8-6C299A7CA27F}"/>
              </a:ext>
            </a:extLst>
          </p:cNvPr>
          <p:cNvSpPr>
            <a:spLocks noGrp="1"/>
          </p:cNvSpPr>
          <p:nvPr>
            <p:ph type="sldNum" sz="quarter" idx="12"/>
          </p:nvPr>
        </p:nvSpPr>
        <p:spPr>
          <a:xfrm>
            <a:off x="11823690" y="6104964"/>
            <a:ext cx="368310" cy="194343"/>
          </a:xfrm>
          <a:prstGeom prst="rect">
            <a:avLst/>
          </a:prstGeom>
        </p:spPr>
        <p:txBody>
          <a:bodyPr lIns="0" rIns="0"/>
          <a:lstStyle>
            <a:lvl1pPr algn="ctr">
              <a:defRPr sz="1000" b="0" i="0" baseline="0">
                <a:solidFill>
                  <a:schemeClr val="bg1">
                    <a:lumMod val="65000"/>
                  </a:schemeClr>
                </a:solidFill>
                <a:latin typeface="Arial" panose="020B0604020202020204" pitchFamily="34" charset="0"/>
              </a:defRPr>
            </a:lvl1pPr>
          </a:lstStyle>
          <a:p>
            <a:fld id="{15213995-08BF-9544-B88D-65564A710159}" type="slidenum">
              <a:rPr lang="en-US" smtClean="0"/>
              <a:pPr/>
              <a:t>‹#›</a:t>
            </a:fld>
            <a:endParaRPr lang="en-US"/>
          </a:p>
        </p:txBody>
      </p:sp>
      <p:sp>
        <p:nvSpPr>
          <p:cNvPr id="7" name="Rectangle 6">
            <a:extLst>
              <a:ext uri="{FF2B5EF4-FFF2-40B4-BE49-F238E27FC236}">
                <a16:creationId xmlns:a16="http://schemas.microsoft.com/office/drawing/2014/main" id="{C4E7CF94-AB5C-6947-8340-DD3FE56178A4}"/>
              </a:ext>
            </a:extLst>
          </p:cNvPr>
          <p:cNvSpPr/>
          <p:nvPr/>
        </p:nvSpPr>
        <p:spPr>
          <a:xfrm>
            <a:off x="0" y="1"/>
            <a:ext cx="5905500" cy="6858000"/>
          </a:xfrm>
          <a:prstGeom prst="rect">
            <a:avLst/>
          </a:prstGeom>
          <a:solidFill>
            <a:srgbClr val="40404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12">
            <a:extLst>
              <a:ext uri="{FF2B5EF4-FFF2-40B4-BE49-F238E27FC236}">
                <a16:creationId xmlns:a16="http://schemas.microsoft.com/office/drawing/2014/main" id="{98DD65D2-2102-854C-96EE-72607525B618}"/>
              </a:ext>
            </a:extLst>
          </p:cNvPr>
          <p:cNvSpPr>
            <a:spLocks noGrp="1"/>
          </p:cNvSpPr>
          <p:nvPr>
            <p:ph type="body" sz="quarter" idx="14" hasCustomPrompt="1"/>
          </p:nvPr>
        </p:nvSpPr>
        <p:spPr>
          <a:xfrm>
            <a:off x="571500" y="571500"/>
            <a:ext cx="4762500" cy="5727700"/>
          </a:xfrm>
          <a:prstGeom prst="rect">
            <a:avLst/>
          </a:prstGeom>
        </p:spPr>
        <p:txBody>
          <a:bodyPr lIns="0" tIns="0" rIns="0" bIns="0" anchor="ctr" anchorCtr="0"/>
          <a:lstStyle>
            <a:lvl1pPr marL="0" indent="0">
              <a:lnSpc>
                <a:spcPct val="100000"/>
              </a:lnSpc>
              <a:buNone/>
              <a:defRPr sz="4400" b="1">
                <a:solidFill>
                  <a:schemeClr val="bg1"/>
                </a:solidFill>
              </a:defRPr>
            </a:lvl1pPr>
          </a:lstStyle>
          <a:p>
            <a:pPr lvl="0"/>
            <a:r>
              <a:rPr lang="en-US"/>
              <a:t>Section Header</a:t>
            </a:r>
          </a:p>
        </p:txBody>
      </p:sp>
      <p:grpSp>
        <p:nvGrpSpPr>
          <p:cNvPr id="11" name="群組 10">
            <a:extLst>
              <a:ext uri="{FF2B5EF4-FFF2-40B4-BE49-F238E27FC236}">
                <a16:creationId xmlns:a16="http://schemas.microsoft.com/office/drawing/2014/main" id="{15607707-CB5B-BA21-4B13-4432006A1F16}"/>
              </a:ext>
            </a:extLst>
          </p:cNvPr>
          <p:cNvGrpSpPr/>
          <p:nvPr userDrawn="1"/>
        </p:nvGrpSpPr>
        <p:grpSpPr>
          <a:xfrm>
            <a:off x="11756483" y="660266"/>
            <a:ext cx="392419" cy="2081042"/>
            <a:chOff x="4716778" y="1328148"/>
            <a:chExt cx="392419" cy="2081042"/>
          </a:xfrm>
        </p:grpSpPr>
        <p:pic>
          <p:nvPicPr>
            <p:cNvPr id="12" name="Picture 6">
              <a:extLst>
                <a:ext uri="{FF2B5EF4-FFF2-40B4-BE49-F238E27FC236}">
                  <a16:creationId xmlns:a16="http://schemas.microsoft.com/office/drawing/2014/main" id="{291AC55C-A5B1-D05D-7E4D-58B90149C0BB}"/>
                </a:ext>
              </a:extLst>
            </p:cNvPr>
            <p:cNvPicPr>
              <a:picLocks noChangeAspect="1"/>
            </p:cNvPicPr>
            <p:nvPr userDrawn="1"/>
          </p:nvPicPr>
          <p:blipFill rotWithShape="1">
            <a:blip r:embed="rId2"/>
            <a:srcRect r="61434" b="-36631"/>
            <a:stretch/>
          </p:blipFill>
          <p:spPr>
            <a:xfrm rot="5400000">
              <a:off x="4287092" y="1757834"/>
              <a:ext cx="1240374" cy="381001"/>
            </a:xfrm>
            <a:prstGeom prst="rect">
              <a:avLst/>
            </a:prstGeom>
          </p:spPr>
        </p:pic>
        <p:pic>
          <p:nvPicPr>
            <p:cNvPr id="14" name="圖片 13" descr="一張含有 字型, 圖形, 文字, 標誌 的圖片&#10;&#10;自動產生的描述">
              <a:extLst>
                <a:ext uri="{FF2B5EF4-FFF2-40B4-BE49-F238E27FC236}">
                  <a16:creationId xmlns:a16="http://schemas.microsoft.com/office/drawing/2014/main" id="{BC2B7CA7-807E-4B91-CBBF-FF1B91F9CC73}"/>
                </a:ext>
              </a:extLst>
            </p:cNvPr>
            <p:cNvPicPr>
              <a:picLocks noChangeAspect="1"/>
            </p:cNvPicPr>
            <p:nvPr userDrawn="1"/>
          </p:nvPicPr>
          <p:blipFill>
            <a:blip r:embed="rId3"/>
            <a:stretch>
              <a:fillRect/>
            </a:stretch>
          </p:blipFill>
          <p:spPr>
            <a:xfrm rot="5400000">
              <a:off x="4495000" y="2794994"/>
              <a:ext cx="904393" cy="324000"/>
            </a:xfrm>
            <a:prstGeom prst="rect">
              <a:avLst/>
            </a:prstGeom>
          </p:spPr>
        </p:pic>
      </p:grpSp>
    </p:spTree>
    <p:extLst>
      <p:ext uri="{BB962C8B-B14F-4D97-AF65-F5344CB8AC3E}">
        <p14:creationId xmlns:p14="http://schemas.microsoft.com/office/powerpoint/2010/main" val="2983266887"/>
      </p:ext>
    </p:extLst>
  </p:cSld>
  <p:clrMapOvr>
    <a:masterClrMapping/>
  </p:clrMapOvr>
  <p:hf sldNum="0" hdr="0" ftr="0" dt="0"/>
  <p:extLst>
    <p:ext uri="{DCECCB84-F9BA-43D5-87BE-67443E8EF086}">
      <p15:sldGuideLst xmlns:p15="http://schemas.microsoft.com/office/powerpoint/2012/main">
        <p15:guide id="1" pos="360">
          <p15:clr>
            <a:srgbClr val="FBAE40"/>
          </p15:clr>
        </p15:guide>
        <p15:guide id="2" orient="horz" pos="360">
          <p15:clr>
            <a:srgbClr val="FBAE40"/>
          </p15:clr>
        </p15:guide>
        <p15:guide id="3" pos="7080">
          <p15:clr>
            <a:srgbClr val="FBAE40"/>
          </p15:clr>
        </p15:guide>
        <p15:guide id="4" orient="horz" pos="3960">
          <p15:clr>
            <a:srgbClr val="FBAE40"/>
          </p15:clr>
        </p15:guide>
        <p15:guide id="5" pos="3720">
          <p15:clr>
            <a:srgbClr val="FBAE40"/>
          </p15:clr>
        </p15:guide>
        <p15:guide id="6" pos="7440">
          <p15:clr>
            <a:srgbClr val="FBAE40"/>
          </p15:clr>
        </p15:guide>
        <p15:guide id="7" pos="4080">
          <p15:clr>
            <a:srgbClr val="FBAE40"/>
          </p15:clr>
        </p15:guide>
        <p15:guide id="8" pos="3360">
          <p15:clr>
            <a:srgbClr val="FBAE40"/>
          </p15:clr>
        </p15:guide>
        <p15:guide id="9" pos="2664">
          <p15:clr>
            <a:srgbClr val="FBAE40"/>
          </p15:clr>
        </p15:guide>
        <p15:guide id="10" pos="4944">
          <p15:clr>
            <a:srgbClr val="FBAE40"/>
          </p15:clr>
        </p15:guide>
        <p15:guide id="11" pos="2496">
          <p15:clr>
            <a:srgbClr val="FBAE40"/>
          </p15:clr>
        </p15:guide>
        <p15:guide id="12" pos="4776">
          <p15:clr>
            <a:srgbClr val="FBAE40"/>
          </p15:clr>
        </p15:guide>
        <p15:guide id="13" orient="horz" pos="2160">
          <p15:clr>
            <a:srgbClr val="FBAE40"/>
          </p15:clr>
        </p15:guide>
        <p15:guide id="14" orient="horz" pos="1272">
          <p15:clr>
            <a:srgbClr val="FBAE40"/>
          </p15:clr>
        </p15:guide>
        <p15:guide id="15" orient="horz" pos="60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30_FIT Pres Temp - Primary">
    <p:spTree>
      <p:nvGrpSpPr>
        <p:cNvPr id="1" name=""/>
        <p:cNvGrpSpPr/>
        <p:nvPr/>
      </p:nvGrpSpPr>
      <p:grpSpPr>
        <a:xfrm>
          <a:off x="0" y="0"/>
          <a:ext cx="0" cy="0"/>
          <a:chOff x="0" y="0"/>
          <a:chExt cx="0" cy="0"/>
        </a:xfrm>
      </p:grpSpPr>
    </p:spTree>
    <p:extLst>
      <p:ext uri="{BB962C8B-B14F-4D97-AF65-F5344CB8AC3E}">
        <p14:creationId xmlns:p14="http://schemas.microsoft.com/office/powerpoint/2010/main" val="841582470"/>
      </p:ext>
    </p:extLst>
  </p:cSld>
  <p:clrMapOvr>
    <a:masterClrMapping/>
  </p:clrMapOvr>
  <p:hf sldNum="0" hdr="0" ftr="0" dt="0"/>
  <p:extLst>
    <p:ext uri="{DCECCB84-F9BA-43D5-87BE-67443E8EF086}">
      <p15:sldGuideLst xmlns:p15="http://schemas.microsoft.com/office/powerpoint/2012/main">
        <p15:guide id="1" pos="360">
          <p15:clr>
            <a:srgbClr val="FBAE40"/>
          </p15:clr>
        </p15:guide>
        <p15:guide id="3" orient="horz" pos="360">
          <p15:clr>
            <a:srgbClr val="FBAE40"/>
          </p15:clr>
        </p15:guide>
        <p15:guide id="4" pos="7320">
          <p15:clr>
            <a:srgbClr val="FBAE40"/>
          </p15:clr>
        </p15:guide>
        <p15:guide id="5" orient="horz" pos="3960">
          <p15:clr>
            <a:srgbClr val="FBAE40"/>
          </p15:clr>
        </p15:guide>
        <p15:guide id="7"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1_Agenda">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D4B286A5-D8D9-9947-AF33-B1771738A427}"/>
              </a:ext>
            </a:extLst>
          </p:cNvPr>
          <p:cNvSpPr>
            <a:spLocks noGrp="1"/>
          </p:cNvSpPr>
          <p:nvPr>
            <p:ph type="body" sz="quarter" idx="13" hasCustomPrompt="1"/>
          </p:nvPr>
        </p:nvSpPr>
        <p:spPr>
          <a:xfrm>
            <a:off x="6477000" y="571500"/>
            <a:ext cx="4762500" cy="5715000"/>
          </a:xfrm>
          <a:prstGeom prst="rect">
            <a:avLst/>
          </a:prstGeom>
        </p:spPr>
        <p:txBody>
          <a:bodyPr lIns="548640" rIns="548640" anchor="ctr" anchorCtr="0"/>
          <a:lstStyle>
            <a:lvl1pPr marL="0" indent="0">
              <a:lnSpc>
                <a:spcPct val="100000"/>
              </a:lnSpc>
              <a:spcBef>
                <a:spcPts val="1050"/>
              </a:spcBef>
              <a:buNone/>
              <a:defRPr sz="1050" b="1"/>
            </a:lvl1pPr>
          </a:lstStyle>
          <a:p>
            <a:pPr lvl="0"/>
            <a:r>
              <a:rPr lang="en-US"/>
              <a:t>Agenda Item goes here</a:t>
            </a:r>
          </a:p>
          <a:p>
            <a:pPr lvl="0"/>
            <a:r>
              <a:rPr lang="en-US"/>
              <a:t>Agenda Item</a:t>
            </a:r>
          </a:p>
          <a:p>
            <a:pPr lvl="0"/>
            <a:r>
              <a:rPr lang="en-US"/>
              <a:t>Agenda Item</a:t>
            </a:r>
          </a:p>
          <a:p>
            <a:pPr lvl="0"/>
            <a:r>
              <a:rPr lang="en-US"/>
              <a:t>Agenda Item</a:t>
            </a:r>
          </a:p>
          <a:p>
            <a:pPr lvl="0"/>
            <a:r>
              <a:rPr lang="en-US"/>
              <a:t>Agenda Item</a:t>
            </a:r>
          </a:p>
          <a:p>
            <a:pPr lvl="0"/>
            <a:r>
              <a:rPr lang="en-US"/>
              <a:t>Agenda Item</a:t>
            </a:r>
          </a:p>
          <a:p>
            <a:pPr lvl="0"/>
            <a:r>
              <a:rPr lang="en-US"/>
              <a:t>Agenda Item</a:t>
            </a:r>
          </a:p>
          <a:p>
            <a:pPr lvl="0"/>
            <a:r>
              <a:rPr lang="en-US"/>
              <a:t>Agenda Item</a:t>
            </a:r>
          </a:p>
        </p:txBody>
      </p:sp>
      <p:sp>
        <p:nvSpPr>
          <p:cNvPr id="4" name="Rectangle 3">
            <a:extLst>
              <a:ext uri="{FF2B5EF4-FFF2-40B4-BE49-F238E27FC236}">
                <a16:creationId xmlns:a16="http://schemas.microsoft.com/office/drawing/2014/main" id="{D8260519-0A36-FC4E-A441-2C51A9413418}"/>
              </a:ext>
            </a:extLst>
          </p:cNvPr>
          <p:cNvSpPr/>
          <p:nvPr userDrawn="1"/>
        </p:nvSpPr>
        <p:spPr>
          <a:xfrm>
            <a:off x="11811000" y="1"/>
            <a:ext cx="381000" cy="6857999"/>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5">
            <a:extLst>
              <a:ext uri="{FF2B5EF4-FFF2-40B4-BE49-F238E27FC236}">
                <a16:creationId xmlns:a16="http://schemas.microsoft.com/office/drawing/2014/main" id="{7BF7E0E1-B763-EA4B-83D8-6C299A7CA27F}"/>
              </a:ext>
            </a:extLst>
          </p:cNvPr>
          <p:cNvSpPr>
            <a:spLocks noGrp="1"/>
          </p:cNvSpPr>
          <p:nvPr>
            <p:ph type="sldNum" sz="quarter" idx="12"/>
          </p:nvPr>
        </p:nvSpPr>
        <p:spPr>
          <a:xfrm>
            <a:off x="11823690" y="6104964"/>
            <a:ext cx="368310" cy="194343"/>
          </a:xfrm>
          <a:prstGeom prst="rect">
            <a:avLst/>
          </a:prstGeom>
        </p:spPr>
        <p:txBody>
          <a:bodyPr lIns="0" rIns="0"/>
          <a:lstStyle>
            <a:lvl1pPr algn="ctr">
              <a:defRPr sz="1000" b="0" i="0" baseline="0">
                <a:solidFill>
                  <a:schemeClr val="bg1">
                    <a:lumMod val="65000"/>
                  </a:schemeClr>
                </a:solidFill>
                <a:latin typeface="Arial" panose="020B0604020202020204" pitchFamily="34" charset="0"/>
              </a:defRPr>
            </a:lvl1pPr>
          </a:lstStyle>
          <a:p>
            <a:fld id="{15213995-08BF-9544-B88D-65564A710159}" type="slidenum">
              <a:rPr lang="en-US" smtClean="0"/>
              <a:pPr/>
              <a:t>‹#›</a:t>
            </a:fld>
            <a:endParaRPr lang="en-US"/>
          </a:p>
        </p:txBody>
      </p:sp>
      <p:sp>
        <p:nvSpPr>
          <p:cNvPr id="7" name="Rectangle 6">
            <a:extLst>
              <a:ext uri="{FF2B5EF4-FFF2-40B4-BE49-F238E27FC236}">
                <a16:creationId xmlns:a16="http://schemas.microsoft.com/office/drawing/2014/main" id="{C4E7CF94-AB5C-6947-8340-DD3FE56178A4}"/>
              </a:ext>
            </a:extLst>
          </p:cNvPr>
          <p:cNvSpPr/>
          <p:nvPr/>
        </p:nvSpPr>
        <p:spPr>
          <a:xfrm>
            <a:off x="0" y="1"/>
            <a:ext cx="590550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87B50DA7-B074-8943-A79E-CD3C7C4EA339}"/>
              </a:ext>
            </a:extLst>
          </p:cNvPr>
          <p:cNvSpPr txBox="1"/>
          <p:nvPr/>
        </p:nvSpPr>
        <p:spPr>
          <a:xfrm>
            <a:off x="571500" y="571500"/>
            <a:ext cx="4762500" cy="5715000"/>
          </a:xfrm>
          <a:prstGeom prst="rect">
            <a:avLst/>
          </a:prstGeom>
          <a:noFill/>
        </p:spPr>
        <p:txBody>
          <a:bodyPr wrap="square" lIns="0" rtlCol="0" anchor="ctr">
            <a:noAutofit/>
          </a:bodyPr>
          <a:lstStyle/>
          <a:p>
            <a:r>
              <a:rPr lang="en-US" sz="4400" b="1" spc="-100">
                <a:solidFill>
                  <a:schemeClr val="bg1"/>
                </a:solidFill>
                <a:latin typeface="Arial" panose="020B0604020202020204" pitchFamily="34" charset="0"/>
                <a:cs typeface="Arial" panose="020B0604020202020204" pitchFamily="34" charset="0"/>
              </a:rPr>
              <a:t>Agenda</a:t>
            </a:r>
          </a:p>
        </p:txBody>
      </p:sp>
      <p:pic>
        <p:nvPicPr>
          <p:cNvPr id="10" name="Picture 5">
            <a:extLst>
              <a:ext uri="{FF2B5EF4-FFF2-40B4-BE49-F238E27FC236}">
                <a16:creationId xmlns:a16="http://schemas.microsoft.com/office/drawing/2014/main" id="{600B8C24-95A7-DE9E-9380-71DD7A5B4262}"/>
              </a:ext>
            </a:extLst>
          </p:cNvPr>
          <p:cNvPicPr>
            <a:picLocks noChangeAspect="1"/>
          </p:cNvPicPr>
          <p:nvPr/>
        </p:nvPicPr>
        <p:blipFill>
          <a:blip r:embed="rId2"/>
          <a:stretch>
            <a:fillRect/>
          </a:stretch>
        </p:blipFill>
        <p:spPr>
          <a:xfrm>
            <a:off x="13106985" y="1425360"/>
            <a:ext cx="341161" cy="2236860"/>
          </a:xfrm>
          <a:prstGeom prst="rect">
            <a:avLst/>
          </a:prstGeom>
        </p:spPr>
      </p:pic>
      <p:grpSp>
        <p:nvGrpSpPr>
          <p:cNvPr id="12" name="群組 11">
            <a:extLst>
              <a:ext uri="{FF2B5EF4-FFF2-40B4-BE49-F238E27FC236}">
                <a16:creationId xmlns:a16="http://schemas.microsoft.com/office/drawing/2014/main" id="{E5F87E5E-7D8F-1523-B1F2-4C7FF26A70E3}"/>
              </a:ext>
            </a:extLst>
          </p:cNvPr>
          <p:cNvGrpSpPr/>
          <p:nvPr userDrawn="1"/>
        </p:nvGrpSpPr>
        <p:grpSpPr>
          <a:xfrm>
            <a:off x="11756483" y="660266"/>
            <a:ext cx="392419" cy="2081042"/>
            <a:chOff x="4716778" y="1328148"/>
            <a:chExt cx="392419" cy="2081042"/>
          </a:xfrm>
        </p:grpSpPr>
        <p:pic>
          <p:nvPicPr>
            <p:cNvPr id="13" name="Picture 6">
              <a:extLst>
                <a:ext uri="{FF2B5EF4-FFF2-40B4-BE49-F238E27FC236}">
                  <a16:creationId xmlns:a16="http://schemas.microsoft.com/office/drawing/2014/main" id="{16ECF4A3-7E1F-A759-8311-43F97C246198}"/>
                </a:ext>
              </a:extLst>
            </p:cNvPr>
            <p:cNvPicPr>
              <a:picLocks noChangeAspect="1"/>
            </p:cNvPicPr>
            <p:nvPr userDrawn="1"/>
          </p:nvPicPr>
          <p:blipFill rotWithShape="1">
            <a:blip r:embed="rId3"/>
            <a:srcRect r="61434" b="-36631"/>
            <a:stretch/>
          </p:blipFill>
          <p:spPr>
            <a:xfrm rot="5400000">
              <a:off x="4287092" y="1757834"/>
              <a:ext cx="1240374" cy="381001"/>
            </a:xfrm>
            <a:prstGeom prst="rect">
              <a:avLst/>
            </a:prstGeom>
          </p:spPr>
        </p:pic>
        <p:pic>
          <p:nvPicPr>
            <p:cNvPr id="14" name="圖片 13" descr="一張含有 字型, 圖形, 文字, 標誌 的圖片&#10;&#10;自動產生的描述">
              <a:extLst>
                <a:ext uri="{FF2B5EF4-FFF2-40B4-BE49-F238E27FC236}">
                  <a16:creationId xmlns:a16="http://schemas.microsoft.com/office/drawing/2014/main" id="{F4707056-6D78-95D0-5940-DEA109C481C9}"/>
                </a:ext>
              </a:extLst>
            </p:cNvPr>
            <p:cNvPicPr>
              <a:picLocks noChangeAspect="1"/>
            </p:cNvPicPr>
            <p:nvPr userDrawn="1"/>
          </p:nvPicPr>
          <p:blipFill>
            <a:blip r:embed="rId4"/>
            <a:stretch>
              <a:fillRect/>
            </a:stretch>
          </p:blipFill>
          <p:spPr>
            <a:xfrm rot="5400000">
              <a:off x="4495000" y="2794994"/>
              <a:ext cx="904393" cy="324000"/>
            </a:xfrm>
            <a:prstGeom prst="rect">
              <a:avLst/>
            </a:prstGeom>
          </p:spPr>
        </p:pic>
      </p:grpSp>
    </p:spTree>
    <p:extLst>
      <p:ext uri="{BB962C8B-B14F-4D97-AF65-F5344CB8AC3E}">
        <p14:creationId xmlns:p14="http://schemas.microsoft.com/office/powerpoint/2010/main" val="457859222"/>
      </p:ext>
    </p:extLst>
  </p:cSld>
  <p:clrMapOvr>
    <a:masterClrMapping/>
  </p:clrMapOvr>
  <p:hf sldNum="0" hdr="0" ftr="0" dt="0"/>
  <p:extLst>
    <p:ext uri="{DCECCB84-F9BA-43D5-87BE-67443E8EF086}">
      <p15:sldGuideLst xmlns:p15="http://schemas.microsoft.com/office/powerpoint/2012/main">
        <p15:guide id="1" pos="360">
          <p15:clr>
            <a:srgbClr val="FBAE40"/>
          </p15:clr>
        </p15:guide>
        <p15:guide id="3" orient="horz" pos="360">
          <p15:clr>
            <a:srgbClr val="FBAE40"/>
          </p15:clr>
        </p15:guide>
        <p15:guide id="4" pos="7080">
          <p15:clr>
            <a:srgbClr val="FBAE40"/>
          </p15:clr>
        </p15:guide>
        <p15:guide id="5" orient="horz" pos="3960">
          <p15:clr>
            <a:srgbClr val="FBAE40"/>
          </p15:clr>
        </p15:guide>
        <p15:guide id="7" pos="3720">
          <p15:clr>
            <a:srgbClr val="FBAE40"/>
          </p15:clr>
        </p15:guide>
        <p15:guide id="9" pos="7440">
          <p15:clr>
            <a:srgbClr val="FBAE40"/>
          </p15:clr>
        </p15:guide>
        <p15:guide id="10" pos="4080">
          <p15:clr>
            <a:srgbClr val="FBAE40"/>
          </p15:clr>
        </p15:guide>
        <p15:guide id="11" pos="3360">
          <p15:clr>
            <a:srgbClr val="FBAE40"/>
          </p15:clr>
        </p15:guide>
        <p15:guide id="12" pos="2664">
          <p15:clr>
            <a:srgbClr val="FBAE40"/>
          </p15:clr>
        </p15:guide>
        <p15:guide id="13" pos="4944">
          <p15:clr>
            <a:srgbClr val="FBAE40"/>
          </p15:clr>
        </p15:guide>
        <p15:guide id="14" pos="2496">
          <p15:clr>
            <a:srgbClr val="FBAE40"/>
          </p15:clr>
        </p15:guide>
        <p15:guide id="15" pos="4776">
          <p15:clr>
            <a:srgbClr val="FBAE40"/>
          </p15:clr>
        </p15:guide>
        <p15:guide id="16" orient="horz" pos="216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3_Primary - Blank - 1 Line Hea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8260519-0A36-FC4E-A441-2C51A9413418}"/>
              </a:ext>
            </a:extLst>
          </p:cNvPr>
          <p:cNvSpPr/>
          <p:nvPr/>
        </p:nvSpPr>
        <p:spPr>
          <a:xfrm>
            <a:off x="11811000" y="1"/>
            <a:ext cx="381000" cy="6857999"/>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5">
            <a:extLst>
              <a:ext uri="{FF2B5EF4-FFF2-40B4-BE49-F238E27FC236}">
                <a16:creationId xmlns:a16="http://schemas.microsoft.com/office/drawing/2014/main" id="{7BF7E0E1-B763-EA4B-83D8-6C299A7CA27F}"/>
              </a:ext>
            </a:extLst>
          </p:cNvPr>
          <p:cNvSpPr>
            <a:spLocks noGrp="1"/>
          </p:cNvSpPr>
          <p:nvPr>
            <p:ph type="sldNum" sz="quarter" idx="12"/>
          </p:nvPr>
        </p:nvSpPr>
        <p:spPr>
          <a:xfrm>
            <a:off x="11823690" y="6104964"/>
            <a:ext cx="368310" cy="194343"/>
          </a:xfrm>
          <a:prstGeom prst="rect">
            <a:avLst/>
          </a:prstGeom>
        </p:spPr>
        <p:txBody>
          <a:bodyPr lIns="0" rIns="0"/>
          <a:lstStyle>
            <a:lvl1pPr algn="ctr">
              <a:defRPr sz="1000" b="0" i="0" baseline="0">
                <a:solidFill>
                  <a:schemeClr val="bg1">
                    <a:lumMod val="65000"/>
                  </a:schemeClr>
                </a:solidFill>
                <a:latin typeface="Arial" panose="020B0604020202020204" pitchFamily="34" charset="0"/>
              </a:defRPr>
            </a:lvl1pPr>
          </a:lstStyle>
          <a:p>
            <a:fld id="{15213995-08BF-9544-B88D-65564A710159}" type="slidenum">
              <a:rPr lang="en-US" smtClean="0"/>
              <a:pPr/>
              <a:t>‹#›</a:t>
            </a:fld>
            <a:endParaRPr lang="en-US"/>
          </a:p>
        </p:txBody>
      </p:sp>
      <p:sp>
        <p:nvSpPr>
          <p:cNvPr id="13" name="Text Placeholder 12">
            <a:extLst>
              <a:ext uri="{FF2B5EF4-FFF2-40B4-BE49-F238E27FC236}">
                <a16:creationId xmlns:a16="http://schemas.microsoft.com/office/drawing/2014/main" id="{307379AA-6FB8-6046-8459-99DFA4FE70F9}"/>
              </a:ext>
            </a:extLst>
          </p:cNvPr>
          <p:cNvSpPr>
            <a:spLocks noGrp="1"/>
          </p:cNvSpPr>
          <p:nvPr>
            <p:ph type="body" sz="quarter" idx="13" hasCustomPrompt="1"/>
          </p:nvPr>
        </p:nvSpPr>
        <p:spPr>
          <a:xfrm>
            <a:off x="571501" y="571501"/>
            <a:ext cx="4762499" cy="366948"/>
          </a:xfrm>
          <a:prstGeom prst="rect">
            <a:avLst/>
          </a:prstGeom>
        </p:spPr>
        <p:txBody>
          <a:bodyPr lIns="0" tIns="0" rIns="0" bIns="0"/>
          <a:lstStyle>
            <a:lvl1pPr marL="0" indent="0">
              <a:buNone/>
              <a:defRPr sz="1800" b="1"/>
            </a:lvl1pPr>
          </a:lstStyle>
          <a:p>
            <a:pPr lvl="0"/>
            <a:r>
              <a:rPr lang="en-US"/>
              <a:t>Headline Goes Here</a:t>
            </a:r>
          </a:p>
        </p:txBody>
      </p:sp>
      <p:sp>
        <p:nvSpPr>
          <p:cNvPr id="18" name="Text Placeholder 17">
            <a:extLst>
              <a:ext uri="{FF2B5EF4-FFF2-40B4-BE49-F238E27FC236}">
                <a16:creationId xmlns:a16="http://schemas.microsoft.com/office/drawing/2014/main" id="{38D45759-6B54-8849-A064-89BA55AF79EE}"/>
              </a:ext>
            </a:extLst>
          </p:cNvPr>
          <p:cNvSpPr>
            <a:spLocks noGrp="1"/>
          </p:cNvSpPr>
          <p:nvPr>
            <p:ph type="body" sz="quarter" idx="15" hasCustomPrompt="1"/>
          </p:nvPr>
        </p:nvSpPr>
        <p:spPr>
          <a:xfrm>
            <a:off x="571500" y="938449"/>
            <a:ext cx="4762500" cy="838477"/>
          </a:xfrm>
          <a:prstGeom prst="rect">
            <a:avLst/>
          </a:prstGeom>
        </p:spPr>
        <p:txBody>
          <a:bodyPr lIns="0" tIns="0" rIns="0" bIns="0"/>
          <a:lstStyle>
            <a:lvl1pPr marL="0" indent="0">
              <a:buNone/>
              <a:defRPr sz="1400">
                <a:solidFill>
                  <a:schemeClr val="tx1">
                    <a:lumMod val="50000"/>
                    <a:lumOff val="50000"/>
                  </a:schemeClr>
                </a:solidFill>
              </a:defRPr>
            </a:lvl1pPr>
          </a:lstStyle>
          <a:p>
            <a:pPr lvl="0"/>
            <a:r>
              <a:rPr lang="en-US"/>
              <a:t>Subhead goes here.</a:t>
            </a:r>
          </a:p>
        </p:txBody>
      </p:sp>
      <p:grpSp>
        <p:nvGrpSpPr>
          <p:cNvPr id="9" name="群組 8">
            <a:extLst>
              <a:ext uri="{FF2B5EF4-FFF2-40B4-BE49-F238E27FC236}">
                <a16:creationId xmlns:a16="http://schemas.microsoft.com/office/drawing/2014/main" id="{A20B6768-C4E7-0E00-E1F5-40A11EB3D966}"/>
              </a:ext>
            </a:extLst>
          </p:cNvPr>
          <p:cNvGrpSpPr/>
          <p:nvPr userDrawn="1"/>
        </p:nvGrpSpPr>
        <p:grpSpPr>
          <a:xfrm>
            <a:off x="11756483" y="660266"/>
            <a:ext cx="392419" cy="2081042"/>
            <a:chOff x="4716778" y="1328148"/>
            <a:chExt cx="392419" cy="2081042"/>
          </a:xfrm>
        </p:grpSpPr>
        <p:pic>
          <p:nvPicPr>
            <p:cNvPr id="10" name="Picture 6">
              <a:extLst>
                <a:ext uri="{FF2B5EF4-FFF2-40B4-BE49-F238E27FC236}">
                  <a16:creationId xmlns:a16="http://schemas.microsoft.com/office/drawing/2014/main" id="{0A95EC7F-55E9-CC9A-9692-D4937F0475F5}"/>
                </a:ext>
              </a:extLst>
            </p:cNvPr>
            <p:cNvPicPr>
              <a:picLocks noChangeAspect="1"/>
            </p:cNvPicPr>
            <p:nvPr userDrawn="1"/>
          </p:nvPicPr>
          <p:blipFill rotWithShape="1">
            <a:blip r:embed="rId2"/>
            <a:srcRect r="61434" b="-36631"/>
            <a:stretch/>
          </p:blipFill>
          <p:spPr>
            <a:xfrm rot="5400000">
              <a:off x="4287092" y="1757834"/>
              <a:ext cx="1240374" cy="381001"/>
            </a:xfrm>
            <a:prstGeom prst="rect">
              <a:avLst/>
            </a:prstGeom>
          </p:spPr>
        </p:pic>
        <p:pic>
          <p:nvPicPr>
            <p:cNvPr id="11" name="圖片 10" descr="一張含有 字型, 圖形, 文字, 標誌 的圖片&#10;&#10;自動產生的描述">
              <a:extLst>
                <a:ext uri="{FF2B5EF4-FFF2-40B4-BE49-F238E27FC236}">
                  <a16:creationId xmlns:a16="http://schemas.microsoft.com/office/drawing/2014/main" id="{14676894-EB5C-0729-ACC0-2580F0E120FF}"/>
                </a:ext>
              </a:extLst>
            </p:cNvPr>
            <p:cNvPicPr>
              <a:picLocks noChangeAspect="1"/>
            </p:cNvPicPr>
            <p:nvPr userDrawn="1"/>
          </p:nvPicPr>
          <p:blipFill>
            <a:blip r:embed="rId3"/>
            <a:stretch>
              <a:fillRect/>
            </a:stretch>
          </p:blipFill>
          <p:spPr>
            <a:xfrm rot="5400000">
              <a:off x="4495000" y="2794994"/>
              <a:ext cx="904393" cy="324000"/>
            </a:xfrm>
            <a:prstGeom prst="rect">
              <a:avLst/>
            </a:prstGeom>
          </p:spPr>
        </p:pic>
      </p:grpSp>
    </p:spTree>
    <p:extLst>
      <p:ext uri="{BB962C8B-B14F-4D97-AF65-F5344CB8AC3E}">
        <p14:creationId xmlns:p14="http://schemas.microsoft.com/office/powerpoint/2010/main" val="1048826098"/>
      </p:ext>
    </p:extLst>
  </p:cSld>
  <p:clrMapOvr>
    <a:masterClrMapping/>
  </p:clrMapOvr>
  <p:hf sldNum="0" hdr="0" ftr="0" dt="0"/>
  <p:extLst>
    <p:ext uri="{DCECCB84-F9BA-43D5-87BE-67443E8EF086}">
      <p15:sldGuideLst xmlns:p15="http://schemas.microsoft.com/office/powerpoint/2012/main">
        <p15:guide id="1" pos="360">
          <p15:clr>
            <a:srgbClr val="FBAE40"/>
          </p15:clr>
        </p15:guide>
        <p15:guide id="3" orient="horz" pos="360">
          <p15:clr>
            <a:srgbClr val="FBAE40"/>
          </p15:clr>
        </p15:guide>
        <p15:guide id="4" pos="7080">
          <p15:clr>
            <a:srgbClr val="FBAE40"/>
          </p15:clr>
        </p15:guide>
        <p15:guide id="5" orient="horz" pos="3960">
          <p15:clr>
            <a:srgbClr val="FBAE40"/>
          </p15:clr>
        </p15:guide>
        <p15:guide id="7" pos="3720">
          <p15:clr>
            <a:srgbClr val="FBAE40"/>
          </p15:clr>
        </p15:guide>
        <p15:guide id="9" pos="7440">
          <p15:clr>
            <a:srgbClr val="FBAE40"/>
          </p15:clr>
        </p15:guide>
        <p15:guide id="10" pos="4080">
          <p15:clr>
            <a:srgbClr val="FBAE40"/>
          </p15:clr>
        </p15:guide>
        <p15:guide id="11" pos="3360">
          <p15:clr>
            <a:srgbClr val="FBAE40"/>
          </p15:clr>
        </p15:guide>
        <p15:guide id="12" pos="2664">
          <p15:clr>
            <a:srgbClr val="FBAE40"/>
          </p15:clr>
        </p15:guide>
        <p15:guide id="13" pos="4944">
          <p15:clr>
            <a:srgbClr val="FBAE40"/>
          </p15:clr>
        </p15:guide>
        <p15:guide id="14" pos="2496">
          <p15:clr>
            <a:srgbClr val="FBAE40"/>
          </p15:clr>
        </p15:guide>
        <p15:guide id="15" pos="4776">
          <p15:clr>
            <a:srgbClr val="FBAE40"/>
          </p15:clr>
        </p15:guide>
        <p15:guide id="16" orient="horz" pos="2160">
          <p15:clr>
            <a:srgbClr val="FBAE40"/>
          </p15:clr>
        </p15:guide>
        <p15:guide id="17" orient="horz" pos="1272">
          <p15:clr>
            <a:srgbClr val="FBAE40"/>
          </p15:clr>
        </p15:guide>
        <p15:guide id="18" orient="horz" pos="60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1_Product Catalog - Primar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8260519-0A36-FC4E-A441-2C51A9413418}"/>
              </a:ext>
            </a:extLst>
          </p:cNvPr>
          <p:cNvSpPr/>
          <p:nvPr/>
        </p:nvSpPr>
        <p:spPr>
          <a:xfrm>
            <a:off x="11811000" y="1"/>
            <a:ext cx="381000" cy="6857999"/>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5">
            <a:extLst>
              <a:ext uri="{FF2B5EF4-FFF2-40B4-BE49-F238E27FC236}">
                <a16:creationId xmlns:a16="http://schemas.microsoft.com/office/drawing/2014/main" id="{7BF7E0E1-B763-EA4B-83D8-6C299A7CA27F}"/>
              </a:ext>
            </a:extLst>
          </p:cNvPr>
          <p:cNvSpPr>
            <a:spLocks noGrp="1"/>
          </p:cNvSpPr>
          <p:nvPr>
            <p:ph type="sldNum" sz="quarter" idx="12"/>
          </p:nvPr>
        </p:nvSpPr>
        <p:spPr>
          <a:xfrm>
            <a:off x="11823690" y="6104964"/>
            <a:ext cx="368310" cy="194343"/>
          </a:xfrm>
          <a:prstGeom prst="rect">
            <a:avLst/>
          </a:prstGeom>
        </p:spPr>
        <p:txBody>
          <a:bodyPr lIns="0" rIns="0"/>
          <a:lstStyle>
            <a:lvl1pPr algn="ctr">
              <a:defRPr sz="1000" b="0" i="0" baseline="0">
                <a:solidFill>
                  <a:schemeClr val="bg1">
                    <a:lumMod val="65000"/>
                  </a:schemeClr>
                </a:solidFill>
                <a:latin typeface="Arial" panose="020B0604020202020204" pitchFamily="34" charset="0"/>
              </a:defRPr>
            </a:lvl1pPr>
          </a:lstStyle>
          <a:p>
            <a:fld id="{15213995-08BF-9544-B88D-65564A710159}" type="slidenum">
              <a:rPr lang="en-US" smtClean="0"/>
              <a:pPr/>
              <a:t>‹#›</a:t>
            </a:fld>
            <a:endParaRPr lang="en-US"/>
          </a:p>
        </p:txBody>
      </p:sp>
      <p:sp>
        <p:nvSpPr>
          <p:cNvPr id="6" name="Rectangle 5">
            <a:extLst>
              <a:ext uri="{FF2B5EF4-FFF2-40B4-BE49-F238E27FC236}">
                <a16:creationId xmlns:a16="http://schemas.microsoft.com/office/drawing/2014/main" id="{2CD43467-A185-FD45-9920-A404CD19D87D}"/>
              </a:ext>
            </a:extLst>
          </p:cNvPr>
          <p:cNvSpPr/>
          <p:nvPr/>
        </p:nvSpPr>
        <p:spPr>
          <a:xfrm>
            <a:off x="0" y="3429000"/>
            <a:ext cx="11811000" cy="2870307"/>
          </a:xfrm>
          <a:prstGeom prst="rect">
            <a:avLst/>
          </a:prstGeom>
          <a:gradFill>
            <a:gsLst>
              <a:gs pos="0">
                <a:srgbClr val="E6E6E7">
                  <a:alpha val="0"/>
                  <a:lumMod val="100000"/>
                </a:srgbClr>
              </a:gs>
              <a:gs pos="50000">
                <a:srgbClr val="E6E6E7"/>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4E5BEEA4-7D92-084C-9888-845F9A18ADE9}"/>
              </a:ext>
            </a:extLst>
          </p:cNvPr>
          <p:cNvCxnSpPr>
            <a:cxnSpLocks/>
          </p:cNvCxnSpPr>
          <p:nvPr/>
        </p:nvCxnSpPr>
        <p:spPr>
          <a:xfrm>
            <a:off x="-57665" y="5542672"/>
            <a:ext cx="11297165"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Text Placeholder 12">
            <a:extLst>
              <a:ext uri="{FF2B5EF4-FFF2-40B4-BE49-F238E27FC236}">
                <a16:creationId xmlns:a16="http://schemas.microsoft.com/office/drawing/2014/main" id="{6FF93E53-4DCE-664E-8D18-4CECDDEC93B8}"/>
              </a:ext>
            </a:extLst>
          </p:cNvPr>
          <p:cNvSpPr>
            <a:spLocks noGrp="1"/>
          </p:cNvSpPr>
          <p:nvPr>
            <p:ph type="body" sz="quarter" idx="13" hasCustomPrompt="1"/>
          </p:nvPr>
        </p:nvSpPr>
        <p:spPr>
          <a:xfrm>
            <a:off x="571501" y="571501"/>
            <a:ext cx="4762499" cy="470646"/>
          </a:xfrm>
          <a:prstGeom prst="rect">
            <a:avLst/>
          </a:prstGeom>
        </p:spPr>
        <p:txBody>
          <a:bodyPr lIns="0" tIns="0" rIns="0" bIns="0"/>
          <a:lstStyle>
            <a:lvl1pPr marL="0" indent="0">
              <a:spcBef>
                <a:spcPts val="0"/>
              </a:spcBef>
              <a:buNone/>
              <a:defRPr sz="1800" b="1"/>
            </a:lvl1pPr>
          </a:lstStyle>
          <a:p>
            <a:pPr lvl="0"/>
            <a:r>
              <a:rPr lang="en-US"/>
              <a:t>Headline </a:t>
            </a:r>
          </a:p>
          <a:p>
            <a:pPr lvl="0"/>
            <a:r>
              <a:rPr lang="en-US"/>
              <a:t>Goes Here</a:t>
            </a:r>
          </a:p>
        </p:txBody>
      </p:sp>
      <p:sp>
        <p:nvSpPr>
          <p:cNvPr id="12" name="Text Placeholder 17">
            <a:extLst>
              <a:ext uri="{FF2B5EF4-FFF2-40B4-BE49-F238E27FC236}">
                <a16:creationId xmlns:a16="http://schemas.microsoft.com/office/drawing/2014/main" id="{0BE3A195-C548-3C4F-9DD0-9C38E90850B9}"/>
              </a:ext>
            </a:extLst>
          </p:cNvPr>
          <p:cNvSpPr>
            <a:spLocks noGrp="1"/>
          </p:cNvSpPr>
          <p:nvPr>
            <p:ph type="body" sz="quarter" idx="15" hasCustomPrompt="1"/>
          </p:nvPr>
        </p:nvSpPr>
        <p:spPr>
          <a:xfrm>
            <a:off x="571500" y="1196791"/>
            <a:ext cx="4762500" cy="1959028"/>
          </a:xfrm>
          <a:prstGeom prst="rect">
            <a:avLst/>
          </a:prstGeom>
        </p:spPr>
        <p:txBody>
          <a:bodyPr lIns="0" tIns="0" rIns="0" bIns="0"/>
          <a:lstStyle>
            <a:lvl1pPr marL="0" indent="0">
              <a:buNone/>
              <a:defRPr sz="1050">
                <a:solidFill>
                  <a:schemeClr val="tx1">
                    <a:lumMod val="50000"/>
                    <a:lumOff val="50000"/>
                  </a:schemeClr>
                </a:solidFill>
              </a:defRPr>
            </a:lvl1pPr>
          </a:lstStyle>
          <a:p>
            <a:pPr lvl="0"/>
            <a:r>
              <a:rPr lang="en-US"/>
              <a:t>Copy goes here.</a:t>
            </a:r>
          </a:p>
        </p:txBody>
      </p:sp>
      <p:sp>
        <p:nvSpPr>
          <p:cNvPr id="3" name="Picture Placeholder 2">
            <a:extLst>
              <a:ext uri="{FF2B5EF4-FFF2-40B4-BE49-F238E27FC236}">
                <a16:creationId xmlns:a16="http://schemas.microsoft.com/office/drawing/2014/main" id="{7774EF02-0004-CD48-ADC2-E9E42DE7D675}"/>
              </a:ext>
            </a:extLst>
          </p:cNvPr>
          <p:cNvSpPr>
            <a:spLocks noGrp="1"/>
          </p:cNvSpPr>
          <p:nvPr>
            <p:ph type="pic" sz="quarter" idx="16"/>
          </p:nvPr>
        </p:nvSpPr>
        <p:spPr>
          <a:xfrm>
            <a:off x="5905500" y="258762"/>
            <a:ext cx="5334000" cy="2935011"/>
          </a:xfrm>
          <a:prstGeom prst="rect">
            <a:avLst/>
          </a:prstGeom>
        </p:spPr>
        <p:txBody>
          <a:bodyPr/>
          <a:lstStyle/>
          <a:p>
            <a:r>
              <a:rPr lang="zh-TW" altLang="en-US"/>
              <a:t>按一下圖示以新增圖片</a:t>
            </a:r>
            <a:endParaRPr lang="en-US"/>
          </a:p>
        </p:txBody>
      </p:sp>
      <p:sp>
        <p:nvSpPr>
          <p:cNvPr id="19" name="Rectangle 18">
            <a:extLst>
              <a:ext uri="{FF2B5EF4-FFF2-40B4-BE49-F238E27FC236}">
                <a16:creationId xmlns:a16="http://schemas.microsoft.com/office/drawing/2014/main" id="{4474408B-B86F-E74D-83DC-72860C5A4C8A}"/>
              </a:ext>
            </a:extLst>
          </p:cNvPr>
          <p:cNvSpPr/>
          <p:nvPr/>
        </p:nvSpPr>
        <p:spPr>
          <a:xfrm>
            <a:off x="571500" y="3721083"/>
            <a:ext cx="4419600" cy="161583"/>
          </a:xfrm>
          <a:prstGeom prst="rect">
            <a:avLst/>
          </a:prstGeom>
        </p:spPr>
        <p:txBody>
          <a:bodyPr wrap="square" lIns="0" tIns="0" rIns="0" bIns="0">
            <a:spAutoFit/>
          </a:bodyPr>
          <a:lstStyle/>
          <a:p>
            <a:r>
              <a:rPr lang="en-AU" sz="1050" b="1">
                <a:latin typeface="Arial" panose="020B0604020202020204" pitchFamily="34" charset="0"/>
                <a:cs typeface="Arial" panose="020B0604020202020204" pitchFamily="34" charset="0"/>
              </a:rPr>
              <a:t>Unique Selling Features</a:t>
            </a:r>
          </a:p>
        </p:txBody>
      </p:sp>
      <p:sp>
        <p:nvSpPr>
          <p:cNvPr id="21" name="Rectangle 20">
            <a:extLst>
              <a:ext uri="{FF2B5EF4-FFF2-40B4-BE49-F238E27FC236}">
                <a16:creationId xmlns:a16="http://schemas.microsoft.com/office/drawing/2014/main" id="{59648C18-6461-074E-B48F-CC3C743CF6AD}"/>
              </a:ext>
            </a:extLst>
          </p:cNvPr>
          <p:cNvSpPr/>
          <p:nvPr/>
        </p:nvSpPr>
        <p:spPr>
          <a:xfrm>
            <a:off x="6050542" y="3741449"/>
            <a:ext cx="4419600" cy="161583"/>
          </a:xfrm>
          <a:prstGeom prst="rect">
            <a:avLst/>
          </a:prstGeom>
        </p:spPr>
        <p:txBody>
          <a:bodyPr wrap="square" lIns="0" tIns="0" rIns="0" bIns="0">
            <a:spAutoFit/>
          </a:bodyPr>
          <a:lstStyle/>
          <a:p>
            <a:r>
              <a:rPr lang="en-AU" sz="1050" b="1">
                <a:latin typeface="Arial" panose="020B0604020202020204" pitchFamily="34" charset="0"/>
                <a:cs typeface="Arial" panose="020B0604020202020204" pitchFamily="34" charset="0"/>
              </a:rPr>
              <a:t>Specifications</a:t>
            </a:r>
          </a:p>
        </p:txBody>
      </p:sp>
      <p:sp>
        <p:nvSpPr>
          <p:cNvPr id="27" name="TextBox 26">
            <a:extLst>
              <a:ext uri="{FF2B5EF4-FFF2-40B4-BE49-F238E27FC236}">
                <a16:creationId xmlns:a16="http://schemas.microsoft.com/office/drawing/2014/main" id="{A966CDE6-938F-6C49-BF4F-53A8EF039B18}"/>
              </a:ext>
            </a:extLst>
          </p:cNvPr>
          <p:cNvSpPr txBox="1"/>
          <p:nvPr/>
        </p:nvSpPr>
        <p:spPr>
          <a:xfrm>
            <a:off x="571500" y="5745919"/>
            <a:ext cx="10668000" cy="147323"/>
          </a:xfrm>
          <a:prstGeom prst="rect">
            <a:avLst/>
          </a:prstGeom>
          <a:noFill/>
        </p:spPr>
        <p:txBody>
          <a:bodyPr wrap="square" lIns="0" tIns="0" rIns="0" bIns="0" numCol="6" spcCol="274320" rtlCol="0">
            <a:noAutofit/>
          </a:bodyPr>
          <a:lstStyle/>
          <a:p>
            <a:r>
              <a:rPr lang="en-US" sz="1050" b="1"/>
              <a:t>SKU</a:t>
            </a:r>
          </a:p>
          <a:p>
            <a:r>
              <a:rPr lang="en-US" sz="1050" b="1"/>
              <a:t>Case Pack Quantity</a:t>
            </a:r>
          </a:p>
          <a:p>
            <a:r>
              <a:rPr lang="en-US" sz="1050" b="1"/>
              <a:t>RRP AU</a:t>
            </a:r>
          </a:p>
          <a:p>
            <a:r>
              <a:rPr lang="en-US" sz="1050" b="1"/>
              <a:t>RRP NZ</a:t>
            </a:r>
          </a:p>
          <a:p>
            <a:r>
              <a:rPr lang="en-US" sz="1050" b="1"/>
              <a:t>Warranty</a:t>
            </a:r>
          </a:p>
          <a:p>
            <a:r>
              <a:rPr lang="en-US" sz="1050" b="1"/>
              <a:t>CEW</a:t>
            </a:r>
          </a:p>
        </p:txBody>
      </p:sp>
      <p:sp>
        <p:nvSpPr>
          <p:cNvPr id="29" name="Text Placeholder 28">
            <a:extLst>
              <a:ext uri="{FF2B5EF4-FFF2-40B4-BE49-F238E27FC236}">
                <a16:creationId xmlns:a16="http://schemas.microsoft.com/office/drawing/2014/main" id="{3E786CC8-FC4C-AD45-A882-9E7629C0D5D4}"/>
              </a:ext>
            </a:extLst>
          </p:cNvPr>
          <p:cNvSpPr>
            <a:spLocks noGrp="1"/>
          </p:cNvSpPr>
          <p:nvPr>
            <p:ph type="body" sz="quarter" idx="21" hasCustomPrompt="1"/>
          </p:nvPr>
        </p:nvSpPr>
        <p:spPr>
          <a:xfrm>
            <a:off x="571500" y="5988804"/>
            <a:ext cx="1141168" cy="183784"/>
          </a:xfrm>
          <a:prstGeom prst="rect">
            <a:avLst/>
          </a:prstGeom>
        </p:spPr>
        <p:txBody>
          <a:bodyPr lIns="0" tIns="0" rIns="0" bIns="0"/>
          <a:lstStyle>
            <a:lvl1pPr marL="0" indent="0">
              <a:buNone/>
              <a:defRPr sz="1050"/>
            </a:lvl1pPr>
          </a:lstStyle>
          <a:p>
            <a:pPr lvl="0"/>
            <a:r>
              <a:rPr lang="en-US"/>
              <a:t>XXXXX</a:t>
            </a:r>
          </a:p>
        </p:txBody>
      </p:sp>
      <p:sp>
        <p:nvSpPr>
          <p:cNvPr id="30" name="Text Placeholder 28">
            <a:extLst>
              <a:ext uri="{FF2B5EF4-FFF2-40B4-BE49-F238E27FC236}">
                <a16:creationId xmlns:a16="http://schemas.microsoft.com/office/drawing/2014/main" id="{1BD778AB-F86D-5547-B49E-F0B682EBB25F}"/>
              </a:ext>
            </a:extLst>
          </p:cNvPr>
          <p:cNvSpPr>
            <a:spLocks noGrp="1"/>
          </p:cNvSpPr>
          <p:nvPr>
            <p:ph type="body" sz="quarter" idx="22" hasCustomPrompt="1"/>
          </p:nvPr>
        </p:nvSpPr>
        <p:spPr>
          <a:xfrm>
            <a:off x="2400300" y="5988804"/>
            <a:ext cx="1141168" cy="183784"/>
          </a:xfrm>
          <a:prstGeom prst="rect">
            <a:avLst/>
          </a:prstGeom>
        </p:spPr>
        <p:txBody>
          <a:bodyPr lIns="0" tIns="0" rIns="0" bIns="0"/>
          <a:lstStyle>
            <a:lvl1pPr marL="0" indent="0">
              <a:buNone/>
              <a:defRPr sz="1050"/>
            </a:lvl1pPr>
          </a:lstStyle>
          <a:p>
            <a:pPr lvl="0"/>
            <a:r>
              <a:rPr lang="en-US"/>
              <a:t>XXXXX</a:t>
            </a:r>
          </a:p>
        </p:txBody>
      </p:sp>
      <p:sp>
        <p:nvSpPr>
          <p:cNvPr id="31" name="Text Placeholder 28">
            <a:extLst>
              <a:ext uri="{FF2B5EF4-FFF2-40B4-BE49-F238E27FC236}">
                <a16:creationId xmlns:a16="http://schemas.microsoft.com/office/drawing/2014/main" id="{B76BE1B6-AC37-EA4E-8471-226AC8F58120}"/>
              </a:ext>
            </a:extLst>
          </p:cNvPr>
          <p:cNvSpPr>
            <a:spLocks noGrp="1"/>
          </p:cNvSpPr>
          <p:nvPr>
            <p:ph type="body" sz="quarter" idx="23" hasCustomPrompt="1"/>
          </p:nvPr>
        </p:nvSpPr>
        <p:spPr>
          <a:xfrm>
            <a:off x="4229100" y="5988804"/>
            <a:ext cx="1141168" cy="183784"/>
          </a:xfrm>
          <a:prstGeom prst="rect">
            <a:avLst/>
          </a:prstGeom>
        </p:spPr>
        <p:txBody>
          <a:bodyPr lIns="0" tIns="0" rIns="0" bIns="0"/>
          <a:lstStyle>
            <a:lvl1pPr marL="0" indent="0">
              <a:buNone/>
              <a:defRPr sz="1050"/>
            </a:lvl1pPr>
          </a:lstStyle>
          <a:p>
            <a:pPr lvl="0"/>
            <a:r>
              <a:rPr lang="en-US"/>
              <a:t>XXXXX</a:t>
            </a:r>
          </a:p>
        </p:txBody>
      </p:sp>
      <p:sp>
        <p:nvSpPr>
          <p:cNvPr id="32" name="Text Placeholder 28">
            <a:extLst>
              <a:ext uri="{FF2B5EF4-FFF2-40B4-BE49-F238E27FC236}">
                <a16:creationId xmlns:a16="http://schemas.microsoft.com/office/drawing/2014/main" id="{CD4951D7-08B8-504B-AF14-6DD8B8D95C6B}"/>
              </a:ext>
            </a:extLst>
          </p:cNvPr>
          <p:cNvSpPr>
            <a:spLocks noGrp="1"/>
          </p:cNvSpPr>
          <p:nvPr>
            <p:ph type="body" sz="quarter" idx="24" hasCustomPrompt="1"/>
          </p:nvPr>
        </p:nvSpPr>
        <p:spPr>
          <a:xfrm>
            <a:off x="6042270" y="5988804"/>
            <a:ext cx="1141168" cy="183784"/>
          </a:xfrm>
          <a:prstGeom prst="rect">
            <a:avLst/>
          </a:prstGeom>
        </p:spPr>
        <p:txBody>
          <a:bodyPr lIns="0" tIns="0" rIns="0" bIns="0"/>
          <a:lstStyle>
            <a:lvl1pPr marL="0" indent="0">
              <a:buNone/>
              <a:defRPr sz="1050"/>
            </a:lvl1pPr>
          </a:lstStyle>
          <a:p>
            <a:pPr lvl="0"/>
            <a:r>
              <a:rPr lang="en-US"/>
              <a:t>XXXXX</a:t>
            </a:r>
          </a:p>
        </p:txBody>
      </p:sp>
      <p:sp>
        <p:nvSpPr>
          <p:cNvPr id="33" name="Text Placeholder 28">
            <a:extLst>
              <a:ext uri="{FF2B5EF4-FFF2-40B4-BE49-F238E27FC236}">
                <a16:creationId xmlns:a16="http://schemas.microsoft.com/office/drawing/2014/main" id="{B5854D68-ED26-774B-8E30-FBEA2DC238BC}"/>
              </a:ext>
            </a:extLst>
          </p:cNvPr>
          <p:cNvSpPr>
            <a:spLocks noGrp="1"/>
          </p:cNvSpPr>
          <p:nvPr>
            <p:ph type="body" sz="quarter" idx="25" hasCustomPrompt="1"/>
          </p:nvPr>
        </p:nvSpPr>
        <p:spPr>
          <a:xfrm>
            <a:off x="7871070" y="5988804"/>
            <a:ext cx="1141168" cy="183784"/>
          </a:xfrm>
          <a:prstGeom prst="rect">
            <a:avLst/>
          </a:prstGeom>
        </p:spPr>
        <p:txBody>
          <a:bodyPr lIns="0" tIns="0" rIns="0" bIns="0"/>
          <a:lstStyle>
            <a:lvl1pPr marL="0" indent="0">
              <a:buNone/>
              <a:defRPr sz="1050"/>
            </a:lvl1pPr>
          </a:lstStyle>
          <a:p>
            <a:pPr lvl="0"/>
            <a:r>
              <a:rPr lang="en-US"/>
              <a:t>XXXXX</a:t>
            </a:r>
          </a:p>
        </p:txBody>
      </p:sp>
      <p:sp>
        <p:nvSpPr>
          <p:cNvPr id="34" name="Text Placeholder 28">
            <a:extLst>
              <a:ext uri="{FF2B5EF4-FFF2-40B4-BE49-F238E27FC236}">
                <a16:creationId xmlns:a16="http://schemas.microsoft.com/office/drawing/2014/main" id="{BDCEDCD4-304B-8A41-B4AB-9D3F47418110}"/>
              </a:ext>
            </a:extLst>
          </p:cNvPr>
          <p:cNvSpPr>
            <a:spLocks noGrp="1"/>
          </p:cNvSpPr>
          <p:nvPr>
            <p:ph type="body" sz="quarter" idx="26" hasCustomPrompt="1"/>
          </p:nvPr>
        </p:nvSpPr>
        <p:spPr>
          <a:xfrm>
            <a:off x="9692054" y="5988804"/>
            <a:ext cx="1141168" cy="183784"/>
          </a:xfrm>
          <a:prstGeom prst="rect">
            <a:avLst/>
          </a:prstGeom>
        </p:spPr>
        <p:txBody>
          <a:bodyPr lIns="0" tIns="0" rIns="0" bIns="0"/>
          <a:lstStyle>
            <a:lvl1pPr marL="0" indent="0">
              <a:buNone/>
              <a:defRPr sz="1050"/>
            </a:lvl1pPr>
          </a:lstStyle>
          <a:p>
            <a:pPr lvl="0"/>
            <a:r>
              <a:rPr lang="en-US"/>
              <a:t>XXXXX</a:t>
            </a:r>
          </a:p>
        </p:txBody>
      </p:sp>
      <p:sp>
        <p:nvSpPr>
          <p:cNvPr id="36" name="Text Placeholder 35">
            <a:extLst>
              <a:ext uri="{FF2B5EF4-FFF2-40B4-BE49-F238E27FC236}">
                <a16:creationId xmlns:a16="http://schemas.microsoft.com/office/drawing/2014/main" id="{A7ABCFCD-DBD9-FD45-883F-CD1F83964380}"/>
              </a:ext>
            </a:extLst>
          </p:cNvPr>
          <p:cNvSpPr>
            <a:spLocks noGrp="1"/>
          </p:cNvSpPr>
          <p:nvPr>
            <p:ph type="body" sz="quarter" idx="27" hasCustomPrompt="1"/>
          </p:nvPr>
        </p:nvSpPr>
        <p:spPr>
          <a:xfrm>
            <a:off x="571501" y="3978228"/>
            <a:ext cx="4762499" cy="1375310"/>
          </a:xfrm>
          <a:prstGeom prst="rect">
            <a:avLst/>
          </a:prstGeom>
        </p:spPr>
        <p:txBody>
          <a:bodyPr lIns="0" tIns="0" rIns="0" bIns="0"/>
          <a:lstStyle>
            <a:lvl1pPr marL="173736" indent="-173736">
              <a:lnSpc>
                <a:spcPct val="100000"/>
              </a:lnSpc>
              <a:spcBef>
                <a:spcPts val="600"/>
              </a:spcBef>
              <a:defRPr sz="950"/>
            </a:lvl1pPr>
            <a:lvl2pPr marL="457200" indent="0">
              <a:buNone/>
              <a:defRPr/>
            </a:lvl2pPr>
          </a:lstStyle>
          <a:p>
            <a:pPr lvl="0"/>
            <a:r>
              <a:rPr lang="en-US"/>
              <a:t>Bullet goes here</a:t>
            </a:r>
          </a:p>
          <a:p>
            <a:pPr lvl="0"/>
            <a:r>
              <a:rPr lang="en-US"/>
              <a:t>Bullet goes here</a:t>
            </a:r>
          </a:p>
          <a:p>
            <a:pPr lvl="0"/>
            <a:r>
              <a:rPr lang="en-US"/>
              <a:t>Bullet goes here</a:t>
            </a:r>
          </a:p>
        </p:txBody>
      </p:sp>
      <p:sp>
        <p:nvSpPr>
          <p:cNvPr id="37" name="Text Placeholder 35">
            <a:extLst>
              <a:ext uri="{FF2B5EF4-FFF2-40B4-BE49-F238E27FC236}">
                <a16:creationId xmlns:a16="http://schemas.microsoft.com/office/drawing/2014/main" id="{1EFAC735-4594-0744-A9EF-8D062C298B47}"/>
              </a:ext>
            </a:extLst>
          </p:cNvPr>
          <p:cNvSpPr>
            <a:spLocks noGrp="1"/>
          </p:cNvSpPr>
          <p:nvPr>
            <p:ph type="body" sz="quarter" idx="28" hasCustomPrompt="1"/>
          </p:nvPr>
        </p:nvSpPr>
        <p:spPr>
          <a:xfrm>
            <a:off x="6057901" y="3978228"/>
            <a:ext cx="4762499" cy="1375310"/>
          </a:xfrm>
          <a:prstGeom prst="rect">
            <a:avLst/>
          </a:prstGeom>
        </p:spPr>
        <p:txBody>
          <a:bodyPr lIns="0" tIns="0" rIns="0" bIns="0"/>
          <a:lstStyle>
            <a:lvl1pPr marL="173736" indent="-173736">
              <a:lnSpc>
                <a:spcPct val="100000"/>
              </a:lnSpc>
              <a:spcBef>
                <a:spcPts val="600"/>
              </a:spcBef>
              <a:defRPr sz="950"/>
            </a:lvl1pPr>
            <a:lvl2pPr marL="457200" indent="0">
              <a:buNone/>
              <a:defRPr/>
            </a:lvl2pPr>
          </a:lstStyle>
          <a:p>
            <a:pPr lvl="0"/>
            <a:r>
              <a:rPr lang="en-US"/>
              <a:t>Bullet goes here</a:t>
            </a:r>
          </a:p>
          <a:p>
            <a:pPr lvl="0"/>
            <a:r>
              <a:rPr lang="en-US"/>
              <a:t>Bullet goes here</a:t>
            </a:r>
          </a:p>
          <a:p>
            <a:pPr lvl="0"/>
            <a:r>
              <a:rPr lang="en-US"/>
              <a:t>Bullet goes here</a:t>
            </a:r>
          </a:p>
        </p:txBody>
      </p:sp>
      <p:grpSp>
        <p:nvGrpSpPr>
          <p:cNvPr id="10" name="群組 9">
            <a:extLst>
              <a:ext uri="{FF2B5EF4-FFF2-40B4-BE49-F238E27FC236}">
                <a16:creationId xmlns:a16="http://schemas.microsoft.com/office/drawing/2014/main" id="{67DAA5AC-D9CF-E4BB-8A6A-AAD4CD7D6DFD}"/>
              </a:ext>
            </a:extLst>
          </p:cNvPr>
          <p:cNvGrpSpPr/>
          <p:nvPr userDrawn="1"/>
        </p:nvGrpSpPr>
        <p:grpSpPr>
          <a:xfrm>
            <a:off x="11756483" y="660266"/>
            <a:ext cx="392419" cy="2081042"/>
            <a:chOff x="4716778" y="1328148"/>
            <a:chExt cx="392419" cy="2081042"/>
          </a:xfrm>
        </p:grpSpPr>
        <p:pic>
          <p:nvPicPr>
            <p:cNvPr id="13" name="Picture 6">
              <a:extLst>
                <a:ext uri="{FF2B5EF4-FFF2-40B4-BE49-F238E27FC236}">
                  <a16:creationId xmlns:a16="http://schemas.microsoft.com/office/drawing/2014/main" id="{CBB1D5F9-4C24-6821-ED8E-8ED0BF3C6616}"/>
                </a:ext>
              </a:extLst>
            </p:cNvPr>
            <p:cNvPicPr>
              <a:picLocks noChangeAspect="1"/>
            </p:cNvPicPr>
            <p:nvPr userDrawn="1"/>
          </p:nvPicPr>
          <p:blipFill rotWithShape="1">
            <a:blip r:embed="rId2"/>
            <a:srcRect r="61434" b="-36631"/>
            <a:stretch/>
          </p:blipFill>
          <p:spPr>
            <a:xfrm rot="5400000">
              <a:off x="4287092" y="1757834"/>
              <a:ext cx="1240374" cy="381001"/>
            </a:xfrm>
            <a:prstGeom prst="rect">
              <a:avLst/>
            </a:prstGeom>
          </p:spPr>
        </p:pic>
        <p:pic>
          <p:nvPicPr>
            <p:cNvPr id="14" name="圖片 13" descr="一張含有 字型, 圖形, 文字, 標誌 的圖片&#10;&#10;自動產生的描述">
              <a:extLst>
                <a:ext uri="{FF2B5EF4-FFF2-40B4-BE49-F238E27FC236}">
                  <a16:creationId xmlns:a16="http://schemas.microsoft.com/office/drawing/2014/main" id="{E273B931-A948-6070-3785-1A8CB97AFD9E}"/>
                </a:ext>
              </a:extLst>
            </p:cNvPr>
            <p:cNvPicPr>
              <a:picLocks noChangeAspect="1"/>
            </p:cNvPicPr>
            <p:nvPr userDrawn="1"/>
          </p:nvPicPr>
          <p:blipFill>
            <a:blip r:embed="rId3"/>
            <a:stretch>
              <a:fillRect/>
            </a:stretch>
          </p:blipFill>
          <p:spPr>
            <a:xfrm rot="5400000">
              <a:off x="4495000" y="2794994"/>
              <a:ext cx="904393" cy="324000"/>
            </a:xfrm>
            <a:prstGeom prst="rect">
              <a:avLst/>
            </a:prstGeom>
          </p:spPr>
        </p:pic>
      </p:grpSp>
    </p:spTree>
    <p:extLst>
      <p:ext uri="{BB962C8B-B14F-4D97-AF65-F5344CB8AC3E}">
        <p14:creationId xmlns:p14="http://schemas.microsoft.com/office/powerpoint/2010/main" val="3538843535"/>
      </p:ext>
    </p:extLst>
  </p:cSld>
  <p:clrMapOvr>
    <a:masterClrMapping/>
  </p:clrMapOvr>
  <p:hf sldNum="0" hdr="0" ftr="0" dt="0"/>
  <p:extLst>
    <p:ext uri="{DCECCB84-F9BA-43D5-87BE-67443E8EF086}">
      <p15:sldGuideLst xmlns:p15="http://schemas.microsoft.com/office/powerpoint/2012/main">
        <p15:guide id="1" pos="360">
          <p15:clr>
            <a:srgbClr val="FBAE40"/>
          </p15:clr>
        </p15:guide>
        <p15:guide id="3" orient="horz" pos="360">
          <p15:clr>
            <a:srgbClr val="FBAE40"/>
          </p15:clr>
        </p15:guide>
        <p15:guide id="4" pos="7080">
          <p15:clr>
            <a:srgbClr val="FBAE40"/>
          </p15:clr>
        </p15:guide>
        <p15:guide id="5" orient="horz" pos="3960">
          <p15:clr>
            <a:srgbClr val="FBAE40"/>
          </p15:clr>
        </p15:guide>
        <p15:guide id="7" pos="3720">
          <p15:clr>
            <a:srgbClr val="FBAE40"/>
          </p15:clr>
        </p15:guide>
        <p15:guide id="9" pos="7440">
          <p15:clr>
            <a:srgbClr val="FBAE40"/>
          </p15:clr>
        </p15:guide>
        <p15:guide id="10" pos="4080">
          <p15:clr>
            <a:srgbClr val="FBAE40"/>
          </p15:clr>
        </p15:guide>
        <p15:guide id="11" pos="3360">
          <p15:clr>
            <a:srgbClr val="FBAE40"/>
          </p15:clr>
        </p15:guide>
        <p15:guide id="12" pos="2664">
          <p15:clr>
            <a:srgbClr val="FBAE40"/>
          </p15:clr>
        </p15:guide>
        <p15:guide id="13" pos="4944">
          <p15:clr>
            <a:srgbClr val="FBAE40"/>
          </p15:clr>
        </p15:guide>
        <p15:guide id="14" pos="2496">
          <p15:clr>
            <a:srgbClr val="FBAE40"/>
          </p15:clr>
        </p15:guide>
        <p15:guide id="15" pos="4776">
          <p15:clr>
            <a:srgbClr val="FBAE40"/>
          </p15:clr>
        </p15:guide>
        <p15:guide id="16" orient="horz" pos="216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31_FIT Pres Temp - Primary">
    <p:spTree>
      <p:nvGrpSpPr>
        <p:cNvPr id="1" name=""/>
        <p:cNvGrpSpPr/>
        <p:nvPr/>
      </p:nvGrpSpPr>
      <p:grpSpPr>
        <a:xfrm>
          <a:off x="0" y="0"/>
          <a:ext cx="0" cy="0"/>
          <a:chOff x="0" y="0"/>
          <a:chExt cx="0" cy="0"/>
        </a:xfrm>
      </p:grpSpPr>
    </p:spTree>
    <p:extLst>
      <p:ext uri="{BB962C8B-B14F-4D97-AF65-F5344CB8AC3E}">
        <p14:creationId xmlns:p14="http://schemas.microsoft.com/office/powerpoint/2010/main" val="3028928552"/>
      </p:ext>
    </p:extLst>
  </p:cSld>
  <p:clrMapOvr>
    <a:masterClrMapping/>
  </p:clrMapOvr>
  <p:hf sldNum="0" hdr="0" ftr="0" dt="0"/>
  <p:extLst>
    <p:ext uri="{DCECCB84-F9BA-43D5-87BE-67443E8EF086}">
      <p15:sldGuideLst xmlns:p15="http://schemas.microsoft.com/office/powerpoint/2012/main">
        <p15:guide id="1" pos="360">
          <p15:clr>
            <a:srgbClr val="FBAE40"/>
          </p15:clr>
        </p15:guide>
        <p15:guide id="3" orient="horz" pos="360">
          <p15:clr>
            <a:srgbClr val="FBAE40"/>
          </p15:clr>
        </p15:guide>
        <p15:guide id="4" pos="7320">
          <p15:clr>
            <a:srgbClr val="FBAE40"/>
          </p15:clr>
        </p15:guide>
        <p15:guide id="5" orient="horz" pos="3960">
          <p15:clr>
            <a:srgbClr val="FBAE40"/>
          </p15:clr>
        </p15:guide>
        <p15:guide id="7"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48364631"/>
      </p:ext>
    </p:extLst>
  </p:cSld>
  <p:clrMap bg1="lt1" tx1="dk1" bg2="lt2" tx2="dk2" accent1="accent1" accent2="accent2" accent3="accent3" accent4="accent4" accent5="accent5" accent6="accent6" hlink="hlink" folHlink="folHlink"/>
  <p:sldLayoutIdLst>
    <p:sldLayoutId id="2147483731" r:id="rId1"/>
    <p:sldLayoutId id="2147483733" r:id="rId2"/>
    <p:sldLayoutId id="2147483734" r:id="rId3"/>
    <p:sldLayoutId id="2147483736" r:id="rId4"/>
    <p:sldLayoutId id="2147483740" r:id="rId5"/>
    <p:sldLayoutId id="2147483741" r:id="rId6"/>
    <p:sldLayoutId id="2147483742" r:id="rId7"/>
    <p:sldLayoutId id="2147483743" r:id="rId8"/>
    <p:sldLayoutId id="2147483744" r:id="rId9"/>
    <p:sldLayoutId id="2147483745" r:id="rId10"/>
    <p:sldLayoutId id="2147483746" r:id="rId11"/>
    <p:sldLayoutId id="2147483747" r:id="rId1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5.xml"/><Relationship Id="rId5" Type="http://schemas.openxmlformats.org/officeDocument/2006/relationships/image" Target="../media/image3.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4.xml"/><Relationship Id="rId1" Type="http://schemas.openxmlformats.org/officeDocument/2006/relationships/slideLayout" Target="../slideLayouts/slideLayout3.xml"/><Relationship Id="rId4" Type="http://schemas.openxmlformats.org/officeDocument/2006/relationships/image" Target="../media/image24.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1.xml"/><Relationship Id="rId1" Type="http://schemas.openxmlformats.org/officeDocument/2006/relationships/slideLayout" Target="../slideLayouts/slideLayout3.xml"/><Relationship Id="rId4" Type="http://schemas.openxmlformats.org/officeDocument/2006/relationships/image" Target="../media/image26.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3.xml"/><Relationship Id="rId1" Type="http://schemas.openxmlformats.org/officeDocument/2006/relationships/slideLayout" Target="../slideLayouts/slideLayout3.xml"/><Relationship Id="rId4" Type="http://schemas.openxmlformats.org/officeDocument/2006/relationships/image" Target="../media/image28.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8" Type="http://schemas.openxmlformats.org/officeDocument/2006/relationships/slide" Target="slide46.xml"/><Relationship Id="rId3" Type="http://schemas.openxmlformats.org/officeDocument/2006/relationships/image" Target="../media/image29.png"/><Relationship Id="rId7" Type="http://schemas.openxmlformats.org/officeDocument/2006/relationships/slide" Target="slide20.xml"/><Relationship Id="rId2" Type="http://schemas.openxmlformats.org/officeDocument/2006/relationships/notesSlide" Target="../notesSlides/notesSlide49.xml"/><Relationship Id="rId1" Type="http://schemas.openxmlformats.org/officeDocument/2006/relationships/slideLayout" Target="../slideLayouts/slideLayout3.xml"/><Relationship Id="rId6" Type="http://schemas.openxmlformats.org/officeDocument/2006/relationships/slide" Target="slide32.xml"/><Relationship Id="rId5" Type="http://schemas.openxmlformats.org/officeDocument/2006/relationships/slide" Target="slide19.xml"/><Relationship Id="rId4" Type="http://schemas.openxmlformats.org/officeDocument/2006/relationships/slide" Target="slide37.xml"/></Relationships>
</file>

<file path=ppt/slides/_rels/slide5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8" Type="http://schemas.openxmlformats.org/officeDocument/2006/relationships/slide" Target="slide19.xml"/><Relationship Id="rId3" Type="http://schemas.openxmlformats.org/officeDocument/2006/relationships/image" Target="../media/image30.png"/><Relationship Id="rId7" Type="http://schemas.openxmlformats.org/officeDocument/2006/relationships/slide" Target="slide42.xml"/><Relationship Id="rId2" Type="http://schemas.openxmlformats.org/officeDocument/2006/relationships/notesSlide" Target="../notesSlides/notesSlide52.xml"/><Relationship Id="rId1" Type="http://schemas.openxmlformats.org/officeDocument/2006/relationships/slideLayout" Target="../slideLayouts/slideLayout3.xml"/><Relationship Id="rId6" Type="http://schemas.openxmlformats.org/officeDocument/2006/relationships/slide" Target="slide38.xml"/><Relationship Id="rId5" Type="http://schemas.openxmlformats.org/officeDocument/2006/relationships/slide" Target="slide39.xml"/><Relationship Id="rId4" Type="http://schemas.microsoft.com/office/2007/relationships/hdphoto" Target="../media/hdphoto1.wdp"/></Relationships>
</file>

<file path=ppt/slides/_rels/slide5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3.xml"/><Relationship Id="rId1" Type="http://schemas.openxmlformats.org/officeDocument/2006/relationships/slideLayout" Target="../slideLayouts/slideLayout3.xml"/><Relationship Id="rId4" Type="http://schemas.openxmlformats.org/officeDocument/2006/relationships/image" Target="../media/image32.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5.xml"/><Relationship Id="rId1" Type="http://schemas.openxmlformats.org/officeDocument/2006/relationships/slideLayout" Target="../slideLayouts/slideLayout3.xml"/><Relationship Id="rId4" Type="http://schemas.openxmlformats.org/officeDocument/2006/relationships/image" Target="../media/image34.pn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Tall office building looking up">
            <a:extLst>
              <a:ext uri="{FF2B5EF4-FFF2-40B4-BE49-F238E27FC236}">
                <a16:creationId xmlns:a16="http://schemas.microsoft.com/office/drawing/2014/main" id="{A1BC044C-6141-BC4E-9250-37E8AA38270B}"/>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l="-141"/>
          <a:stretch/>
        </p:blipFill>
        <p:spPr>
          <a:xfrm>
            <a:off x="-59370" y="-26032"/>
            <a:ext cx="12347785" cy="6910063"/>
          </a:xfrm>
          <a:prstGeom prst="rect">
            <a:avLst/>
          </a:prstGeom>
        </p:spPr>
      </p:pic>
      <p:sp>
        <p:nvSpPr>
          <p:cNvPr id="5" name="object 5"/>
          <p:cNvSpPr txBox="1"/>
          <p:nvPr/>
        </p:nvSpPr>
        <p:spPr>
          <a:xfrm>
            <a:off x="559117" y="388197"/>
            <a:ext cx="3256279" cy="766445"/>
          </a:xfrm>
          <a:prstGeom prst="rect">
            <a:avLst/>
          </a:prstGeom>
        </p:spPr>
        <p:txBody>
          <a:bodyPr vert="horz" wrap="square" lIns="0" tIns="92710" rIns="0" bIns="0" rtlCol="0">
            <a:spAutoFit/>
          </a:bodyPr>
          <a:lstStyle/>
          <a:p>
            <a:pPr marL="12700">
              <a:lnSpc>
                <a:spcPct val="100000"/>
              </a:lnSpc>
              <a:spcBef>
                <a:spcPts val="730"/>
              </a:spcBef>
            </a:pPr>
            <a:r>
              <a:rPr sz="2400" b="1">
                <a:solidFill>
                  <a:srgbClr val="FFFFFF"/>
                </a:solidFill>
                <a:latin typeface="Arial"/>
                <a:cs typeface="Arial"/>
              </a:rPr>
              <a:t>FIT Hon </a:t>
            </a:r>
            <a:r>
              <a:rPr sz="2400" b="1" spc="-50">
                <a:solidFill>
                  <a:srgbClr val="FFFFFF"/>
                </a:solidFill>
                <a:latin typeface="Arial"/>
                <a:cs typeface="Arial"/>
              </a:rPr>
              <a:t>Teng</a:t>
            </a:r>
            <a:r>
              <a:rPr sz="2400" b="1" spc="-100">
                <a:solidFill>
                  <a:srgbClr val="FFFFFF"/>
                </a:solidFill>
                <a:latin typeface="Arial"/>
                <a:cs typeface="Arial"/>
              </a:rPr>
              <a:t> </a:t>
            </a:r>
            <a:r>
              <a:rPr sz="2400" b="1" spc="-5">
                <a:solidFill>
                  <a:srgbClr val="FFFFFF"/>
                </a:solidFill>
                <a:latin typeface="Arial"/>
                <a:cs typeface="Arial"/>
              </a:rPr>
              <a:t>Limited</a:t>
            </a:r>
            <a:endParaRPr sz="2400">
              <a:latin typeface="Arial"/>
              <a:cs typeface="Arial"/>
            </a:endParaRPr>
          </a:p>
          <a:p>
            <a:pPr marL="12700">
              <a:lnSpc>
                <a:spcPct val="100000"/>
              </a:lnSpc>
              <a:spcBef>
                <a:spcPts val="405"/>
              </a:spcBef>
            </a:pPr>
            <a:r>
              <a:rPr sz="1600" b="1" spc="-10">
                <a:solidFill>
                  <a:srgbClr val="FFFFFF"/>
                </a:solidFill>
                <a:latin typeface="Microsoft JhengHei" panose="020B0604030504040204" pitchFamily="34" charset="-120"/>
                <a:ea typeface="Microsoft JhengHei" panose="020B0604030504040204" pitchFamily="34" charset="-120"/>
                <a:cs typeface="AoyagiKouzanFontT"/>
              </a:rPr>
              <a:t>鴻騰六零八八精密科技股份有限公司</a:t>
            </a:r>
            <a:endParaRPr sz="1600" b="1">
              <a:latin typeface="Microsoft JhengHei" panose="020B0604030504040204" pitchFamily="34" charset="-120"/>
              <a:ea typeface="Microsoft JhengHei" panose="020B0604030504040204" pitchFamily="34" charset="-120"/>
              <a:cs typeface="AoyagiKouzanFontT"/>
            </a:endParaRPr>
          </a:p>
        </p:txBody>
      </p:sp>
      <p:sp>
        <p:nvSpPr>
          <p:cNvPr id="9" name="Google Shape;184;p1">
            <a:extLst>
              <a:ext uri="{FF2B5EF4-FFF2-40B4-BE49-F238E27FC236}">
                <a16:creationId xmlns:a16="http://schemas.microsoft.com/office/drawing/2014/main" id="{0872C175-61FC-4C58-ADC4-18AD3785FA99}"/>
              </a:ext>
            </a:extLst>
          </p:cNvPr>
          <p:cNvSpPr/>
          <p:nvPr/>
        </p:nvSpPr>
        <p:spPr>
          <a:xfrm>
            <a:off x="3572692" y="5792660"/>
            <a:ext cx="2775809" cy="556260"/>
          </a:xfrm>
          <a:prstGeom prst="rect">
            <a:avLst/>
          </a:prstGeom>
          <a:blipFill rotWithShape="1">
            <a:blip r:embed="rId4">
              <a:alphaModFix/>
            </a:blip>
            <a:srcRect/>
            <a:stretch>
              <a:fillRect r="-174926"/>
            </a:stretch>
          </a:blipFill>
          <a:ln>
            <a:noFill/>
          </a:ln>
        </p:spPr>
        <p:txBody>
          <a:bodyPr spcFirstLastPara="1" wrap="square" lIns="0" tIns="0" rIns="0" bIns="0" anchor="t" anchorCtr="0">
            <a:noAutofit/>
          </a:bodyPr>
          <a:lstStyle/>
          <a:p>
            <a:endParaRPr>
              <a:solidFill>
                <a:prstClr val="black"/>
              </a:solidFill>
              <a:ea typeface="Arial"/>
              <a:cs typeface="Arial"/>
              <a:sym typeface="Arial"/>
            </a:endParaRPr>
          </a:p>
        </p:txBody>
      </p:sp>
      <p:sp>
        <p:nvSpPr>
          <p:cNvPr id="12" name="object 4">
            <a:extLst>
              <a:ext uri="{FF2B5EF4-FFF2-40B4-BE49-F238E27FC236}">
                <a16:creationId xmlns:a16="http://schemas.microsoft.com/office/drawing/2014/main" id="{03D411DF-7B98-473D-AA6F-42ED62D518F2}"/>
              </a:ext>
            </a:extLst>
          </p:cNvPr>
          <p:cNvSpPr txBox="1"/>
          <p:nvPr/>
        </p:nvSpPr>
        <p:spPr>
          <a:xfrm>
            <a:off x="559117" y="4082730"/>
            <a:ext cx="3857804" cy="289823"/>
          </a:xfrm>
          <a:prstGeom prst="rect">
            <a:avLst/>
          </a:prstGeom>
        </p:spPr>
        <p:txBody>
          <a:bodyPr vert="horz" wrap="square" lIns="0" tIns="12700" rIns="0" bIns="0" rtlCol="0">
            <a:spAutoFit/>
          </a:bodyPr>
          <a:lstStyle/>
          <a:p>
            <a:r>
              <a:rPr lang="en-US" altLang="zh-TW" b="1" dirty="0">
                <a:solidFill>
                  <a:schemeClr val="bg1"/>
                </a:solidFill>
              </a:rPr>
              <a:t>2026/1/12</a:t>
            </a:r>
            <a:endParaRPr lang="zh-CN" altLang="en-US" b="1" dirty="0">
              <a:solidFill>
                <a:schemeClr val="bg1"/>
              </a:solidFill>
            </a:endParaRPr>
          </a:p>
        </p:txBody>
      </p:sp>
      <p:sp>
        <p:nvSpPr>
          <p:cNvPr id="13" name="object 6">
            <a:extLst>
              <a:ext uri="{FF2B5EF4-FFF2-40B4-BE49-F238E27FC236}">
                <a16:creationId xmlns:a16="http://schemas.microsoft.com/office/drawing/2014/main" id="{EBD3FC8A-0850-4E26-9FB8-6204796D51C5}"/>
              </a:ext>
            </a:extLst>
          </p:cNvPr>
          <p:cNvSpPr txBox="1">
            <a:spLocks noGrp="1"/>
          </p:cNvSpPr>
          <p:nvPr>
            <p:ph type="ctrTitle"/>
          </p:nvPr>
        </p:nvSpPr>
        <p:spPr>
          <a:xfrm>
            <a:off x="559117" y="2198839"/>
            <a:ext cx="6822758" cy="1295226"/>
          </a:xfrm>
          <a:prstGeom prst="rect">
            <a:avLst/>
          </a:prstGeom>
        </p:spPr>
        <p:txBody>
          <a:bodyPr vert="horz" wrap="square" lIns="0" tIns="12700" rIns="0" bIns="0" rtlCol="0">
            <a:spAutoFit/>
          </a:bodyPr>
          <a:lstStyle/>
          <a:p>
            <a:pPr marL="14604">
              <a:lnSpc>
                <a:spcPts val="4980"/>
              </a:lnSpc>
              <a:spcBef>
                <a:spcPts val="100"/>
              </a:spcBef>
            </a:pPr>
            <a:r>
              <a:rPr lang="en-US" altLang="zh-TW" spc="-5" dirty="0">
                <a:solidFill>
                  <a:schemeClr val="bg1"/>
                </a:solidFill>
              </a:rPr>
              <a:t>CPD-X Test Station Introduction</a:t>
            </a:r>
            <a:endParaRPr dirty="0">
              <a:solidFill>
                <a:srgbClr val="FFFFFF"/>
              </a:solidFill>
            </a:endParaRPr>
          </a:p>
        </p:txBody>
      </p:sp>
      <p:sp>
        <p:nvSpPr>
          <p:cNvPr id="2" name="TextBox 1">
            <a:extLst>
              <a:ext uri="{FF2B5EF4-FFF2-40B4-BE49-F238E27FC236}">
                <a16:creationId xmlns:a16="http://schemas.microsoft.com/office/drawing/2014/main" id="{2F8CF26D-CBE0-4FB9-95BD-F44E03A117E2}"/>
              </a:ext>
            </a:extLst>
          </p:cNvPr>
          <p:cNvSpPr txBox="1"/>
          <p:nvPr/>
        </p:nvSpPr>
        <p:spPr>
          <a:xfrm>
            <a:off x="104775" y="6602165"/>
            <a:ext cx="7277100" cy="184666"/>
          </a:xfrm>
          <a:prstGeom prst="rect">
            <a:avLst/>
          </a:prstGeom>
          <a:noFill/>
        </p:spPr>
        <p:txBody>
          <a:bodyPr wrap="square" rtlCol="0">
            <a:spAutoFit/>
          </a:bodyPr>
          <a:lstStyle/>
          <a:p>
            <a:r>
              <a:rPr lang="en-US" sz="600">
                <a:solidFill>
                  <a:schemeClr val="bg1">
                    <a:lumMod val="85000"/>
                  </a:schemeClr>
                </a:solidFill>
              </a:rPr>
              <a:t>© All rights reserved by </a:t>
            </a:r>
            <a:r>
              <a:rPr lang="en-US" sz="600">
                <a:solidFill>
                  <a:schemeClr val="bg1">
                    <a:lumMod val="85000"/>
                  </a:schemeClr>
                </a:solidFill>
                <a:latin typeface="Arial"/>
                <a:cs typeface="Arial"/>
              </a:rPr>
              <a:t>FIT </a:t>
            </a:r>
            <a:r>
              <a:rPr lang="en-US" sz="600" spc="-5">
                <a:solidFill>
                  <a:schemeClr val="bg1">
                    <a:lumMod val="85000"/>
                  </a:schemeClr>
                </a:solidFill>
                <a:latin typeface="Arial"/>
                <a:cs typeface="Arial"/>
              </a:rPr>
              <a:t>Hon </a:t>
            </a:r>
            <a:r>
              <a:rPr lang="en-US" sz="600" spc="-55">
                <a:solidFill>
                  <a:schemeClr val="bg1">
                    <a:lumMod val="85000"/>
                  </a:schemeClr>
                </a:solidFill>
                <a:latin typeface="Arial"/>
                <a:cs typeface="Arial"/>
              </a:rPr>
              <a:t>Teng</a:t>
            </a:r>
            <a:r>
              <a:rPr lang="en-US" sz="600" spc="210">
                <a:solidFill>
                  <a:schemeClr val="bg1">
                    <a:lumMod val="85000"/>
                  </a:schemeClr>
                </a:solidFill>
                <a:latin typeface="Arial"/>
                <a:cs typeface="Arial"/>
              </a:rPr>
              <a:t> </a:t>
            </a:r>
            <a:r>
              <a:rPr lang="en-US" sz="600" spc="-5">
                <a:solidFill>
                  <a:schemeClr val="bg1">
                    <a:lumMod val="85000"/>
                  </a:schemeClr>
                </a:solidFill>
                <a:latin typeface="Arial"/>
                <a:cs typeface="Arial"/>
              </a:rPr>
              <a:t>Limited</a:t>
            </a:r>
            <a:r>
              <a:rPr lang="en-US" sz="600">
                <a:solidFill>
                  <a:schemeClr val="bg1">
                    <a:lumMod val="85000"/>
                  </a:schemeClr>
                </a:solidFill>
              </a:rPr>
              <a:t>. Storage, reproduction, printing, distribution or disclosure to any third party is strictly prohibited.</a:t>
            </a:r>
            <a:endParaRPr lang="en-US" sz="1400">
              <a:solidFill>
                <a:schemeClr val="bg1">
                  <a:lumMod val="85000"/>
                </a:schemeClr>
              </a:solidFill>
            </a:endParaRPr>
          </a:p>
        </p:txBody>
      </p:sp>
      <p:pic>
        <p:nvPicPr>
          <p:cNvPr id="15" name="圖片 14" descr="一張含有 字型, 圖形, 文字, 標誌 的圖片&#10;&#10;自動產生的描述">
            <a:extLst>
              <a:ext uri="{FF2B5EF4-FFF2-40B4-BE49-F238E27FC236}">
                <a16:creationId xmlns:a16="http://schemas.microsoft.com/office/drawing/2014/main" id="{8976D5FF-0E6C-3C22-0D60-272B048BCE6C}"/>
              </a:ext>
            </a:extLst>
          </p:cNvPr>
          <p:cNvPicPr>
            <a:picLocks noChangeAspect="1"/>
          </p:cNvPicPr>
          <p:nvPr/>
        </p:nvPicPr>
        <p:blipFill>
          <a:blip r:embed="rId5"/>
          <a:stretch>
            <a:fillRect/>
          </a:stretch>
        </p:blipFill>
        <p:spPr>
          <a:xfrm>
            <a:off x="6307156" y="5755798"/>
            <a:ext cx="1909275" cy="684000"/>
          </a:xfrm>
          <a:prstGeom prst="rect">
            <a:avLst/>
          </a:prstGeom>
        </p:spPr>
      </p:pic>
    </p:spTree>
    <p:extLst>
      <p:ext uri="{BB962C8B-B14F-4D97-AF65-F5344CB8AC3E}">
        <p14:creationId xmlns:p14="http://schemas.microsoft.com/office/powerpoint/2010/main" val="14951389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燕尾形向右箭號 3">
            <a:extLst>
              <a:ext uri="{FF2B5EF4-FFF2-40B4-BE49-F238E27FC236}">
                <a16:creationId xmlns:a16="http://schemas.microsoft.com/office/drawing/2014/main" id="{D76847A3-DB06-4B6C-4AE9-9B3A7FD02C13}"/>
              </a:ext>
            </a:extLst>
          </p:cNvPr>
          <p:cNvSpPr/>
          <p:nvPr/>
        </p:nvSpPr>
        <p:spPr>
          <a:xfrm>
            <a:off x="2894837" y="3517419"/>
            <a:ext cx="461041" cy="495947"/>
          </a:xfrm>
          <a:prstGeom prst="notchedRightArrow">
            <a:avLst/>
          </a:prstGeom>
          <a:solidFill>
            <a:schemeClr val="accent1">
              <a:lumMod val="60000"/>
              <a:lumOff val="40000"/>
              <a:alpha val="69383"/>
            </a:schemeClr>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solidFill>
                <a:schemeClr val="accent1">
                  <a:lumMod val="40000"/>
                  <a:lumOff val="60000"/>
                </a:schemeClr>
              </a:solidFill>
            </a:endParaRPr>
          </a:p>
        </p:txBody>
      </p:sp>
      <p:sp>
        <p:nvSpPr>
          <p:cNvPr id="6" name="文字版面配置區 2">
            <a:extLst>
              <a:ext uri="{FF2B5EF4-FFF2-40B4-BE49-F238E27FC236}">
                <a16:creationId xmlns:a16="http://schemas.microsoft.com/office/drawing/2014/main" id="{DC257D01-9286-8FD8-D4A0-E4749549F36A}"/>
              </a:ext>
            </a:extLst>
          </p:cNvPr>
          <p:cNvSpPr txBox="1">
            <a:spLocks/>
          </p:cNvSpPr>
          <p:nvPr/>
        </p:nvSpPr>
        <p:spPr>
          <a:xfrm>
            <a:off x="847610" y="1082225"/>
            <a:ext cx="1623970" cy="647005"/>
          </a:xfrm>
          <a:prstGeom prst="rect">
            <a:avLst/>
          </a:prstGeom>
        </p:spPr>
        <p:txBody>
          <a:bodyPr lIns="0" tIns="0" rIns="0" bIns="0"/>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sz="2000" dirty="0">
                <a:solidFill>
                  <a:schemeClr val="tx1"/>
                </a:solidFill>
              </a:rPr>
              <a:t>SW Planning</a:t>
            </a:r>
            <a:endParaRPr lang="zh-TW" altLang="en-US" sz="2000" dirty="0">
              <a:solidFill>
                <a:schemeClr val="tx1"/>
              </a:solidFill>
            </a:endParaRPr>
          </a:p>
        </p:txBody>
      </p:sp>
      <p:sp>
        <p:nvSpPr>
          <p:cNvPr id="10" name="文字版面配置區 2">
            <a:extLst>
              <a:ext uri="{FF2B5EF4-FFF2-40B4-BE49-F238E27FC236}">
                <a16:creationId xmlns:a16="http://schemas.microsoft.com/office/drawing/2014/main" id="{0CDF35EA-7DC9-BB8A-395D-089BB66410F6}"/>
              </a:ext>
            </a:extLst>
          </p:cNvPr>
          <p:cNvSpPr txBox="1">
            <a:spLocks/>
          </p:cNvSpPr>
          <p:nvPr/>
        </p:nvSpPr>
        <p:spPr>
          <a:xfrm>
            <a:off x="3671576" y="1093307"/>
            <a:ext cx="1579990" cy="469004"/>
          </a:xfrm>
          <a:prstGeom prst="rect">
            <a:avLst/>
          </a:prstGeom>
        </p:spPr>
        <p:txBody>
          <a:bodyPr lIns="0" tIns="0" rIns="0" bIns="0"/>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sz="2000" dirty="0">
                <a:solidFill>
                  <a:schemeClr val="tx1"/>
                </a:solidFill>
              </a:rPr>
              <a:t>Off-line Mode</a:t>
            </a:r>
            <a:endParaRPr lang="zh-TW" altLang="en-US" sz="2000" dirty="0">
              <a:solidFill>
                <a:schemeClr val="tx1"/>
              </a:solidFill>
            </a:endParaRPr>
          </a:p>
        </p:txBody>
      </p:sp>
      <p:sp>
        <p:nvSpPr>
          <p:cNvPr id="11" name="文字版面配置區 2">
            <a:extLst>
              <a:ext uri="{FF2B5EF4-FFF2-40B4-BE49-F238E27FC236}">
                <a16:creationId xmlns:a16="http://schemas.microsoft.com/office/drawing/2014/main" id="{DE891EC9-7530-8258-6B48-24705328E25E}"/>
              </a:ext>
            </a:extLst>
          </p:cNvPr>
          <p:cNvSpPr txBox="1">
            <a:spLocks/>
          </p:cNvSpPr>
          <p:nvPr/>
        </p:nvSpPr>
        <p:spPr>
          <a:xfrm>
            <a:off x="6655896" y="1083250"/>
            <a:ext cx="1579990" cy="469004"/>
          </a:xfrm>
          <a:prstGeom prst="rect">
            <a:avLst/>
          </a:prstGeom>
        </p:spPr>
        <p:txBody>
          <a:bodyPr lIns="0" tIns="0" rIns="0" bIns="0"/>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sz="2000" dirty="0">
                <a:solidFill>
                  <a:schemeClr val="tx1"/>
                </a:solidFill>
              </a:rPr>
              <a:t>Audit Mode</a:t>
            </a:r>
            <a:endParaRPr lang="zh-TW" altLang="en-US" sz="2000" dirty="0">
              <a:solidFill>
                <a:schemeClr val="tx1"/>
              </a:solidFill>
            </a:endParaRPr>
          </a:p>
        </p:txBody>
      </p:sp>
      <p:sp>
        <p:nvSpPr>
          <p:cNvPr id="12" name="文字版面配置區 2">
            <a:extLst>
              <a:ext uri="{FF2B5EF4-FFF2-40B4-BE49-F238E27FC236}">
                <a16:creationId xmlns:a16="http://schemas.microsoft.com/office/drawing/2014/main" id="{23431023-B462-32FC-40B5-2135E2A6DB19}"/>
              </a:ext>
            </a:extLst>
          </p:cNvPr>
          <p:cNvSpPr txBox="1">
            <a:spLocks/>
          </p:cNvSpPr>
          <p:nvPr/>
        </p:nvSpPr>
        <p:spPr>
          <a:xfrm>
            <a:off x="9538049" y="1072410"/>
            <a:ext cx="1579990" cy="291469"/>
          </a:xfrm>
          <a:prstGeom prst="rect">
            <a:avLst/>
          </a:prstGeom>
        </p:spPr>
        <p:txBody>
          <a:bodyPr lIns="0" tIns="0" rIns="0" bIns="0"/>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sz="2000" dirty="0">
                <a:solidFill>
                  <a:schemeClr val="tx1"/>
                </a:solidFill>
              </a:rPr>
              <a:t>Normal Mode</a:t>
            </a:r>
            <a:endParaRPr lang="zh-TW" altLang="en-US" sz="2000" dirty="0">
              <a:solidFill>
                <a:schemeClr val="tx1"/>
              </a:solidFill>
            </a:endParaRPr>
          </a:p>
        </p:txBody>
      </p:sp>
      <p:sp>
        <p:nvSpPr>
          <p:cNvPr id="14" name="矩形 13">
            <a:extLst>
              <a:ext uri="{FF2B5EF4-FFF2-40B4-BE49-F238E27FC236}">
                <a16:creationId xmlns:a16="http://schemas.microsoft.com/office/drawing/2014/main" id="{C00FA6E7-D3B6-569E-BEE0-502ACE065BE7}"/>
              </a:ext>
            </a:extLst>
          </p:cNvPr>
          <p:cNvSpPr/>
          <p:nvPr/>
        </p:nvSpPr>
        <p:spPr>
          <a:xfrm>
            <a:off x="473725" y="1506106"/>
            <a:ext cx="2415721" cy="4698693"/>
          </a:xfrm>
          <a:prstGeom prst="rect">
            <a:avLst/>
          </a:prstGeom>
          <a:solidFill>
            <a:schemeClr val="accent6">
              <a:lumMod val="75000"/>
              <a:alpha val="20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kumimoji="1" lang="en-US" altLang="zh-TW" dirty="0">
                <a:solidFill>
                  <a:schemeClr val="tx1"/>
                </a:solidFill>
              </a:rPr>
              <a:t>1. Verify &amp; Plan ERS/DFM </a:t>
            </a:r>
          </a:p>
          <a:p>
            <a:pPr marL="342900" indent="-342900">
              <a:buAutoNum type="arabicPeriod"/>
            </a:pPr>
            <a:endParaRPr kumimoji="1" lang="en-US" altLang="zh-TW" dirty="0">
              <a:solidFill>
                <a:schemeClr val="tx1"/>
              </a:solidFill>
            </a:endParaRPr>
          </a:p>
          <a:p>
            <a:r>
              <a:rPr kumimoji="1" lang="en-US" altLang="zh-TW" dirty="0">
                <a:solidFill>
                  <a:schemeClr val="tx1"/>
                </a:solidFill>
              </a:rPr>
              <a:t>2. Simulate test Item &amp; communication</a:t>
            </a:r>
          </a:p>
          <a:p>
            <a:endParaRPr kumimoji="1" lang="en-US" altLang="zh-TW" dirty="0">
              <a:solidFill>
                <a:schemeClr val="tx1"/>
              </a:solidFill>
            </a:endParaRPr>
          </a:p>
          <a:p>
            <a:r>
              <a:rPr kumimoji="1" lang="en-US" altLang="zh-TW" dirty="0">
                <a:solidFill>
                  <a:schemeClr val="tx1"/>
                </a:solidFill>
              </a:rPr>
              <a:t>3. Extend Design Features</a:t>
            </a:r>
          </a:p>
          <a:p>
            <a:endParaRPr kumimoji="1" lang="en-US" altLang="zh-TW" dirty="0">
              <a:solidFill>
                <a:schemeClr val="tx1"/>
              </a:solidFill>
            </a:endParaRPr>
          </a:p>
          <a:p>
            <a:r>
              <a:rPr kumimoji="1" lang="en-US" altLang="zh-TW" dirty="0">
                <a:solidFill>
                  <a:schemeClr val="tx1"/>
                </a:solidFill>
              </a:rPr>
              <a:t>4. Let vendor preparing self-test program (Case QT)</a:t>
            </a:r>
          </a:p>
          <a:p>
            <a:endParaRPr kumimoji="1" lang="en-US" altLang="zh-TW" dirty="0">
              <a:solidFill>
                <a:schemeClr val="tx1"/>
              </a:solidFill>
            </a:endParaRPr>
          </a:p>
          <a:p>
            <a:r>
              <a:rPr kumimoji="1" lang="en-US" altLang="zh-TW" dirty="0">
                <a:solidFill>
                  <a:schemeClr val="tx1"/>
                </a:solidFill>
              </a:rPr>
              <a:t>5. Integrate test item of overlay ,e.g. Atlas /Python/Swift   </a:t>
            </a:r>
            <a:endParaRPr kumimoji="1" lang="zh-TW" altLang="en-US" dirty="0">
              <a:solidFill>
                <a:schemeClr val="tx1"/>
              </a:solidFill>
            </a:endParaRPr>
          </a:p>
        </p:txBody>
      </p:sp>
      <p:sp>
        <p:nvSpPr>
          <p:cNvPr id="18" name="矩形 17">
            <a:extLst>
              <a:ext uri="{FF2B5EF4-FFF2-40B4-BE49-F238E27FC236}">
                <a16:creationId xmlns:a16="http://schemas.microsoft.com/office/drawing/2014/main" id="{F419FB51-E5F3-C660-43CB-0AF375D413E2}"/>
              </a:ext>
            </a:extLst>
          </p:cNvPr>
          <p:cNvSpPr/>
          <p:nvPr/>
        </p:nvSpPr>
        <p:spPr>
          <a:xfrm>
            <a:off x="3355878" y="1506106"/>
            <a:ext cx="2415721" cy="4698693"/>
          </a:xfrm>
          <a:prstGeom prst="rect">
            <a:avLst/>
          </a:prstGeom>
          <a:solidFill>
            <a:srgbClr val="00206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kumimoji="1" lang="en-US" altLang="zh-TW" dirty="0"/>
              <a:t>1.Certificate Holder &amp; Fixture condition  with DFM </a:t>
            </a:r>
          </a:p>
          <a:p>
            <a:endParaRPr kumimoji="1" lang="en-US" altLang="zh-TW" dirty="0"/>
          </a:p>
          <a:p>
            <a:r>
              <a:rPr kumimoji="1" lang="en-US" altLang="zh-TW" dirty="0"/>
              <a:t>2.Run overlay and  </a:t>
            </a:r>
          </a:p>
          <a:p>
            <a:r>
              <a:rPr kumimoji="1" lang="en-US" altLang="zh-TW" dirty="0"/>
              <a:t>remove CB/UOP functions</a:t>
            </a:r>
          </a:p>
          <a:p>
            <a:endParaRPr kumimoji="1" lang="en-US" altLang="zh-TW" dirty="0"/>
          </a:p>
          <a:p>
            <a:r>
              <a:rPr kumimoji="1" lang="en-US" altLang="zh-TW" dirty="0"/>
              <a:t>3. SW team needs finishing  50up loop or GRR test </a:t>
            </a:r>
            <a:endParaRPr kumimoji="1" lang="zh-TW" altLang="en-US" dirty="0"/>
          </a:p>
        </p:txBody>
      </p:sp>
      <p:sp>
        <p:nvSpPr>
          <p:cNvPr id="19" name="矩形 18">
            <a:extLst>
              <a:ext uri="{FF2B5EF4-FFF2-40B4-BE49-F238E27FC236}">
                <a16:creationId xmlns:a16="http://schemas.microsoft.com/office/drawing/2014/main" id="{7E95ECB3-7ADE-1E5C-E237-8FBCBAE66041}"/>
              </a:ext>
            </a:extLst>
          </p:cNvPr>
          <p:cNvSpPr/>
          <p:nvPr/>
        </p:nvSpPr>
        <p:spPr>
          <a:xfrm>
            <a:off x="6238031" y="1506106"/>
            <a:ext cx="2415721" cy="4698693"/>
          </a:xfrm>
          <a:prstGeom prst="rect">
            <a:avLst/>
          </a:prstGeom>
          <a:solidFill>
            <a:srgbClr val="FF8300">
              <a:alpha val="47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kumimoji="1" lang="en-US" altLang="zh-TW" dirty="0">
                <a:solidFill>
                  <a:schemeClr val="tx1"/>
                </a:solidFill>
              </a:rPr>
              <a:t>1.Test Vendor’s Holder &amp; Fixture &amp; overlay  before P1 build </a:t>
            </a:r>
          </a:p>
          <a:p>
            <a:endParaRPr kumimoji="1" lang="en-US" altLang="zh-TW" dirty="0">
              <a:solidFill>
                <a:schemeClr val="tx1"/>
              </a:solidFill>
            </a:endParaRPr>
          </a:p>
          <a:p>
            <a:r>
              <a:rPr kumimoji="1" lang="en-US" altLang="zh-TW" dirty="0">
                <a:solidFill>
                  <a:schemeClr val="tx1"/>
                </a:solidFill>
              </a:rPr>
              <a:t>2.Put overlay on GHDS, remove CB/UOP</a:t>
            </a:r>
          </a:p>
          <a:p>
            <a:endParaRPr kumimoji="1" lang="en-US" altLang="zh-TW" dirty="0">
              <a:solidFill>
                <a:schemeClr val="tx1"/>
              </a:solidFill>
            </a:endParaRPr>
          </a:p>
          <a:p>
            <a:r>
              <a:rPr kumimoji="1" lang="en-US" altLang="zh-TW" dirty="0">
                <a:solidFill>
                  <a:schemeClr val="tx1"/>
                </a:solidFill>
              </a:rPr>
              <a:t>3. Need  uploading test result to  Insight</a:t>
            </a:r>
          </a:p>
          <a:p>
            <a:r>
              <a:rPr kumimoji="1" lang="en-US" altLang="zh-TW" dirty="0">
                <a:solidFill>
                  <a:schemeClr val="tx1"/>
                </a:solidFill>
              </a:rPr>
              <a:t> </a:t>
            </a:r>
          </a:p>
          <a:p>
            <a:r>
              <a:rPr kumimoji="1" lang="en-US" altLang="zh-TW" dirty="0">
                <a:solidFill>
                  <a:schemeClr val="tx1"/>
                </a:solidFill>
              </a:rPr>
              <a:t>4. Don’t write the calibration value on acoustic station </a:t>
            </a:r>
          </a:p>
        </p:txBody>
      </p:sp>
      <p:sp>
        <p:nvSpPr>
          <p:cNvPr id="20" name="矩形 19">
            <a:extLst>
              <a:ext uri="{FF2B5EF4-FFF2-40B4-BE49-F238E27FC236}">
                <a16:creationId xmlns:a16="http://schemas.microsoft.com/office/drawing/2014/main" id="{7288950E-0EB9-A21A-9A41-48EF4FD0B8EB}"/>
              </a:ext>
            </a:extLst>
          </p:cNvPr>
          <p:cNvSpPr/>
          <p:nvPr/>
        </p:nvSpPr>
        <p:spPr>
          <a:xfrm>
            <a:off x="9120184" y="1506106"/>
            <a:ext cx="2415721" cy="469869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kumimoji="1" lang="en-US" altLang="zh-TW" dirty="0"/>
              <a:t>1.Receive test data between P1 to  EVT build ,calculate the Retest Rate &amp; Fair Rate on TIL report </a:t>
            </a:r>
          </a:p>
          <a:p>
            <a:r>
              <a:rPr kumimoji="1" lang="en-US" altLang="zh-TW" dirty="0"/>
              <a:t> </a:t>
            </a:r>
          </a:p>
          <a:p>
            <a:r>
              <a:rPr kumimoji="1" lang="en-US" altLang="zh-TW" dirty="0"/>
              <a:t>2.Add CB/UOP items</a:t>
            </a:r>
          </a:p>
          <a:p>
            <a:endParaRPr kumimoji="1" lang="en-US" altLang="zh-TW" dirty="0"/>
          </a:p>
          <a:p>
            <a:r>
              <a:rPr kumimoji="1" lang="en-US" altLang="zh-TW" dirty="0"/>
              <a:t>3.Need  uploading test result to  Insight</a:t>
            </a:r>
          </a:p>
          <a:p>
            <a:endParaRPr kumimoji="1" lang="en-US" altLang="zh-TW" dirty="0"/>
          </a:p>
          <a:p>
            <a:r>
              <a:rPr kumimoji="1" lang="en-US" altLang="zh-TW" dirty="0"/>
              <a:t>4.Modify overlay to decrease retest rate &amp; test time   </a:t>
            </a:r>
          </a:p>
        </p:txBody>
      </p:sp>
      <p:sp>
        <p:nvSpPr>
          <p:cNvPr id="3" name="燕尾形向右箭號 2">
            <a:extLst>
              <a:ext uri="{FF2B5EF4-FFF2-40B4-BE49-F238E27FC236}">
                <a16:creationId xmlns:a16="http://schemas.microsoft.com/office/drawing/2014/main" id="{C1A34354-304A-1593-D8C5-862D01078C7E}"/>
              </a:ext>
            </a:extLst>
          </p:cNvPr>
          <p:cNvSpPr/>
          <p:nvPr/>
        </p:nvSpPr>
        <p:spPr>
          <a:xfrm>
            <a:off x="5771599" y="3517419"/>
            <a:ext cx="461041" cy="495947"/>
          </a:xfrm>
          <a:prstGeom prst="notchedRightArrow">
            <a:avLst/>
          </a:prstGeom>
          <a:solidFill>
            <a:srgbClr val="002060">
              <a:alpha val="69383"/>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 name="燕尾形向右箭號 4">
            <a:extLst>
              <a:ext uri="{FF2B5EF4-FFF2-40B4-BE49-F238E27FC236}">
                <a16:creationId xmlns:a16="http://schemas.microsoft.com/office/drawing/2014/main" id="{B892AB74-60B3-9459-B5E3-C1EDE19E9F0F}"/>
              </a:ext>
            </a:extLst>
          </p:cNvPr>
          <p:cNvSpPr/>
          <p:nvPr/>
        </p:nvSpPr>
        <p:spPr>
          <a:xfrm>
            <a:off x="8656447" y="3517418"/>
            <a:ext cx="461041" cy="495947"/>
          </a:xfrm>
          <a:prstGeom prst="notchedRightArrow">
            <a:avLst/>
          </a:prstGeom>
          <a:solidFill>
            <a:srgbClr val="FFC000">
              <a:alpha val="69383"/>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9" name="文字版面配置區 1">
            <a:extLst>
              <a:ext uri="{FF2B5EF4-FFF2-40B4-BE49-F238E27FC236}">
                <a16:creationId xmlns:a16="http://schemas.microsoft.com/office/drawing/2014/main" id="{5595AE49-C2AD-561D-801B-C05504708D39}"/>
              </a:ext>
            </a:extLst>
          </p:cNvPr>
          <p:cNvSpPr txBox="1">
            <a:spLocks/>
          </p:cNvSpPr>
          <p:nvPr/>
        </p:nvSpPr>
        <p:spPr>
          <a:xfrm>
            <a:off x="3671576" y="382462"/>
            <a:ext cx="5968639" cy="604531"/>
          </a:xfrm>
          <a:prstGeom prst="rect">
            <a:avLst/>
          </a:prstGeom>
        </p:spPr>
        <p:txBody>
          <a:bodyPr lIns="0" tIns="0" rIns="0" bIns="0"/>
          <a:lstStyle>
            <a:lvl1pPr marL="0" indent="0" algn="l" defTabSz="914400" rtl="0" eaLnBrk="1" latinLnBrk="0" hangingPunct="1">
              <a:lnSpc>
                <a:spcPct val="90000"/>
              </a:lnSpc>
              <a:spcBef>
                <a:spcPts val="1000"/>
              </a:spcBef>
              <a:buFont typeface="Arial" panose="020B0604020202020204" pitchFamily="34" charset="0"/>
              <a:buNone/>
              <a:defRPr sz="1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sz="3200" dirty="0"/>
              <a:t>E&amp;F SW Authentication </a:t>
            </a:r>
            <a:endParaRPr lang="zh-TW" altLang="en-US" sz="3200" dirty="0"/>
          </a:p>
          <a:p>
            <a:endParaRPr lang="zh-TW" altLang="en-US" sz="2400" dirty="0"/>
          </a:p>
        </p:txBody>
      </p:sp>
      <p:sp>
        <p:nvSpPr>
          <p:cNvPr id="2" name="文字版面配置區 2">
            <a:extLst>
              <a:ext uri="{FF2B5EF4-FFF2-40B4-BE49-F238E27FC236}">
                <a16:creationId xmlns:a16="http://schemas.microsoft.com/office/drawing/2014/main" id="{454579AC-2D34-3A46-FA9A-6CC0FC161026}"/>
              </a:ext>
            </a:extLst>
          </p:cNvPr>
          <p:cNvSpPr txBox="1">
            <a:spLocks/>
          </p:cNvSpPr>
          <p:nvPr/>
        </p:nvSpPr>
        <p:spPr>
          <a:xfrm>
            <a:off x="6655895" y="6291816"/>
            <a:ext cx="1579990" cy="469004"/>
          </a:xfrm>
          <a:prstGeom prst="rect">
            <a:avLst/>
          </a:prstGeom>
        </p:spPr>
        <p:txBody>
          <a:bodyPr lIns="0" tIns="0" rIns="0" bIns="0"/>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sz="2000" dirty="0">
                <a:solidFill>
                  <a:schemeClr val="tx1"/>
                </a:solidFill>
              </a:rPr>
              <a:t>Bud QT</a:t>
            </a:r>
            <a:endParaRPr lang="zh-TW" altLang="en-US" sz="2000" dirty="0">
              <a:solidFill>
                <a:schemeClr val="tx1"/>
              </a:solidFill>
            </a:endParaRPr>
          </a:p>
        </p:txBody>
      </p:sp>
      <p:sp>
        <p:nvSpPr>
          <p:cNvPr id="7" name="文字版面配置區 2">
            <a:extLst>
              <a:ext uri="{FF2B5EF4-FFF2-40B4-BE49-F238E27FC236}">
                <a16:creationId xmlns:a16="http://schemas.microsoft.com/office/drawing/2014/main" id="{F0FCC98A-121E-26DB-2E6E-3003AF9B015E}"/>
              </a:ext>
            </a:extLst>
          </p:cNvPr>
          <p:cNvSpPr txBox="1">
            <a:spLocks/>
          </p:cNvSpPr>
          <p:nvPr/>
        </p:nvSpPr>
        <p:spPr>
          <a:xfrm>
            <a:off x="3720623" y="6291816"/>
            <a:ext cx="1815483" cy="469004"/>
          </a:xfrm>
          <a:prstGeom prst="rect">
            <a:avLst/>
          </a:prstGeom>
        </p:spPr>
        <p:txBody>
          <a:bodyPr lIns="0" tIns="0" rIns="0" bIns="0"/>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sz="2000" dirty="0">
                <a:solidFill>
                  <a:schemeClr val="tx1"/>
                </a:solidFill>
              </a:rPr>
              <a:t>Case QT/WLC</a:t>
            </a:r>
            <a:endParaRPr lang="zh-TW" altLang="en-US" sz="2000" dirty="0">
              <a:solidFill>
                <a:schemeClr val="tx1"/>
              </a:solidFill>
            </a:endParaRPr>
          </a:p>
        </p:txBody>
      </p:sp>
    </p:spTree>
    <p:extLst>
      <p:ext uri="{BB962C8B-B14F-4D97-AF65-F5344CB8AC3E}">
        <p14:creationId xmlns:p14="http://schemas.microsoft.com/office/powerpoint/2010/main" val="13171299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a:extLst>
              <a:ext uri="{FF2B5EF4-FFF2-40B4-BE49-F238E27FC236}">
                <a16:creationId xmlns:a16="http://schemas.microsoft.com/office/drawing/2014/main" id="{06AEEB5B-097B-C2FF-8709-4FA0178264D3}"/>
              </a:ext>
            </a:extLst>
          </p:cNvPr>
          <p:cNvSpPr>
            <a:spLocks noGrp="1"/>
          </p:cNvSpPr>
          <p:nvPr>
            <p:ph type="body" sz="quarter" idx="13"/>
          </p:nvPr>
        </p:nvSpPr>
        <p:spPr>
          <a:xfrm>
            <a:off x="692522" y="451012"/>
            <a:ext cx="4762499" cy="366948"/>
          </a:xfrm>
        </p:spPr>
        <p:txBody>
          <a:bodyPr/>
          <a:lstStyle/>
          <a:p>
            <a:r>
              <a:rPr lang="en" altLang="zh-TW" dirty="0">
                <a:solidFill>
                  <a:srgbClr val="000000"/>
                </a:solidFill>
                <a:effectLst/>
                <a:latin typeface="Helvetica" pitchFamily="2" charset="0"/>
              </a:rPr>
              <a:t>Bud QT Station Introduction</a:t>
            </a:r>
          </a:p>
          <a:p>
            <a:endParaRPr lang="zh-TW" altLang="en-US" dirty="0"/>
          </a:p>
        </p:txBody>
      </p:sp>
      <p:sp>
        <p:nvSpPr>
          <p:cNvPr id="3" name="文字版面配置區 2">
            <a:extLst>
              <a:ext uri="{FF2B5EF4-FFF2-40B4-BE49-F238E27FC236}">
                <a16:creationId xmlns:a16="http://schemas.microsoft.com/office/drawing/2014/main" id="{C0927AED-02B2-615A-C0A8-E9DCAC2DDF8B}"/>
              </a:ext>
            </a:extLst>
          </p:cNvPr>
          <p:cNvSpPr>
            <a:spLocks noGrp="1"/>
          </p:cNvSpPr>
          <p:nvPr>
            <p:ph type="body" sz="quarter" idx="15"/>
          </p:nvPr>
        </p:nvSpPr>
        <p:spPr>
          <a:xfrm>
            <a:off x="692522" y="801668"/>
            <a:ext cx="5856195" cy="424316"/>
          </a:xfrm>
        </p:spPr>
        <p:txBody>
          <a:bodyPr/>
          <a:lstStyle/>
          <a:p>
            <a:r>
              <a:rPr lang="en-US" altLang="zh-TW" dirty="0">
                <a:latin typeface="+mn-ea"/>
              </a:rPr>
              <a:t>Test Model:B494b  Vendor : </a:t>
            </a:r>
            <a:r>
              <a:rPr lang="zh-TW" altLang="en-US" dirty="0">
                <a:latin typeface="+mn-ea"/>
              </a:rPr>
              <a:t>星禾宏泰</a:t>
            </a:r>
            <a:r>
              <a:rPr lang="en-US" altLang="zh-TW" dirty="0">
                <a:latin typeface="+mn-ea"/>
              </a:rPr>
              <a:t>/</a:t>
            </a:r>
            <a:r>
              <a:rPr lang="zh-TW" altLang="en-US" dirty="0">
                <a:latin typeface="+mn-ea"/>
              </a:rPr>
              <a:t>泰諾嘉</a:t>
            </a:r>
          </a:p>
        </p:txBody>
      </p:sp>
      <p:sp>
        <p:nvSpPr>
          <p:cNvPr id="8" name="文字方塊 7">
            <a:extLst>
              <a:ext uri="{FF2B5EF4-FFF2-40B4-BE49-F238E27FC236}">
                <a16:creationId xmlns:a16="http://schemas.microsoft.com/office/drawing/2014/main" id="{E1061774-F1A3-F8D9-E0D2-9FF2D3106EAF}"/>
              </a:ext>
            </a:extLst>
          </p:cNvPr>
          <p:cNvSpPr txBox="1"/>
          <p:nvPr/>
        </p:nvSpPr>
        <p:spPr>
          <a:xfrm>
            <a:off x="571499" y="1057408"/>
            <a:ext cx="6645378" cy="1600438"/>
          </a:xfrm>
          <a:prstGeom prst="rect">
            <a:avLst/>
          </a:prstGeom>
          <a:noFill/>
        </p:spPr>
        <p:txBody>
          <a:bodyPr wrap="square">
            <a:spAutoFit/>
          </a:bodyPr>
          <a:lstStyle/>
          <a:p>
            <a:r>
              <a:rPr lang="zh-TW" altLang="en-US" sz="1400" dirty="0"/>
              <a:t>Objective</a:t>
            </a:r>
            <a:r>
              <a:rPr lang="en-US" altLang="zh-TW" sz="1400" dirty="0"/>
              <a:t> </a:t>
            </a:r>
            <a:r>
              <a:rPr lang="zh-TW" altLang="en-US" sz="1400" dirty="0"/>
              <a:t>:</a:t>
            </a:r>
          </a:p>
          <a:p>
            <a:pPr marL="285750" indent="-285750">
              <a:buFont typeface="Arial" panose="020B0604020202020204" pitchFamily="34" charset="0"/>
              <a:buChar char="•"/>
            </a:pPr>
            <a:r>
              <a:rPr lang="zh-TW" altLang="en-US" sz="1400" dirty="0"/>
              <a:t>Write and upload DUT information (FATP SN, FATP CFG, battery information)</a:t>
            </a:r>
          </a:p>
          <a:p>
            <a:pPr marL="285750" indent="-285750">
              <a:buFont typeface="Arial" panose="020B0604020202020204" pitchFamily="34" charset="0"/>
              <a:buChar char="•"/>
            </a:pPr>
            <a:r>
              <a:rPr lang="zh-TW" altLang="en-US" sz="1400" dirty="0"/>
              <a:t>Check Locust Connectivity</a:t>
            </a:r>
          </a:p>
          <a:p>
            <a:pPr marL="285750" indent="-285750">
              <a:buFont typeface="Arial" panose="020B0604020202020204" pitchFamily="34" charset="0"/>
              <a:buChar char="•"/>
            </a:pPr>
            <a:r>
              <a:rPr lang="zh-TW" altLang="en-US" sz="1400" dirty="0"/>
              <a:t>Check </a:t>
            </a:r>
            <a:r>
              <a:rPr lang="en-US" altLang="zh-TW" sz="1400" dirty="0"/>
              <a:t>BUCK/LDO</a:t>
            </a:r>
            <a:r>
              <a:rPr lang="zh-TW" altLang="en-US" sz="1400" dirty="0"/>
              <a:t> Function</a:t>
            </a:r>
          </a:p>
          <a:p>
            <a:pPr marL="285750" indent="-285750">
              <a:buFont typeface="Arial" panose="020B0604020202020204" pitchFamily="34" charset="0"/>
              <a:buChar char="•"/>
            </a:pPr>
            <a:r>
              <a:rPr lang="zh-TW" altLang="en-US" sz="1400" dirty="0"/>
              <a:t>Check </a:t>
            </a:r>
            <a:r>
              <a:rPr lang="en-US" altLang="zh-TW" sz="1400" dirty="0"/>
              <a:t>K</a:t>
            </a:r>
            <a:r>
              <a:rPr lang="zh-TW" altLang="en-US" sz="1400" dirty="0"/>
              <a:t>essel &amp; IMU Connectivity</a:t>
            </a:r>
          </a:p>
          <a:p>
            <a:pPr marL="285750" indent="-285750">
              <a:buFont typeface="Arial" panose="020B0604020202020204" pitchFamily="34" charset="0"/>
              <a:buChar char="•"/>
            </a:pPr>
            <a:r>
              <a:rPr lang="zh-TW" altLang="en-US" sz="1400" dirty="0"/>
              <a:t>Check battery status</a:t>
            </a:r>
          </a:p>
          <a:p>
            <a:pPr marL="285750" indent="-285750">
              <a:buFont typeface="Arial" panose="020B0604020202020204" pitchFamily="34" charset="0"/>
              <a:buChar char="•"/>
            </a:pPr>
            <a:r>
              <a:rPr lang="zh-TW" altLang="en-US" sz="1400" dirty="0"/>
              <a:t>Check button status </a:t>
            </a:r>
          </a:p>
        </p:txBody>
      </p:sp>
      <p:sp>
        <p:nvSpPr>
          <p:cNvPr id="10" name="文字方塊 9">
            <a:extLst>
              <a:ext uri="{FF2B5EF4-FFF2-40B4-BE49-F238E27FC236}">
                <a16:creationId xmlns:a16="http://schemas.microsoft.com/office/drawing/2014/main" id="{D2EA900D-161E-A4FD-8A8C-F5B3D4BFB910}"/>
              </a:ext>
            </a:extLst>
          </p:cNvPr>
          <p:cNvSpPr txBox="1"/>
          <p:nvPr/>
        </p:nvSpPr>
        <p:spPr>
          <a:xfrm>
            <a:off x="571500" y="2985248"/>
            <a:ext cx="6098240" cy="1169551"/>
          </a:xfrm>
          <a:prstGeom prst="rect">
            <a:avLst/>
          </a:prstGeom>
          <a:noFill/>
        </p:spPr>
        <p:txBody>
          <a:bodyPr wrap="square">
            <a:spAutoFit/>
          </a:bodyPr>
          <a:lstStyle/>
          <a:p>
            <a:r>
              <a:rPr lang="zh-TW" altLang="en-US" sz="1400" dirty="0"/>
              <a:t>Brief introduction of main equipment</a:t>
            </a:r>
            <a:r>
              <a:rPr lang="en-US" altLang="zh-TW" sz="1400" dirty="0"/>
              <a:t> :</a:t>
            </a:r>
            <a:endParaRPr lang="zh-TW" altLang="en-US" sz="1400" dirty="0"/>
          </a:p>
          <a:p>
            <a:pPr marL="285750" indent="-285750">
              <a:buFont typeface="Wingdings" pitchFamily="2" charset="2"/>
              <a:buChar char="ü"/>
            </a:pPr>
            <a:r>
              <a:rPr lang="zh-TW" altLang="en-US" sz="1400" dirty="0"/>
              <a:t>B49</a:t>
            </a:r>
            <a:r>
              <a:rPr lang="en-US" altLang="zh-TW" sz="1400" dirty="0"/>
              <a:t>4b</a:t>
            </a:r>
            <a:r>
              <a:rPr lang="zh-TW" altLang="en-US" sz="1400" dirty="0"/>
              <a:t> system test fixture</a:t>
            </a:r>
          </a:p>
          <a:p>
            <a:pPr marL="285750" indent="-285750">
              <a:buFont typeface="Wingdings" pitchFamily="2" charset="2"/>
              <a:buChar char="ü"/>
            </a:pPr>
            <a:r>
              <a:rPr lang="zh-TW" altLang="en-US" sz="1400" dirty="0"/>
              <a:t>Control board module</a:t>
            </a:r>
          </a:p>
          <a:p>
            <a:pPr marL="285750" indent="-285750">
              <a:buFont typeface="Wingdings" pitchFamily="2" charset="2"/>
              <a:buChar char="ü"/>
            </a:pPr>
            <a:r>
              <a:rPr lang="zh-TW" altLang="en-US" sz="1400" dirty="0"/>
              <a:t>Cylinder module for DUT in /out and </a:t>
            </a:r>
            <a:r>
              <a:rPr lang="en-US" altLang="zh-TW" sz="1400" dirty="0"/>
              <a:t>1~3 </a:t>
            </a:r>
            <a:r>
              <a:rPr lang="zh-TW" altLang="en-US" sz="1400" dirty="0"/>
              <a:t>button test </a:t>
            </a:r>
          </a:p>
          <a:p>
            <a:pPr marL="285750" indent="-285750">
              <a:buFont typeface="Wingdings" pitchFamily="2" charset="2"/>
              <a:buChar char="ü"/>
            </a:pPr>
            <a:r>
              <a:rPr lang="zh-TW" altLang="en-US" sz="1400" dirty="0"/>
              <a:t>Dut holder </a:t>
            </a:r>
          </a:p>
        </p:txBody>
      </p:sp>
      <p:sp>
        <p:nvSpPr>
          <p:cNvPr id="12" name="文字方塊 11">
            <a:extLst>
              <a:ext uri="{FF2B5EF4-FFF2-40B4-BE49-F238E27FC236}">
                <a16:creationId xmlns:a16="http://schemas.microsoft.com/office/drawing/2014/main" id="{1DF16390-2226-719A-AC3F-7DE100F40BEB}"/>
              </a:ext>
            </a:extLst>
          </p:cNvPr>
          <p:cNvSpPr txBox="1"/>
          <p:nvPr/>
        </p:nvSpPr>
        <p:spPr>
          <a:xfrm>
            <a:off x="571499" y="4234212"/>
            <a:ext cx="6645378" cy="2246769"/>
          </a:xfrm>
          <a:prstGeom prst="rect">
            <a:avLst/>
          </a:prstGeom>
          <a:noFill/>
        </p:spPr>
        <p:txBody>
          <a:bodyPr wrap="square">
            <a:spAutoFit/>
          </a:bodyPr>
          <a:lstStyle/>
          <a:p>
            <a:r>
              <a:rPr lang="zh-TW" altLang="en-US" sz="1400" dirty="0"/>
              <a:t>Testing principle</a:t>
            </a:r>
            <a:r>
              <a:rPr lang="en-US" altLang="zh-TW" sz="1400" dirty="0"/>
              <a:t> :</a:t>
            </a:r>
            <a:endParaRPr lang="zh-TW" altLang="en-US" sz="1400" dirty="0"/>
          </a:p>
          <a:p>
            <a:pPr marL="285750" indent="-285750">
              <a:buFont typeface="Arial" panose="020B0604020202020204" pitchFamily="34" charset="0"/>
              <a:buChar char="•"/>
            </a:pPr>
            <a:r>
              <a:rPr lang="zh-TW" altLang="en-US" sz="1400" dirty="0"/>
              <a:t>Mac Mini communicates with DUT through grass ninja / B49</a:t>
            </a:r>
            <a:r>
              <a:rPr lang="en-US" altLang="zh-TW" sz="1400" dirty="0"/>
              <a:t>5</a:t>
            </a:r>
            <a:r>
              <a:rPr lang="zh-TW" altLang="en-US" sz="1400" dirty="0"/>
              <a:t> MLB, read and write DUT</a:t>
            </a:r>
            <a:r>
              <a:rPr lang="en-US" altLang="zh-TW" sz="1400" dirty="0"/>
              <a:t>’s</a:t>
            </a:r>
            <a:r>
              <a:rPr lang="zh-TW" altLang="en-US" sz="1400" dirty="0"/>
              <a:t> information.</a:t>
            </a:r>
          </a:p>
          <a:p>
            <a:pPr marL="285750" indent="-285750">
              <a:buFont typeface="Arial" panose="020B0604020202020204" pitchFamily="34" charset="0"/>
              <a:buChar char="•"/>
            </a:pPr>
            <a:r>
              <a:rPr lang="zh-TW" altLang="en-US" sz="1400" dirty="0"/>
              <a:t>Check the status of the </a:t>
            </a:r>
            <a:r>
              <a:rPr lang="en-US" altLang="zh-TW" sz="1400" dirty="0"/>
              <a:t>Buck/LDO </a:t>
            </a:r>
            <a:r>
              <a:rPr lang="zh-TW" altLang="en-US" sz="1400" dirty="0"/>
              <a:t> by reading the parameters of the corresponding test points.</a:t>
            </a:r>
          </a:p>
          <a:p>
            <a:pPr marL="285750" indent="-285750">
              <a:buFont typeface="Arial" panose="020B0604020202020204" pitchFamily="34" charset="0"/>
              <a:buChar char="•"/>
            </a:pPr>
            <a:r>
              <a:rPr lang="zh-TW" altLang="en-US" sz="1400" dirty="0"/>
              <a:t>Read the chip information by sending a command to check the connectivity of the chip.</a:t>
            </a:r>
          </a:p>
          <a:p>
            <a:pPr marL="285750" indent="-285750">
              <a:buFont typeface="Arial" panose="020B0604020202020204" pitchFamily="34" charset="0"/>
              <a:buChar char="•"/>
            </a:pPr>
            <a:r>
              <a:rPr lang="zh-TW" altLang="en-US" sz="1400" dirty="0"/>
              <a:t>Send commands to check DUT battery charger status.</a:t>
            </a:r>
          </a:p>
          <a:p>
            <a:pPr marL="285750" indent="-285750">
              <a:buFont typeface="Arial" panose="020B0604020202020204" pitchFamily="34" charset="0"/>
              <a:buChar char="•"/>
            </a:pPr>
            <a:r>
              <a:rPr lang="zh-TW" altLang="en-US" sz="1400" dirty="0"/>
              <a:t>Use the cylinder to create the state of pressing and releasing to verify the function of the button.</a:t>
            </a:r>
          </a:p>
        </p:txBody>
      </p:sp>
      <p:pic>
        <p:nvPicPr>
          <p:cNvPr id="14" name="圖片 13">
            <a:extLst>
              <a:ext uri="{FF2B5EF4-FFF2-40B4-BE49-F238E27FC236}">
                <a16:creationId xmlns:a16="http://schemas.microsoft.com/office/drawing/2014/main" id="{37F38D33-DABE-822B-F59A-059D287C42F1}"/>
              </a:ext>
            </a:extLst>
          </p:cNvPr>
          <p:cNvPicPr>
            <a:picLocks noChangeAspect="1"/>
          </p:cNvPicPr>
          <p:nvPr/>
        </p:nvPicPr>
        <p:blipFill>
          <a:blip r:embed="rId2"/>
          <a:stretch>
            <a:fillRect/>
          </a:stretch>
        </p:blipFill>
        <p:spPr>
          <a:xfrm>
            <a:off x="7534835" y="736875"/>
            <a:ext cx="3558988" cy="2282987"/>
          </a:xfrm>
          <a:prstGeom prst="rect">
            <a:avLst/>
          </a:prstGeom>
        </p:spPr>
      </p:pic>
      <p:pic>
        <p:nvPicPr>
          <p:cNvPr id="15" name="圖片 14">
            <a:extLst>
              <a:ext uri="{FF2B5EF4-FFF2-40B4-BE49-F238E27FC236}">
                <a16:creationId xmlns:a16="http://schemas.microsoft.com/office/drawing/2014/main" id="{546B951F-70C0-A167-7BB6-AF7AB109F9D9}"/>
              </a:ext>
            </a:extLst>
          </p:cNvPr>
          <p:cNvPicPr>
            <a:picLocks noChangeAspect="1"/>
          </p:cNvPicPr>
          <p:nvPr/>
        </p:nvPicPr>
        <p:blipFill>
          <a:blip r:embed="rId3"/>
          <a:stretch>
            <a:fillRect/>
          </a:stretch>
        </p:blipFill>
        <p:spPr>
          <a:xfrm>
            <a:off x="7629990" y="3429000"/>
            <a:ext cx="3602786" cy="2246770"/>
          </a:xfrm>
          <a:prstGeom prst="rect">
            <a:avLst/>
          </a:prstGeom>
        </p:spPr>
      </p:pic>
    </p:spTree>
    <p:extLst>
      <p:ext uri="{BB962C8B-B14F-4D97-AF65-F5344CB8AC3E}">
        <p14:creationId xmlns:p14="http://schemas.microsoft.com/office/powerpoint/2010/main" val="10260146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5522ADE-91AE-1799-0AC2-D312A8D578BA}"/>
              </a:ext>
            </a:extLst>
          </p:cNvPr>
          <p:cNvSpPr>
            <a:spLocks noGrp="1"/>
          </p:cNvSpPr>
          <p:nvPr>
            <p:ph type="body" sz="quarter" idx="13"/>
          </p:nvPr>
        </p:nvSpPr>
        <p:spPr/>
        <p:txBody>
          <a:bodyPr/>
          <a:lstStyle/>
          <a:p>
            <a:r>
              <a:rPr lang="en-US" dirty="0"/>
              <a:t>Terminology </a:t>
            </a:r>
          </a:p>
          <a:p>
            <a:endParaRPr lang="en-US" dirty="0"/>
          </a:p>
        </p:txBody>
      </p:sp>
      <p:graphicFrame>
        <p:nvGraphicFramePr>
          <p:cNvPr id="5" name="Table 5">
            <a:extLst>
              <a:ext uri="{FF2B5EF4-FFF2-40B4-BE49-F238E27FC236}">
                <a16:creationId xmlns:a16="http://schemas.microsoft.com/office/drawing/2014/main" id="{18F2F1B6-DFBA-9A34-9EB9-C18CA9BE7753}"/>
              </a:ext>
            </a:extLst>
          </p:cNvPr>
          <p:cNvGraphicFramePr>
            <a:graphicFrameLocks noGrp="1"/>
          </p:cNvGraphicFramePr>
          <p:nvPr>
            <p:extLst>
              <p:ext uri="{D42A27DB-BD31-4B8C-83A1-F6EECF244321}">
                <p14:modId xmlns:p14="http://schemas.microsoft.com/office/powerpoint/2010/main" val="962755003"/>
              </p:ext>
            </p:extLst>
          </p:nvPr>
        </p:nvGraphicFramePr>
        <p:xfrm>
          <a:off x="571501" y="938449"/>
          <a:ext cx="10751820" cy="5562600"/>
        </p:xfrm>
        <a:graphic>
          <a:graphicData uri="http://schemas.openxmlformats.org/drawingml/2006/table">
            <a:tbl>
              <a:tblPr firstRow="1" bandRow="1">
                <a:tableStyleId>{BDBED569-4797-4DF1-A0F4-6AAB3CD982D8}</a:tableStyleId>
              </a:tblPr>
              <a:tblGrid>
                <a:gridCol w="2750820">
                  <a:extLst>
                    <a:ext uri="{9D8B030D-6E8A-4147-A177-3AD203B41FA5}">
                      <a16:colId xmlns:a16="http://schemas.microsoft.com/office/drawing/2014/main" val="2272818449"/>
                    </a:ext>
                  </a:extLst>
                </a:gridCol>
                <a:gridCol w="8001000">
                  <a:extLst>
                    <a:ext uri="{9D8B030D-6E8A-4147-A177-3AD203B41FA5}">
                      <a16:colId xmlns:a16="http://schemas.microsoft.com/office/drawing/2014/main" val="3152362012"/>
                    </a:ext>
                  </a:extLst>
                </a:gridCol>
              </a:tblGrid>
              <a:tr h="370840">
                <a:tc>
                  <a:txBody>
                    <a:bodyPr/>
                    <a:lstStyle/>
                    <a:p>
                      <a:r>
                        <a:rPr lang="en-US" dirty="0"/>
                        <a:t>Test Items</a:t>
                      </a:r>
                    </a:p>
                  </a:txBody>
                  <a:tcPr/>
                </a:tc>
                <a:tc>
                  <a:txBody>
                    <a:bodyPr/>
                    <a:lstStyle/>
                    <a:p>
                      <a:r>
                        <a:rPr lang="en-US" dirty="0"/>
                        <a:t>Description</a:t>
                      </a:r>
                    </a:p>
                  </a:txBody>
                  <a:tcPr/>
                </a:tc>
                <a:extLst>
                  <a:ext uri="{0D108BD9-81ED-4DB2-BD59-A6C34878D82A}">
                    <a16:rowId xmlns:a16="http://schemas.microsoft.com/office/drawing/2014/main" val="376368070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Bud Charging 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err="1"/>
                        <a:t>設定Charging</a:t>
                      </a:r>
                      <a:r>
                        <a:rPr lang="en-US" altLang="zh-TW" dirty="0"/>
                        <a:t> On</a:t>
                      </a:r>
                    </a:p>
                  </a:txBody>
                  <a:tcPr/>
                </a:tc>
                <a:extLst>
                  <a:ext uri="{0D108BD9-81ED-4DB2-BD59-A6C34878D82A}">
                    <a16:rowId xmlns:a16="http://schemas.microsoft.com/office/drawing/2014/main" val="51467496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Get Case Version</a:t>
                      </a:r>
                    </a:p>
                  </a:txBody>
                  <a:tcPr/>
                </a:tc>
                <a:tc>
                  <a:txBody>
                    <a:bodyPr/>
                    <a:lstStyle/>
                    <a:p>
                      <a:r>
                        <a:rPr lang="en-US" dirty="0" err="1"/>
                        <a:t>讀取Case</a:t>
                      </a:r>
                      <a:r>
                        <a:rPr lang="en-US" dirty="0"/>
                        <a:t> FW/HW version</a:t>
                      </a:r>
                    </a:p>
                  </a:txBody>
                  <a:tcPr/>
                </a:tc>
                <a:extLst>
                  <a:ext uri="{0D108BD9-81ED-4DB2-BD59-A6C34878D82A}">
                    <a16:rowId xmlns:a16="http://schemas.microsoft.com/office/drawing/2014/main" val="1780664378"/>
                  </a:ext>
                </a:extLst>
              </a:tr>
              <a:tr h="370840">
                <a:tc>
                  <a:txBody>
                    <a:bodyPr/>
                    <a:lstStyle/>
                    <a:p>
                      <a:r>
                        <a:rPr lang="en-US" dirty="0"/>
                        <a:t>Button Test</a:t>
                      </a:r>
                    </a:p>
                  </a:txBody>
                  <a:tcPr/>
                </a:tc>
                <a:tc>
                  <a:txBody>
                    <a:bodyPr/>
                    <a:lstStyle/>
                    <a:p>
                      <a:r>
                        <a:rPr lang="en-US" dirty="0" err="1"/>
                        <a:t>降下、上拉圓柱棒來做按鈕按壓測試</a:t>
                      </a:r>
                      <a:endParaRPr lang="en-US" dirty="0"/>
                    </a:p>
                  </a:txBody>
                  <a:tcPr/>
                </a:tc>
                <a:extLst>
                  <a:ext uri="{0D108BD9-81ED-4DB2-BD59-A6C34878D82A}">
                    <a16:rowId xmlns:a16="http://schemas.microsoft.com/office/drawing/2014/main" val="4005601394"/>
                  </a:ext>
                </a:extLst>
              </a:tr>
              <a:tr h="370840">
                <a:tc>
                  <a:txBody>
                    <a:bodyPr/>
                    <a:lstStyle/>
                    <a:p>
                      <a:r>
                        <a:rPr lang="en-US" dirty="0"/>
                        <a:t>Read Bud SN</a:t>
                      </a:r>
                    </a:p>
                  </a:txBody>
                  <a:tcPr/>
                </a:tc>
                <a:tc>
                  <a:txBody>
                    <a:bodyPr/>
                    <a:lstStyle/>
                    <a:p>
                      <a:r>
                        <a:rPr lang="en-US" dirty="0" err="1"/>
                        <a:t>讀取Bud</a:t>
                      </a:r>
                      <a:r>
                        <a:rPr lang="en-US" dirty="0"/>
                        <a:t> MLB/FATP SN</a:t>
                      </a:r>
                    </a:p>
                  </a:txBody>
                  <a:tcPr/>
                </a:tc>
                <a:extLst>
                  <a:ext uri="{0D108BD9-81ED-4DB2-BD59-A6C34878D82A}">
                    <a16:rowId xmlns:a16="http://schemas.microsoft.com/office/drawing/2014/main" val="1361417980"/>
                  </a:ext>
                </a:extLst>
              </a:tr>
              <a:tr h="370840">
                <a:tc>
                  <a:txBody>
                    <a:bodyPr/>
                    <a:lstStyle/>
                    <a:p>
                      <a:r>
                        <a:rPr lang="en-US" dirty="0"/>
                        <a:t>Chack Battery Status</a:t>
                      </a:r>
                    </a:p>
                  </a:txBody>
                  <a:tcPr/>
                </a:tc>
                <a:tc>
                  <a:txBody>
                    <a:bodyPr/>
                    <a:lstStyle/>
                    <a:p>
                      <a:r>
                        <a:rPr lang="en-US" dirty="0" err="1"/>
                        <a:t>檢查電池資訊</a:t>
                      </a:r>
                      <a:endParaRPr lang="en-US" dirty="0"/>
                    </a:p>
                  </a:txBody>
                  <a:tcPr/>
                </a:tc>
                <a:extLst>
                  <a:ext uri="{0D108BD9-81ED-4DB2-BD59-A6C34878D82A}">
                    <a16:rowId xmlns:a16="http://schemas.microsoft.com/office/drawing/2014/main" val="29902983"/>
                  </a:ext>
                </a:extLst>
              </a:tr>
              <a:tr h="370840">
                <a:tc>
                  <a:txBody>
                    <a:bodyPr/>
                    <a:lstStyle/>
                    <a:p>
                      <a:r>
                        <a:rPr lang="en-US" dirty="0"/>
                        <a:t>Read BUCK and LDO</a:t>
                      </a:r>
                    </a:p>
                  </a:txBody>
                  <a:tcPr/>
                </a:tc>
                <a:tc>
                  <a:txBody>
                    <a:bodyPr/>
                    <a:lstStyle/>
                    <a:p>
                      <a:r>
                        <a:rPr lang="en-US" dirty="0" err="1"/>
                        <a:t>讀取</a:t>
                      </a:r>
                      <a:r>
                        <a:rPr lang="en-US" dirty="0"/>
                        <a:t> BUCK and LDO 1/2/3</a:t>
                      </a:r>
                    </a:p>
                  </a:txBody>
                  <a:tcPr/>
                </a:tc>
                <a:extLst>
                  <a:ext uri="{0D108BD9-81ED-4DB2-BD59-A6C34878D82A}">
                    <a16:rowId xmlns:a16="http://schemas.microsoft.com/office/drawing/2014/main" val="707968944"/>
                  </a:ext>
                </a:extLst>
              </a:tr>
              <a:tr h="370840">
                <a:tc>
                  <a:txBody>
                    <a:bodyPr/>
                    <a:lstStyle/>
                    <a:p>
                      <a:r>
                        <a:rPr lang="en-US" dirty="0"/>
                        <a:t>Quiescent Current</a:t>
                      </a:r>
                    </a:p>
                  </a:txBody>
                  <a:tcPr/>
                </a:tc>
                <a:tc>
                  <a:txBody>
                    <a:bodyPr/>
                    <a:lstStyle/>
                    <a:p>
                      <a:r>
                        <a:rPr lang="zh-TW" altLang="en-US" dirty="0"/>
                        <a:t>自用電流</a:t>
                      </a:r>
                      <a:endParaRPr lang="en-US" dirty="0"/>
                    </a:p>
                  </a:txBody>
                  <a:tcPr/>
                </a:tc>
                <a:extLst>
                  <a:ext uri="{0D108BD9-81ED-4DB2-BD59-A6C34878D82A}">
                    <a16:rowId xmlns:a16="http://schemas.microsoft.com/office/drawing/2014/main" val="2537795761"/>
                  </a:ext>
                </a:extLst>
              </a:tr>
              <a:tr h="370840">
                <a:tc>
                  <a:txBody>
                    <a:bodyPr/>
                    <a:lstStyle/>
                    <a:p>
                      <a:r>
                        <a:rPr lang="en-US" dirty="0"/>
                        <a:t>Check Status and </a:t>
                      </a:r>
                      <a:r>
                        <a:rPr lang="en-US" dirty="0" err="1"/>
                        <a:t>Syscfg</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檢查Kessel</a:t>
                      </a:r>
                      <a:r>
                        <a:rPr lang="en-US" dirty="0"/>
                        <a:t> Type/</a:t>
                      </a:r>
                      <a:r>
                        <a:rPr lang="en-US" dirty="0" err="1"/>
                        <a:t>RevID</a:t>
                      </a:r>
                      <a:r>
                        <a:rPr lang="en-US" dirty="0"/>
                        <a:t>/Bud FW Version, </a:t>
                      </a:r>
                      <a:r>
                        <a:rPr lang="en-US" altLang="zh-TW" dirty="0" err="1"/>
                        <a:t>Syscfg</a:t>
                      </a:r>
                      <a:r>
                        <a:rPr lang="en-US" altLang="zh-TW" dirty="0"/>
                        <a:t> ACRT/SCRT</a:t>
                      </a:r>
                    </a:p>
                  </a:txBody>
                  <a:tcPr/>
                </a:tc>
                <a:extLst>
                  <a:ext uri="{0D108BD9-81ED-4DB2-BD59-A6C34878D82A}">
                    <a16:rowId xmlns:a16="http://schemas.microsoft.com/office/drawing/2014/main" val="355206756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Check HWID/ECID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err="1"/>
                        <a:t>檢查HWID</a:t>
                      </a:r>
                      <a:r>
                        <a:rPr lang="en-US" altLang="zh-TW" dirty="0"/>
                        <a:t>/ECID</a:t>
                      </a:r>
                    </a:p>
                  </a:txBody>
                  <a:tcPr/>
                </a:tc>
                <a:extLst>
                  <a:ext uri="{0D108BD9-81ED-4DB2-BD59-A6C34878D82A}">
                    <a16:rowId xmlns:a16="http://schemas.microsoft.com/office/drawing/2014/main" val="173880939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Read VBATT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err="1"/>
                        <a:t>讀取電池電壓</a:t>
                      </a:r>
                      <a:endParaRPr lang="en-US" altLang="zh-TW" dirty="0"/>
                    </a:p>
                  </a:txBody>
                  <a:tcPr/>
                </a:tc>
                <a:extLst>
                  <a:ext uri="{0D108BD9-81ED-4DB2-BD59-A6C34878D82A}">
                    <a16:rowId xmlns:a16="http://schemas.microsoft.com/office/drawing/2014/main" val="266602664"/>
                  </a:ext>
                </a:extLst>
              </a:tr>
              <a:tr h="370840">
                <a:tc>
                  <a:txBody>
                    <a:bodyPr/>
                    <a:lstStyle/>
                    <a:p>
                      <a:r>
                        <a:rPr lang="en-US" dirty="0"/>
                        <a:t>IMU Test</a:t>
                      </a:r>
                    </a:p>
                  </a:txBody>
                  <a:tcPr/>
                </a:tc>
                <a:tc>
                  <a:txBody>
                    <a:bodyPr/>
                    <a:lstStyle/>
                    <a:p>
                      <a:r>
                        <a:rPr lang="zh-TW" altLang="en-US" dirty="0"/>
                        <a:t>慣性量測單元</a:t>
                      </a:r>
                      <a:r>
                        <a:rPr lang="en-US" altLang="zh-TW" dirty="0"/>
                        <a:t>/</a:t>
                      </a:r>
                      <a:r>
                        <a:rPr lang="zh-TW" altLang="en-US" dirty="0"/>
                        <a:t>加速度計</a:t>
                      </a:r>
                      <a:r>
                        <a:rPr lang="en-US" altLang="zh-TW" dirty="0"/>
                        <a:t>/</a:t>
                      </a:r>
                      <a:r>
                        <a:rPr lang="zh-TW" altLang="en-US" dirty="0"/>
                        <a:t>陀螺儀</a:t>
                      </a:r>
                      <a:endParaRPr lang="en-US" dirty="0"/>
                    </a:p>
                  </a:txBody>
                  <a:tcPr/>
                </a:tc>
                <a:extLst>
                  <a:ext uri="{0D108BD9-81ED-4DB2-BD59-A6C34878D82A}">
                    <a16:rowId xmlns:a16="http://schemas.microsoft.com/office/drawing/2014/main" val="2737409251"/>
                  </a:ext>
                </a:extLst>
              </a:tr>
              <a:tr h="370840">
                <a:tc>
                  <a:txBody>
                    <a:bodyPr/>
                    <a:lstStyle/>
                    <a:p>
                      <a:r>
                        <a:rPr lang="en-US" dirty="0"/>
                        <a:t>Check OTP Locked</a:t>
                      </a:r>
                    </a:p>
                  </a:txBody>
                  <a:tcPr/>
                </a:tc>
                <a:tc>
                  <a:txBody>
                    <a:bodyPr/>
                    <a:lstStyle/>
                    <a:p>
                      <a:r>
                        <a:rPr lang="en-US" dirty="0" err="1"/>
                        <a:t>OTP鎖定</a:t>
                      </a:r>
                      <a:endParaRPr lang="en-US" dirty="0"/>
                    </a:p>
                  </a:txBody>
                  <a:tcPr/>
                </a:tc>
                <a:extLst>
                  <a:ext uri="{0D108BD9-81ED-4DB2-BD59-A6C34878D82A}">
                    <a16:rowId xmlns:a16="http://schemas.microsoft.com/office/drawing/2014/main" val="2144715063"/>
                  </a:ext>
                </a:extLst>
              </a:tr>
              <a:tr h="370840">
                <a:tc>
                  <a:txBody>
                    <a:bodyPr/>
                    <a:lstStyle/>
                    <a:p>
                      <a:r>
                        <a:rPr lang="en-US" dirty="0"/>
                        <a:t>Enable</a:t>
                      </a:r>
                      <a:r>
                        <a:rPr lang="zh-TW" altLang="en-US" dirty="0"/>
                        <a:t> </a:t>
                      </a:r>
                      <a:r>
                        <a:rPr lang="en-US" dirty="0"/>
                        <a:t>UVP</a:t>
                      </a:r>
                    </a:p>
                  </a:txBody>
                  <a:tcPr/>
                </a:tc>
                <a:tc>
                  <a:txBody>
                    <a:bodyPr/>
                    <a:lstStyle/>
                    <a:p>
                      <a:r>
                        <a:rPr lang="en-US" dirty="0" err="1"/>
                        <a:t>啟動UVP</a:t>
                      </a:r>
                      <a:endParaRPr lang="en-US" dirty="0"/>
                    </a:p>
                  </a:txBody>
                  <a:tcPr/>
                </a:tc>
                <a:extLst>
                  <a:ext uri="{0D108BD9-81ED-4DB2-BD59-A6C34878D82A}">
                    <a16:rowId xmlns:a16="http://schemas.microsoft.com/office/drawing/2014/main" val="2045190451"/>
                  </a:ext>
                </a:extLst>
              </a:tr>
              <a:tr h="370840">
                <a:tc>
                  <a:txBody>
                    <a:bodyPr/>
                    <a:lstStyle/>
                    <a:p>
                      <a:r>
                        <a:rPr lang="en-US" dirty="0"/>
                        <a:t>Check Bud Link</a:t>
                      </a:r>
                    </a:p>
                  </a:txBody>
                  <a:tcPr/>
                </a:tc>
                <a:tc>
                  <a:txBody>
                    <a:bodyPr/>
                    <a:lstStyle/>
                    <a:p>
                      <a:r>
                        <a:rPr lang="en-US" dirty="0" err="1"/>
                        <a:t>檢查Bud</a:t>
                      </a:r>
                      <a:r>
                        <a:rPr lang="en-US" dirty="0"/>
                        <a:t> Link (</a:t>
                      </a:r>
                      <a:r>
                        <a:rPr lang="en-US" dirty="0" err="1"/>
                        <a:t>此時以先Close</a:t>
                      </a:r>
                      <a:r>
                        <a:rPr lang="en-US" dirty="0"/>
                        <a:t> Tunnel)</a:t>
                      </a:r>
                    </a:p>
                  </a:txBody>
                  <a:tcPr/>
                </a:tc>
                <a:extLst>
                  <a:ext uri="{0D108BD9-81ED-4DB2-BD59-A6C34878D82A}">
                    <a16:rowId xmlns:a16="http://schemas.microsoft.com/office/drawing/2014/main" val="3276414768"/>
                  </a:ext>
                </a:extLst>
              </a:tr>
            </a:tbl>
          </a:graphicData>
        </a:graphic>
      </p:graphicFrame>
    </p:spTree>
    <p:extLst>
      <p:ext uri="{BB962C8B-B14F-4D97-AF65-F5344CB8AC3E}">
        <p14:creationId xmlns:p14="http://schemas.microsoft.com/office/powerpoint/2010/main" val="11857030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8A311E-209D-1A94-60B5-4A991A50A395}"/>
            </a:ext>
          </a:extLst>
        </p:cNvPr>
        <p:cNvGrpSpPr/>
        <p:nvPr/>
      </p:nvGrpSpPr>
      <p:grpSpPr>
        <a:xfrm>
          <a:off x="0" y="0"/>
          <a:ext cx="0" cy="0"/>
          <a:chOff x="0" y="0"/>
          <a:chExt cx="0" cy="0"/>
        </a:xfrm>
      </p:grpSpPr>
      <p:sp>
        <p:nvSpPr>
          <p:cNvPr id="2" name="文字版面配置區 1">
            <a:extLst>
              <a:ext uri="{FF2B5EF4-FFF2-40B4-BE49-F238E27FC236}">
                <a16:creationId xmlns:a16="http://schemas.microsoft.com/office/drawing/2014/main" id="{FB93062D-820B-6DC4-9127-D36024B99EA9}"/>
              </a:ext>
            </a:extLst>
          </p:cNvPr>
          <p:cNvSpPr>
            <a:spLocks noGrp="1"/>
          </p:cNvSpPr>
          <p:nvPr>
            <p:ph type="body" sz="quarter" idx="13"/>
          </p:nvPr>
        </p:nvSpPr>
        <p:spPr>
          <a:xfrm>
            <a:off x="692522" y="451012"/>
            <a:ext cx="4762499" cy="366948"/>
          </a:xfrm>
        </p:spPr>
        <p:txBody>
          <a:bodyPr/>
          <a:lstStyle/>
          <a:p>
            <a:r>
              <a:rPr lang="en" altLang="zh-TW" dirty="0">
                <a:solidFill>
                  <a:srgbClr val="000000"/>
                </a:solidFill>
                <a:effectLst/>
                <a:latin typeface="Helvetica" pitchFamily="2" charset="0"/>
              </a:rPr>
              <a:t>Case QT Station Introduction</a:t>
            </a:r>
          </a:p>
          <a:p>
            <a:endParaRPr lang="zh-TW" altLang="en-US" dirty="0"/>
          </a:p>
        </p:txBody>
      </p:sp>
      <p:sp>
        <p:nvSpPr>
          <p:cNvPr id="3" name="文字版面配置區 2">
            <a:extLst>
              <a:ext uri="{FF2B5EF4-FFF2-40B4-BE49-F238E27FC236}">
                <a16:creationId xmlns:a16="http://schemas.microsoft.com/office/drawing/2014/main" id="{87EB371E-58AE-ABBA-937E-DF1B5E1AA2DD}"/>
              </a:ext>
            </a:extLst>
          </p:cNvPr>
          <p:cNvSpPr>
            <a:spLocks noGrp="1"/>
          </p:cNvSpPr>
          <p:nvPr>
            <p:ph type="body" sz="quarter" idx="15"/>
          </p:nvPr>
        </p:nvSpPr>
        <p:spPr>
          <a:xfrm>
            <a:off x="692522" y="801668"/>
            <a:ext cx="5856195" cy="424316"/>
          </a:xfrm>
        </p:spPr>
        <p:txBody>
          <a:bodyPr/>
          <a:lstStyle/>
          <a:p>
            <a:r>
              <a:rPr lang="en-US" altLang="zh-TW" dirty="0">
                <a:latin typeface="+mn-ea"/>
              </a:rPr>
              <a:t>Test Model:B499  Vendor : </a:t>
            </a:r>
            <a:r>
              <a:rPr lang="zh-TW" altLang="en-US" dirty="0">
                <a:latin typeface="+mn-ea"/>
              </a:rPr>
              <a:t>東方恆越</a:t>
            </a:r>
            <a:r>
              <a:rPr lang="en-US" altLang="zh-TW" dirty="0">
                <a:latin typeface="+mn-ea"/>
              </a:rPr>
              <a:t>/</a:t>
            </a:r>
            <a:r>
              <a:rPr lang="zh-TW" altLang="en-US" dirty="0">
                <a:latin typeface="+mn-ea"/>
              </a:rPr>
              <a:t>上海盤雲</a:t>
            </a:r>
          </a:p>
        </p:txBody>
      </p:sp>
      <p:sp>
        <p:nvSpPr>
          <p:cNvPr id="8" name="文字方塊 7">
            <a:extLst>
              <a:ext uri="{FF2B5EF4-FFF2-40B4-BE49-F238E27FC236}">
                <a16:creationId xmlns:a16="http://schemas.microsoft.com/office/drawing/2014/main" id="{50FB249D-3A7B-F334-21D3-030363432145}"/>
              </a:ext>
            </a:extLst>
          </p:cNvPr>
          <p:cNvSpPr txBox="1"/>
          <p:nvPr/>
        </p:nvSpPr>
        <p:spPr>
          <a:xfrm>
            <a:off x="571500" y="1033921"/>
            <a:ext cx="6296585" cy="1754326"/>
          </a:xfrm>
          <a:prstGeom prst="rect">
            <a:avLst/>
          </a:prstGeom>
          <a:noFill/>
        </p:spPr>
        <p:txBody>
          <a:bodyPr wrap="square">
            <a:spAutoFit/>
          </a:bodyPr>
          <a:lstStyle/>
          <a:p>
            <a:r>
              <a:rPr lang="en" altLang="zh-TW" sz="1200" b="1" dirty="0">
                <a:solidFill>
                  <a:srgbClr val="000000"/>
                </a:solidFill>
                <a:effectLst/>
                <a:latin typeface="Helvetica Neue" panose="02000503000000020004" pitchFamily="2" charset="0"/>
              </a:rPr>
              <a:t>Objective: (test coverage)</a:t>
            </a:r>
            <a:endParaRPr lang="en" altLang="zh-TW" sz="1200" dirty="0">
              <a:solidFill>
                <a:srgbClr val="000000"/>
              </a:solidFill>
              <a:effectLst/>
              <a:latin typeface="Helvetica Neue" panose="02000503000000020004" pitchFamily="2" charset="0"/>
            </a:endParaRPr>
          </a:p>
          <a:p>
            <a:pPr>
              <a:buFont typeface="Arial" panose="020B0604020202020204" pitchFamily="34" charset="0"/>
              <a:buChar char="•"/>
            </a:pPr>
            <a:r>
              <a:rPr lang="en" altLang="zh-TW" sz="1200" dirty="0">
                <a:solidFill>
                  <a:srgbClr val="000000"/>
                </a:solidFill>
                <a:effectLst/>
                <a:latin typeface="Helvetica Neue" panose="02000503000000020004" pitchFamily="2" charset="0"/>
              </a:rPr>
              <a:t>Test Case GND DCR. </a:t>
            </a:r>
          </a:p>
          <a:p>
            <a:pPr>
              <a:buFont typeface="Arial" panose="020B0604020202020204" pitchFamily="34" charset="0"/>
              <a:buChar char="•"/>
            </a:pPr>
            <a:r>
              <a:rPr lang="en" altLang="zh-TW" sz="1200" dirty="0">
                <a:solidFill>
                  <a:srgbClr val="000000"/>
                </a:solidFill>
                <a:effectLst/>
                <a:latin typeface="Helvetica Neue" panose="02000503000000020004" pitchFamily="2" charset="0"/>
              </a:rPr>
              <a:t>Write and Read Case information (FATP SN, FATP CFG, FW version, HWID, BTID)</a:t>
            </a:r>
          </a:p>
          <a:p>
            <a:pPr>
              <a:buFont typeface="Arial" panose="020B0604020202020204" pitchFamily="34" charset="0"/>
              <a:buChar char="•"/>
            </a:pPr>
            <a:r>
              <a:rPr lang="en" altLang="zh-TW" sz="1200" dirty="0">
                <a:solidFill>
                  <a:srgbClr val="000000"/>
                </a:solidFill>
                <a:effectLst/>
                <a:latin typeface="Helvetica Neue" panose="02000503000000020004" pitchFamily="2" charset="0"/>
              </a:rPr>
              <a:t>Check Case battery charger status and </a:t>
            </a:r>
            <a:r>
              <a:rPr lang="en" altLang="zh-TW" sz="1200" dirty="0" err="1">
                <a:solidFill>
                  <a:srgbClr val="000000"/>
                </a:solidFill>
                <a:effectLst/>
                <a:latin typeface="Helvetica Neue" panose="02000503000000020004" pitchFamily="2" charset="0"/>
              </a:rPr>
              <a:t>FuelGauge</a:t>
            </a:r>
            <a:r>
              <a:rPr lang="en" altLang="zh-TW" sz="1200" dirty="0">
                <a:solidFill>
                  <a:srgbClr val="000000"/>
                </a:solidFill>
                <a:effectLst/>
                <a:latin typeface="Helvetica Neue" panose="02000503000000020004" pitchFamily="2" charset="0"/>
              </a:rPr>
              <a:t> calibration information.</a:t>
            </a:r>
          </a:p>
          <a:p>
            <a:pPr>
              <a:buFont typeface="Arial" panose="020B0604020202020204" pitchFamily="34" charset="0"/>
              <a:buChar char="•"/>
            </a:pPr>
            <a:r>
              <a:rPr lang="en" altLang="zh-TW" sz="1200" dirty="0">
                <a:solidFill>
                  <a:srgbClr val="000000"/>
                </a:solidFill>
                <a:effectLst/>
                <a:latin typeface="Helvetica Neue" panose="02000503000000020004" pitchFamily="2" charset="0"/>
              </a:rPr>
              <a:t>Check Case signal indicate LED and button status.</a:t>
            </a:r>
          </a:p>
          <a:p>
            <a:pPr>
              <a:buFont typeface="Arial" panose="020B0604020202020204" pitchFamily="34" charset="0"/>
              <a:buChar char="•"/>
            </a:pPr>
            <a:r>
              <a:rPr lang="en" altLang="zh-TW" sz="1200" dirty="0">
                <a:solidFill>
                  <a:srgbClr val="000000"/>
                </a:solidFill>
                <a:effectLst/>
                <a:latin typeface="Helvetica Neue" panose="02000503000000020004" pitchFamily="2" charset="0"/>
              </a:rPr>
              <a:t>Test Case ship mode Enter &amp; Exit.</a:t>
            </a:r>
          </a:p>
          <a:p>
            <a:pPr>
              <a:buFont typeface="Arial" panose="020B0604020202020204" pitchFamily="34" charset="0"/>
              <a:buChar char="•"/>
            </a:pPr>
            <a:r>
              <a:rPr lang="en" altLang="zh-TW" sz="1200" dirty="0">
                <a:solidFill>
                  <a:srgbClr val="000000"/>
                </a:solidFill>
                <a:effectLst/>
                <a:latin typeface="Helvetica Neue" panose="02000503000000020004" pitchFamily="2" charset="0"/>
              </a:rPr>
              <a:t>Test the voltage and current of Case output 5V under no-load/loaded conditions.</a:t>
            </a:r>
          </a:p>
          <a:p>
            <a:pPr>
              <a:buFont typeface="Arial" panose="020B0604020202020204" pitchFamily="34" charset="0"/>
              <a:buChar char="•"/>
            </a:pPr>
            <a:r>
              <a:rPr lang="en" altLang="zh-TW" sz="1200" dirty="0">
                <a:solidFill>
                  <a:srgbClr val="000000"/>
                </a:solidFill>
                <a:effectLst/>
                <a:latin typeface="Helvetica Neue" panose="02000503000000020004" pitchFamily="2" charset="0"/>
              </a:rPr>
              <a:t>Test the connectivity between Case and Bud.</a:t>
            </a:r>
          </a:p>
          <a:p>
            <a:pPr>
              <a:buFont typeface="Arial" panose="020B0604020202020204" pitchFamily="34" charset="0"/>
              <a:buChar char="•"/>
            </a:pPr>
            <a:r>
              <a:rPr lang="en" altLang="zh-TW" sz="1200" dirty="0">
                <a:solidFill>
                  <a:srgbClr val="000000"/>
                </a:solidFill>
                <a:effectLst/>
                <a:latin typeface="Helvetica Neue" panose="02000503000000020004" pitchFamily="2" charset="0"/>
              </a:rPr>
              <a:t>Check Case lid status.</a:t>
            </a:r>
          </a:p>
        </p:txBody>
      </p:sp>
      <p:sp>
        <p:nvSpPr>
          <p:cNvPr id="10" name="文字方塊 9">
            <a:extLst>
              <a:ext uri="{FF2B5EF4-FFF2-40B4-BE49-F238E27FC236}">
                <a16:creationId xmlns:a16="http://schemas.microsoft.com/office/drawing/2014/main" id="{B1A64A8C-BE36-6E9A-277F-287CBE9C77C2}"/>
              </a:ext>
            </a:extLst>
          </p:cNvPr>
          <p:cNvSpPr txBox="1"/>
          <p:nvPr/>
        </p:nvSpPr>
        <p:spPr>
          <a:xfrm>
            <a:off x="571500" y="3004208"/>
            <a:ext cx="6098240" cy="1569660"/>
          </a:xfrm>
          <a:prstGeom prst="rect">
            <a:avLst/>
          </a:prstGeom>
          <a:noFill/>
        </p:spPr>
        <p:txBody>
          <a:bodyPr wrap="square">
            <a:spAutoFit/>
          </a:bodyPr>
          <a:lstStyle/>
          <a:p>
            <a:r>
              <a:rPr lang="en" altLang="zh-TW" sz="1200" b="1" dirty="0">
                <a:solidFill>
                  <a:srgbClr val="000000"/>
                </a:solidFill>
                <a:effectLst/>
                <a:latin typeface="Helvetica Neue" panose="02000503000000020004" pitchFamily="2" charset="0"/>
              </a:rPr>
              <a:t>Brief introduction of main equipment</a:t>
            </a:r>
            <a:endParaRPr lang="en" altLang="zh-TW" sz="1200" dirty="0">
              <a:solidFill>
                <a:srgbClr val="000000"/>
              </a:solidFill>
              <a:effectLst/>
              <a:latin typeface="Helvetica Neue" panose="02000503000000020004" pitchFamily="2" charset="0"/>
            </a:endParaRPr>
          </a:p>
          <a:p>
            <a:pPr>
              <a:buFont typeface="Arial" panose="020B0604020202020204" pitchFamily="34" charset="0"/>
              <a:buChar char="•"/>
            </a:pPr>
            <a:r>
              <a:rPr lang="en" altLang="zh-TW" sz="1200" dirty="0">
                <a:solidFill>
                  <a:srgbClr val="000000"/>
                </a:solidFill>
                <a:latin typeface="Helvetica Neue" panose="02000503000000020004" pitchFamily="2" charset="0"/>
              </a:rPr>
              <a:t>Teye-C auto insertion</a:t>
            </a:r>
            <a:r>
              <a:rPr lang="en" altLang="zh-TW" sz="1200" dirty="0">
                <a:solidFill>
                  <a:srgbClr val="000000"/>
                </a:solidFill>
                <a:effectLst/>
                <a:latin typeface="Helvetica Neue" panose="02000503000000020004" pitchFamily="2" charset="0"/>
              </a:rPr>
              <a:t> module.</a:t>
            </a:r>
          </a:p>
          <a:p>
            <a:pPr>
              <a:buFont typeface="Arial" panose="020B0604020202020204" pitchFamily="34" charset="0"/>
              <a:buChar char="•"/>
            </a:pPr>
            <a:r>
              <a:rPr lang="en" altLang="zh-TW" sz="1200" dirty="0">
                <a:solidFill>
                  <a:srgbClr val="000000"/>
                </a:solidFill>
                <a:effectLst/>
                <a:latin typeface="Helvetica Neue" panose="02000503000000020004" pitchFamily="2" charset="0"/>
              </a:rPr>
              <a:t>Pusher /</a:t>
            </a:r>
            <a:r>
              <a:rPr lang="en" altLang="zh-TW" sz="1200" dirty="0">
                <a:solidFill>
                  <a:schemeClr val="accent6">
                    <a:lumMod val="75000"/>
                  </a:schemeClr>
                </a:solidFill>
                <a:effectLst/>
                <a:latin typeface="Helvetica Neue" panose="02000503000000020004" pitchFamily="2" charset="0"/>
              </a:rPr>
              <a:t>Puller module(</a:t>
            </a:r>
            <a:r>
              <a:rPr lang="zh-TW" altLang="en-US" sz="1200" dirty="0">
                <a:solidFill>
                  <a:schemeClr val="accent6">
                    <a:lumMod val="75000"/>
                  </a:schemeClr>
                </a:solidFill>
                <a:effectLst/>
                <a:latin typeface="Helvetica Neue" panose="02000503000000020004" pitchFamily="2" charset="0"/>
              </a:rPr>
              <a:t>東方恆越</a:t>
            </a:r>
            <a:r>
              <a:rPr lang="en" altLang="zh-TW" sz="1200" dirty="0">
                <a:solidFill>
                  <a:schemeClr val="accent6">
                    <a:lumMod val="75000"/>
                  </a:schemeClr>
                </a:solidFill>
                <a:effectLst/>
                <a:latin typeface="Helvetica Neue" panose="02000503000000020004" pitchFamily="2" charset="0"/>
              </a:rPr>
              <a:t>)</a:t>
            </a:r>
            <a:r>
              <a:rPr lang="en" altLang="zh-TW" sz="1200" dirty="0">
                <a:solidFill>
                  <a:srgbClr val="000000"/>
                </a:solidFill>
                <a:effectLst/>
                <a:latin typeface="Helvetica Neue" panose="02000503000000020004" pitchFamily="2" charset="0"/>
              </a:rPr>
              <a:t>.</a:t>
            </a:r>
          </a:p>
          <a:p>
            <a:pPr>
              <a:buFont typeface="Arial" panose="020B0604020202020204" pitchFamily="34" charset="0"/>
              <a:buChar char="•"/>
            </a:pPr>
            <a:r>
              <a:rPr lang="en" altLang="zh-TW" sz="1200" dirty="0">
                <a:solidFill>
                  <a:srgbClr val="000000"/>
                </a:solidFill>
                <a:effectLst/>
                <a:latin typeface="Helvetica Neue" panose="02000503000000020004" pitchFamily="2" charset="0"/>
              </a:rPr>
              <a:t>Control Box module.</a:t>
            </a:r>
          </a:p>
          <a:p>
            <a:pPr>
              <a:buFont typeface="Arial" panose="020B0604020202020204" pitchFamily="34" charset="0"/>
              <a:buChar char="•"/>
            </a:pPr>
            <a:r>
              <a:rPr lang="en" altLang="zh-TW" sz="1200" dirty="0">
                <a:solidFill>
                  <a:srgbClr val="000000"/>
                </a:solidFill>
                <a:effectLst/>
                <a:latin typeface="Helvetica Neue" panose="02000503000000020004" pitchFamily="2" charset="0"/>
              </a:rPr>
              <a:t>Sliding in and out module.</a:t>
            </a:r>
          </a:p>
          <a:p>
            <a:pPr>
              <a:buFont typeface="Arial" panose="020B0604020202020204" pitchFamily="34" charset="0"/>
              <a:buChar char="•"/>
            </a:pPr>
            <a:r>
              <a:rPr lang="en" altLang="zh-TW" sz="1200" dirty="0">
                <a:solidFill>
                  <a:srgbClr val="000000"/>
                </a:solidFill>
                <a:effectLst/>
                <a:latin typeface="Helvetica Neue" panose="02000503000000020004" pitchFamily="2" charset="0"/>
              </a:rPr>
              <a:t>Holder with DUT module.</a:t>
            </a:r>
          </a:p>
          <a:p>
            <a:pPr>
              <a:buFont typeface="Arial" panose="020B0604020202020204" pitchFamily="34" charset="0"/>
              <a:buChar char="•"/>
            </a:pPr>
            <a:r>
              <a:rPr lang="en" altLang="zh-TW" sz="1200" dirty="0">
                <a:solidFill>
                  <a:srgbClr val="000000"/>
                </a:solidFill>
                <a:effectLst/>
                <a:latin typeface="Helvetica Neue" panose="02000503000000020004" pitchFamily="2" charset="0"/>
              </a:rPr>
              <a:t>LED Analyzer.</a:t>
            </a:r>
          </a:p>
          <a:p>
            <a:pPr>
              <a:buFont typeface="Arial" panose="020B0604020202020204" pitchFamily="34" charset="0"/>
              <a:buChar char="•"/>
            </a:pPr>
            <a:r>
              <a:rPr lang="en" altLang="zh-TW" sz="1200" dirty="0">
                <a:solidFill>
                  <a:srgbClr val="000000"/>
                </a:solidFill>
                <a:effectLst/>
                <a:latin typeface="Helvetica Neue" panose="02000503000000020004" pitchFamily="2" charset="0"/>
              </a:rPr>
              <a:t>DMM.</a:t>
            </a:r>
          </a:p>
        </p:txBody>
      </p:sp>
      <p:sp>
        <p:nvSpPr>
          <p:cNvPr id="12" name="文字方塊 11">
            <a:extLst>
              <a:ext uri="{FF2B5EF4-FFF2-40B4-BE49-F238E27FC236}">
                <a16:creationId xmlns:a16="http://schemas.microsoft.com/office/drawing/2014/main" id="{ECFC8981-9C2F-C5E3-79B9-89312A0DC625}"/>
              </a:ext>
            </a:extLst>
          </p:cNvPr>
          <p:cNvSpPr txBox="1"/>
          <p:nvPr/>
        </p:nvSpPr>
        <p:spPr>
          <a:xfrm>
            <a:off x="571500" y="4611231"/>
            <a:ext cx="10293724" cy="2123658"/>
          </a:xfrm>
          <a:prstGeom prst="rect">
            <a:avLst/>
          </a:prstGeom>
          <a:noFill/>
        </p:spPr>
        <p:txBody>
          <a:bodyPr wrap="square">
            <a:spAutoFit/>
          </a:bodyPr>
          <a:lstStyle/>
          <a:p>
            <a:r>
              <a:rPr lang="en" altLang="zh-TW" sz="1200" b="1" dirty="0">
                <a:solidFill>
                  <a:srgbClr val="000000"/>
                </a:solidFill>
                <a:effectLst/>
                <a:latin typeface="+mn-ea"/>
              </a:rPr>
              <a:t>Testing principle</a:t>
            </a:r>
            <a:endParaRPr lang="en" altLang="zh-TW" sz="1200" dirty="0">
              <a:solidFill>
                <a:srgbClr val="000000"/>
              </a:solidFill>
              <a:effectLst/>
              <a:latin typeface="+mn-ea"/>
            </a:endParaRPr>
          </a:p>
          <a:p>
            <a:pPr>
              <a:buFont typeface="Arial" panose="020B0604020202020204" pitchFamily="34" charset="0"/>
              <a:buChar char="•"/>
            </a:pPr>
            <a:r>
              <a:rPr lang="en" altLang="zh-TW" sz="1200" dirty="0">
                <a:solidFill>
                  <a:srgbClr val="000000"/>
                </a:solidFill>
                <a:effectLst/>
                <a:latin typeface="+mn-ea"/>
              </a:rPr>
              <a:t>Use DMM through dummy bud to measure GND DCR from Type-C to BUD_L/R_NEG.</a:t>
            </a:r>
          </a:p>
          <a:p>
            <a:pPr>
              <a:buFont typeface="Arial" panose="020B0604020202020204" pitchFamily="34" charset="0"/>
              <a:buChar char="•"/>
            </a:pPr>
            <a:r>
              <a:rPr lang="en" altLang="zh-TW" sz="1200" dirty="0">
                <a:solidFill>
                  <a:srgbClr val="000000"/>
                </a:solidFill>
                <a:effectLst/>
                <a:latin typeface="+mn-ea"/>
              </a:rPr>
              <a:t>Mac Mini communicates with Case through Type-C cable, send commands to read and write Case information (FATP SN, FATP CFG, FW version, HWID, BTID).</a:t>
            </a:r>
          </a:p>
          <a:p>
            <a:pPr>
              <a:buFont typeface="Arial" panose="020B0604020202020204" pitchFamily="34" charset="0"/>
              <a:buChar char="•"/>
            </a:pPr>
            <a:r>
              <a:rPr lang="en" altLang="zh-TW" sz="1200" dirty="0">
                <a:solidFill>
                  <a:srgbClr val="000000"/>
                </a:solidFill>
                <a:effectLst/>
                <a:latin typeface="+mn-ea"/>
              </a:rPr>
              <a:t>Send commands check Case battery charger status and </a:t>
            </a:r>
            <a:r>
              <a:rPr lang="en" altLang="zh-TW" sz="1200" dirty="0" err="1">
                <a:solidFill>
                  <a:srgbClr val="000000"/>
                </a:solidFill>
                <a:effectLst/>
                <a:latin typeface="+mn-ea"/>
              </a:rPr>
              <a:t>FuelGauge</a:t>
            </a:r>
            <a:r>
              <a:rPr lang="en" altLang="zh-TW" sz="1200" dirty="0">
                <a:solidFill>
                  <a:srgbClr val="000000"/>
                </a:solidFill>
                <a:effectLst/>
                <a:latin typeface="+mn-ea"/>
              </a:rPr>
              <a:t> calibration information.</a:t>
            </a:r>
          </a:p>
          <a:p>
            <a:pPr>
              <a:buFont typeface="Arial" panose="020B0604020202020204" pitchFamily="34" charset="0"/>
              <a:buChar char="•"/>
            </a:pPr>
            <a:r>
              <a:rPr lang="en" altLang="zh-TW" sz="1200" dirty="0">
                <a:solidFill>
                  <a:srgbClr val="000000"/>
                </a:solidFill>
                <a:effectLst/>
                <a:latin typeface="+mn-ea"/>
              </a:rPr>
              <a:t>Use an LED analyzer to measure the X/Y color coordinates, brightness, and wavelength of the signal lights in the Case when they emit red and white light. Use the cylinder to create the state of pressing and releasing to verify the function of the button.</a:t>
            </a:r>
          </a:p>
          <a:p>
            <a:pPr>
              <a:buFont typeface="Arial" panose="020B0604020202020204" pitchFamily="34" charset="0"/>
              <a:buChar char="•"/>
            </a:pPr>
            <a:r>
              <a:rPr lang="en" altLang="zh-TW" sz="1200" dirty="0">
                <a:solidFill>
                  <a:srgbClr val="000000"/>
                </a:solidFill>
                <a:effectLst/>
                <a:latin typeface="+mn-ea"/>
              </a:rPr>
              <a:t>Send command to put the Case into ship mode, disconnect and reconnect VBUS voltage to exit ship mode.</a:t>
            </a:r>
          </a:p>
          <a:p>
            <a:pPr>
              <a:buFont typeface="Arial" panose="020B0604020202020204" pitchFamily="34" charset="0"/>
              <a:buChar char="•"/>
            </a:pPr>
            <a:r>
              <a:rPr lang="en" altLang="zh-TW" sz="1200" dirty="0">
                <a:solidFill>
                  <a:srgbClr val="000000"/>
                </a:solidFill>
                <a:effectLst/>
                <a:latin typeface="+mn-ea"/>
              </a:rPr>
              <a:t>Send command to the L/R POS point output 5V of the Case, and measure the voltage and current when loaded with 100mA and 0mA.</a:t>
            </a:r>
          </a:p>
          <a:p>
            <a:pPr>
              <a:buFont typeface="Arial" panose="020B0604020202020204" pitchFamily="34" charset="0"/>
              <a:buChar char="•"/>
            </a:pPr>
            <a:r>
              <a:rPr lang="en" altLang="zh-TW" sz="1200" dirty="0">
                <a:solidFill>
                  <a:srgbClr val="000000"/>
                </a:solidFill>
                <a:effectLst/>
                <a:latin typeface="+mn-ea"/>
              </a:rPr>
              <a:t>Connect to B498 bud t and send a command to read TX and RX values to check the communication function between Case and bud.</a:t>
            </a:r>
          </a:p>
          <a:p>
            <a:pPr>
              <a:buFont typeface="Arial" panose="020B0604020202020204" pitchFamily="34" charset="0"/>
              <a:buChar char="•"/>
            </a:pPr>
            <a:r>
              <a:rPr lang="en" altLang="zh-TW" sz="1200" dirty="0">
                <a:solidFill>
                  <a:srgbClr val="000000"/>
                </a:solidFill>
                <a:effectLst/>
                <a:latin typeface="+mn-ea"/>
              </a:rPr>
              <a:t>Use the cylinder to create the state of opening and closing to verify the function of the Case lid.</a:t>
            </a:r>
          </a:p>
        </p:txBody>
      </p:sp>
      <p:pic>
        <p:nvPicPr>
          <p:cNvPr id="11" name="圖片 10">
            <a:extLst>
              <a:ext uri="{FF2B5EF4-FFF2-40B4-BE49-F238E27FC236}">
                <a16:creationId xmlns:a16="http://schemas.microsoft.com/office/drawing/2014/main" id="{5B082F2A-76B8-1079-4C7F-E78591A59A4A}"/>
              </a:ext>
            </a:extLst>
          </p:cNvPr>
          <p:cNvPicPr>
            <a:picLocks noChangeAspect="1"/>
          </p:cNvPicPr>
          <p:nvPr/>
        </p:nvPicPr>
        <p:blipFill>
          <a:blip r:embed="rId3"/>
          <a:stretch>
            <a:fillRect/>
          </a:stretch>
        </p:blipFill>
        <p:spPr>
          <a:xfrm>
            <a:off x="6948768" y="2417821"/>
            <a:ext cx="4481233" cy="2321753"/>
          </a:xfrm>
          <a:prstGeom prst="rect">
            <a:avLst/>
          </a:prstGeom>
        </p:spPr>
      </p:pic>
      <p:pic>
        <p:nvPicPr>
          <p:cNvPr id="13" name="圖片 12">
            <a:extLst>
              <a:ext uri="{FF2B5EF4-FFF2-40B4-BE49-F238E27FC236}">
                <a16:creationId xmlns:a16="http://schemas.microsoft.com/office/drawing/2014/main" id="{7B05F78F-831F-3B15-6AE4-90A35492224B}"/>
              </a:ext>
            </a:extLst>
          </p:cNvPr>
          <p:cNvPicPr>
            <a:picLocks noChangeAspect="1"/>
          </p:cNvPicPr>
          <p:nvPr/>
        </p:nvPicPr>
        <p:blipFill>
          <a:blip r:embed="rId4"/>
          <a:stretch>
            <a:fillRect/>
          </a:stretch>
        </p:blipFill>
        <p:spPr>
          <a:xfrm>
            <a:off x="9740090" y="3625388"/>
            <a:ext cx="491549" cy="285655"/>
          </a:xfrm>
          <a:prstGeom prst="rect">
            <a:avLst/>
          </a:prstGeom>
        </p:spPr>
      </p:pic>
      <p:pic>
        <p:nvPicPr>
          <p:cNvPr id="16" name="圖片 15">
            <a:extLst>
              <a:ext uri="{FF2B5EF4-FFF2-40B4-BE49-F238E27FC236}">
                <a16:creationId xmlns:a16="http://schemas.microsoft.com/office/drawing/2014/main" id="{A31EE4A4-9F8C-2E6A-AE25-8CEF10388102}"/>
              </a:ext>
            </a:extLst>
          </p:cNvPr>
          <p:cNvPicPr>
            <a:picLocks noChangeAspect="1"/>
          </p:cNvPicPr>
          <p:nvPr/>
        </p:nvPicPr>
        <p:blipFill>
          <a:blip r:embed="rId5"/>
          <a:stretch>
            <a:fillRect/>
          </a:stretch>
        </p:blipFill>
        <p:spPr>
          <a:xfrm>
            <a:off x="7309064" y="3856097"/>
            <a:ext cx="387136" cy="209434"/>
          </a:xfrm>
          <a:prstGeom prst="rect">
            <a:avLst/>
          </a:prstGeom>
        </p:spPr>
      </p:pic>
      <p:pic>
        <p:nvPicPr>
          <p:cNvPr id="4" name="圖片 3">
            <a:extLst>
              <a:ext uri="{FF2B5EF4-FFF2-40B4-BE49-F238E27FC236}">
                <a16:creationId xmlns:a16="http://schemas.microsoft.com/office/drawing/2014/main" id="{5A58098C-BED1-4CC0-0FA6-E4E05B9D99AC}"/>
              </a:ext>
            </a:extLst>
          </p:cNvPr>
          <p:cNvPicPr>
            <a:picLocks noChangeAspect="1"/>
          </p:cNvPicPr>
          <p:nvPr/>
        </p:nvPicPr>
        <p:blipFill>
          <a:blip r:embed="rId6"/>
          <a:stretch>
            <a:fillRect/>
          </a:stretch>
        </p:blipFill>
        <p:spPr>
          <a:xfrm>
            <a:off x="7309064" y="180017"/>
            <a:ext cx="2915749" cy="2123659"/>
          </a:xfrm>
          <a:prstGeom prst="rect">
            <a:avLst/>
          </a:prstGeom>
        </p:spPr>
      </p:pic>
    </p:spTree>
    <p:extLst>
      <p:ext uri="{BB962C8B-B14F-4D97-AF65-F5344CB8AC3E}">
        <p14:creationId xmlns:p14="http://schemas.microsoft.com/office/powerpoint/2010/main" val="15590784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D577B1-8047-9BFC-7207-53312A1BE7B5}"/>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DBEA8818-1003-C591-54D8-C982CC5728B8}"/>
              </a:ext>
            </a:extLst>
          </p:cNvPr>
          <p:cNvSpPr>
            <a:spLocks noGrp="1"/>
          </p:cNvSpPr>
          <p:nvPr>
            <p:ph type="body" sz="quarter" idx="13"/>
          </p:nvPr>
        </p:nvSpPr>
        <p:spPr/>
        <p:txBody>
          <a:bodyPr/>
          <a:lstStyle/>
          <a:p>
            <a:r>
              <a:rPr lang="en-US" dirty="0"/>
              <a:t>Terminology  </a:t>
            </a:r>
          </a:p>
          <a:p>
            <a:endParaRPr lang="en-US" dirty="0"/>
          </a:p>
        </p:txBody>
      </p:sp>
      <p:sp>
        <p:nvSpPr>
          <p:cNvPr id="6" name="文字方塊 5">
            <a:extLst>
              <a:ext uri="{FF2B5EF4-FFF2-40B4-BE49-F238E27FC236}">
                <a16:creationId xmlns:a16="http://schemas.microsoft.com/office/drawing/2014/main" id="{AD69253F-5A79-6756-D8C3-3BFB00C34753}"/>
              </a:ext>
            </a:extLst>
          </p:cNvPr>
          <p:cNvSpPr txBox="1"/>
          <p:nvPr/>
        </p:nvSpPr>
        <p:spPr>
          <a:xfrm>
            <a:off x="571500" y="938449"/>
            <a:ext cx="8886825" cy="400110"/>
          </a:xfrm>
          <a:prstGeom prst="rect">
            <a:avLst/>
          </a:prstGeom>
          <a:noFill/>
        </p:spPr>
        <p:txBody>
          <a:bodyPr wrap="square">
            <a:spAutoFit/>
          </a:bodyPr>
          <a:lstStyle/>
          <a:p>
            <a:pPr lvl="0">
              <a:defRPr/>
            </a:pPr>
            <a:r>
              <a:rPr kumimoji="1" lang="en-US" altLang="zh-TW" sz="2000" b="1" dirty="0"/>
              <a:t>Case QT </a:t>
            </a:r>
            <a:r>
              <a:rPr kumimoji="1" lang="en-US" altLang="zh-TW" sz="2000" dirty="0"/>
              <a:t>- SW test flowchart(Online)</a:t>
            </a:r>
            <a:r>
              <a:rPr lang="zh-TW" altLang="en-US" sz="2000" b="1" kern="1200" dirty="0">
                <a:solidFill>
                  <a:schemeClr val="tx1"/>
                </a:solidFill>
                <a:effectLst/>
                <a:latin typeface="+mn-lt"/>
                <a:ea typeface="+mn-ea"/>
                <a:cs typeface="+mn-cs"/>
              </a:rPr>
              <a:t>：</a:t>
            </a:r>
            <a:endParaRPr lang="en-US" altLang="zh-TW" sz="2000" b="1" kern="1200" dirty="0">
              <a:solidFill>
                <a:schemeClr val="tx1"/>
              </a:solidFill>
              <a:effectLst/>
              <a:latin typeface="+mn-lt"/>
              <a:ea typeface="+mn-ea"/>
              <a:cs typeface="+mn-cs"/>
            </a:endParaRPr>
          </a:p>
        </p:txBody>
      </p:sp>
      <p:sp>
        <p:nvSpPr>
          <p:cNvPr id="38" name="矩形 37">
            <a:extLst>
              <a:ext uri="{FF2B5EF4-FFF2-40B4-BE49-F238E27FC236}">
                <a16:creationId xmlns:a16="http://schemas.microsoft.com/office/drawing/2014/main" id="{42372163-DA05-ACAB-0909-B421241390D0}"/>
              </a:ext>
            </a:extLst>
          </p:cNvPr>
          <p:cNvSpPr/>
          <p:nvPr/>
        </p:nvSpPr>
        <p:spPr>
          <a:xfrm>
            <a:off x="3204333" y="3213533"/>
            <a:ext cx="1537252" cy="848139"/>
          </a:xfrm>
          <a:prstGeom prst="rect">
            <a:avLst/>
          </a:prstGeom>
          <a:solidFill>
            <a:schemeClr val="accent6">
              <a:lumMod val="20000"/>
              <a:lumOff val="80000"/>
            </a:schemeClr>
          </a:solidFill>
          <a:ln>
            <a:noFill/>
          </a:ln>
        </p:spPr>
        <p:style>
          <a:lnRef idx="1">
            <a:schemeClr val="accent4"/>
          </a:lnRef>
          <a:fillRef idx="2">
            <a:schemeClr val="accent4"/>
          </a:fillRef>
          <a:effectRef idx="1">
            <a:schemeClr val="accent4"/>
          </a:effectRef>
          <a:fontRef idx="minor">
            <a:schemeClr val="dk1"/>
          </a:fontRef>
        </p:style>
        <p:txBody>
          <a:bodyPr rtlCol="0" anchor="ctr"/>
          <a:lstStyle/>
          <a:p>
            <a:pPr algn="ctr"/>
            <a:r>
              <a:rPr kumimoji="1" lang="en-US" altLang="zh-TW" dirty="0"/>
              <a:t>Button</a:t>
            </a:r>
            <a:endParaRPr kumimoji="1" lang="zh-TW" altLang="en-US" dirty="0"/>
          </a:p>
        </p:txBody>
      </p:sp>
      <p:sp>
        <p:nvSpPr>
          <p:cNvPr id="39" name="矩形 38">
            <a:extLst>
              <a:ext uri="{FF2B5EF4-FFF2-40B4-BE49-F238E27FC236}">
                <a16:creationId xmlns:a16="http://schemas.microsoft.com/office/drawing/2014/main" id="{4077FF11-BCA1-D6E1-2FAE-8F8FFF3D14D9}"/>
              </a:ext>
            </a:extLst>
          </p:cNvPr>
          <p:cNvSpPr/>
          <p:nvPr/>
        </p:nvSpPr>
        <p:spPr>
          <a:xfrm>
            <a:off x="6991142" y="1741586"/>
            <a:ext cx="1537252" cy="848139"/>
          </a:xfrm>
          <a:prstGeom prst="rect">
            <a:avLst/>
          </a:prstGeom>
          <a:solidFill>
            <a:srgbClr val="97A677"/>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kumimoji="1" lang="en-US" altLang="zh-TW" dirty="0">
                <a:solidFill>
                  <a:schemeClr val="tx1"/>
                </a:solidFill>
              </a:rPr>
              <a:t>System info</a:t>
            </a:r>
            <a:endParaRPr kumimoji="1" lang="zh-TW" altLang="en-US" dirty="0">
              <a:solidFill>
                <a:schemeClr val="tx1"/>
              </a:solidFill>
            </a:endParaRPr>
          </a:p>
        </p:txBody>
      </p:sp>
      <p:sp>
        <p:nvSpPr>
          <p:cNvPr id="40" name="矩形 39">
            <a:extLst>
              <a:ext uri="{FF2B5EF4-FFF2-40B4-BE49-F238E27FC236}">
                <a16:creationId xmlns:a16="http://schemas.microsoft.com/office/drawing/2014/main" id="{D041AAF9-2D11-AFA6-92AD-D6EA91166DE3}"/>
              </a:ext>
            </a:extLst>
          </p:cNvPr>
          <p:cNvSpPr/>
          <p:nvPr/>
        </p:nvSpPr>
        <p:spPr>
          <a:xfrm>
            <a:off x="8846448" y="1705507"/>
            <a:ext cx="1537252" cy="848139"/>
          </a:xfrm>
          <a:prstGeom prst="rect">
            <a:avLst/>
          </a:prstGeom>
          <a:solidFill>
            <a:schemeClr val="accent1">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kumimoji="1" lang="en-US" altLang="zh-TW" dirty="0">
                <a:solidFill>
                  <a:schemeClr val="tx1"/>
                </a:solidFill>
              </a:rPr>
              <a:t>Discharge (DMM)</a:t>
            </a:r>
            <a:endParaRPr kumimoji="1" lang="zh-TW" altLang="en-US" dirty="0">
              <a:solidFill>
                <a:schemeClr val="tx1"/>
              </a:solidFill>
            </a:endParaRPr>
          </a:p>
        </p:txBody>
      </p:sp>
      <p:sp>
        <p:nvSpPr>
          <p:cNvPr id="41" name="矩形 40">
            <a:extLst>
              <a:ext uri="{FF2B5EF4-FFF2-40B4-BE49-F238E27FC236}">
                <a16:creationId xmlns:a16="http://schemas.microsoft.com/office/drawing/2014/main" id="{16D5AD96-DB12-73A7-9D4D-A87436FC7479}"/>
              </a:ext>
            </a:extLst>
          </p:cNvPr>
          <p:cNvSpPr/>
          <p:nvPr/>
        </p:nvSpPr>
        <p:spPr>
          <a:xfrm>
            <a:off x="5084486" y="3213534"/>
            <a:ext cx="1537252" cy="848139"/>
          </a:xfrm>
          <a:prstGeom prst="rect">
            <a:avLst/>
          </a:prstGeom>
          <a:gradFill flip="none" rotWithShape="1">
            <a:gsLst>
              <a:gs pos="0">
                <a:schemeClr val="accent2">
                  <a:tint val="66000"/>
                  <a:satMod val="160000"/>
                </a:schemeClr>
              </a:gs>
              <a:gs pos="50000">
                <a:schemeClr val="accent2">
                  <a:tint val="44500"/>
                  <a:satMod val="160000"/>
                </a:schemeClr>
              </a:gs>
              <a:gs pos="100000">
                <a:schemeClr val="accent2">
                  <a:tint val="23500"/>
                  <a:satMod val="160000"/>
                </a:schemeClr>
              </a:gs>
            </a:gsLst>
            <a:lin ang="27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kumimoji="1" lang="en-US" altLang="zh-TW" dirty="0">
                <a:solidFill>
                  <a:schemeClr val="tx1"/>
                </a:solidFill>
              </a:rPr>
              <a:t>LED Analysis (DMM)</a:t>
            </a:r>
            <a:endParaRPr kumimoji="1" lang="zh-TW" altLang="en-US" dirty="0">
              <a:solidFill>
                <a:schemeClr val="tx1"/>
              </a:solidFill>
            </a:endParaRPr>
          </a:p>
        </p:txBody>
      </p:sp>
      <p:sp>
        <p:nvSpPr>
          <p:cNvPr id="42" name="矩形 41">
            <a:extLst>
              <a:ext uri="{FF2B5EF4-FFF2-40B4-BE49-F238E27FC236}">
                <a16:creationId xmlns:a16="http://schemas.microsoft.com/office/drawing/2014/main" id="{24489AAF-97F2-B736-B5F6-D779C31BB6E1}"/>
              </a:ext>
            </a:extLst>
          </p:cNvPr>
          <p:cNvSpPr/>
          <p:nvPr/>
        </p:nvSpPr>
        <p:spPr>
          <a:xfrm>
            <a:off x="3177830" y="1748208"/>
            <a:ext cx="1537252" cy="848139"/>
          </a:xfrm>
          <a:prstGeom prst="rect">
            <a:avLst/>
          </a:prstGeom>
          <a:solidFill>
            <a:schemeClr val="accent1">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kumimoji="1" lang="en-US" altLang="zh-TW" dirty="0">
                <a:solidFill>
                  <a:schemeClr val="tx1"/>
                </a:solidFill>
              </a:rPr>
              <a:t>DCR(DMM)</a:t>
            </a:r>
            <a:endParaRPr kumimoji="1" lang="zh-TW" altLang="en-US" dirty="0">
              <a:solidFill>
                <a:schemeClr val="tx1"/>
              </a:solidFill>
            </a:endParaRPr>
          </a:p>
        </p:txBody>
      </p:sp>
      <p:sp>
        <p:nvSpPr>
          <p:cNvPr id="43" name="矩形 42">
            <a:extLst>
              <a:ext uri="{FF2B5EF4-FFF2-40B4-BE49-F238E27FC236}">
                <a16:creationId xmlns:a16="http://schemas.microsoft.com/office/drawing/2014/main" id="{6E451651-4832-CE7E-D129-8182A1CCB038}"/>
              </a:ext>
            </a:extLst>
          </p:cNvPr>
          <p:cNvSpPr/>
          <p:nvPr/>
        </p:nvSpPr>
        <p:spPr>
          <a:xfrm>
            <a:off x="8851652" y="3196005"/>
            <a:ext cx="1537252" cy="848139"/>
          </a:xfrm>
          <a:prstGeom prst="rect">
            <a:avLst/>
          </a:prstGeom>
          <a:solidFill>
            <a:schemeClr val="accent1">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kumimoji="1" lang="en-US" altLang="zh-TW" dirty="0">
                <a:solidFill>
                  <a:schemeClr val="tx1"/>
                </a:solidFill>
              </a:rPr>
              <a:t>Charge </a:t>
            </a:r>
          </a:p>
          <a:p>
            <a:pPr algn="ctr"/>
            <a:r>
              <a:rPr kumimoji="1" lang="en-US" altLang="zh-TW" dirty="0">
                <a:solidFill>
                  <a:schemeClr val="tx1"/>
                </a:solidFill>
              </a:rPr>
              <a:t>(DMM)</a:t>
            </a:r>
            <a:endParaRPr kumimoji="1" lang="zh-TW" altLang="en-US" dirty="0">
              <a:solidFill>
                <a:schemeClr val="tx1"/>
              </a:solidFill>
            </a:endParaRPr>
          </a:p>
        </p:txBody>
      </p:sp>
      <p:sp>
        <p:nvSpPr>
          <p:cNvPr id="44" name="矩形 43">
            <a:extLst>
              <a:ext uri="{FF2B5EF4-FFF2-40B4-BE49-F238E27FC236}">
                <a16:creationId xmlns:a16="http://schemas.microsoft.com/office/drawing/2014/main" id="{FF01F3D6-1B87-0A4F-C2AD-DF1BCF4A1A50}"/>
              </a:ext>
            </a:extLst>
          </p:cNvPr>
          <p:cNvSpPr/>
          <p:nvPr/>
        </p:nvSpPr>
        <p:spPr>
          <a:xfrm>
            <a:off x="6995638" y="3182756"/>
            <a:ext cx="1537252" cy="848139"/>
          </a:xfrm>
          <a:prstGeom prst="rect">
            <a:avLst/>
          </a:prstGeom>
          <a:solidFill>
            <a:schemeClr val="accent1">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kumimoji="1" lang="en-US" altLang="zh-TW" dirty="0">
                <a:solidFill>
                  <a:schemeClr val="tx1"/>
                </a:solidFill>
              </a:rPr>
              <a:t>Fuel Gauge</a:t>
            </a:r>
            <a:endParaRPr kumimoji="1" lang="zh-TW" altLang="en-US" dirty="0">
              <a:solidFill>
                <a:schemeClr val="tx1"/>
              </a:solidFill>
            </a:endParaRPr>
          </a:p>
        </p:txBody>
      </p:sp>
      <p:sp>
        <p:nvSpPr>
          <p:cNvPr id="45" name="矩形 44">
            <a:extLst>
              <a:ext uri="{FF2B5EF4-FFF2-40B4-BE49-F238E27FC236}">
                <a16:creationId xmlns:a16="http://schemas.microsoft.com/office/drawing/2014/main" id="{13670416-8864-016B-FD51-54F012103AC9}"/>
              </a:ext>
            </a:extLst>
          </p:cNvPr>
          <p:cNvSpPr/>
          <p:nvPr/>
        </p:nvSpPr>
        <p:spPr>
          <a:xfrm>
            <a:off x="1276616" y="3234337"/>
            <a:ext cx="1537252" cy="848139"/>
          </a:xfrm>
          <a:prstGeom prst="rect">
            <a:avLst/>
          </a:prstGeom>
          <a:solidFill>
            <a:srgbClr val="FCB8C8">
              <a:alpha val="14118"/>
            </a:srgbClr>
          </a:solidFill>
          <a:ln>
            <a:noFill/>
          </a:ln>
        </p:spPr>
        <p:style>
          <a:lnRef idx="1">
            <a:schemeClr val="accent4"/>
          </a:lnRef>
          <a:fillRef idx="2">
            <a:schemeClr val="accent4"/>
          </a:fillRef>
          <a:effectRef idx="1">
            <a:schemeClr val="accent4"/>
          </a:effectRef>
          <a:fontRef idx="minor">
            <a:schemeClr val="dk1"/>
          </a:fontRef>
        </p:style>
        <p:txBody>
          <a:bodyPr rtlCol="0" anchor="ctr"/>
          <a:lstStyle/>
          <a:p>
            <a:pPr algn="ctr"/>
            <a:r>
              <a:rPr kumimoji="1" lang="en-US" altLang="zh-TW" dirty="0"/>
              <a:t>Ship Mode</a:t>
            </a:r>
            <a:endParaRPr kumimoji="1" lang="zh-TW" altLang="en-US" dirty="0"/>
          </a:p>
        </p:txBody>
      </p:sp>
      <p:sp>
        <p:nvSpPr>
          <p:cNvPr id="46" name="矩形 45">
            <a:extLst>
              <a:ext uri="{FF2B5EF4-FFF2-40B4-BE49-F238E27FC236}">
                <a16:creationId xmlns:a16="http://schemas.microsoft.com/office/drawing/2014/main" id="{B29A9EB3-1E37-D8D4-4C55-D00ED5386662}"/>
              </a:ext>
            </a:extLst>
          </p:cNvPr>
          <p:cNvSpPr/>
          <p:nvPr/>
        </p:nvSpPr>
        <p:spPr>
          <a:xfrm>
            <a:off x="1286557" y="4716701"/>
            <a:ext cx="1537252" cy="848139"/>
          </a:xfrm>
          <a:prstGeom prst="rect">
            <a:avLst/>
          </a:prstGeom>
          <a:solidFill>
            <a:schemeClr val="bg1">
              <a:lumMod val="75000"/>
              <a:alpha val="14118"/>
            </a:schemeClr>
          </a:solidFill>
          <a:ln>
            <a:noFill/>
          </a:ln>
        </p:spPr>
        <p:style>
          <a:lnRef idx="1">
            <a:schemeClr val="accent4"/>
          </a:lnRef>
          <a:fillRef idx="2">
            <a:schemeClr val="accent4"/>
          </a:fillRef>
          <a:effectRef idx="1">
            <a:schemeClr val="accent4"/>
          </a:effectRef>
          <a:fontRef idx="minor">
            <a:schemeClr val="dk1"/>
          </a:fontRef>
        </p:style>
        <p:txBody>
          <a:bodyPr rtlCol="0" anchor="ctr"/>
          <a:lstStyle/>
          <a:p>
            <a:pPr algn="ctr"/>
            <a:r>
              <a:rPr kumimoji="1" lang="en-US" altLang="zh-TW" dirty="0"/>
              <a:t>E-load</a:t>
            </a:r>
          </a:p>
        </p:txBody>
      </p:sp>
      <p:sp>
        <p:nvSpPr>
          <p:cNvPr id="47" name="矩形 46">
            <a:extLst>
              <a:ext uri="{FF2B5EF4-FFF2-40B4-BE49-F238E27FC236}">
                <a16:creationId xmlns:a16="http://schemas.microsoft.com/office/drawing/2014/main" id="{C31B6E5E-5D3A-845F-703E-B04A934D95C2}"/>
              </a:ext>
            </a:extLst>
          </p:cNvPr>
          <p:cNvSpPr/>
          <p:nvPr/>
        </p:nvSpPr>
        <p:spPr>
          <a:xfrm>
            <a:off x="3226579" y="4716701"/>
            <a:ext cx="1537252" cy="848139"/>
          </a:xfrm>
          <a:prstGeom prst="rect">
            <a:avLst/>
          </a:prstGeom>
          <a:solidFill>
            <a:srgbClr val="7D84C4">
              <a:alpha val="14118"/>
            </a:srgbClr>
          </a:solidFill>
          <a:ln>
            <a:noFill/>
          </a:ln>
        </p:spPr>
        <p:style>
          <a:lnRef idx="1">
            <a:schemeClr val="accent4"/>
          </a:lnRef>
          <a:fillRef idx="2">
            <a:schemeClr val="accent4"/>
          </a:fillRef>
          <a:effectRef idx="1">
            <a:schemeClr val="accent4"/>
          </a:effectRef>
          <a:fontRef idx="minor">
            <a:schemeClr val="dk1"/>
          </a:fontRef>
        </p:style>
        <p:txBody>
          <a:bodyPr rtlCol="0" anchor="ctr"/>
          <a:lstStyle/>
          <a:p>
            <a:pPr algn="ctr"/>
            <a:r>
              <a:rPr kumimoji="1" lang="en-US" altLang="zh-TW" dirty="0"/>
              <a:t>Bud Link</a:t>
            </a:r>
            <a:endParaRPr kumimoji="1" lang="zh-TW" altLang="en-US" dirty="0"/>
          </a:p>
        </p:txBody>
      </p:sp>
      <p:sp>
        <p:nvSpPr>
          <p:cNvPr id="48" name="矩形 47">
            <a:extLst>
              <a:ext uri="{FF2B5EF4-FFF2-40B4-BE49-F238E27FC236}">
                <a16:creationId xmlns:a16="http://schemas.microsoft.com/office/drawing/2014/main" id="{6A5BF3BE-8E19-4C18-09BC-1C1F03995C09}"/>
              </a:ext>
            </a:extLst>
          </p:cNvPr>
          <p:cNvSpPr/>
          <p:nvPr/>
        </p:nvSpPr>
        <p:spPr>
          <a:xfrm>
            <a:off x="5102708" y="4716701"/>
            <a:ext cx="1537252" cy="848139"/>
          </a:xfrm>
          <a:prstGeom prst="rect">
            <a:avLst/>
          </a:prstGeom>
          <a:solidFill>
            <a:srgbClr val="9F83E1">
              <a:alpha val="14118"/>
            </a:srgbClr>
          </a:solidFill>
          <a:ln>
            <a:noFill/>
          </a:ln>
        </p:spPr>
        <p:style>
          <a:lnRef idx="1">
            <a:schemeClr val="accent4"/>
          </a:lnRef>
          <a:fillRef idx="2">
            <a:schemeClr val="accent4"/>
          </a:fillRef>
          <a:effectRef idx="1">
            <a:schemeClr val="accent4"/>
          </a:effectRef>
          <a:fontRef idx="minor">
            <a:schemeClr val="dk1"/>
          </a:fontRef>
        </p:style>
        <p:txBody>
          <a:bodyPr rtlCol="0" anchor="ctr"/>
          <a:lstStyle/>
          <a:p>
            <a:pPr algn="ctr"/>
            <a:r>
              <a:rPr kumimoji="1" lang="en-US" altLang="zh-TW" dirty="0"/>
              <a:t>Lid Status</a:t>
            </a:r>
            <a:endParaRPr kumimoji="1" lang="zh-TW" altLang="en-US" dirty="0"/>
          </a:p>
        </p:txBody>
      </p:sp>
      <p:sp>
        <p:nvSpPr>
          <p:cNvPr id="49" name="矩形 48">
            <a:extLst>
              <a:ext uri="{FF2B5EF4-FFF2-40B4-BE49-F238E27FC236}">
                <a16:creationId xmlns:a16="http://schemas.microsoft.com/office/drawing/2014/main" id="{923EC4F6-DF42-5745-8477-AAE98D6EC9E3}"/>
              </a:ext>
            </a:extLst>
          </p:cNvPr>
          <p:cNvSpPr/>
          <p:nvPr/>
        </p:nvSpPr>
        <p:spPr>
          <a:xfrm>
            <a:off x="7014334" y="4730031"/>
            <a:ext cx="1537252" cy="848139"/>
          </a:xfrm>
          <a:prstGeom prst="rect">
            <a:avLst/>
          </a:prstGeom>
          <a:solidFill>
            <a:schemeClr val="accent5">
              <a:lumMod val="40000"/>
              <a:lumOff val="60000"/>
              <a:alpha val="14118"/>
            </a:schemeClr>
          </a:solidFill>
          <a:ln>
            <a:noFill/>
          </a:ln>
        </p:spPr>
        <p:style>
          <a:lnRef idx="1">
            <a:schemeClr val="accent4"/>
          </a:lnRef>
          <a:fillRef idx="2">
            <a:schemeClr val="accent4"/>
          </a:fillRef>
          <a:effectRef idx="1">
            <a:schemeClr val="accent4"/>
          </a:effectRef>
          <a:fontRef idx="minor">
            <a:schemeClr val="dk1"/>
          </a:fontRef>
        </p:style>
        <p:txBody>
          <a:bodyPr rtlCol="0" anchor="ctr"/>
          <a:lstStyle/>
          <a:p>
            <a:pPr algn="ctr"/>
            <a:r>
              <a:rPr kumimoji="1" lang="en-US" altLang="zh-TW" dirty="0"/>
              <a:t>Control Bit</a:t>
            </a:r>
            <a:endParaRPr kumimoji="1" lang="zh-TW" altLang="en-US" dirty="0"/>
          </a:p>
        </p:txBody>
      </p:sp>
      <p:sp>
        <p:nvSpPr>
          <p:cNvPr id="50" name="矩形 49">
            <a:extLst>
              <a:ext uri="{FF2B5EF4-FFF2-40B4-BE49-F238E27FC236}">
                <a16:creationId xmlns:a16="http://schemas.microsoft.com/office/drawing/2014/main" id="{A15100A0-594A-0F8E-1EC6-5AA62090B038}"/>
              </a:ext>
            </a:extLst>
          </p:cNvPr>
          <p:cNvSpPr/>
          <p:nvPr/>
        </p:nvSpPr>
        <p:spPr>
          <a:xfrm>
            <a:off x="8886203" y="4730030"/>
            <a:ext cx="1537252" cy="848139"/>
          </a:xfrm>
          <a:prstGeom prst="rect">
            <a:avLst/>
          </a:prstGeom>
          <a:solidFill>
            <a:srgbClr val="DE644B">
              <a:alpha val="30980"/>
            </a:srgbClr>
          </a:solidFill>
          <a:ln>
            <a:noFill/>
          </a:ln>
        </p:spPr>
        <p:style>
          <a:lnRef idx="1">
            <a:schemeClr val="accent4"/>
          </a:lnRef>
          <a:fillRef idx="2">
            <a:schemeClr val="accent4"/>
          </a:fillRef>
          <a:effectRef idx="1">
            <a:schemeClr val="accent4"/>
          </a:effectRef>
          <a:fontRef idx="minor">
            <a:schemeClr val="dk1"/>
          </a:fontRef>
        </p:style>
        <p:txBody>
          <a:bodyPr rtlCol="0" anchor="ctr"/>
          <a:lstStyle/>
          <a:p>
            <a:pPr algn="ctr"/>
            <a:r>
              <a:rPr kumimoji="1" lang="en-US" altLang="zh-TW" dirty="0"/>
              <a:t>Reset </a:t>
            </a:r>
            <a:endParaRPr kumimoji="1" lang="zh-TW" altLang="en-US" dirty="0"/>
          </a:p>
        </p:txBody>
      </p:sp>
      <p:cxnSp>
        <p:nvCxnSpPr>
          <p:cNvPr id="51" name="直線箭頭接點 50">
            <a:extLst>
              <a:ext uri="{FF2B5EF4-FFF2-40B4-BE49-F238E27FC236}">
                <a16:creationId xmlns:a16="http://schemas.microsoft.com/office/drawing/2014/main" id="{679394C7-595A-CB74-FB85-E72B111BE3D4}"/>
              </a:ext>
            </a:extLst>
          </p:cNvPr>
          <p:cNvCxnSpPr>
            <a:cxnSpLocks/>
          </p:cNvCxnSpPr>
          <p:nvPr/>
        </p:nvCxnSpPr>
        <p:spPr>
          <a:xfrm>
            <a:off x="2836584" y="2168970"/>
            <a:ext cx="35780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2" name="直線箭頭接點 51">
            <a:extLst>
              <a:ext uri="{FF2B5EF4-FFF2-40B4-BE49-F238E27FC236}">
                <a16:creationId xmlns:a16="http://schemas.microsoft.com/office/drawing/2014/main" id="{8EF9A516-52A4-48C3-12FF-AC4ACBC7929C}"/>
              </a:ext>
            </a:extLst>
          </p:cNvPr>
          <p:cNvCxnSpPr>
            <a:cxnSpLocks/>
          </p:cNvCxnSpPr>
          <p:nvPr/>
        </p:nvCxnSpPr>
        <p:spPr>
          <a:xfrm>
            <a:off x="4715082" y="2168970"/>
            <a:ext cx="35780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3" name="直線箭頭接點 52">
            <a:extLst>
              <a:ext uri="{FF2B5EF4-FFF2-40B4-BE49-F238E27FC236}">
                <a16:creationId xmlns:a16="http://schemas.microsoft.com/office/drawing/2014/main" id="{E1A0B1D0-3847-E5C6-5E9C-3F7A395F9EDA}"/>
              </a:ext>
            </a:extLst>
          </p:cNvPr>
          <p:cNvCxnSpPr>
            <a:cxnSpLocks/>
          </p:cNvCxnSpPr>
          <p:nvPr/>
        </p:nvCxnSpPr>
        <p:spPr>
          <a:xfrm>
            <a:off x="6610143" y="2168970"/>
            <a:ext cx="35780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4" name="直線箭頭接點 53">
            <a:extLst>
              <a:ext uri="{FF2B5EF4-FFF2-40B4-BE49-F238E27FC236}">
                <a16:creationId xmlns:a16="http://schemas.microsoft.com/office/drawing/2014/main" id="{92B88E9F-2DD5-6232-6531-4AABF7553B8F}"/>
              </a:ext>
            </a:extLst>
          </p:cNvPr>
          <p:cNvCxnSpPr>
            <a:cxnSpLocks/>
          </p:cNvCxnSpPr>
          <p:nvPr/>
        </p:nvCxnSpPr>
        <p:spPr>
          <a:xfrm>
            <a:off x="8505204" y="2172279"/>
            <a:ext cx="35780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5" name="直線箭頭接點 54">
            <a:extLst>
              <a:ext uri="{FF2B5EF4-FFF2-40B4-BE49-F238E27FC236}">
                <a16:creationId xmlns:a16="http://schemas.microsoft.com/office/drawing/2014/main" id="{6BACB6C1-B5EF-F70E-CD96-3FEC4E5AECF6}"/>
              </a:ext>
            </a:extLst>
          </p:cNvPr>
          <p:cNvCxnSpPr>
            <a:cxnSpLocks/>
          </p:cNvCxnSpPr>
          <p:nvPr/>
        </p:nvCxnSpPr>
        <p:spPr>
          <a:xfrm flipH="1">
            <a:off x="8475387" y="3641838"/>
            <a:ext cx="38762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6" name="直線箭頭接點 55">
            <a:extLst>
              <a:ext uri="{FF2B5EF4-FFF2-40B4-BE49-F238E27FC236}">
                <a16:creationId xmlns:a16="http://schemas.microsoft.com/office/drawing/2014/main" id="{B2A500E5-D429-AD1E-A3D0-95215FDC77AF}"/>
              </a:ext>
            </a:extLst>
          </p:cNvPr>
          <p:cNvCxnSpPr>
            <a:cxnSpLocks/>
          </p:cNvCxnSpPr>
          <p:nvPr/>
        </p:nvCxnSpPr>
        <p:spPr>
          <a:xfrm flipH="1">
            <a:off x="6603516" y="3620075"/>
            <a:ext cx="38762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7" name="直線箭頭接點 56">
            <a:extLst>
              <a:ext uri="{FF2B5EF4-FFF2-40B4-BE49-F238E27FC236}">
                <a16:creationId xmlns:a16="http://schemas.microsoft.com/office/drawing/2014/main" id="{5CFB8758-B5F7-3CF6-0848-F4036F73533B}"/>
              </a:ext>
            </a:extLst>
          </p:cNvPr>
          <p:cNvCxnSpPr>
            <a:cxnSpLocks/>
          </p:cNvCxnSpPr>
          <p:nvPr/>
        </p:nvCxnSpPr>
        <p:spPr>
          <a:xfrm flipH="1">
            <a:off x="4715082" y="3620075"/>
            <a:ext cx="38762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8" name="直線箭頭接點 57">
            <a:extLst>
              <a:ext uri="{FF2B5EF4-FFF2-40B4-BE49-F238E27FC236}">
                <a16:creationId xmlns:a16="http://schemas.microsoft.com/office/drawing/2014/main" id="{10BFE7C7-1647-02C1-D41F-4051AE88782A}"/>
              </a:ext>
            </a:extLst>
          </p:cNvPr>
          <p:cNvCxnSpPr>
            <a:cxnSpLocks/>
          </p:cNvCxnSpPr>
          <p:nvPr/>
        </p:nvCxnSpPr>
        <p:spPr>
          <a:xfrm flipH="1">
            <a:off x="2790204" y="3637594"/>
            <a:ext cx="38762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9" name="直線箭頭接點 58">
            <a:extLst>
              <a:ext uri="{FF2B5EF4-FFF2-40B4-BE49-F238E27FC236}">
                <a16:creationId xmlns:a16="http://schemas.microsoft.com/office/drawing/2014/main" id="{9E8E0328-B76D-92A3-290D-9155BF0B2BB4}"/>
              </a:ext>
            </a:extLst>
          </p:cNvPr>
          <p:cNvCxnSpPr>
            <a:cxnSpLocks/>
          </p:cNvCxnSpPr>
          <p:nvPr/>
        </p:nvCxnSpPr>
        <p:spPr>
          <a:xfrm>
            <a:off x="2853151" y="5140770"/>
            <a:ext cx="35780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0" name="直線箭頭接點 59">
            <a:extLst>
              <a:ext uri="{FF2B5EF4-FFF2-40B4-BE49-F238E27FC236}">
                <a16:creationId xmlns:a16="http://schemas.microsoft.com/office/drawing/2014/main" id="{CEB80E8C-2520-16CA-4765-A4AEB866A9D4}"/>
              </a:ext>
            </a:extLst>
          </p:cNvPr>
          <p:cNvCxnSpPr>
            <a:cxnSpLocks/>
          </p:cNvCxnSpPr>
          <p:nvPr/>
        </p:nvCxnSpPr>
        <p:spPr>
          <a:xfrm>
            <a:off x="4744899" y="5140770"/>
            <a:ext cx="35780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1" name="直線箭頭接點 60">
            <a:extLst>
              <a:ext uri="{FF2B5EF4-FFF2-40B4-BE49-F238E27FC236}">
                <a16:creationId xmlns:a16="http://schemas.microsoft.com/office/drawing/2014/main" id="{5E66661E-F143-719C-0725-13F35FADCD69}"/>
              </a:ext>
            </a:extLst>
          </p:cNvPr>
          <p:cNvCxnSpPr>
            <a:cxnSpLocks/>
            <a:stCxn id="40" idx="2"/>
          </p:cNvCxnSpPr>
          <p:nvPr/>
        </p:nvCxnSpPr>
        <p:spPr>
          <a:xfrm>
            <a:off x="9615074" y="2553646"/>
            <a:ext cx="0" cy="62248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2" name="直線箭頭接點 61">
            <a:extLst>
              <a:ext uri="{FF2B5EF4-FFF2-40B4-BE49-F238E27FC236}">
                <a16:creationId xmlns:a16="http://schemas.microsoft.com/office/drawing/2014/main" id="{4E8CD91A-FB35-B498-3213-068C378EACCE}"/>
              </a:ext>
            </a:extLst>
          </p:cNvPr>
          <p:cNvCxnSpPr>
            <a:cxnSpLocks/>
          </p:cNvCxnSpPr>
          <p:nvPr/>
        </p:nvCxnSpPr>
        <p:spPr>
          <a:xfrm>
            <a:off x="2064647" y="4082476"/>
            <a:ext cx="0" cy="63422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3" name="矩形 62">
            <a:extLst>
              <a:ext uri="{FF2B5EF4-FFF2-40B4-BE49-F238E27FC236}">
                <a16:creationId xmlns:a16="http://schemas.microsoft.com/office/drawing/2014/main" id="{0A2F6D4C-F0DE-64F4-1A27-1169529D006C}"/>
              </a:ext>
            </a:extLst>
          </p:cNvPr>
          <p:cNvSpPr/>
          <p:nvPr/>
        </p:nvSpPr>
        <p:spPr>
          <a:xfrm>
            <a:off x="1296021" y="1748209"/>
            <a:ext cx="1537252" cy="848139"/>
          </a:xfrm>
          <a:prstGeom prst="rect">
            <a:avLst/>
          </a:prstGeom>
          <a:solidFill>
            <a:srgbClr val="575F7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kumimoji="1" lang="en-US" altLang="zh-TW" dirty="0">
                <a:solidFill>
                  <a:schemeClr val="bg1"/>
                </a:solidFill>
              </a:rPr>
              <a:t>Scan SN</a:t>
            </a:r>
            <a:endParaRPr kumimoji="1" lang="zh-TW" altLang="en-US" dirty="0">
              <a:solidFill>
                <a:schemeClr val="bg1"/>
              </a:solidFill>
            </a:endParaRPr>
          </a:p>
        </p:txBody>
      </p:sp>
      <p:sp>
        <p:nvSpPr>
          <p:cNvPr id="64" name="矩形 63">
            <a:extLst>
              <a:ext uri="{FF2B5EF4-FFF2-40B4-BE49-F238E27FC236}">
                <a16:creationId xmlns:a16="http://schemas.microsoft.com/office/drawing/2014/main" id="{A0B2EF45-DED3-F939-24E7-280A3749C7A4}"/>
              </a:ext>
            </a:extLst>
          </p:cNvPr>
          <p:cNvSpPr/>
          <p:nvPr/>
        </p:nvSpPr>
        <p:spPr>
          <a:xfrm>
            <a:off x="5091821" y="1748208"/>
            <a:ext cx="1537252" cy="848139"/>
          </a:xfrm>
          <a:prstGeom prst="rect">
            <a:avLst/>
          </a:prstGeom>
          <a:solidFill>
            <a:schemeClr val="accent5">
              <a:lumMod val="40000"/>
              <a:lumOff val="60000"/>
              <a:alpha val="14118"/>
            </a:schemeClr>
          </a:solidFill>
          <a:ln>
            <a:noFill/>
          </a:ln>
        </p:spPr>
        <p:style>
          <a:lnRef idx="1">
            <a:schemeClr val="accent4"/>
          </a:lnRef>
          <a:fillRef idx="2">
            <a:schemeClr val="accent4"/>
          </a:fillRef>
          <a:effectRef idx="1">
            <a:schemeClr val="accent4"/>
          </a:effectRef>
          <a:fontRef idx="minor">
            <a:schemeClr val="dk1"/>
          </a:fontRef>
        </p:style>
        <p:txBody>
          <a:bodyPr rtlCol="0" anchor="ctr"/>
          <a:lstStyle/>
          <a:p>
            <a:pPr algn="ctr"/>
            <a:r>
              <a:rPr kumimoji="1" lang="en-US" altLang="zh-TW" dirty="0"/>
              <a:t>Control Bit</a:t>
            </a:r>
            <a:endParaRPr kumimoji="1" lang="zh-TW" altLang="en-US" dirty="0"/>
          </a:p>
        </p:txBody>
      </p:sp>
      <p:cxnSp>
        <p:nvCxnSpPr>
          <p:cNvPr id="65" name="直線箭頭接點 64">
            <a:extLst>
              <a:ext uri="{FF2B5EF4-FFF2-40B4-BE49-F238E27FC236}">
                <a16:creationId xmlns:a16="http://schemas.microsoft.com/office/drawing/2014/main" id="{7241DD29-D326-414C-17EA-82478C243888}"/>
              </a:ext>
            </a:extLst>
          </p:cNvPr>
          <p:cNvCxnSpPr>
            <a:cxnSpLocks/>
          </p:cNvCxnSpPr>
          <p:nvPr/>
        </p:nvCxnSpPr>
        <p:spPr>
          <a:xfrm>
            <a:off x="6656525" y="5134144"/>
            <a:ext cx="35780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6" name="直線箭頭接點 65">
            <a:extLst>
              <a:ext uri="{FF2B5EF4-FFF2-40B4-BE49-F238E27FC236}">
                <a16:creationId xmlns:a16="http://schemas.microsoft.com/office/drawing/2014/main" id="{E8E1E65E-A01B-2729-554E-C8B222F7B06D}"/>
              </a:ext>
            </a:extLst>
          </p:cNvPr>
          <p:cNvCxnSpPr>
            <a:cxnSpLocks/>
          </p:cNvCxnSpPr>
          <p:nvPr/>
        </p:nvCxnSpPr>
        <p:spPr>
          <a:xfrm>
            <a:off x="8528394" y="5124205"/>
            <a:ext cx="35780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55488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410B15-896A-B425-B0E8-8295CDB1D061}"/>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C9E15F90-177A-65DD-F265-3293F9C9E6BF}"/>
              </a:ext>
            </a:extLst>
          </p:cNvPr>
          <p:cNvSpPr>
            <a:spLocks noGrp="1"/>
          </p:cNvSpPr>
          <p:nvPr>
            <p:ph type="body" sz="quarter" idx="13"/>
          </p:nvPr>
        </p:nvSpPr>
        <p:spPr/>
        <p:txBody>
          <a:bodyPr/>
          <a:lstStyle/>
          <a:p>
            <a:r>
              <a:rPr lang="en-US" dirty="0"/>
              <a:t>Terminology  </a:t>
            </a:r>
          </a:p>
          <a:p>
            <a:endParaRPr lang="en-US" dirty="0"/>
          </a:p>
        </p:txBody>
      </p:sp>
      <p:sp>
        <p:nvSpPr>
          <p:cNvPr id="6" name="文字方塊 5">
            <a:extLst>
              <a:ext uri="{FF2B5EF4-FFF2-40B4-BE49-F238E27FC236}">
                <a16:creationId xmlns:a16="http://schemas.microsoft.com/office/drawing/2014/main" id="{27EAAACC-5CF8-4E0A-6422-6A063247528E}"/>
              </a:ext>
            </a:extLst>
          </p:cNvPr>
          <p:cNvSpPr txBox="1"/>
          <p:nvPr/>
        </p:nvSpPr>
        <p:spPr>
          <a:xfrm>
            <a:off x="571500" y="938449"/>
            <a:ext cx="8886825" cy="400110"/>
          </a:xfrm>
          <a:prstGeom prst="rect">
            <a:avLst/>
          </a:prstGeom>
          <a:noFill/>
        </p:spPr>
        <p:txBody>
          <a:bodyPr wrap="square">
            <a:spAutoFit/>
          </a:bodyPr>
          <a:lstStyle/>
          <a:p>
            <a:pPr lvl="0">
              <a:defRPr/>
            </a:pPr>
            <a:r>
              <a:rPr kumimoji="1" lang="en-US" altLang="zh-TW" sz="2000" b="1" dirty="0"/>
              <a:t>Case QT </a:t>
            </a:r>
            <a:r>
              <a:rPr kumimoji="1" lang="en-US" altLang="zh-TW" sz="2000" dirty="0"/>
              <a:t>- SW test flowchart</a:t>
            </a:r>
            <a:r>
              <a:rPr lang="zh-TW" altLang="en-US" sz="2000" b="1" kern="1200" dirty="0">
                <a:solidFill>
                  <a:schemeClr val="tx1"/>
                </a:solidFill>
                <a:effectLst/>
                <a:latin typeface="+mn-lt"/>
                <a:ea typeface="+mn-ea"/>
                <a:cs typeface="+mn-cs"/>
              </a:rPr>
              <a:t>：</a:t>
            </a:r>
            <a:endParaRPr lang="en-US" altLang="zh-TW" sz="2000" b="1" kern="1200" dirty="0">
              <a:solidFill>
                <a:schemeClr val="tx1"/>
              </a:solidFill>
              <a:effectLst/>
              <a:latin typeface="+mn-lt"/>
              <a:ea typeface="+mn-ea"/>
              <a:cs typeface="+mn-cs"/>
            </a:endParaRPr>
          </a:p>
        </p:txBody>
      </p:sp>
      <p:sp>
        <p:nvSpPr>
          <p:cNvPr id="38" name="矩形 37">
            <a:extLst>
              <a:ext uri="{FF2B5EF4-FFF2-40B4-BE49-F238E27FC236}">
                <a16:creationId xmlns:a16="http://schemas.microsoft.com/office/drawing/2014/main" id="{513F13B2-8886-B803-2A91-6B490B409105}"/>
              </a:ext>
            </a:extLst>
          </p:cNvPr>
          <p:cNvSpPr/>
          <p:nvPr/>
        </p:nvSpPr>
        <p:spPr>
          <a:xfrm>
            <a:off x="5093952" y="3254627"/>
            <a:ext cx="1537252" cy="848139"/>
          </a:xfrm>
          <a:prstGeom prst="rect">
            <a:avLst/>
          </a:prstGeom>
          <a:solidFill>
            <a:schemeClr val="accent6">
              <a:lumMod val="20000"/>
              <a:lumOff val="80000"/>
            </a:schemeClr>
          </a:solidFill>
          <a:ln>
            <a:noFill/>
          </a:ln>
        </p:spPr>
        <p:style>
          <a:lnRef idx="1">
            <a:schemeClr val="accent4"/>
          </a:lnRef>
          <a:fillRef idx="2">
            <a:schemeClr val="accent4"/>
          </a:fillRef>
          <a:effectRef idx="1">
            <a:schemeClr val="accent4"/>
          </a:effectRef>
          <a:fontRef idx="minor">
            <a:schemeClr val="dk1"/>
          </a:fontRef>
        </p:style>
        <p:txBody>
          <a:bodyPr rtlCol="0" anchor="ctr"/>
          <a:lstStyle/>
          <a:p>
            <a:pPr algn="ctr"/>
            <a:r>
              <a:rPr kumimoji="1" lang="en-US" altLang="zh-TW" dirty="0"/>
              <a:t>Button</a:t>
            </a:r>
            <a:endParaRPr kumimoji="1" lang="zh-TW" altLang="en-US" dirty="0"/>
          </a:p>
        </p:txBody>
      </p:sp>
      <p:sp>
        <p:nvSpPr>
          <p:cNvPr id="39" name="矩形 38">
            <a:extLst>
              <a:ext uri="{FF2B5EF4-FFF2-40B4-BE49-F238E27FC236}">
                <a16:creationId xmlns:a16="http://schemas.microsoft.com/office/drawing/2014/main" id="{49EA8B8F-3FB3-6BD0-8513-1EA27FC31513}"/>
              </a:ext>
            </a:extLst>
          </p:cNvPr>
          <p:cNvSpPr/>
          <p:nvPr/>
        </p:nvSpPr>
        <p:spPr>
          <a:xfrm>
            <a:off x="5084486" y="1762628"/>
            <a:ext cx="1537252" cy="848139"/>
          </a:xfrm>
          <a:prstGeom prst="rect">
            <a:avLst/>
          </a:prstGeom>
          <a:solidFill>
            <a:srgbClr val="97A677"/>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kumimoji="1" lang="en-US" altLang="zh-TW" dirty="0">
                <a:solidFill>
                  <a:schemeClr val="tx1"/>
                </a:solidFill>
              </a:rPr>
              <a:t>System info</a:t>
            </a:r>
            <a:endParaRPr kumimoji="1" lang="zh-TW" altLang="en-US" dirty="0">
              <a:solidFill>
                <a:schemeClr val="tx1"/>
              </a:solidFill>
            </a:endParaRPr>
          </a:p>
        </p:txBody>
      </p:sp>
      <p:sp>
        <p:nvSpPr>
          <p:cNvPr id="40" name="矩形 39">
            <a:extLst>
              <a:ext uri="{FF2B5EF4-FFF2-40B4-BE49-F238E27FC236}">
                <a16:creationId xmlns:a16="http://schemas.microsoft.com/office/drawing/2014/main" id="{447D42AE-F850-06F7-D688-FD9CCB2BF083}"/>
              </a:ext>
            </a:extLst>
          </p:cNvPr>
          <p:cNvSpPr/>
          <p:nvPr/>
        </p:nvSpPr>
        <p:spPr>
          <a:xfrm>
            <a:off x="6944996" y="1765942"/>
            <a:ext cx="1537252" cy="848139"/>
          </a:xfrm>
          <a:prstGeom prst="rect">
            <a:avLst/>
          </a:prstGeom>
          <a:solidFill>
            <a:schemeClr val="accent1">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kumimoji="1" lang="en-US" altLang="zh-TW" dirty="0">
                <a:solidFill>
                  <a:schemeClr val="tx1"/>
                </a:solidFill>
              </a:rPr>
              <a:t>Discharge (DMM)</a:t>
            </a:r>
            <a:endParaRPr kumimoji="1" lang="zh-TW" altLang="en-US" dirty="0">
              <a:solidFill>
                <a:schemeClr val="tx1"/>
              </a:solidFill>
            </a:endParaRPr>
          </a:p>
        </p:txBody>
      </p:sp>
      <p:sp>
        <p:nvSpPr>
          <p:cNvPr id="41" name="矩形 40">
            <a:extLst>
              <a:ext uri="{FF2B5EF4-FFF2-40B4-BE49-F238E27FC236}">
                <a16:creationId xmlns:a16="http://schemas.microsoft.com/office/drawing/2014/main" id="{C01889FE-59CB-D020-F107-CBE00EF4E658}"/>
              </a:ext>
            </a:extLst>
          </p:cNvPr>
          <p:cNvSpPr/>
          <p:nvPr/>
        </p:nvSpPr>
        <p:spPr>
          <a:xfrm>
            <a:off x="6974105" y="3254628"/>
            <a:ext cx="1537252" cy="848139"/>
          </a:xfrm>
          <a:prstGeom prst="rect">
            <a:avLst/>
          </a:prstGeom>
          <a:gradFill flip="none" rotWithShape="1">
            <a:gsLst>
              <a:gs pos="0">
                <a:schemeClr val="accent2">
                  <a:tint val="66000"/>
                  <a:satMod val="160000"/>
                </a:schemeClr>
              </a:gs>
              <a:gs pos="50000">
                <a:schemeClr val="accent2">
                  <a:tint val="44500"/>
                  <a:satMod val="160000"/>
                </a:schemeClr>
              </a:gs>
              <a:gs pos="100000">
                <a:schemeClr val="accent2">
                  <a:tint val="23500"/>
                  <a:satMod val="160000"/>
                </a:schemeClr>
              </a:gs>
            </a:gsLst>
            <a:lin ang="27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kumimoji="1" lang="en-US" altLang="zh-TW" dirty="0">
                <a:solidFill>
                  <a:schemeClr val="tx1"/>
                </a:solidFill>
              </a:rPr>
              <a:t>LED Analysis (DMM)</a:t>
            </a:r>
            <a:endParaRPr kumimoji="1" lang="zh-TW" altLang="en-US" dirty="0">
              <a:solidFill>
                <a:schemeClr val="tx1"/>
              </a:solidFill>
            </a:endParaRPr>
          </a:p>
        </p:txBody>
      </p:sp>
      <p:sp>
        <p:nvSpPr>
          <p:cNvPr id="42" name="矩形 41">
            <a:extLst>
              <a:ext uri="{FF2B5EF4-FFF2-40B4-BE49-F238E27FC236}">
                <a16:creationId xmlns:a16="http://schemas.microsoft.com/office/drawing/2014/main" id="{E75D10D5-BAD9-9814-4701-AA99A2CF1ED4}"/>
              </a:ext>
            </a:extLst>
          </p:cNvPr>
          <p:cNvSpPr/>
          <p:nvPr/>
        </p:nvSpPr>
        <p:spPr>
          <a:xfrm>
            <a:off x="3177830" y="1748208"/>
            <a:ext cx="1537252" cy="848139"/>
          </a:xfrm>
          <a:prstGeom prst="rect">
            <a:avLst/>
          </a:prstGeom>
          <a:solidFill>
            <a:schemeClr val="accent1">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kumimoji="1" lang="en-US" altLang="zh-TW" dirty="0">
                <a:solidFill>
                  <a:schemeClr val="tx1"/>
                </a:solidFill>
              </a:rPr>
              <a:t>DCR(DMM)</a:t>
            </a:r>
            <a:endParaRPr kumimoji="1" lang="zh-TW" altLang="en-US" dirty="0">
              <a:solidFill>
                <a:schemeClr val="tx1"/>
              </a:solidFill>
            </a:endParaRPr>
          </a:p>
        </p:txBody>
      </p:sp>
      <p:sp>
        <p:nvSpPr>
          <p:cNvPr id="43" name="矩形 42">
            <a:extLst>
              <a:ext uri="{FF2B5EF4-FFF2-40B4-BE49-F238E27FC236}">
                <a16:creationId xmlns:a16="http://schemas.microsoft.com/office/drawing/2014/main" id="{41968D9A-DA18-2D16-E157-097F62B9D0DA}"/>
              </a:ext>
            </a:extLst>
          </p:cNvPr>
          <p:cNvSpPr/>
          <p:nvPr/>
        </p:nvSpPr>
        <p:spPr>
          <a:xfrm>
            <a:off x="8886203" y="1769251"/>
            <a:ext cx="1537252" cy="848139"/>
          </a:xfrm>
          <a:prstGeom prst="rect">
            <a:avLst/>
          </a:prstGeom>
          <a:solidFill>
            <a:schemeClr val="accent1">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kumimoji="1" lang="en-US" altLang="zh-TW" dirty="0">
                <a:solidFill>
                  <a:schemeClr val="tx1"/>
                </a:solidFill>
              </a:rPr>
              <a:t>Charge </a:t>
            </a:r>
          </a:p>
          <a:p>
            <a:pPr algn="ctr"/>
            <a:r>
              <a:rPr kumimoji="1" lang="en-US" altLang="zh-TW" dirty="0">
                <a:solidFill>
                  <a:schemeClr val="tx1"/>
                </a:solidFill>
              </a:rPr>
              <a:t>(DMM)</a:t>
            </a:r>
            <a:endParaRPr kumimoji="1" lang="zh-TW" altLang="en-US" dirty="0">
              <a:solidFill>
                <a:schemeClr val="tx1"/>
              </a:solidFill>
            </a:endParaRPr>
          </a:p>
        </p:txBody>
      </p:sp>
      <p:sp>
        <p:nvSpPr>
          <p:cNvPr id="44" name="矩形 43">
            <a:extLst>
              <a:ext uri="{FF2B5EF4-FFF2-40B4-BE49-F238E27FC236}">
                <a16:creationId xmlns:a16="http://schemas.microsoft.com/office/drawing/2014/main" id="{B87E4DDF-8121-0C95-EF0D-A68B0FF0FA57}"/>
              </a:ext>
            </a:extLst>
          </p:cNvPr>
          <p:cNvSpPr/>
          <p:nvPr/>
        </p:nvSpPr>
        <p:spPr>
          <a:xfrm>
            <a:off x="8885257" y="3223850"/>
            <a:ext cx="1537252" cy="848139"/>
          </a:xfrm>
          <a:prstGeom prst="rect">
            <a:avLst/>
          </a:prstGeom>
          <a:solidFill>
            <a:schemeClr val="accent1">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kumimoji="1" lang="en-US" altLang="zh-TW" dirty="0">
                <a:solidFill>
                  <a:schemeClr val="tx1"/>
                </a:solidFill>
              </a:rPr>
              <a:t>Fuel Gauge</a:t>
            </a:r>
            <a:endParaRPr kumimoji="1" lang="zh-TW" altLang="en-US" dirty="0">
              <a:solidFill>
                <a:schemeClr val="tx1"/>
              </a:solidFill>
            </a:endParaRPr>
          </a:p>
        </p:txBody>
      </p:sp>
      <p:sp>
        <p:nvSpPr>
          <p:cNvPr id="45" name="矩形 44">
            <a:extLst>
              <a:ext uri="{FF2B5EF4-FFF2-40B4-BE49-F238E27FC236}">
                <a16:creationId xmlns:a16="http://schemas.microsoft.com/office/drawing/2014/main" id="{783B1B69-BED1-097E-BA3C-D4C2EED54401}"/>
              </a:ext>
            </a:extLst>
          </p:cNvPr>
          <p:cNvSpPr/>
          <p:nvPr/>
        </p:nvSpPr>
        <p:spPr>
          <a:xfrm>
            <a:off x="3166235" y="3275431"/>
            <a:ext cx="1537252" cy="848139"/>
          </a:xfrm>
          <a:prstGeom prst="rect">
            <a:avLst/>
          </a:prstGeom>
          <a:solidFill>
            <a:srgbClr val="FCB8C8">
              <a:alpha val="14118"/>
            </a:srgbClr>
          </a:solidFill>
          <a:ln>
            <a:noFill/>
          </a:ln>
        </p:spPr>
        <p:style>
          <a:lnRef idx="1">
            <a:schemeClr val="accent4"/>
          </a:lnRef>
          <a:fillRef idx="2">
            <a:schemeClr val="accent4"/>
          </a:fillRef>
          <a:effectRef idx="1">
            <a:schemeClr val="accent4"/>
          </a:effectRef>
          <a:fontRef idx="minor">
            <a:schemeClr val="dk1"/>
          </a:fontRef>
        </p:style>
        <p:txBody>
          <a:bodyPr rtlCol="0" anchor="ctr"/>
          <a:lstStyle/>
          <a:p>
            <a:pPr algn="ctr"/>
            <a:r>
              <a:rPr kumimoji="1" lang="en-US" altLang="zh-TW" dirty="0"/>
              <a:t>Ship Mode</a:t>
            </a:r>
            <a:endParaRPr kumimoji="1" lang="zh-TW" altLang="en-US" dirty="0"/>
          </a:p>
        </p:txBody>
      </p:sp>
      <p:sp>
        <p:nvSpPr>
          <p:cNvPr id="46" name="矩形 45">
            <a:extLst>
              <a:ext uri="{FF2B5EF4-FFF2-40B4-BE49-F238E27FC236}">
                <a16:creationId xmlns:a16="http://schemas.microsoft.com/office/drawing/2014/main" id="{572AB5F8-761F-E9BD-FF7C-FCAE55F1C1C0}"/>
              </a:ext>
            </a:extLst>
          </p:cNvPr>
          <p:cNvSpPr/>
          <p:nvPr/>
        </p:nvSpPr>
        <p:spPr>
          <a:xfrm>
            <a:off x="1246919" y="3256832"/>
            <a:ext cx="1537252" cy="848139"/>
          </a:xfrm>
          <a:prstGeom prst="rect">
            <a:avLst/>
          </a:prstGeom>
          <a:solidFill>
            <a:schemeClr val="bg1">
              <a:lumMod val="75000"/>
              <a:alpha val="14118"/>
            </a:schemeClr>
          </a:solidFill>
          <a:ln>
            <a:noFill/>
          </a:ln>
        </p:spPr>
        <p:style>
          <a:lnRef idx="1">
            <a:schemeClr val="accent4"/>
          </a:lnRef>
          <a:fillRef idx="2">
            <a:schemeClr val="accent4"/>
          </a:fillRef>
          <a:effectRef idx="1">
            <a:schemeClr val="accent4"/>
          </a:effectRef>
          <a:fontRef idx="minor">
            <a:schemeClr val="dk1"/>
          </a:fontRef>
        </p:style>
        <p:txBody>
          <a:bodyPr rtlCol="0" anchor="ctr"/>
          <a:lstStyle/>
          <a:p>
            <a:pPr algn="ctr"/>
            <a:r>
              <a:rPr kumimoji="1" lang="en-US" altLang="zh-TW" dirty="0"/>
              <a:t>E-load</a:t>
            </a:r>
          </a:p>
        </p:txBody>
      </p:sp>
      <p:sp>
        <p:nvSpPr>
          <p:cNvPr id="47" name="矩形 46">
            <a:extLst>
              <a:ext uri="{FF2B5EF4-FFF2-40B4-BE49-F238E27FC236}">
                <a16:creationId xmlns:a16="http://schemas.microsoft.com/office/drawing/2014/main" id="{19DA499C-A3F3-D591-7DB1-00A3536ED972}"/>
              </a:ext>
            </a:extLst>
          </p:cNvPr>
          <p:cNvSpPr/>
          <p:nvPr/>
        </p:nvSpPr>
        <p:spPr>
          <a:xfrm>
            <a:off x="1295548" y="4777063"/>
            <a:ext cx="1537252" cy="848139"/>
          </a:xfrm>
          <a:prstGeom prst="rect">
            <a:avLst/>
          </a:prstGeom>
          <a:solidFill>
            <a:srgbClr val="7D84C4">
              <a:alpha val="14118"/>
            </a:srgbClr>
          </a:solidFill>
          <a:ln>
            <a:noFill/>
          </a:ln>
        </p:spPr>
        <p:style>
          <a:lnRef idx="1">
            <a:schemeClr val="accent4"/>
          </a:lnRef>
          <a:fillRef idx="2">
            <a:schemeClr val="accent4"/>
          </a:fillRef>
          <a:effectRef idx="1">
            <a:schemeClr val="accent4"/>
          </a:effectRef>
          <a:fontRef idx="minor">
            <a:schemeClr val="dk1"/>
          </a:fontRef>
        </p:style>
        <p:txBody>
          <a:bodyPr rtlCol="0" anchor="ctr"/>
          <a:lstStyle/>
          <a:p>
            <a:pPr algn="ctr"/>
            <a:r>
              <a:rPr kumimoji="1" lang="en-US" altLang="zh-TW" dirty="0"/>
              <a:t>Bud Link</a:t>
            </a:r>
            <a:endParaRPr kumimoji="1" lang="zh-TW" altLang="en-US" dirty="0"/>
          </a:p>
        </p:txBody>
      </p:sp>
      <p:sp>
        <p:nvSpPr>
          <p:cNvPr id="48" name="矩形 47">
            <a:extLst>
              <a:ext uri="{FF2B5EF4-FFF2-40B4-BE49-F238E27FC236}">
                <a16:creationId xmlns:a16="http://schemas.microsoft.com/office/drawing/2014/main" id="{1F78D389-6B4F-80D5-6A25-3A4564D9725B}"/>
              </a:ext>
            </a:extLst>
          </p:cNvPr>
          <p:cNvSpPr/>
          <p:nvPr/>
        </p:nvSpPr>
        <p:spPr>
          <a:xfrm>
            <a:off x="3171677" y="4777063"/>
            <a:ext cx="1537252" cy="848139"/>
          </a:xfrm>
          <a:prstGeom prst="rect">
            <a:avLst/>
          </a:prstGeom>
          <a:solidFill>
            <a:srgbClr val="9F83E1">
              <a:alpha val="14118"/>
            </a:srgbClr>
          </a:solidFill>
          <a:ln>
            <a:noFill/>
          </a:ln>
        </p:spPr>
        <p:style>
          <a:lnRef idx="1">
            <a:schemeClr val="accent4"/>
          </a:lnRef>
          <a:fillRef idx="2">
            <a:schemeClr val="accent4"/>
          </a:fillRef>
          <a:effectRef idx="1">
            <a:schemeClr val="accent4"/>
          </a:effectRef>
          <a:fontRef idx="minor">
            <a:schemeClr val="dk1"/>
          </a:fontRef>
        </p:style>
        <p:txBody>
          <a:bodyPr rtlCol="0" anchor="ctr"/>
          <a:lstStyle/>
          <a:p>
            <a:pPr algn="ctr"/>
            <a:r>
              <a:rPr kumimoji="1" lang="en-US" altLang="zh-TW" dirty="0"/>
              <a:t>Lid Status</a:t>
            </a:r>
            <a:endParaRPr kumimoji="1" lang="zh-TW" altLang="en-US" dirty="0"/>
          </a:p>
        </p:txBody>
      </p:sp>
      <p:sp>
        <p:nvSpPr>
          <p:cNvPr id="50" name="矩形 49">
            <a:extLst>
              <a:ext uri="{FF2B5EF4-FFF2-40B4-BE49-F238E27FC236}">
                <a16:creationId xmlns:a16="http://schemas.microsoft.com/office/drawing/2014/main" id="{E8E47BAF-CF96-9C29-93C9-166C9D9066BA}"/>
              </a:ext>
            </a:extLst>
          </p:cNvPr>
          <p:cNvSpPr/>
          <p:nvPr/>
        </p:nvSpPr>
        <p:spPr>
          <a:xfrm>
            <a:off x="5061296" y="4786147"/>
            <a:ext cx="1537252" cy="848139"/>
          </a:xfrm>
          <a:prstGeom prst="rect">
            <a:avLst/>
          </a:prstGeom>
          <a:solidFill>
            <a:srgbClr val="DE644B">
              <a:alpha val="30980"/>
            </a:srgbClr>
          </a:solidFill>
          <a:ln>
            <a:noFill/>
          </a:ln>
        </p:spPr>
        <p:style>
          <a:lnRef idx="1">
            <a:schemeClr val="accent4"/>
          </a:lnRef>
          <a:fillRef idx="2">
            <a:schemeClr val="accent4"/>
          </a:fillRef>
          <a:effectRef idx="1">
            <a:schemeClr val="accent4"/>
          </a:effectRef>
          <a:fontRef idx="minor">
            <a:schemeClr val="dk1"/>
          </a:fontRef>
        </p:style>
        <p:txBody>
          <a:bodyPr rtlCol="0" anchor="ctr"/>
          <a:lstStyle/>
          <a:p>
            <a:pPr algn="ctr"/>
            <a:r>
              <a:rPr kumimoji="1" lang="en-US" altLang="zh-TW" dirty="0"/>
              <a:t>Reset </a:t>
            </a:r>
            <a:endParaRPr kumimoji="1" lang="zh-TW" altLang="en-US" dirty="0"/>
          </a:p>
        </p:txBody>
      </p:sp>
      <p:cxnSp>
        <p:nvCxnSpPr>
          <p:cNvPr id="51" name="直線箭頭接點 50">
            <a:extLst>
              <a:ext uri="{FF2B5EF4-FFF2-40B4-BE49-F238E27FC236}">
                <a16:creationId xmlns:a16="http://schemas.microsoft.com/office/drawing/2014/main" id="{DE766A38-77AF-C7EF-BAAE-EBA5546D863B}"/>
              </a:ext>
            </a:extLst>
          </p:cNvPr>
          <p:cNvCxnSpPr>
            <a:cxnSpLocks/>
          </p:cNvCxnSpPr>
          <p:nvPr/>
        </p:nvCxnSpPr>
        <p:spPr>
          <a:xfrm>
            <a:off x="2836584" y="2168970"/>
            <a:ext cx="35780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3" name="直線箭頭接點 52">
            <a:extLst>
              <a:ext uri="{FF2B5EF4-FFF2-40B4-BE49-F238E27FC236}">
                <a16:creationId xmlns:a16="http://schemas.microsoft.com/office/drawing/2014/main" id="{BAB55C25-88BC-FC00-C2AD-9E95E783E3E6}"/>
              </a:ext>
            </a:extLst>
          </p:cNvPr>
          <p:cNvCxnSpPr>
            <a:cxnSpLocks/>
          </p:cNvCxnSpPr>
          <p:nvPr/>
        </p:nvCxnSpPr>
        <p:spPr>
          <a:xfrm>
            <a:off x="4703487" y="2190012"/>
            <a:ext cx="35780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4" name="直線箭頭接點 53">
            <a:extLst>
              <a:ext uri="{FF2B5EF4-FFF2-40B4-BE49-F238E27FC236}">
                <a16:creationId xmlns:a16="http://schemas.microsoft.com/office/drawing/2014/main" id="{08D276BB-83C3-7A5D-2263-E532A4A1EA63}"/>
              </a:ext>
            </a:extLst>
          </p:cNvPr>
          <p:cNvCxnSpPr>
            <a:cxnSpLocks/>
          </p:cNvCxnSpPr>
          <p:nvPr/>
        </p:nvCxnSpPr>
        <p:spPr>
          <a:xfrm>
            <a:off x="6598548" y="2193321"/>
            <a:ext cx="35780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5" name="直線箭頭接點 54">
            <a:extLst>
              <a:ext uri="{FF2B5EF4-FFF2-40B4-BE49-F238E27FC236}">
                <a16:creationId xmlns:a16="http://schemas.microsoft.com/office/drawing/2014/main" id="{E0E4D781-A456-D0F4-4603-795D11280994}"/>
              </a:ext>
            </a:extLst>
          </p:cNvPr>
          <p:cNvCxnSpPr>
            <a:cxnSpLocks/>
          </p:cNvCxnSpPr>
          <p:nvPr/>
        </p:nvCxnSpPr>
        <p:spPr>
          <a:xfrm flipH="1">
            <a:off x="2778609" y="3699500"/>
            <a:ext cx="38762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6" name="直線箭頭接點 55">
            <a:extLst>
              <a:ext uri="{FF2B5EF4-FFF2-40B4-BE49-F238E27FC236}">
                <a16:creationId xmlns:a16="http://schemas.microsoft.com/office/drawing/2014/main" id="{E31B6341-F95E-8768-EFB5-EB5BF4AAAD6B}"/>
              </a:ext>
            </a:extLst>
          </p:cNvPr>
          <p:cNvCxnSpPr>
            <a:cxnSpLocks/>
          </p:cNvCxnSpPr>
          <p:nvPr/>
        </p:nvCxnSpPr>
        <p:spPr>
          <a:xfrm flipH="1">
            <a:off x="8493135" y="3661169"/>
            <a:ext cx="38762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7" name="直線箭頭接點 56">
            <a:extLst>
              <a:ext uri="{FF2B5EF4-FFF2-40B4-BE49-F238E27FC236}">
                <a16:creationId xmlns:a16="http://schemas.microsoft.com/office/drawing/2014/main" id="{0498D55C-FED9-DF91-5A72-09E6A0233CF1}"/>
              </a:ext>
            </a:extLst>
          </p:cNvPr>
          <p:cNvCxnSpPr>
            <a:cxnSpLocks/>
          </p:cNvCxnSpPr>
          <p:nvPr/>
        </p:nvCxnSpPr>
        <p:spPr>
          <a:xfrm flipH="1">
            <a:off x="6604701" y="3661169"/>
            <a:ext cx="38762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8" name="直線箭頭接點 57">
            <a:extLst>
              <a:ext uri="{FF2B5EF4-FFF2-40B4-BE49-F238E27FC236}">
                <a16:creationId xmlns:a16="http://schemas.microsoft.com/office/drawing/2014/main" id="{3F60ECCF-7711-6A79-B3A0-2542FAA5BB2C}"/>
              </a:ext>
            </a:extLst>
          </p:cNvPr>
          <p:cNvCxnSpPr>
            <a:cxnSpLocks/>
          </p:cNvCxnSpPr>
          <p:nvPr/>
        </p:nvCxnSpPr>
        <p:spPr>
          <a:xfrm flipH="1">
            <a:off x="4679823" y="3678688"/>
            <a:ext cx="38762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0" name="直線箭頭接點 59">
            <a:extLst>
              <a:ext uri="{FF2B5EF4-FFF2-40B4-BE49-F238E27FC236}">
                <a16:creationId xmlns:a16="http://schemas.microsoft.com/office/drawing/2014/main" id="{0DEFFFBE-353A-1DFC-7468-B980E558E6C9}"/>
              </a:ext>
            </a:extLst>
          </p:cNvPr>
          <p:cNvCxnSpPr>
            <a:cxnSpLocks/>
          </p:cNvCxnSpPr>
          <p:nvPr/>
        </p:nvCxnSpPr>
        <p:spPr>
          <a:xfrm>
            <a:off x="2813868" y="5201132"/>
            <a:ext cx="35780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1" name="直線箭頭接點 60">
            <a:extLst>
              <a:ext uri="{FF2B5EF4-FFF2-40B4-BE49-F238E27FC236}">
                <a16:creationId xmlns:a16="http://schemas.microsoft.com/office/drawing/2014/main" id="{237EB2BE-2E33-F037-DFBD-8F811F57E174}"/>
              </a:ext>
            </a:extLst>
          </p:cNvPr>
          <p:cNvCxnSpPr>
            <a:cxnSpLocks/>
          </p:cNvCxnSpPr>
          <p:nvPr/>
        </p:nvCxnSpPr>
        <p:spPr>
          <a:xfrm>
            <a:off x="9665874" y="2601367"/>
            <a:ext cx="0" cy="62248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2" name="直線箭頭接點 61">
            <a:extLst>
              <a:ext uri="{FF2B5EF4-FFF2-40B4-BE49-F238E27FC236}">
                <a16:creationId xmlns:a16="http://schemas.microsoft.com/office/drawing/2014/main" id="{9E266679-781F-D3F8-28E6-E981E4905AF2}"/>
              </a:ext>
            </a:extLst>
          </p:cNvPr>
          <p:cNvCxnSpPr>
            <a:cxnSpLocks/>
          </p:cNvCxnSpPr>
          <p:nvPr/>
        </p:nvCxnSpPr>
        <p:spPr>
          <a:xfrm>
            <a:off x="2034167" y="4102766"/>
            <a:ext cx="0" cy="63422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3" name="矩形 62">
            <a:extLst>
              <a:ext uri="{FF2B5EF4-FFF2-40B4-BE49-F238E27FC236}">
                <a16:creationId xmlns:a16="http://schemas.microsoft.com/office/drawing/2014/main" id="{A2236ED7-0312-D316-70CD-2CA2734FD2F2}"/>
              </a:ext>
            </a:extLst>
          </p:cNvPr>
          <p:cNvSpPr/>
          <p:nvPr/>
        </p:nvSpPr>
        <p:spPr>
          <a:xfrm>
            <a:off x="1296021" y="1748209"/>
            <a:ext cx="1537252" cy="848139"/>
          </a:xfrm>
          <a:prstGeom prst="rect">
            <a:avLst/>
          </a:prstGeom>
          <a:solidFill>
            <a:srgbClr val="575F7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kumimoji="1" lang="en-US" altLang="zh-TW" dirty="0">
                <a:solidFill>
                  <a:schemeClr val="bg1"/>
                </a:solidFill>
              </a:rPr>
              <a:t>Scan SN</a:t>
            </a:r>
            <a:endParaRPr kumimoji="1" lang="zh-TW" altLang="en-US" dirty="0">
              <a:solidFill>
                <a:schemeClr val="bg1"/>
              </a:solidFill>
            </a:endParaRPr>
          </a:p>
        </p:txBody>
      </p:sp>
      <p:cxnSp>
        <p:nvCxnSpPr>
          <p:cNvPr id="66" name="直線箭頭接點 65">
            <a:extLst>
              <a:ext uri="{FF2B5EF4-FFF2-40B4-BE49-F238E27FC236}">
                <a16:creationId xmlns:a16="http://schemas.microsoft.com/office/drawing/2014/main" id="{555DBEA7-9388-B0F1-F048-3A5906EEAC9C}"/>
              </a:ext>
            </a:extLst>
          </p:cNvPr>
          <p:cNvCxnSpPr>
            <a:cxnSpLocks/>
          </p:cNvCxnSpPr>
          <p:nvPr/>
        </p:nvCxnSpPr>
        <p:spPr>
          <a:xfrm>
            <a:off x="4703487" y="5180322"/>
            <a:ext cx="35780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 name="直線箭頭接點 3">
            <a:extLst>
              <a:ext uri="{FF2B5EF4-FFF2-40B4-BE49-F238E27FC236}">
                <a16:creationId xmlns:a16="http://schemas.microsoft.com/office/drawing/2014/main" id="{D4533C03-4594-4568-6CB3-A5F653E2F5EA}"/>
              </a:ext>
            </a:extLst>
          </p:cNvPr>
          <p:cNvCxnSpPr>
            <a:cxnSpLocks/>
          </p:cNvCxnSpPr>
          <p:nvPr/>
        </p:nvCxnSpPr>
        <p:spPr>
          <a:xfrm>
            <a:off x="8482248" y="2193320"/>
            <a:ext cx="35780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347582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8A79BA-7506-7FC0-B25D-21DCA4E16144}"/>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71C7E583-FBD2-05A6-6C61-9BBCB64F2AF8}"/>
              </a:ext>
            </a:extLst>
          </p:cNvPr>
          <p:cNvSpPr>
            <a:spLocks noGrp="1"/>
          </p:cNvSpPr>
          <p:nvPr>
            <p:ph type="body" sz="quarter" idx="13"/>
          </p:nvPr>
        </p:nvSpPr>
        <p:spPr/>
        <p:txBody>
          <a:bodyPr/>
          <a:lstStyle/>
          <a:p>
            <a:r>
              <a:rPr lang="en-US" dirty="0"/>
              <a:t>Terminology  </a:t>
            </a:r>
          </a:p>
          <a:p>
            <a:endParaRPr lang="en-US" dirty="0"/>
          </a:p>
        </p:txBody>
      </p:sp>
      <p:sp>
        <p:nvSpPr>
          <p:cNvPr id="6" name="文字方塊 5">
            <a:extLst>
              <a:ext uri="{FF2B5EF4-FFF2-40B4-BE49-F238E27FC236}">
                <a16:creationId xmlns:a16="http://schemas.microsoft.com/office/drawing/2014/main" id="{EAAC5D8F-0009-FC68-873A-1E8B60EE8EB7}"/>
              </a:ext>
            </a:extLst>
          </p:cNvPr>
          <p:cNvSpPr txBox="1"/>
          <p:nvPr/>
        </p:nvSpPr>
        <p:spPr>
          <a:xfrm>
            <a:off x="571500" y="938449"/>
            <a:ext cx="8886825" cy="400110"/>
          </a:xfrm>
          <a:prstGeom prst="rect">
            <a:avLst/>
          </a:prstGeom>
          <a:noFill/>
        </p:spPr>
        <p:txBody>
          <a:bodyPr wrap="square">
            <a:spAutoFit/>
          </a:bodyPr>
          <a:lstStyle/>
          <a:p>
            <a:pPr lvl="0">
              <a:defRPr/>
            </a:pPr>
            <a:r>
              <a:rPr kumimoji="1" lang="en-US" altLang="zh-TW" sz="2000" b="1" dirty="0"/>
              <a:t>Case QT </a:t>
            </a:r>
            <a:r>
              <a:rPr kumimoji="1" lang="en-US" altLang="zh-TW" sz="2000" dirty="0"/>
              <a:t>- test flowchart</a:t>
            </a:r>
            <a:r>
              <a:rPr lang="zh-TW" altLang="en-US" sz="2000" b="1" kern="1200" dirty="0">
                <a:solidFill>
                  <a:schemeClr val="tx1"/>
                </a:solidFill>
                <a:effectLst/>
                <a:latin typeface="+mn-lt"/>
                <a:ea typeface="+mn-ea"/>
                <a:cs typeface="+mn-cs"/>
              </a:rPr>
              <a:t>：</a:t>
            </a:r>
            <a:endParaRPr lang="en-US" altLang="zh-TW" sz="2000" b="1" kern="1200" dirty="0">
              <a:solidFill>
                <a:schemeClr val="tx1"/>
              </a:solidFill>
              <a:effectLst/>
              <a:latin typeface="+mn-lt"/>
              <a:ea typeface="+mn-ea"/>
              <a:cs typeface="+mn-cs"/>
            </a:endParaRPr>
          </a:p>
        </p:txBody>
      </p:sp>
      <p:pic>
        <p:nvPicPr>
          <p:cNvPr id="68" name="圖片 67" descr="一張含有 圖表, 方案 的圖片&#10;&#10;AI 產生的內容可能不正確。">
            <a:extLst>
              <a:ext uri="{FF2B5EF4-FFF2-40B4-BE49-F238E27FC236}">
                <a16:creationId xmlns:a16="http://schemas.microsoft.com/office/drawing/2014/main" id="{AA9DCCA9-9EAB-28D8-B101-251B28C51192}"/>
              </a:ext>
            </a:extLst>
          </p:cNvPr>
          <p:cNvPicPr>
            <a:picLocks noChangeAspect="1"/>
          </p:cNvPicPr>
          <p:nvPr/>
        </p:nvPicPr>
        <p:blipFill>
          <a:blip r:embed="rId3"/>
          <a:srcRect l="-1" t="2151" r="175"/>
          <a:stretch>
            <a:fillRect/>
          </a:stretch>
        </p:blipFill>
        <p:spPr>
          <a:xfrm>
            <a:off x="852417" y="1527716"/>
            <a:ext cx="9663183" cy="4458325"/>
          </a:xfrm>
          <a:prstGeom prst="rect">
            <a:avLst/>
          </a:prstGeom>
        </p:spPr>
      </p:pic>
    </p:spTree>
    <p:extLst>
      <p:ext uri="{BB962C8B-B14F-4D97-AF65-F5344CB8AC3E}">
        <p14:creationId xmlns:p14="http://schemas.microsoft.com/office/powerpoint/2010/main" val="10768549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BE82DFA-FAEA-0585-7D81-68519A9FDF7B}"/>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BA80F2D0-E977-C8B1-47BE-E55EF0B708E1}"/>
              </a:ext>
            </a:extLst>
          </p:cNvPr>
          <p:cNvSpPr>
            <a:spLocks noGrp="1"/>
          </p:cNvSpPr>
          <p:nvPr>
            <p:ph type="body" sz="quarter" idx="13"/>
          </p:nvPr>
        </p:nvSpPr>
        <p:spPr/>
        <p:txBody>
          <a:bodyPr/>
          <a:lstStyle/>
          <a:p>
            <a:r>
              <a:rPr lang="en-US" dirty="0"/>
              <a:t>Terminology  </a:t>
            </a:r>
          </a:p>
          <a:p>
            <a:endParaRPr lang="en-US" dirty="0"/>
          </a:p>
        </p:txBody>
      </p:sp>
      <p:graphicFrame>
        <p:nvGraphicFramePr>
          <p:cNvPr id="5" name="Table 5">
            <a:extLst>
              <a:ext uri="{FF2B5EF4-FFF2-40B4-BE49-F238E27FC236}">
                <a16:creationId xmlns:a16="http://schemas.microsoft.com/office/drawing/2014/main" id="{021A9C7F-15CC-906E-DBB8-AB19B5B09AD4}"/>
              </a:ext>
            </a:extLst>
          </p:cNvPr>
          <p:cNvGraphicFramePr>
            <a:graphicFrameLocks noGrp="1"/>
          </p:cNvGraphicFramePr>
          <p:nvPr>
            <p:extLst>
              <p:ext uri="{D42A27DB-BD31-4B8C-83A1-F6EECF244321}">
                <p14:modId xmlns:p14="http://schemas.microsoft.com/office/powerpoint/2010/main" val="1621056874"/>
              </p:ext>
            </p:extLst>
          </p:nvPr>
        </p:nvGraphicFramePr>
        <p:xfrm>
          <a:off x="571501" y="938449"/>
          <a:ext cx="10751820" cy="5562600"/>
        </p:xfrm>
        <a:graphic>
          <a:graphicData uri="http://schemas.openxmlformats.org/drawingml/2006/table">
            <a:tbl>
              <a:tblPr firstRow="1" bandRow="1">
                <a:tableStyleId>{BDBED569-4797-4DF1-A0F4-6AAB3CD982D8}</a:tableStyleId>
              </a:tblPr>
              <a:tblGrid>
                <a:gridCol w="3806861">
                  <a:extLst>
                    <a:ext uri="{9D8B030D-6E8A-4147-A177-3AD203B41FA5}">
                      <a16:colId xmlns:a16="http://schemas.microsoft.com/office/drawing/2014/main" val="2272818449"/>
                    </a:ext>
                  </a:extLst>
                </a:gridCol>
                <a:gridCol w="6944959">
                  <a:extLst>
                    <a:ext uri="{9D8B030D-6E8A-4147-A177-3AD203B41FA5}">
                      <a16:colId xmlns:a16="http://schemas.microsoft.com/office/drawing/2014/main" val="3152362012"/>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600" b="1" kern="1200" dirty="0">
                          <a:solidFill>
                            <a:schemeClr val="tx1"/>
                          </a:solidFill>
                          <a:effectLst/>
                          <a:latin typeface="+mn-lt"/>
                          <a:ea typeface="+mn-ea"/>
                          <a:cs typeface="+mn-cs"/>
                        </a:rPr>
                        <a:t>Test Items</a:t>
                      </a:r>
                    </a:p>
                  </a:txBody>
                  <a:tcPr/>
                </a:tc>
                <a:tc>
                  <a:txBody>
                    <a:bodyPr/>
                    <a:lstStyle/>
                    <a:p>
                      <a:r>
                        <a:rPr lang="en-US" sz="1600" b="1" kern="1200" dirty="0">
                          <a:solidFill>
                            <a:schemeClr val="tx1"/>
                          </a:solidFill>
                          <a:effectLst/>
                          <a:latin typeface="+mn-lt"/>
                          <a:ea typeface="+mn-ea"/>
                          <a:cs typeface="+mn-cs"/>
                        </a:rPr>
                        <a:t>Description</a:t>
                      </a:r>
                    </a:p>
                  </a:txBody>
                  <a:tcPr/>
                </a:tc>
                <a:extLst>
                  <a:ext uri="{0D108BD9-81ED-4DB2-BD59-A6C34878D82A}">
                    <a16:rowId xmlns:a16="http://schemas.microsoft.com/office/drawing/2014/main" val="128163806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600" b="0" kern="1200" dirty="0">
                          <a:solidFill>
                            <a:schemeClr val="tx1"/>
                          </a:solidFill>
                          <a:effectLst/>
                          <a:latin typeface="+mn-lt"/>
                          <a:ea typeface="+mn-ea"/>
                          <a:cs typeface="+mn-cs"/>
                        </a:rPr>
                        <a:t>DCR</a:t>
                      </a:r>
                    </a:p>
                  </a:txBody>
                  <a:tcPr/>
                </a:tc>
                <a:tc>
                  <a:txBody>
                    <a:bodyPr/>
                    <a:lstStyle/>
                    <a:p>
                      <a:r>
                        <a:rPr lang="en" altLang="zh-TW" sz="1600" b="0" kern="1200" dirty="0">
                          <a:solidFill>
                            <a:schemeClr val="tx1"/>
                          </a:solidFill>
                          <a:effectLst/>
                          <a:latin typeface="+mn-lt"/>
                          <a:ea typeface="+mn-ea"/>
                          <a:cs typeface="+mn-cs"/>
                        </a:rPr>
                        <a:t>Measure GND DCR from Type-C to BUD_L/R_NEG</a:t>
                      </a:r>
                      <a:endParaRPr lang="en-US" sz="1600" b="0" kern="1200" dirty="0">
                        <a:solidFill>
                          <a:schemeClr val="tx1"/>
                        </a:solidFill>
                        <a:effectLst/>
                        <a:latin typeface="+mn-lt"/>
                        <a:ea typeface="+mn-ea"/>
                        <a:cs typeface="+mn-cs"/>
                      </a:endParaRPr>
                    </a:p>
                  </a:txBody>
                  <a:tcPr/>
                </a:tc>
                <a:extLst>
                  <a:ext uri="{0D108BD9-81ED-4DB2-BD59-A6C34878D82A}">
                    <a16:rowId xmlns:a16="http://schemas.microsoft.com/office/drawing/2014/main" val="376368070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600" b="0" kern="1200" dirty="0" err="1">
                          <a:solidFill>
                            <a:schemeClr val="tx1"/>
                          </a:solidFill>
                          <a:effectLst/>
                          <a:latin typeface="+mn-lt"/>
                          <a:ea typeface="+mn-ea"/>
                          <a:cs typeface="+mn-cs"/>
                        </a:rPr>
                        <a:t>DUTPowerON</a:t>
                      </a:r>
                      <a:endParaRPr lang="en-US" altLang="zh-TW" sz="1600" b="0" kern="1200" dirty="0">
                        <a:solidFill>
                          <a:schemeClr val="tx1"/>
                        </a:solidFill>
                        <a:effectLst/>
                        <a:latin typeface="+mn-lt"/>
                        <a:ea typeface="+mn-ea"/>
                        <a:cs typeface="+mn-cs"/>
                      </a:endParaRPr>
                    </a:p>
                  </a:txBody>
                  <a:tcPr/>
                </a:tc>
                <a:tc>
                  <a:txBody>
                    <a:bodyPr/>
                    <a:lstStyle/>
                    <a:p>
                      <a:r>
                        <a:rPr lang="en-US" altLang="zh-TW" sz="1600" b="0" kern="1200" dirty="0">
                          <a:solidFill>
                            <a:schemeClr val="tx1"/>
                          </a:solidFill>
                          <a:effectLst/>
                          <a:latin typeface="+mn-lt"/>
                          <a:ea typeface="+mn-ea"/>
                          <a:cs typeface="+mn-cs"/>
                        </a:rPr>
                        <a:t>Open DUT communication channel</a:t>
                      </a:r>
                      <a:endParaRPr lang="en-US" sz="1600" b="0" kern="1200" dirty="0">
                        <a:solidFill>
                          <a:schemeClr val="tx1"/>
                        </a:solidFill>
                        <a:effectLst/>
                        <a:latin typeface="+mn-lt"/>
                        <a:ea typeface="+mn-ea"/>
                        <a:cs typeface="+mn-cs"/>
                      </a:endParaRPr>
                    </a:p>
                  </a:txBody>
                  <a:tcPr/>
                </a:tc>
                <a:extLst>
                  <a:ext uri="{0D108BD9-81ED-4DB2-BD59-A6C34878D82A}">
                    <a16:rowId xmlns:a16="http://schemas.microsoft.com/office/drawing/2014/main" val="51467496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600" b="0" kern="1200" dirty="0" err="1">
                          <a:solidFill>
                            <a:schemeClr val="tx1"/>
                          </a:solidFill>
                          <a:effectLst/>
                          <a:latin typeface="+mn-lt"/>
                          <a:ea typeface="+mn-ea"/>
                          <a:cs typeface="+mn-cs"/>
                        </a:rPr>
                        <a:t>Bootmode</a:t>
                      </a:r>
                      <a:endParaRPr lang="en-US" altLang="zh-TW" sz="1600" b="0" kern="1200" dirty="0">
                        <a:solidFill>
                          <a:schemeClr val="tx1"/>
                        </a:solidFill>
                        <a:effectLst/>
                        <a:latin typeface="+mn-lt"/>
                        <a:ea typeface="+mn-ea"/>
                        <a:cs typeface="+mn-cs"/>
                      </a:endParaRPr>
                    </a:p>
                  </a:txBody>
                  <a:tcPr/>
                </a:tc>
                <a:tc>
                  <a:txBody>
                    <a:bodyPr/>
                    <a:lstStyle/>
                    <a:p>
                      <a:r>
                        <a:rPr lang="en-US" altLang="zh-TW" sz="1600" b="0" kern="1200" dirty="0">
                          <a:solidFill>
                            <a:schemeClr val="tx1"/>
                          </a:solidFill>
                          <a:effectLst/>
                          <a:latin typeface="+mn-lt"/>
                          <a:ea typeface="+mn-ea"/>
                          <a:cs typeface="+mn-cs"/>
                        </a:rPr>
                        <a:t>Set the </a:t>
                      </a:r>
                      <a:r>
                        <a:rPr lang="en-US" altLang="zh-TW" sz="1600" b="0" kern="1200" dirty="0" err="1">
                          <a:solidFill>
                            <a:schemeClr val="tx1"/>
                          </a:solidFill>
                          <a:effectLst/>
                          <a:latin typeface="+mn-lt"/>
                          <a:ea typeface="+mn-ea"/>
                          <a:cs typeface="+mn-cs"/>
                        </a:rPr>
                        <a:t>Bootmode</a:t>
                      </a:r>
                      <a:r>
                        <a:rPr lang="en-US" altLang="zh-TW" sz="1600" b="0" kern="1200" dirty="0">
                          <a:solidFill>
                            <a:schemeClr val="tx1"/>
                          </a:solidFill>
                          <a:effectLst/>
                          <a:latin typeface="+mn-lt"/>
                          <a:ea typeface="+mn-ea"/>
                          <a:cs typeface="+mn-cs"/>
                        </a:rPr>
                        <a:t> 2 to facilitate subsequent testing.</a:t>
                      </a:r>
                      <a:endParaRPr lang="en-US" sz="1600" b="0" kern="1200" dirty="0">
                        <a:solidFill>
                          <a:schemeClr val="tx1"/>
                        </a:solidFill>
                        <a:effectLst/>
                        <a:latin typeface="+mn-lt"/>
                        <a:ea typeface="+mn-ea"/>
                        <a:cs typeface="+mn-cs"/>
                      </a:endParaRPr>
                    </a:p>
                  </a:txBody>
                  <a:tcPr/>
                </a:tc>
                <a:extLst>
                  <a:ext uri="{0D108BD9-81ED-4DB2-BD59-A6C34878D82A}">
                    <a16:rowId xmlns:a16="http://schemas.microsoft.com/office/drawing/2014/main" val="178066437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600" b="0" kern="1200" dirty="0" err="1">
                          <a:solidFill>
                            <a:schemeClr val="tx1"/>
                          </a:solidFill>
                          <a:effectLst/>
                          <a:latin typeface="+mn-lt"/>
                          <a:ea typeface="+mn-ea"/>
                          <a:cs typeface="+mn-cs"/>
                        </a:rPr>
                        <a:t>PowerMux</a:t>
                      </a:r>
                      <a:endParaRPr lang="en-US" altLang="zh-TW" sz="1600" b="0" kern="1200" dirty="0">
                        <a:solidFill>
                          <a:schemeClr val="tx1"/>
                        </a:solidFill>
                        <a:effectLst/>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600" b="0" kern="1200" dirty="0">
                          <a:solidFill>
                            <a:schemeClr val="tx1"/>
                          </a:solidFill>
                          <a:effectLst/>
                          <a:latin typeface="+mn-lt"/>
                          <a:ea typeface="+mn-ea"/>
                          <a:cs typeface="+mn-cs"/>
                        </a:rPr>
                        <a:t>Read GPIO Data</a:t>
                      </a:r>
                    </a:p>
                  </a:txBody>
                  <a:tcPr/>
                </a:tc>
                <a:extLst>
                  <a:ext uri="{0D108BD9-81ED-4DB2-BD59-A6C34878D82A}">
                    <a16:rowId xmlns:a16="http://schemas.microsoft.com/office/drawing/2014/main" val="400560139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600" b="0" kern="1200" dirty="0" err="1">
                          <a:solidFill>
                            <a:schemeClr val="tx1"/>
                          </a:solidFill>
                          <a:effectLst/>
                          <a:latin typeface="+mn-lt"/>
                          <a:ea typeface="+mn-ea"/>
                          <a:cs typeface="+mn-cs"/>
                        </a:rPr>
                        <a:t>BatteryDisChargeStatus</a:t>
                      </a:r>
                      <a:endParaRPr lang="en-US" altLang="zh-TW" sz="1600" b="0" kern="1200" dirty="0">
                        <a:solidFill>
                          <a:schemeClr val="tx1"/>
                        </a:solidFill>
                        <a:effectLst/>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600" b="0" kern="1200" dirty="0">
                          <a:solidFill>
                            <a:schemeClr val="tx1"/>
                          </a:solidFill>
                          <a:effectLst/>
                          <a:latin typeface="+mn-lt"/>
                          <a:ea typeface="+mn-ea"/>
                          <a:cs typeface="+mn-cs"/>
                        </a:rPr>
                        <a:t>Verify voltage, current, SOC, and temp when the Case charger</a:t>
                      </a:r>
                      <a:r>
                        <a:rPr lang="zh-TW" altLang="en-US" sz="1600" b="0" kern="1200" dirty="0">
                          <a:solidFill>
                            <a:schemeClr val="tx1"/>
                          </a:solidFill>
                          <a:effectLst/>
                          <a:latin typeface="+mn-lt"/>
                          <a:ea typeface="+mn-ea"/>
                          <a:cs typeface="+mn-cs"/>
                        </a:rPr>
                        <a:t> </a:t>
                      </a:r>
                      <a:r>
                        <a:rPr lang="en-US" altLang="zh-TW" sz="1600" b="0" kern="1200" dirty="0">
                          <a:solidFill>
                            <a:schemeClr val="tx1"/>
                          </a:solidFill>
                          <a:effectLst/>
                          <a:latin typeface="+mn-lt"/>
                          <a:ea typeface="+mn-ea"/>
                          <a:cs typeface="+mn-cs"/>
                        </a:rPr>
                        <a:t>disable </a:t>
                      </a:r>
                    </a:p>
                  </a:txBody>
                  <a:tcPr/>
                </a:tc>
                <a:extLst>
                  <a:ext uri="{0D108BD9-81ED-4DB2-BD59-A6C34878D82A}">
                    <a16:rowId xmlns:a16="http://schemas.microsoft.com/office/drawing/2014/main" val="136141798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600" b="0" kern="1200" dirty="0" err="1">
                          <a:solidFill>
                            <a:schemeClr val="tx1"/>
                          </a:solidFill>
                          <a:effectLst/>
                          <a:latin typeface="+mn-lt"/>
                          <a:ea typeface="+mn-ea"/>
                          <a:cs typeface="+mn-cs"/>
                        </a:rPr>
                        <a:t>BatteryChargeStatus</a:t>
                      </a:r>
                      <a:endParaRPr lang="en-US" altLang="zh-TW" sz="1600" b="0" kern="1200" dirty="0">
                        <a:solidFill>
                          <a:schemeClr val="tx1"/>
                        </a:solidFill>
                        <a:effectLst/>
                        <a:latin typeface="+mn-lt"/>
                        <a:ea typeface="+mn-ea"/>
                        <a:cs typeface="+mn-cs"/>
                      </a:endParaRPr>
                    </a:p>
                  </a:txBody>
                  <a:tcPr/>
                </a:tc>
                <a:tc>
                  <a:txBody>
                    <a:bodyPr/>
                    <a:lstStyle/>
                    <a:p>
                      <a:r>
                        <a:rPr lang="en-US" altLang="zh-TW" sz="1600" b="0" kern="1200" dirty="0">
                          <a:solidFill>
                            <a:schemeClr val="tx1"/>
                          </a:solidFill>
                          <a:effectLst/>
                          <a:latin typeface="+mn-lt"/>
                          <a:ea typeface="+mn-ea"/>
                          <a:cs typeface="+mn-cs"/>
                        </a:rPr>
                        <a:t>Verify voltage, current, SOC, and temp when the Case charger</a:t>
                      </a:r>
                      <a:r>
                        <a:rPr lang="zh-TW" altLang="en-US" sz="1600" b="0" kern="1200" dirty="0">
                          <a:solidFill>
                            <a:schemeClr val="tx1"/>
                          </a:solidFill>
                          <a:effectLst/>
                          <a:latin typeface="+mn-lt"/>
                          <a:ea typeface="+mn-ea"/>
                          <a:cs typeface="+mn-cs"/>
                        </a:rPr>
                        <a:t> </a:t>
                      </a:r>
                      <a:r>
                        <a:rPr lang="en-US" altLang="zh-TW" sz="1600" b="0" kern="1200" dirty="0">
                          <a:solidFill>
                            <a:schemeClr val="tx1"/>
                          </a:solidFill>
                          <a:effectLst/>
                          <a:latin typeface="+mn-lt"/>
                          <a:ea typeface="+mn-ea"/>
                          <a:cs typeface="+mn-cs"/>
                        </a:rPr>
                        <a:t>enable </a:t>
                      </a:r>
                      <a:endParaRPr lang="en-US" sz="1600" b="0" kern="1200" dirty="0">
                        <a:solidFill>
                          <a:schemeClr val="tx1"/>
                        </a:solidFill>
                        <a:effectLst/>
                        <a:latin typeface="+mn-lt"/>
                        <a:ea typeface="+mn-ea"/>
                        <a:cs typeface="+mn-cs"/>
                      </a:endParaRPr>
                    </a:p>
                  </a:txBody>
                  <a:tcPr/>
                </a:tc>
                <a:extLst>
                  <a:ext uri="{0D108BD9-81ED-4DB2-BD59-A6C34878D82A}">
                    <a16:rowId xmlns:a16="http://schemas.microsoft.com/office/drawing/2014/main" val="2990298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600" b="0" kern="1200" dirty="0">
                          <a:solidFill>
                            <a:schemeClr val="tx1"/>
                          </a:solidFill>
                          <a:effectLst/>
                          <a:latin typeface="+mn-lt"/>
                          <a:ea typeface="+mn-ea"/>
                          <a:cs typeface="+mn-cs"/>
                        </a:rPr>
                        <a:t>Info</a:t>
                      </a:r>
                    </a:p>
                  </a:txBody>
                  <a:tcPr/>
                </a:tc>
                <a:tc>
                  <a:txBody>
                    <a:bodyPr/>
                    <a:lstStyle/>
                    <a:p>
                      <a:r>
                        <a:rPr lang="en-US" altLang="zh-TW" sz="1600" b="0" kern="1200" dirty="0">
                          <a:solidFill>
                            <a:schemeClr val="tx1"/>
                          </a:solidFill>
                          <a:effectLst/>
                          <a:latin typeface="+mn-lt"/>
                          <a:ea typeface="+mn-ea"/>
                          <a:cs typeface="+mn-cs"/>
                        </a:rPr>
                        <a:t>Check battery and </a:t>
                      </a:r>
                      <a:r>
                        <a:rPr lang="en-US" altLang="zh-TW" sz="1600" b="0" kern="1200" dirty="0" err="1">
                          <a:solidFill>
                            <a:schemeClr val="tx1"/>
                          </a:solidFill>
                          <a:effectLst/>
                          <a:latin typeface="+mn-lt"/>
                          <a:ea typeface="+mn-ea"/>
                          <a:cs typeface="+mn-cs"/>
                        </a:rPr>
                        <a:t>FuelGauge</a:t>
                      </a:r>
                      <a:r>
                        <a:rPr lang="en-US" altLang="zh-TW" sz="1600" b="0" kern="1200" dirty="0">
                          <a:solidFill>
                            <a:schemeClr val="tx1"/>
                          </a:solidFill>
                          <a:effectLst/>
                          <a:latin typeface="+mn-lt"/>
                          <a:ea typeface="+mn-ea"/>
                          <a:cs typeface="+mn-cs"/>
                        </a:rPr>
                        <a:t> calibration information</a:t>
                      </a:r>
                      <a:endParaRPr lang="en-US" sz="1600" b="0" kern="1200" dirty="0">
                        <a:solidFill>
                          <a:schemeClr val="tx1"/>
                        </a:solidFill>
                        <a:effectLst/>
                        <a:latin typeface="+mn-lt"/>
                        <a:ea typeface="+mn-ea"/>
                        <a:cs typeface="+mn-cs"/>
                      </a:endParaRPr>
                    </a:p>
                  </a:txBody>
                  <a:tcPr/>
                </a:tc>
                <a:extLst>
                  <a:ext uri="{0D108BD9-81ED-4DB2-BD59-A6C34878D82A}">
                    <a16:rowId xmlns:a16="http://schemas.microsoft.com/office/drawing/2014/main" val="70796894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600" b="0" kern="1200" dirty="0">
                          <a:solidFill>
                            <a:schemeClr val="tx1"/>
                          </a:solidFill>
                          <a:effectLst/>
                          <a:latin typeface="+mn-lt"/>
                          <a:ea typeface="+mn-ea"/>
                          <a:cs typeface="+mn-cs"/>
                        </a:rPr>
                        <a:t>Brightness</a:t>
                      </a:r>
                    </a:p>
                  </a:txBody>
                  <a:tcPr/>
                </a:tc>
                <a:tc>
                  <a:txBody>
                    <a:bodyPr/>
                    <a:lstStyle/>
                    <a:p>
                      <a:r>
                        <a:rPr lang="en-US" altLang="zh-TW" sz="1600" b="0" kern="1200" dirty="0">
                          <a:solidFill>
                            <a:schemeClr val="tx1"/>
                          </a:solidFill>
                          <a:effectLst/>
                          <a:latin typeface="+mn-lt"/>
                          <a:ea typeface="+mn-ea"/>
                          <a:cs typeface="+mn-cs"/>
                        </a:rPr>
                        <a:t>Measure the Case LED parameters under red and white light conditions</a:t>
                      </a:r>
                      <a:endParaRPr lang="en-US" sz="1600" b="0" kern="1200" dirty="0">
                        <a:solidFill>
                          <a:schemeClr val="tx1"/>
                        </a:solidFill>
                        <a:effectLst/>
                        <a:latin typeface="+mn-lt"/>
                        <a:ea typeface="+mn-ea"/>
                        <a:cs typeface="+mn-cs"/>
                      </a:endParaRPr>
                    </a:p>
                  </a:txBody>
                  <a:tcPr/>
                </a:tc>
                <a:extLst>
                  <a:ext uri="{0D108BD9-81ED-4DB2-BD59-A6C34878D82A}">
                    <a16:rowId xmlns:a16="http://schemas.microsoft.com/office/drawing/2014/main" val="253779576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600" b="0" kern="1200" dirty="0" err="1">
                          <a:solidFill>
                            <a:schemeClr val="tx1"/>
                          </a:solidFill>
                          <a:effectLst/>
                          <a:latin typeface="+mn-lt"/>
                          <a:ea typeface="+mn-ea"/>
                          <a:cs typeface="+mn-cs"/>
                        </a:rPr>
                        <a:t>GPIOCheck_Button</a:t>
                      </a:r>
                      <a:r>
                        <a:rPr lang="en-US" altLang="zh-TW" sz="1600" b="0" kern="1200" dirty="0">
                          <a:solidFill>
                            <a:schemeClr val="tx1"/>
                          </a:solidFill>
                          <a:effectLst/>
                          <a:latin typeface="+mn-lt"/>
                          <a:ea typeface="+mn-ea"/>
                          <a:cs typeface="+mn-cs"/>
                        </a:rPr>
                        <a:t>_(Status)</a:t>
                      </a:r>
                    </a:p>
                  </a:txBody>
                  <a:tcPr/>
                </a:tc>
                <a:tc>
                  <a:txBody>
                    <a:bodyPr/>
                    <a:lstStyle/>
                    <a:p>
                      <a:r>
                        <a:rPr lang="en-US" altLang="zh-TW" sz="1600" b="0" kern="1200" dirty="0">
                          <a:solidFill>
                            <a:schemeClr val="tx1"/>
                          </a:solidFill>
                          <a:effectLst/>
                          <a:latin typeface="+mn-lt"/>
                          <a:ea typeface="+mn-ea"/>
                          <a:cs typeface="+mn-cs"/>
                        </a:rPr>
                        <a:t>Verify the </a:t>
                      </a:r>
                      <a:r>
                        <a:rPr lang="en-US" altLang="zh-TW" sz="1600" b="0" kern="1200" dirty="0" err="1">
                          <a:solidFill>
                            <a:schemeClr val="tx1"/>
                          </a:solidFill>
                          <a:effectLst/>
                          <a:latin typeface="+mn-lt"/>
                          <a:ea typeface="+mn-ea"/>
                          <a:cs typeface="+mn-cs"/>
                        </a:rPr>
                        <a:t>ststus</a:t>
                      </a:r>
                      <a:r>
                        <a:rPr lang="en-US" altLang="zh-TW" sz="1600" b="0" kern="1200" dirty="0">
                          <a:solidFill>
                            <a:schemeClr val="tx1"/>
                          </a:solidFill>
                          <a:effectLst/>
                          <a:latin typeface="+mn-lt"/>
                          <a:ea typeface="+mn-ea"/>
                          <a:cs typeface="+mn-cs"/>
                        </a:rPr>
                        <a:t> of the button under the state of pressing and releasing</a:t>
                      </a:r>
                      <a:endParaRPr lang="en-US" sz="1600" b="0" kern="1200" dirty="0">
                        <a:solidFill>
                          <a:schemeClr val="tx1"/>
                        </a:solidFill>
                        <a:effectLst/>
                        <a:latin typeface="+mn-lt"/>
                        <a:ea typeface="+mn-ea"/>
                        <a:cs typeface="+mn-cs"/>
                      </a:endParaRPr>
                    </a:p>
                  </a:txBody>
                  <a:tcPr/>
                </a:tc>
                <a:extLst>
                  <a:ext uri="{0D108BD9-81ED-4DB2-BD59-A6C34878D82A}">
                    <a16:rowId xmlns:a16="http://schemas.microsoft.com/office/drawing/2014/main" val="355206756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600" b="0" kern="1200" dirty="0">
                          <a:solidFill>
                            <a:schemeClr val="tx1"/>
                          </a:solidFill>
                          <a:effectLst/>
                          <a:latin typeface="+mn-lt"/>
                          <a:ea typeface="+mn-ea"/>
                          <a:cs typeface="+mn-cs"/>
                        </a:rPr>
                        <a:t>OVP</a:t>
                      </a:r>
                    </a:p>
                  </a:txBody>
                  <a:tcPr/>
                </a:tc>
                <a:tc>
                  <a:txBody>
                    <a:bodyPr/>
                    <a:lstStyle/>
                    <a:p>
                      <a:r>
                        <a:rPr lang="en-US" altLang="zh-TW" sz="1600" b="0" kern="1200" dirty="0">
                          <a:solidFill>
                            <a:schemeClr val="tx1"/>
                          </a:solidFill>
                          <a:effectLst/>
                          <a:latin typeface="+mn-lt"/>
                          <a:ea typeface="+mn-ea"/>
                          <a:cs typeface="+mn-cs"/>
                        </a:rPr>
                        <a:t>Verify that the VBUS voltage is normal when OVP is disabled</a:t>
                      </a:r>
                      <a:endParaRPr lang="en-US" sz="1600" b="0" kern="1200" dirty="0">
                        <a:solidFill>
                          <a:schemeClr val="tx1"/>
                        </a:solidFill>
                        <a:effectLst/>
                        <a:latin typeface="+mn-lt"/>
                        <a:ea typeface="+mn-ea"/>
                        <a:cs typeface="+mn-cs"/>
                      </a:endParaRPr>
                    </a:p>
                  </a:txBody>
                  <a:tcPr/>
                </a:tc>
                <a:extLst>
                  <a:ext uri="{0D108BD9-81ED-4DB2-BD59-A6C34878D82A}">
                    <a16:rowId xmlns:a16="http://schemas.microsoft.com/office/drawing/2014/main" val="160351876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600" b="0" kern="1200" dirty="0">
                          <a:solidFill>
                            <a:schemeClr val="tx1"/>
                          </a:solidFill>
                          <a:effectLst/>
                          <a:latin typeface="+mn-lt"/>
                          <a:ea typeface="+mn-ea"/>
                          <a:cs typeface="+mn-cs"/>
                        </a:rPr>
                        <a:t>Transition</a:t>
                      </a:r>
                    </a:p>
                  </a:txBody>
                  <a:tcPr/>
                </a:tc>
                <a:tc>
                  <a:txBody>
                    <a:bodyPr/>
                    <a:lstStyle/>
                    <a:p>
                      <a:r>
                        <a:rPr lang="en-US" altLang="zh-TW" sz="1600" b="0" kern="1200" dirty="0">
                          <a:solidFill>
                            <a:schemeClr val="tx1"/>
                          </a:solidFill>
                          <a:effectLst/>
                          <a:latin typeface="+mn-lt"/>
                          <a:ea typeface="+mn-ea"/>
                          <a:cs typeface="+mn-cs"/>
                        </a:rPr>
                        <a:t>Test Case ship mode Enter &amp; Exit</a:t>
                      </a:r>
                      <a:endParaRPr lang="en-US" sz="1600" b="0" kern="1200" dirty="0">
                        <a:solidFill>
                          <a:schemeClr val="tx1"/>
                        </a:solidFill>
                        <a:effectLst/>
                        <a:latin typeface="+mn-lt"/>
                        <a:ea typeface="+mn-ea"/>
                        <a:cs typeface="+mn-cs"/>
                      </a:endParaRPr>
                    </a:p>
                  </a:txBody>
                  <a:tcPr/>
                </a:tc>
                <a:extLst>
                  <a:ext uri="{0D108BD9-81ED-4DB2-BD59-A6C34878D82A}">
                    <a16:rowId xmlns:a16="http://schemas.microsoft.com/office/drawing/2014/main" val="286384278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600" b="0" kern="1200" dirty="0">
                          <a:solidFill>
                            <a:schemeClr val="tx1"/>
                          </a:solidFill>
                          <a:effectLst/>
                          <a:latin typeface="+mn-lt"/>
                          <a:ea typeface="+mn-ea"/>
                          <a:cs typeface="+mn-cs"/>
                        </a:rPr>
                        <a:t>Constant</a:t>
                      </a:r>
                    </a:p>
                  </a:txBody>
                  <a:tcPr/>
                </a:tc>
                <a:tc>
                  <a:txBody>
                    <a:bodyPr/>
                    <a:lstStyle/>
                    <a:p>
                      <a:r>
                        <a:rPr lang="en-US" altLang="zh-TW" sz="1600" b="0" kern="1200" dirty="0">
                          <a:solidFill>
                            <a:schemeClr val="tx1"/>
                          </a:solidFill>
                          <a:effectLst/>
                          <a:latin typeface="+mn-lt"/>
                          <a:ea typeface="+mn-ea"/>
                          <a:cs typeface="+mn-cs"/>
                        </a:rPr>
                        <a:t>Measure the output voltage &amp; current at the L/R POS under load conditions</a:t>
                      </a:r>
                      <a:endParaRPr lang="en-US" sz="1600" b="0" kern="1200" dirty="0">
                        <a:solidFill>
                          <a:schemeClr val="tx1"/>
                        </a:solidFill>
                        <a:effectLst/>
                        <a:latin typeface="+mn-lt"/>
                        <a:ea typeface="+mn-ea"/>
                        <a:cs typeface="+mn-cs"/>
                      </a:endParaRPr>
                    </a:p>
                  </a:txBody>
                  <a:tcPr/>
                </a:tc>
                <a:extLst>
                  <a:ext uri="{0D108BD9-81ED-4DB2-BD59-A6C34878D82A}">
                    <a16:rowId xmlns:a16="http://schemas.microsoft.com/office/drawing/2014/main" val="227087902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600" b="0" kern="1200" dirty="0" err="1">
                          <a:solidFill>
                            <a:schemeClr val="tx1"/>
                          </a:solidFill>
                          <a:effectLst/>
                          <a:latin typeface="+mn-lt"/>
                          <a:ea typeface="+mn-ea"/>
                          <a:cs typeface="+mn-cs"/>
                        </a:rPr>
                        <a:t>ConnectivityTest_BuddyLink</a:t>
                      </a:r>
                      <a:r>
                        <a:rPr lang="en-US" altLang="zh-TW" sz="1600" b="0" kern="1200" dirty="0">
                          <a:solidFill>
                            <a:schemeClr val="tx1"/>
                          </a:solidFill>
                          <a:effectLst/>
                          <a:latin typeface="+mn-lt"/>
                          <a:ea typeface="+mn-ea"/>
                          <a:cs typeface="+mn-cs"/>
                        </a:rPr>
                        <a:t>(Right/Left)</a:t>
                      </a:r>
                    </a:p>
                  </a:txBody>
                  <a:tcPr/>
                </a:tc>
                <a:tc>
                  <a:txBody>
                    <a:bodyPr/>
                    <a:lstStyle/>
                    <a:p>
                      <a:r>
                        <a:rPr lang="en-US" altLang="zh-TW" sz="1600" b="0" kern="1200" dirty="0">
                          <a:solidFill>
                            <a:schemeClr val="tx1"/>
                          </a:solidFill>
                          <a:effectLst/>
                          <a:latin typeface="+mn-lt"/>
                          <a:ea typeface="+mn-ea"/>
                          <a:cs typeface="+mn-cs"/>
                        </a:rPr>
                        <a:t>Check the communication function between Case and bud</a:t>
                      </a:r>
                      <a:endParaRPr lang="en-US" sz="1600" b="0" kern="1200" dirty="0">
                        <a:solidFill>
                          <a:schemeClr val="tx1"/>
                        </a:solidFill>
                        <a:effectLst/>
                        <a:latin typeface="+mn-lt"/>
                        <a:ea typeface="+mn-ea"/>
                        <a:cs typeface="+mn-cs"/>
                      </a:endParaRPr>
                    </a:p>
                  </a:txBody>
                  <a:tcPr/>
                </a:tc>
                <a:extLst>
                  <a:ext uri="{0D108BD9-81ED-4DB2-BD59-A6C34878D82A}">
                    <a16:rowId xmlns:a16="http://schemas.microsoft.com/office/drawing/2014/main" val="332539585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600" b="0" kern="1200" dirty="0" err="1">
                          <a:solidFill>
                            <a:schemeClr val="tx1"/>
                          </a:solidFill>
                          <a:effectLst/>
                          <a:latin typeface="+mn-lt"/>
                          <a:ea typeface="+mn-ea"/>
                          <a:cs typeface="+mn-cs"/>
                        </a:rPr>
                        <a:t>LidStatusCheck</a:t>
                      </a:r>
                      <a:endParaRPr lang="en-US" altLang="zh-TW" sz="1600" b="0" kern="1200" dirty="0">
                        <a:solidFill>
                          <a:schemeClr val="tx1"/>
                        </a:solidFill>
                        <a:effectLst/>
                        <a:latin typeface="+mn-lt"/>
                        <a:ea typeface="+mn-ea"/>
                        <a:cs typeface="+mn-cs"/>
                      </a:endParaRPr>
                    </a:p>
                  </a:txBody>
                  <a:tcPr/>
                </a:tc>
                <a:tc>
                  <a:txBody>
                    <a:bodyPr/>
                    <a:lstStyle/>
                    <a:p>
                      <a:r>
                        <a:rPr lang="en-US" altLang="zh-TW" sz="1600" b="0" kern="1200" dirty="0">
                          <a:solidFill>
                            <a:schemeClr val="tx1"/>
                          </a:solidFill>
                          <a:effectLst/>
                          <a:latin typeface="+mn-lt"/>
                          <a:ea typeface="+mn-ea"/>
                          <a:cs typeface="+mn-cs"/>
                        </a:rPr>
                        <a:t>Check Case lid status</a:t>
                      </a:r>
                      <a:endParaRPr lang="en-US" sz="1600" b="0" kern="1200" dirty="0">
                        <a:solidFill>
                          <a:schemeClr val="tx1"/>
                        </a:solidFill>
                        <a:effectLst/>
                        <a:latin typeface="+mn-lt"/>
                        <a:ea typeface="+mn-ea"/>
                        <a:cs typeface="+mn-cs"/>
                      </a:endParaRPr>
                    </a:p>
                  </a:txBody>
                  <a:tcPr/>
                </a:tc>
                <a:extLst>
                  <a:ext uri="{0D108BD9-81ED-4DB2-BD59-A6C34878D82A}">
                    <a16:rowId xmlns:a16="http://schemas.microsoft.com/office/drawing/2014/main" val="1564306656"/>
                  </a:ext>
                </a:extLst>
              </a:tr>
            </a:tbl>
          </a:graphicData>
        </a:graphic>
      </p:graphicFrame>
    </p:spTree>
    <p:extLst>
      <p:ext uri="{BB962C8B-B14F-4D97-AF65-F5344CB8AC3E}">
        <p14:creationId xmlns:p14="http://schemas.microsoft.com/office/powerpoint/2010/main" val="34461792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A7DE19-67A0-418A-430D-4EA1FDA26F91}"/>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656C110A-6797-14F2-73F4-2BA8EC3D17C7}"/>
              </a:ext>
            </a:extLst>
          </p:cNvPr>
          <p:cNvSpPr>
            <a:spLocks noGrp="1"/>
          </p:cNvSpPr>
          <p:nvPr>
            <p:ph type="body" sz="quarter" idx="13"/>
          </p:nvPr>
        </p:nvSpPr>
        <p:spPr/>
        <p:txBody>
          <a:bodyPr/>
          <a:lstStyle/>
          <a:p>
            <a:r>
              <a:rPr lang="en-US" dirty="0"/>
              <a:t>Terminology  </a:t>
            </a:r>
          </a:p>
          <a:p>
            <a:endParaRPr lang="en-US" dirty="0"/>
          </a:p>
        </p:txBody>
      </p:sp>
      <p:graphicFrame>
        <p:nvGraphicFramePr>
          <p:cNvPr id="5" name="Table 5">
            <a:extLst>
              <a:ext uri="{FF2B5EF4-FFF2-40B4-BE49-F238E27FC236}">
                <a16:creationId xmlns:a16="http://schemas.microsoft.com/office/drawing/2014/main" id="{BBB7FFAF-5B5F-3809-7D04-2BFAFCFFB3A8}"/>
              </a:ext>
            </a:extLst>
          </p:cNvPr>
          <p:cNvGraphicFramePr>
            <a:graphicFrameLocks noGrp="1"/>
          </p:cNvGraphicFramePr>
          <p:nvPr>
            <p:extLst>
              <p:ext uri="{D42A27DB-BD31-4B8C-83A1-F6EECF244321}">
                <p14:modId xmlns:p14="http://schemas.microsoft.com/office/powerpoint/2010/main" val="3588603099"/>
              </p:ext>
            </p:extLst>
          </p:nvPr>
        </p:nvGraphicFramePr>
        <p:xfrm>
          <a:off x="571501" y="1094739"/>
          <a:ext cx="10765181" cy="5191760"/>
        </p:xfrm>
        <a:graphic>
          <a:graphicData uri="http://schemas.openxmlformats.org/drawingml/2006/table">
            <a:tbl>
              <a:tblPr firstRow="1" bandRow="1">
                <a:tableStyleId>{BDBED569-4797-4DF1-A0F4-6AAB3CD982D8}</a:tableStyleId>
              </a:tblPr>
              <a:tblGrid>
                <a:gridCol w="3820222">
                  <a:extLst>
                    <a:ext uri="{9D8B030D-6E8A-4147-A177-3AD203B41FA5}">
                      <a16:colId xmlns:a16="http://schemas.microsoft.com/office/drawing/2014/main" val="2272818449"/>
                    </a:ext>
                  </a:extLst>
                </a:gridCol>
                <a:gridCol w="6944959">
                  <a:extLst>
                    <a:ext uri="{9D8B030D-6E8A-4147-A177-3AD203B41FA5}">
                      <a16:colId xmlns:a16="http://schemas.microsoft.com/office/drawing/2014/main" val="3152362012"/>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600" b="1" kern="1200" dirty="0">
                          <a:solidFill>
                            <a:schemeClr val="tx1"/>
                          </a:solidFill>
                          <a:effectLst/>
                          <a:latin typeface="+mn-lt"/>
                          <a:ea typeface="+mn-ea"/>
                          <a:cs typeface="+mn-cs"/>
                        </a:rPr>
                        <a:t>Test Items</a:t>
                      </a:r>
                    </a:p>
                  </a:txBody>
                  <a:tcPr/>
                </a:tc>
                <a:tc>
                  <a:txBody>
                    <a:bodyPr/>
                    <a:lstStyle/>
                    <a:p>
                      <a:r>
                        <a:rPr lang="en-US" sz="1600" b="1" kern="1200" dirty="0">
                          <a:solidFill>
                            <a:schemeClr val="tx1"/>
                          </a:solidFill>
                          <a:effectLst/>
                          <a:latin typeface="+mn-lt"/>
                          <a:ea typeface="+mn-ea"/>
                          <a:cs typeface="+mn-cs"/>
                        </a:rPr>
                        <a:t>Description</a:t>
                      </a:r>
                    </a:p>
                  </a:txBody>
                  <a:tcPr/>
                </a:tc>
                <a:extLst>
                  <a:ext uri="{0D108BD9-81ED-4DB2-BD59-A6C34878D82A}">
                    <a16:rowId xmlns:a16="http://schemas.microsoft.com/office/drawing/2014/main" val="128163806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b="0" kern="1200" dirty="0" err="1">
                          <a:solidFill>
                            <a:schemeClr val="tx1"/>
                          </a:solidFill>
                          <a:effectLst/>
                          <a:latin typeface="+mn-lt"/>
                          <a:ea typeface="+mn-ea"/>
                          <a:cs typeface="+mn-cs"/>
                        </a:rPr>
                        <a:t>scan_sn</a:t>
                      </a:r>
                      <a:endParaRPr lang="en-US" altLang="zh-TW" sz="1800" b="0" kern="1200" dirty="0">
                        <a:solidFill>
                          <a:schemeClr val="tx1"/>
                        </a:solidFill>
                        <a:effectLst/>
                        <a:latin typeface="+mn-lt"/>
                        <a:ea typeface="+mn-ea"/>
                        <a:cs typeface="+mn-cs"/>
                      </a:endParaRPr>
                    </a:p>
                  </a:txBody>
                  <a:tcPr/>
                </a:tc>
                <a:tc>
                  <a:txBody>
                    <a:bodyPr/>
                    <a:lstStyle/>
                    <a:p>
                      <a:pPr marL="0" algn="l" defTabSz="914400" rtl="0" eaLnBrk="1" latinLnBrk="0" hangingPunct="1"/>
                      <a:r>
                        <a:rPr lang="en-US" altLang="zh-TW" sz="1600" b="0" kern="1200" dirty="0">
                          <a:solidFill>
                            <a:schemeClr val="tx1"/>
                          </a:solidFill>
                          <a:effectLst/>
                          <a:latin typeface="+mn-lt"/>
                          <a:ea typeface="+mn-ea"/>
                          <a:cs typeface="+mn-cs"/>
                        </a:rPr>
                        <a:t>Read and verify the SN</a:t>
                      </a:r>
                      <a:endParaRPr lang="en-US" sz="1600" b="0" kern="1200" dirty="0">
                        <a:solidFill>
                          <a:schemeClr val="tx1"/>
                        </a:solidFill>
                        <a:effectLst/>
                        <a:latin typeface="+mn-lt"/>
                        <a:ea typeface="+mn-ea"/>
                        <a:cs typeface="+mn-cs"/>
                      </a:endParaRPr>
                    </a:p>
                  </a:txBody>
                  <a:tcPr/>
                </a:tc>
                <a:extLst>
                  <a:ext uri="{0D108BD9-81ED-4DB2-BD59-A6C34878D82A}">
                    <a16:rowId xmlns:a16="http://schemas.microsoft.com/office/drawing/2014/main" val="376368070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b="0" kern="1200" dirty="0" err="1">
                          <a:solidFill>
                            <a:schemeClr val="tx1"/>
                          </a:solidFill>
                          <a:effectLst/>
                          <a:latin typeface="+mn-lt"/>
                          <a:ea typeface="+mn-ea"/>
                          <a:cs typeface="+mn-cs"/>
                        </a:rPr>
                        <a:t>CloseDoor</a:t>
                      </a:r>
                      <a:endParaRPr lang="en-US" altLang="zh-TW" sz="1800" b="0" kern="1200" dirty="0">
                        <a:solidFill>
                          <a:schemeClr val="tx1"/>
                        </a:solidFill>
                        <a:effectLst/>
                        <a:latin typeface="+mn-lt"/>
                        <a:ea typeface="+mn-ea"/>
                        <a:cs typeface="+mn-cs"/>
                      </a:endParaRPr>
                    </a:p>
                  </a:txBody>
                  <a:tcPr/>
                </a:tc>
                <a:tc>
                  <a:txBody>
                    <a:bodyPr/>
                    <a:lstStyle/>
                    <a:p>
                      <a:pPr marL="0" algn="l" defTabSz="914400" rtl="0" eaLnBrk="1" latinLnBrk="0" hangingPunct="1"/>
                      <a:r>
                        <a:rPr lang="en-US" altLang="zh-TW" sz="1600" b="0" kern="1200" dirty="0">
                          <a:solidFill>
                            <a:schemeClr val="tx1"/>
                          </a:solidFill>
                          <a:effectLst/>
                          <a:latin typeface="+mn-lt"/>
                          <a:ea typeface="+mn-ea"/>
                          <a:cs typeface="+mn-cs"/>
                        </a:rPr>
                        <a:t>Close the fixture door</a:t>
                      </a:r>
                      <a:endParaRPr lang="en-US" sz="1600" b="0" kern="1200" dirty="0">
                        <a:solidFill>
                          <a:schemeClr val="tx1"/>
                        </a:solidFill>
                        <a:effectLst/>
                        <a:latin typeface="+mn-lt"/>
                        <a:ea typeface="+mn-ea"/>
                        <a:cs typeface="+mn-cs"/>
                      </a:endParaRPr>
                    </a:p>
                  </a:txBody>
                  <a:tcPr/>
                </a:tc>
                <a:extLst>
                  <a:ext uri="{0D108BD9-81ED-4DB2-BD59-A6C34878D82A}">
                    <a16:rowId xmlns:a16="http://schemas.microsoft.com/office/drawing/2014/main" val="51467496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b="0" kern="1200" dirty="0" err="1">
                          <a:solidFill>
                            <a:schemeClr val="tx1"/>
                          </a:solidFill>
                          <a:effectLst/>
                          <a:latin typeface="+mn-lt"/>
                          <a:ea typeface="+mn-ea"/>
                          <a:cs typeface="+mn-cs"/>
                        </a:rPr>
                        <a:t>DeviceReset</a:t>
                      </a:r>
                      <a:endParaRPr lang="en-US" altLang="zh-TW" sz="1800" b="0" kern="1200" dirty="0">
                        <a:solidFill>
                          <a:schemeClr val="tx1"/>
                        </a:solidFill>
                        <a:effectLst/>
                        <a:latin typeface="+mn-lt"/>
                        <a:ea typeface="+mn-ea"/>
                        <a:cs typeface="+mn-cs"/>
                      </a:endParaRPr>
                    </a:p>
                  </a:txBody>
                  <a:tcPr/>
                </a:tc>
                <a:tc>
                  <a:txBody>
                    <a:bodyPr/>
                    <a:lstStyle/>
                    <a:p>
                      <a:pPr marL="0" algn="l" defTabSz="914400" rtl="0" eaLnBrk="1" latinLnBrk="0" hangingPunct="1"/>
                      <a:r>
                        <a:rPr lang="en-US" altLang="zh-TW" sz="1600" b="0" kern="1200" dirty="0">
                          <a:solidFill>
                            <a:schemeClr val="tx1"/>
                          </a:solidFill>
                          <a:effectLst/>
                          <a:latin typeface="+mn-lt"/>
                          <a:ea typeface="+mn-ea"/>
                          <a:cs typeface="+mn-cs"/>
                        </a:rPr>
                        <a:t>Reset the dummy board and Type-C board</a:t>
                      </a:r>
                      <a:endParaRPr lang="en-US" sz="1600" b="0" kern="1200" dirty="0">
                        <a:solidFill>
                          <a:schemeClr val="tx1"/>
                        </a:solidFill>
                        <a:effectLst/>
                        <a:latin typeface="+mn-lt"/>
                        <a:ea typeface="+mn-ea"/>
                        <a:cs typeface="+mn-cs"/>
                      </a:endParaRPr>
                    </a:p>
                  </a:txBody>
                  <a:tcPr/>
                </a:tc>
                <a:extLst>
                  <a:ext uri="{0D108BD9-81ED-4DB2-BD59-A6C34878D82A}">
                    <a16:rowId xmlns:a16="http://schemas.microsoft.com/office/drawing/2014/main" val="178066437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b="0" kern="1200" dirty="0" err="1">
                          <a:solidFill>
                            <a:schemeClr val="tx1"/>
                          </a:solidFill>
                          <a:effectLst/>
                          <a:latin typeface="+mn-lt"/>
                          <a:ea typeface="+mn-ea"/>
                          <a:cs typeface="+mn-cs"/>
                        </a:rPr>
                        <a:t>TypeC_In</a:t>
                      </a:r>
                      <a:endParaRPr lang="en-US" altLang="zh-TW" sz="1800" b="0" kern="1200" dirty="0">
                        <a:solidFill>
                          <a:schemeClr val="tx1"/>
                        </a:solidFill>
                        <a:effectLst/>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600" b="0" kern="1200" dirty="0">
                          <a:solidFill>
                            <a:schemeClr val="tx1"/>
                          </a:solidFill>
                          <a:effectLst/>
                          <a:latin typeface="+mn-lt"/>
                          <a:ea typeface="+mn-ea"/>
                          <a:cs typeface="+mn-cs"/>
                        </a:rPr>
                        <a:t>Insert the Type-C module</a:t>
                      </a:r>
                    </a:p>
                  </a:txBody>
                  <a:tcPr/>
                </a:tc>
                <a:extLst>
                  <a:ext uri="{0D108BD9-81ED-4DB2-BD59-A6C34878D82A}">
                    <a16:rowId xmlns:a16="http://schemas.microsoft.com/office/drawing/2014/main" val="400560139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b="0" kern="1200" dirty="0" err="1">
                          <a:solidFill>
                            <a:schemeClr val="tx1"/>
                          </a:solidFill>
                          <a:effectLst/>
                          <a:latin typeface="+mn-lt"/>
                          <a:ea typeface="+mn-ea"/>
                          <a:cs typeface="+mn-cs"/>
                        </a:rPr>
                        <a:t>Press_DUT</a:t>
                      </a:r>
                      <a:endParaRPr lang="en-US" altLang="zh-TW" sz="1800" b="0" kern="1200" dirty="0">
                        <a:solidFill>
                          <a:schemeClr val="tx1"/>
                        </a:solidFill>
                        <a:effectLst/>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600" b="0" kern="1200" dirty="0">
                          <a:solidFill>
                            <a:schemeClr val="tx1"/>
                          </a:solidFill>
                          <a:effectLst/>
                          <a:latin typeface="+mn-lt"/>
                          <a:ea typeface="+mn-ea"/>
                          <a:cs typeface="+mn-cs"/>
                        </a:rPr>
                        <a:t>Open the lid and press down to secure the DUT</a:t>
                      </a:r>
                    </a:p>
                  </a:txBody>
                  <a:tcPr/>
                </a:tc>
                <a:extLst>
                  <a:ext uri="{0D108BD9-81ED-4DB2-BD59-A6C34878D82A}">
                    <a16:rowId xmlns:a16="http://schemas.microsoft.com/office/drawing/2014/main" val="136141798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b="0" kern="1200" dirty="0">
                          <a:solidFill>
                            <a:schemeClr val="tx1"/>
                          </a:solidFill>
                          <a:effectLst/>
                          <a:latin typeface="+mn-lt"/>
                          <a:ea typeface="+mn-ea"/>
                          <a:cs typeface="+mn-cs"/>
                        </a:rPr>
                        <a:t>DCR</a:t>
                      </a:r>
                    </a:p>
                  </a:txBody>
                  <a:tcPr/>
                </a:tc>
                <a:tc>
                  <a:txBody>
                    <a:bodyPr/>
                    <a:lstStyle/>
                    <a:p>
                      <a:pPr marL="0" algn="l" defTabSz="914400" rtl="0" eaLnBrk="1" latinLnBrk="0" hangingPunct="1"/>
                      <a:r>
                        <a:rPr lang="en" altLang="zh-TW" sz="1600" b="0" kern="1200" dirty="0">
                          <a:solidFill>
                            <a:schemeClr val="tx1"/>
                          </a:solidFill>
                          <a:effectLst/>
                          <a:latin typeface="+mn-lt"/>
                          <a:ea typeface="+mn-ea"/>
                          <a:cs typeface="+mn-cs"/>
                        </a:rPr>
                        <a:t>Measure GND DCR from Type-C to BUD_L/R_NEG</a:t>
                      </a:r>
                      <a:endParaRPr lang="en-US" sz="1600" b="0" kern="1200" dirty="0">
                        <a:solidFill>
                          <a:schemeClr val="tx1"/>
                        </a:solidFill>
                        <a:effectLst/>
                        <a:latin typeface="+mn-lt"/>
                        <a:ea typeface="+mn-ea"/>
                        <a:cs typeface="+mn-cs"/>
                      </a:endParaRPr>
                    </a:p>
                  </a:txBody>
                  <a:tcPr/>
                </a:tc>
                <a:extLst>
                  <a:ext uri="{0D108BD9-81ED-4DB2-BD59-A6C34878D82A}">
                    <a16:rowId xmlns:a16="http://schemas.microsoft.com/office/drawing/2014/main" val="2990298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b="0" kern="1200" dirty="0" err="1">
                          <a:solidFill>
                            <a:schemeClr val="tx1"/>
                          </a:solidFill>
                          <a:effectLst/>
                          <a:latin typeface="+mn-lt"/>
                          <a:ea typeface="+mn-ea"/>
                          <a:cs typeface="+mn-cs"/>
                        </a:rPr>
                        <a:t>DUTPowerON</a:t>
                      </a:r>
                      <a:endParaRPr lang="en-US" altLang="zh-TW" sz="1800" b="0" kern="1200" dirty="0">
                        <a:solidFill>
                          <a:schemeClr val="tx1"/>
                        </a:solidFill>
                        <a:effectLst/>
                        <a:latin typeface="+mn-lt"/>
                        <a:ea typeface="+mn-ea"/>
                        <a:cs typeface="+mn-cs"/>
                      </a:endParaRPr>
                    </a:p>
                  </a:txBody>
                  <a:tcPr/>
                </a:tc>
                <a:tc>
                  <a:txBody>
                    <a:bodyPr/>
                    <a:lstStyle/>
                    <a:p>
                      <a:r>
                        <a:rPr lang="en-US" altLang="zh-TW" sz="1600" b="0" kern="1200" dirty="0">
                          <a:solidFill>
                            <a:schemeClr val="tx1"/>
                          </a:solidFill>
                          <a:effectLst/>
                          <a:latin typeface="+mn-lt"/>
                          <a:ea typeface="+mn-ea"/>
                          <a:cs typeface="+mn-cs"/>
                        </a:rPr>
                        <a:t>Open DUT communication channel</a:t>
                      </a:r>
                      <a:endParaRPr lang="en-US" sz="1600" b="0" kern="1200" dirty="0">
                        <a:solidFill>
                          <a:schemeClr val="tx1"/>
                        </a:solidFill>
                        <a:effectLst/>
                        <a:latin typeface="+mn-lt"/>
                        <a:ea typeface="+mn-ea"/>
                        <a:cs typeface="+mn-cs"/>
                      </a:endParaRPr>
                    </a:p>
                  </a:txBody>
                  <a:tcPr/>
                </a:tc>
                <a:extLst>
                  <a:ext uri="{0D108BD9-81ED-4DB2-BD59-A6C34878D82A}">
                    <a16:rowId xmlns:a16="http://schemas.microsoft.com/office/drawing/2014/main" val="707968944"/>
                  </a:ext>
                </a:extLst>
              </a:tr>
              <a:tr h="370840">
                <a:tc>
                  <a:txBody>
                    <a:bodyPr/>
                    <a:lstStyle/>
                    <a:p>
                      <a:r>
                        <a:rPr lang="en-US" altLang="zh-TW" sz="1800" b="0" kern="1200" dirty="0" err="1">
                          <a:solidFill>
                            <a:schemeClr val="tx1"/>
                          </a:solidFill>
                          <a:effectLst/>
                          <a:latin typeface="+mn-lt"/>
                          <a:ea typeface="+mn-ea"/>
                          <a:cs typeface="+mn-cs"/>
                        </a:rPr>
                        <a:t>ResetDUT</a:t>
                      </a:r>
                      <a:endParaRPr lang="en-US" altLang="zh-TW" sz="1800" b="0" kern="1200" dirty="0">
                        <a:solidFill>
                          <a:schemeClr val="tx1"/>
                        </a:solidFill>
                        <a:effectLst/>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600" b="0" kern="1200" dirty="0">
                          <a:solidFill>
                            <a:schemeClr val="tx1"/>
                          </a:solidFill>
                          <a:effectLst/>
                          <a:latin typeface="+mn-lt"/>
                          <a:ea typeface="+mn-ea"/>
                          <a:cs typeface="+mn-cs"/>
                        </a:rPr>
                        <a:t>Find DUT USB port and reset</a:t>
                      </a:r>
                    </a:p>
                  </a:txBody>
                  <a:tcPr/>
                </a:tc>
                <a:extLst>
                  <a:ext uri="{0D108BD9-81ED-4DB2-BD59-A6C34878D82A}">
                    <a16:rowId xmlns:a16="http://schemas.microsoft.com/office/drawing/2014/main" val="2537795761"/>
                  </a:ext>
                </a:extLst>
              </a:tr>
              <a:tr h="370840">
                <a:tc>
                  <a:txBody>
                    <a:bodyPr/>
                    <a:lstStyle/>
                    <a:p>
                      <a:r>
                        <a:rPr lang="en-US" altLang="zh-TW" sz="1800" b="0" kern="1200" dirty="0" err="1">
                          <a:solidFill>
                            <a:schemeClr val="tx1"/>
                          </a:solidFill>
                          <a:effectLst/>
                          <a:latin typeface="+mn-lt"/>
                          <a:ea typeface="+mn-ea"/>
                          <a:cs typeface="+mn-cs"/>
                        </a:rPr>
                        <a:t>CleanDUTPort</a:t>
                      </a:r>
                      <a:endParaRPr lang="en-US" altLang="zh-TW" sz="1800" b="0" kern="1200" dirty="0">
                        <a:solidFill>
                          <a:schemeClr val="tx1"/>
                        </a:solidFill>
                        <a:effectLst/>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600" b="0" kern="1200" dirty="0">
                          <a:solidFill>
                            <a:schemeClr val="tx1"/>
                          </a:solidFill>
                          <a:effectLst/>
                          <a:latin typeface="+mn-lt"/>
                          <a:ea typeface="+mn-ea"/>
                          <a:cs typeface="+mn-cs"/>
                        </a:rPr>
                        <a:t>Use UART to send a command and verify the DUT port communication</a:t>
                      </a:r>
                    </a:p>
                  </a:txBody>
                  <a:tcPr/>
                </a:tc>
                <a:extLst>
                  <a:ext uri="{0D108BD9-81ED-4DB2-BD59-A6C34878D82A}">
                    <a16:rowId xmlns:a16="http://schemas.microsoft.com/office/drawing/2014/main" val="355206756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b="0" kern="1200" dirty="0" err="1">
                          <a:solidFill>
                            <a:schemeClr val="tx1"/>
                          </a:solidFill>
                          <a:effectLst/>
                          <a:latin typeface="+mn-lt"/>
                          <a:ea typeface="+mn-ea"/>
                          <a:cs typeface="+mn-cs"/>
                        </a:rPr>
                        <a:t>Bootmode</a:t>
                      </a:r>
                      <a:endParaRPr lang="en-US" altLang="zh-TW" sz="1800" b="0" kern="1200" dirty="0">
                        <a:solidFill>
                          <a:schemeClr val="tx1"/>
                        </a:solidFill>
                        <a:effectLst/>
                        <a:latin typeface="+mn-lt"/>
                        <a:ea typeface="+mn-ea"/>
                        <a:cs typeface="+mn-cs"/>
                      </a:endParaRPr>
                    </a:p>
                  </a:txBody>
                  <a:tcPr/>
                </a:tc>
                <a:tc>
                  <a:txBody>
                    <a:bodyPr/>
                    <a:lstStyle/>
                    <a:p>
                      <a:r>
                        <a:rPr lang="en-US" altLang="zh-TW" sz="1600" b="0" kern="1200" dirty="0">
                          <a:solidFill>
                            <a:schemeClr val="tx1"/>
                          </a:solidFill>
                          <a:effectLst/>
                          <a:latin typeface="+mn-lt"/>
                          <a:ea typeface="+mn-ea"/>
                          <a:cs typeface="+mn-cs"/>
                        </a:rPr>
                        <a:t>Set the </a:t>
                      </a:r>
                      <a:r>
                        <a:rPr lang="en-US" altLang="zh-TW" sz="1600" b="0" kern="1200" dirty="0" err="1">
                          <a:solidFill>
                            <a:schemeClr val="tx1"/>
                          </a:solidFill>
                          <a:effectLst/>
                          <a:latin typeface="+mn-lt"/>
                          <a:ea typeface="+mn-ea"/>
                          <a:cs typeface="+mn-cs"/>
                        </a:rPr>
                        <a:t>Bootmode</a:t>
                      </a:r>
                      <a:r>
                        <a:rPr lang="en-US" altLang="zh-TW" sz="1600" b="0" kern="1200" dirty="0">
                          <a:solidFill>
                            <a:schemeClr val="tx1"/>
                          </a:solidFill>
                          <a:effectLst/>
                          <a:latin typeface="+mn-lt"/>
                          <a:ea typeface="+mn-ea"/>
                          <a:cs typeface="+mn-cs"/>
                        </a:rPr>
                        <a:t> 2 to facilitate subsequent testing</a:t>
                      </a:r>
                      <a:endParaRPr lang="en-US" sz="1600" b="0" kern="1200" dirty="0">
                        <a:solidFill>
                          <a:schemeClr val="tx1"/>
                        </a:solidFill>
                        <a:effectLst/>
                        <a:latin typeface="+mn-lt"/>
                        <a:ea typeface="+mn-ea"/>
                        <a:cs typeface="+mn-cs"/>
                      </a:endParaRPr>
                    </a:p>
                  </a:txBody>
                  <a:tcPr/>
                </a:tc>
                <a:extLst>
                  <a:ext uri="{0D108BD9-81ED-4DB2-BD59-A6C34878D82A}">
                    <a16:rowId xmlns:a16="http://schemas.microsoft.com/office/drawing/2014/main" val="1603518760"/>
                  </a:ext>
                </a:extLst>
              </a:tr>
              <a:tr h="370840">
                <a:tc>
                  <a:txBody>
                    <a:bodyPr/>
                    <a:lstStyle/>
                    <a:p>
                      <a:r>
                        <a:rPr lang="en-US" altLang="zh-TW" sz="1800" b="0" kern="1200" dirty="0">
                          <a:solidFill>
                            <a:schemeClr val="tx1"/>
                          </a:solidFill>
                          <a:effectLst/>
                          <a:latin typeface="+mn-lt"/>
                          <a:ea typeface="+mn-ea"/>
                          <a:cs typeface="+mn-cs"/>
                        </a:rPr>
                        <a:t>MLBSN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600" b="0" kern="1200" dirty="0">
                          <a:solidFill>
                            <a:schemeClr val="tx1"/>
                          </a:solidFill>
                          <a:effectLst/>
                          <a:latin typeface="+mn-lt"/>
                          <a:ea typeface="+mn-ea"/>
                          <a:cs typeface="+mn-cs"/>
                        </a:rPr>
                        <a:t>Read and verify the MLBSN</a:t>
                      </a:r>
                    </a:p>
                  </a:txBody>
                  <a:tcPr/>
                </a:tc>
                <a:extLst>
                  <a:ext uri="{0D108BD9-81ED-4DB2-BD59-A6C34878D82A}">
                    <a16:rowId xmlns:a16="http://schemas.microsoft.com/office/drawing/2014/main" val="2863842787"/>
                  </a:ext>
                </a:extLst>
              </a:tr>
              <a:tr h="370840">
                <a:tc>
                  <a:txBody>
                    <a:bodyPr/>
                    <a:lstStyle/>
                    <a:p>
                      <a:r>
                        <a:rPr lang="en-US" altLang="zh-TW" sz="1800" b="0" kern="1200" dirty="0" err="1">
                          <a:solidFill>
                            <a:schemeClr val="tx1"/>
                          </a:solidFill>
                          <a:effectLst/>
                          <a:latin typeface="+mn-lt"/>
                          <a:ea typeface="+mn-ea"/>
                          <a:cs typeface="+mn-cs"/>
                        </a:rPr>
                        <a:t>SNWrite_SrNm</a:t>
                      </a:r>
                      <a:endParaRPr lang="en-US" altLang="zh-TW" sz="1800" b="0" kern="1200" dirty="0">
                        <a:solidFill>
                          <a:schemeClr val="tx1"/>
                        </a:solidFill>
                        <a:effectLst/>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600" b="0" kern="1200" dirty="0">
                          <a:solidFill>
                            <a:schemeClr val="tx1"/>
                          </a:solidFill>
                          <a:effectLst/>
                          <a:latin typeface="+mn-lt"/>
                          <a:ea typeface="+mn-ea"/>
                          <a:cs typeface="+mn-cs"/>
                        </a:rPr>
                        <a:t>Read the SN</a:t>
                      </a:r>
                      <a:r>
                        <a:rPr lang="zh-TW" altLang="en-US" sz="1600" b="0" kern="1200" dirty="0">
                          <a:solidFill>
                            <a:schemeClr val="tx1"/>
                          </a:solidFill>
                          <a:effectLst/>
                          <a:latin typeface="+mn-lt"/>
                          <a:ea typeface="+mn-ea"/>
                          <a:cs typeface="+mn-cs"/>
                        </a:rPr>
                        <a:t> </a:t>
                      </a:r>
                      <a:r>
                        <a:rPr lang="en-US" altLang="zh-TW" sz="1600" b="0" kern="1200" dirty="0">
                          <a:solidFill>
                            <a:schemeClr val="tx1"/>
                          </a:solidFill>
                          <a:effectLst/>
                          <a:latin typeface="+mn-lt"/>
                          <a:ea typeface="+mn-ea"/>
                          <a:cs typeface="+mn-cs"/>
                        </a:rPr>
                        <a:t>and Write FGSN</a:t>
                      </a:r>
                    </a:p>
                  </a:txBody>
                  <a:tcPr/>
                </a:tc>
                <a:extLst>
                  <a:ext uri="{0D108BD9-81ED-4DB2-BD59-A6C34878D82A}">
                    <a16:rowId xmlns:a16="http://schemas.microsoft.com/office/drawing/2014/main" val="3325395858"/>
                  </a:ext>
                </a:extLst>
              </a:tr>
              <a:tr h="370840">
                <a:tc>
                  <a:txBody>
                    <a:bodyPr/>
                    <a:lstStyle/>
                    <a:p>
                      <a:r>
                        <a:rPr lang="en-US" altLang="zh-TW" sz="1800" b="0" kern="1200" dirty="0" err="1">
                          <a:solidFill>
                            <a:schemeClr val="tx1"/>
                          </a:solidFill>
                          <a:effectLst/>
                          <a:latin typeface="+mn-lt"/>
                          <a:ea typeface="+mn-ea"/>
                          <a:cs typeface="+mn-cs"/>
                        </a:rPr>
                        <a:t>SrNm</a:t>
                      </a:r>
                      <a:endParaRPr lang="en-US" altLang="zh-TW" sz="1800" b="0" kern="1200" dirty="0">
                        <a:solidFill>
                          <a:schemeClr val="tx1"/>
                        </a:solidFill>
                        <a:effectLst/>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600" b="0" kern="1200" dirty="0">
                          <a:solidFill>
                            <a:schemeClr val="tx1"/>
                          </a:solidFill>
                          <a:effectLst/>
                          <a:latin typeface="+mn-lt"/>
                          <a:ea typeface="+mn-ea"/>
                          <a:cs typeface="+mn-cs"/>
                        </a:rPr>
                        <a:t>Read the SN</a:t>
                      </a:r>
                      <a:r>
                        <a:rPr lang="zh-TW" altLang="en-US" sz="1600" b="0" kern="1200" dirty="0">
                          <a:solidFill>
                            <a:schemeClr val="tx1"/>
                          </a:solidFill>
                          <a:effectLst/>
                          <a:latin typeface="+mn-lt"/>
                          <a:ea typeface="+mn-ea"/>
                          <a:cs typeface="+mn-cs"/>
                        </a:rPr>
                        <a:t> </a:t>
                      </a:r>
                      <a:r>
                        <a:rPr lang="en-US" altLang="zh-TW" sz="1600" b="0" kern="1200" dirty="0">
                          <a:solidFill>
                            <a:schemeClr val="tx1"/>
                          </a:solidFill>
                          <a:effectLst/>
                          <a:latin typeface="+mn-lt"/>
                          <a:ea typeface="+mn-ea"/>
                          <a:cs typeface="+mn-cs"/>
                        </a:rPr>
                        <a:t>and FGSN </a:t>
                      </a:r>
                      <a:r>
                        <a:rPr lang="en-US" altLang="zh-TW" sz="1800" b="0" i="0" u="none" strike="noStrike" kern="1200" dirty="0">
                          <a:solidFill>
                            <a:schemeClr val="tx1"/>
                          </a:solidFill>
                          <a:effectLst/>
                          <a:latin typeface="+mn-lt"/>
                          <a:ea typeface="+mn-ea"/>
                          <a:cs typeface="+mn-cs"/>
                        </a:rPr>
                        <a:t>and verify that they match</a:t>
                      </a:r>
                      <a:endParaRPr lang="en-US" altLang="zh-TW" sz="1600" b="0" kern="1200" dirty="0">
                        <a:solidFill>
                          <a:schemeClr val="tx1"/>
                        </a:solidFill>
                        <a:effectLst/>
                        <a:latin typeface="+mn-lt"/>
                        <a:ea typeface="+mn-ea"/>
                        <a:cs typeface="+mn-cs"/>
                      </a:endParaRPr>
                    </a:p>
                  </a:txBody>
                  <a:tcPr/>
                </a:tc>
                <a:extLst>
                  <a:ext uri="{0D108BD9-81ED-4DB2-BD59-A6C34878D82A}">
                    <a16:rowId xmlns:a16="http://schemas.microsoft.com/office/drawing/2014/main" val="1564306656"/>
                  </a:ext>
                </a:extLst>
              </a:tr>
            </a:tbl>
          </a:graphicData>
        </a:graphic>
      </p:graphicFrame>
    </p:spTree>
    <p:extLst>
      <p:ext uri="{BB962C8B-B14F-4D97-AF65-F5344CB8AC3E}">
        <p14:creationId xmlns:p14="http://schemas.microsoft.com/office/powerpoint/2010/main" val="11662993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BFBA71-D2A7-EF6E-2C73-95C378C4D5CA}"/>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9690704F-149A-718F-1D94-CF293B9177EA}"/>
              </a:ext>
            </a:extLst>
          </p:cNvPr>
          <p:cNvSpPr>
            <a:spLocks noGrp="1"/>
          </p:cNvSpPr>
          <p:nvPr>
            <p:ph type="body" sz="quarter" idx="13"/>
          </p:nvPr>
        </p:nvSpPr>
        <p:spPr/>
        <p:txBody>
          <a:bodyPr/>
          <a:lstStyle/>
          <a:p>
            <a:r>
              <a:rPr lang="en-US" dirty="0"/>
              <a:t>Terminology  </a:t>
            </a:r>
          </a:p>
          <a:p>
            <a:endParaRPr lang="en-US" dirty="0"/>
          </a:p>
        </p:txBody>
      </p:sp>
      <p:graphicFrame>
        <p:nvGraphicFramePr>
          <p:cNvPr id="5" name="Table 5">
            <a:extLst>
              <a:ext uri="{FF2B5EF4-FFF2-40B4-BE49-F238E27FC236}">
                <a16:creationId xmlns:a16="http://schemas.microsoft.com/office/drawing/2014/main" id="{6FD869C9-8CE6-857F-8F1D-90B5CF17A3EE}"/>
              </a:ext>
            </a:extLst>
          </p:cNvPr>
          <p:cNvGraphicFramePr>
            <a:graphicFrameLocks noGrp="1"/>
          </p:cNvGraphicFramePr>
          <p:nvPr>
            <p:extLst>
              <p:ext uri="{D42A27DB-BD31-4B8C-83A1-F6EECF244321}">
                <p14:modId xmlns:p14="http://schemas.microsoft.com/office/powerpoint/2010/main" val="579234944"/>
              </p:ext>
            </p:extLst>
          </p:nvPr>
        </p:nvGraphicFramePr>
        <p:xfrm>
          <a:off x="571501" y="938449"/>
          <a:ext cx="10751820" cy="5562600"/>
        </p:xfrm>
        <a:graphic>
          <a:graphicData uri="http://schemas.openxmlformats.org/drawingml/2006/table">
            <a:tbl>
              <a:tblPr firstRow="1" bandRow="1">
                <a:tableStyleId>{BDBED569-4797-4DF1-A0F4-6AAB3CD982D8}</a:tableStyleId>
              </a:tblPr>
              <a:tblGrid>
                <a:gridCol w="3806861">
                  <a:extLst>
                    <a:ext uri="{9D8B030D-6E8A-4147-A177-3AD203B41FA5}">
                      <a16:colId xmlns:a16="http://schemas.microsoft.com/office/drawing/2014/main" val="2272818449"/>
                    </a:ext>
                  </a:extLst>
                </a:gridCol>
                <a:gridCol w="6944959">
                  <a:extLst>
                    <a:ext uri="{9D8B030D-6E8A-4147-A177-3AD203B41FA5}">
                      <a16:colId xmlns:a16="http://schemas.microsoft.com/office/drawing/2014/main" val="3152362012"/>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600" b="1" kern="1200" dirty="0">
                          <a:solidFill>
                            <a:schemeClr val="tx1"/>
                          </a:solidFill>
                          <a:effectLst/>
                          <a:latin typeface="+mn-lt"/>
                          <a:ea typeface="+mn-ea"/>
                          <a:cs typeface="+mn-cs"/>
                        </a:rPr>
                        <a:t>Test Items</a:t>
                      </a:r>
                    </a:p>
                  </a:txBody>
                  <a:tcPr/>
                </a:tc>
                <a:tc>
                  <a:txBody>
                    <a:bodyPr/>
                    <a:lstStyle/>
                    <a:p>
                      <a:r>
                        <a:rPr lang="en-US" sz="1600" b="1" kern="1200" dirty="0">
                          <a:solidFill>
                            <a:schemeClr val="tx1"/>
                          </a:solidFill>
                          <a:effectLst/>
                          <a:latin typeface="+mn-lt"/>
                          <a:ea typeface="+mn-ea"/>
                          <a:cs typeface="+mn-cs"/>
                        </a:rPr>
                        <a:t>Description</a:t>
                      </a:r>
                    </a:p>
                  </a:txBody>
                  <a:tcPr/>
                </a:tc>
                <a:extLst>
                  <a:ext uri="{0D108BD9-81ED-4DB2-BD59-A6C34878D82A}">
                    <a16:rowId xmlns:a16="http://schemas.microsoft.com/office/drawing/2014/main" val="1281638065"/>
                  </a:ext>
                </a:extLst>
              </a:tr>
              <a:tr h="370840">
                <a:tc>
                  <a:txBody>
                    <a:bodyPr/>
                    <a:lstStyle/>
                    <a:p>
                      <a:r>
                        <a:rPr lang="en-US" altLang="zh-TW" sz="1800" b="0" kern="1200" dirty="0" err="1">
                          <a:solidFill>
                            <a:schemeClr val="tx1"/>
                          </a:solidFill>
                          <a:effectLst/>
                          <a:latin typeface="+mn-lt"/>
                          <a:ea typeface="+mn-ea"/>
                          <a:cs typeface="+mn-cs"/>
                        </a:rPr>
                        <a:t>BoardID</a:t>
                      </a:r>
                      <a:endParaRPr lang="en-US" altLang="zh-TW" sz="1800" b="0" kern="1200" dirty="0">
                        <a:solidFill>
                          <a:schemeClr val="tx1"/>
                        </a:solidFill>
                        <a:effectLst/>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600" b="0" kern="1200" dirty="0">
                          <a:solidFill>
                            <a:schemeClr val="tx1"/>
                          </a:solidFill>
                          <a:effectLst/>
                          <a:latin typeface="+mn-lt"/>
                          <a:ea typeface="+mn-ea"/>
                          <a:cs typeface="+mn-cs"/>
                        </a:rPr>
                        <a:t>Read and verify the HWID</a:t>
                      </a:r>
                      <a:r>
                        <a:rPr lang="zh-TW" altLang="en-US" sz="1600" b="0" kern="1200" dirty="0">
                          <a:solidFill>
                            <a:schemeClr val="tx1"/>
                          </a:solidFill>
                          <a:effectLst/>
                          <a:latin typeface="+mn-lt"/>
                          <a:ea typeface="+mn-ea"/>
                          <a:cs typeface="+mn-cs"/>
                        </a:rPr>
                        <a:t> </a:t>
                      </a:r>
                      <a:r>
                        <a:rPr lang="en-US" altLang="zh-TW" sz="1600" b="0" kern="1200" dirty="0">
                          <a:solidFill>
                            <a:schemeClr val="tx1"/>
                          </a:solidFill>
                          <a:effectLst/>
                          <a:latin typeface="+mn-lt"/>
                          <a:ea typeface="+mn-ea"/>
                          <a:cs typeface="+mn-cs"/>
                        </a:rPr>
                        <a:t>and PID</a:t>
                      </a:r>
                    </a:p>
                  </a:txBody>
                  <a:tcPr/>
                </a:tc>
                <a:extLst>
                  <a:ext uri="{0D108BD9-81ED-4DB2-BD59-A6C34878D82A}">
                    <a16:rowId xmlns:a16="http://schemas.microsoft.com/office/drawing/2014/main" val="3763680707"/>
                  </a:ext>
                </a:extLst>
              </a:tr>
              <a:tr h="370840">
                <a:tc>
                  <a:txBody>
                    <a:bodyPr/>
                    <a:lstStyle/>
                    <a:p>
                      <a:r>
                        <a:rPr lang="en-US" altLang="zh-TW" sz="1800" b="0" kern="1200" dirty="0">
                          <a:solidFill>
                            <a:schemeClr val="tx1"/>
                          </a:solidFill>
                          <a:effectLst/>
                          <a:latin typeface="+mn-lt"/>
                          <a:ea typeface="+mn-ea"/>
                          <a:cs typeface="+mn-cs"/>
                        </a:rPr>
                        <a:t>FW</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600" b="0" kern="1200" dirty="0">
                          <a:solidFill>
                            <a:schemeClr val="tx1"/>
                          </a:solidFill>
                          <a:effectLst/>
                          <a:latin typeface="+mn-lt"/>
                          <a:ea typeface="+mn-ea"/>
                          <a:cs typeface="+mn-cs"/>
                        </a:rPr>
                        <a:t>Read and verify the FW version</a:t>
                      </a:r>
                    </a:p>
                  </a:txBody>
                  <a:tcPr/>
                </a:tc>
                <a:extLst>
                  <a:ext uri="{0D108BD9-81ED-4DB2-BD59-A6C34878D82A}">
                    <a16:rowId xmlns:a16="http://schemas.microsoft.com/office/drawing/2014/main" val="514674961"/>
                  </a:ext>
                </a:extLst>
              </a:tr>
              <a:tr h="370840">
                <a:tc>
                  <a:txBody>
                    <a:bodyPr/>
                    <a:lstStyle/>
                    <a:p>
                      <a:pPr marL="0" algn="l" defTabSz="914400" rtl="0" eaLnBrk="1" latinLnBrk="0" hangingPunct="1"/>
                      <a:r>
                        <a:rPr lang="en-US" altLang="zh-TW" sz="1800" b="0" kern="1200" dirty="0">
                          <a:solidFill>
                            <a:schemeClr val="tx1"/>
                          </a:solidFill>
                          <a:effectLst/>
                          <a:latin typeface="+mn-lt"/>
                          <a:ea typeface="+mn-ea"/>
                          <a:cs typeface="+mn-cs"/>
                        </a:rPr>
                        <a:t>BTID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600" b="0" kern="1200" dirty="0">
                          <a:solidFill>
                            <a:schemeClr val="tx1"/>
                          </a:solidFill>
                          <a:effectLst/>
                          <a:latin typeface="+mn-lt"/>
                          <a:ea typeface="+mn-ea"/>
                          <a:cs typeface="+mn-cs"/>
                        </a:rPr>
                        <a:t>Read and verify the BTID</a:t>
                      </a:r>
                    </a:p>
                  </a:txBody>
                  <a:tcPr/>
                </a:tc>
                <a:extLst>
                  <a:ext uri="{0D108BD9-81ED-4DB2-BD59-A6C34878D82A}">
                    <a16:rowId xmlns:a16="http://schemas.microsoft.com/office/drawing/2014/main" val="1780664378"/>
                  </a:ext>
                </a:extLst>
              </a:tr>
              <a:tr h="370840">
                <a:tc>
                  <a:txBody>
                    <a:bodyPr/>
                    <a:lstStyle/>
                    <a:p>
                      <a:pPr marL="0" algn="l" defTabSz="914400" rtl="0" eaLnBrk="1" latinLnBrk="0" hangingPunct="1"/>
                      <a:r>
                        <a:rPr lang="en-US" altLang="zh-TW" sz="1800" b="0" kern="1200" dirty="0">
                          <a:solidFill>
                            <a:schemeClr val="tx1"/>
                          </a:solidFill>
                          <a:effectLst/>
                          <a:latin typeface="+mn-lt"/>
                          <a:ea typeface="+mn-ea"/>
                          <a:cs typeface="+mn-cs"/>
                        </a:rPr>
                        <a:t>USB</a:t>
                      </a:r>
                    </a:p>
                  </a:txBody>
                  <a:tcPr/>
                </a:tc>
                <a:tc>
                  <a:txBody>
                    <a:bodyPr/>
                    <a:lstStyle/>
                    <a:p>
                      <a:r>
                        <a:rPr lang="en-US" sz="1600" b="0" kern="1200" dirty="0">
                          <a:solidFill>
                            <a:schemeClr val="tx1"/>
                          </a:solidFill>
                          <a:effectLst/>
                          <a:latin typeface="+mn-lt"/>
                          <a:ea typeface="+mn-ea"/>
                          <a:cs typeface="+mn-cs"/>
                        </a:rPr>
                        <a:t>Get the USB information (Product / Vendor ID)</a:t>
                      </a:r>
                    </a:p>
                  </a:txBody>
                  <a:tcPr/>
                </a:tc>
                <a:extLst>
                  <a:ext uri="{0D108BD9-81ED-4DB2-BD59-A6C34878D82A}">
                    <a16:rowId xmlns:a16="http://schemas.microsoft.com/office/drawing/2014/main" val="400560139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b="0" kern="1200" dirty="0" err="1">
                          <a:solidFill>
                            <a:schemeClr val="tx1"/>
                          </a:solidFill>
                          <a:effectLst/>
                          <a:latin typeface="+mn-lt"/>
                          <a:ea typeface="+mn-ea"/>
                          <a:cs typeface="+mn-cs"/>
                        </a:rPr>
                        <a:t>PowerMux</a:t>
                      </a:r>
                      <a:endParaRPr lang="en-US" altLang="zh-TW" sz="1800" b="0" kern="1200" dirty="0">
                        <a:solidFill>
                          <a:schemeClr val="tx1"/>
                        </a:solidFill>
                        <a:effectLst/>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600" b="0" kern="1200" dirty="0">
                          <a:solidFill>
                            <a:schemeClr val="tx1"/>
                          </a:solidFill>
                          <a:effectLst/>
                          <a:latin typeface="+mn-lt"/>
                          <a:ea typeface="+mn-ea"/>
                          <a:cs typeface="+mn-cs"/>
                        </a:rPr>
                        <a:t>Read GPIO Data</a:t>
                      </a:r>
                    </a:p>
                  </a:txBody>
                  <a:tcPr/>
                </a:tc>
                <a:extLst>
                  <a:ext uri="{0D108BD9-81ED-4DB2-BD59-A6C34878D82A}">
                    <a16:rowId xmlns:a16="http://schemas.microsoft.com/office/drawing/2014/main" val="136141798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b="0" kern="1200" dirty="0" err="1">
                          <a:solidFill>
                            <a:schemeClr val="tx1"/>
                          </a:solidFill>
                          <a:effectLst/>
                          <a:latin typeface="+mn-lt"/>
                          <a:ea typeface="+mn-ea"/>
                          <a:cs typeface="+mn-cs"/>
                        </a:rPr>
                        <a:t>BatteryDisChargeStatus</a:t>
                      </a:r>
                      <a:endParaRPr lang="en-US" altLang="zh-TW" sz="1800" b="0" kern="1200" dirty="0">
                        <a:solidFill>
                          <a:schemeClr val="tx1"/>
                        </a:solidFill>
                        <a:effectLst/>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600" b="0" kern="1200" dirty="0">
                          <a:solidFill>
                            <a:schemeClr val="tx1"/>
                          </a:solidFill>
                          <a:effectLst/>
                          <a:latin typeface="+mn-lt"/>
                          <a:ea typeface="+mn-ea"/>
                          <a:cs typeface="+mn-cs"/>
                        </a:rPr>
                        <a:t>Verify voltage, current, SOC, and temp when the Case charger</a:t>
                      </a:r>
                      <a:r>
                        <a:rPr lang="zh-TW" altLang="en-US" sz="1600" b="0" kern="1200" dirty="0">
                          <a:solidFill>
                            <a:schemeClr val="tx1"/>
                          </a:solidFill>
                          <a:effectLst/>
                          <a:latin typeface="+mn-lt"/>
                          <a:ea typeface="+mn-ea"/>
                          <a:cs typeface="+mn-cs"/>
                        </a:rPr>
                        <a:t> </a:t>
                      </a:r>
                      <a:r>
                        <a:rPr lang="en-US" altLang="zh-TW" sz="1600" b="0" kern="1200" dirty="0">
                          <a:solidFill>
                            <a:schemeClr val="tx1"/>
                          </a:solidFill>
                          <a:effectLst/>
                          <a:latin typeface="+mn-lt"/>
                          <a:ea typeface="+mn-ea"/>
                          <a:cs typeface="+mn-cs"/>
                        </a:rPr>
                        <a:t>disable </a:t>
                      </a:r>
                    </a:p>
                  </a:txBody>
                  <a:tcPr/>
                </a:tc>
                <a:extLst>
                  <a:ext uri="{0D108BD9-81ED-4DB2-BD59-A6C34878D82A}">
                    <a16:rowId xmlns:a16="http://schemas.microsoft.com/office/drawing/2014/main" val="2990298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b="0" kern="1200" dirty="0" err="1">
                          <a:solidFill>
                            <a:schemeClr val="tx1"/>
                          </a:solidFill>
                          <a:effectLst/>
                          <a:latin typeface="+mn-lt"/>
                          <a:ea typeface="+mn-ea"/>
                          <a:cs typeface="+mn-cs"/>
                        </a:rPr>
                        <a:t>BatteryChargeStatus</a:t>
                      </a:r>
                      <a:endParaRPr lang="en-US" altLang="zh-TW" sz="1800" b="0" kern="1200" dirty="0">
                        <a:solidFill>
                          <a:schemeClr val="tx1"/>
                        </a:solidFill>
                        <a:effectLst/>
                        <a:latin typeface="+mn-lt"/>
                        <a:ea typeface="+mn-ea"/>
                        <a:cs typeface="+mn-cs"/>
                      </a:endParaRPr>
                    </a:p>
                  </a:txBody>
                  <a:tcPr/>
                </a:tc>
                <a:tc>
                  <a:txBody>
                    <a:bodyPr/>
                    <a:lstStyle/>
                    <a:p>
                      <a:r>
                        <a:rPr lang="en-US" altLang="zh-TW" sz="1600" b="0" kern="1200" dirty="0">
                          <a:solidFill>
                            <a:schemeClr val="tx1"/>
                          </a:solidFill>
                          <a:effectLst/>
                          <a:latin typeface="+mn-lt"/>
                          <a:ea typeface="+mn-ea"/>
                          <a:cs typeface="+mn-cs"/>
                        </a:rPr>
                        <a:t>Verify voltage, current, SOC, and temp when the Case charger</a:t>
                      </a:r>
                      <a:r>
                        <a:rPr lang="zh-TW" altLang="en-US" sz="1600" b="0" kern="1200" dirty="0">
                          <a:solidFill>
                            <a:schemeClr val="tx1"/>
                          </a:solidFill>
                          <a:effectLst/>
                          <a:latin typeface="+mn-lt"/>
                          <a:ea typeface="+mn-ea"/>
                          <a:cs typeface="+mn-cs"/>
                        </a:rPr>
                        <a:t> </a:t>
                      </a:r>
                      <a:r>
                        <a:rPr lang="en-US" altLang="zh-TW" sz="1600" b="0" kern="1200" dirty="0">
                          <a:solidFill>
                            <a:schemeClr val="tx1"/>
                          </a:solidFill>
                          <a:effectLst/>
                          <a:latin typeface="+mn-lt"/>
                          <a:ea typeface="+mn-ea"/>
                          <a:cs typeface="+mn-cs"/>
                        </a:rPr>
                        <a:t>enable </a:t>
                      </a:r>
                      <a:endParaRPr lang="en-US" sz="1600" b="0" kern="1200" dirty="0">
                        <a:solidFill>
                          <a:schemeClr val="tx1"/>
                        </a:solidFill>
                        <a:effectLst/>
                        <a:latin typeface="+mn-lt"/>
                        <a:ea typeface="+mn-ea"/>
                        <a:cs typeface="+mn-cs"/>
                      </a:endParaRPr>
                    </a:p>
                  </a:txBody>
                  <a:tcPr/>
                </a:tc>
                <a:extLst>
                  <a:ext uri="{0D108BD9-81ED-4DB2-BD59-A6C34878D82A}">
                    <a16:rowId xmlns:a16="http://schemas.microsoft.com/office/drawing/2014/main" val="70796894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b="0" kern="1200" dirty="0">
                          <a:solidFill>
                            <a:schemeClr val="tx1"/>
                          </a:solidFill>
                          <a:effectLst/>
                          <a:latin typeface="+mn-lt"/>
                          <a:ea typeface="+mn-ea"/>
                          <a:cs typeface="+mn-cs"/>
                        </a:rPr>
                        <a:t>Info</a:t>
                      </a:r>
                    </a:p>
                  </a:txBody>
                  <a:tcPr/>
                </a:tc>
                <a:tc>
                  <a:txBody>
                    <a:bodyPr/>
                    <a:lstStyle/>
                    <a:p>
                      <a:r>
                        <a:rPr lang="en-US" altLang="zh-TW" sz="1600" b="0" kern="1200" dirty="0">
                          <a:solidFill>
                            <a:schemeClr val="tx1"/>
                          </a:solidFill>
                          <a:effectLst/>
                          <a:latin typeface="+mn-lt"/>
                          <a:ea typeface="+mn-ea"/>
                          <a:cs typeface="+mn-cs"/>
                        </a:rPr>
                        <a:t>Check battery and </a:t>
                      </a:r>
                      <a:r>
                        <a:rPr lang="en-US" altLang="zh-TW" sz="1600" b="0" kern="1200" dirty="0" err="1">
                          <a:solidFill>
                            <a:schemeClr val="tx1"/>
                          </a:solidFill>
                          <a:effectLst/>
                          <a:latin typeface="+mn-lt"/>
                          <a:ea typeface="+mn-ea"/>
                          <a:cs typeface="+mn-cs"/>
                        </a:rPr>
                        <a:t>FuelGauge</a:t>
                      </a:r>
                      <a:r>
                        <a:rPr lang="en-US" altLang="zh-TW" sz="1600" b="0" kern="1200" dirty="0">
                          <a:solidFill>
                            <a:schemeClr val="tx1"/>
                          </a:solidFill>
                          <a:effectLst/>
                          <a:latin typeface="+mn-lt"/>
                          <a:ea typeface="+mn-ea"/>
                          <a:cs typeface="+mn-cs"/>
                        </a:rPr>
                        <a:t> calibration information</a:t>
                      </a:r>
                      <a:endParaRPr lang="en-US" sz="1600" b="0" kern="1200" dirty="0">
                        <a:solidFill>
                          <a:schemeClr val="tx1"/>
                        </a:solidFill>
                        <a:effectLst/>
                        <a:latin typeface="+mn-lt"/>
                        <a:ea typeface="+mn-ea"/>
                        <a:cs typeface="+mn-cs"/>
                      </a:endParaRPr>
                    </a:p>
                  </a:txBody>
                  <a:tcPr/>
                </a:tc>
                <a:extLst>
                  <a:ext uri="{0D108BD9-81ED-4DB2-BD59-A6C34878D82A}">
                    <a16:rowId xmlns:a16="http://schemas.microsoft.com/office/drawing/2014/main" val="253779576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b="0" kern="1200" dirty="0">
                          <a:solidFill>
                            <a:schemeClr val="tx1"/>
                          </a:solidFill>
                          <a:effectLst/>
                          <a:latin typeface="+mn-lt"/>
                          <a:ea typeface="+mn-ea"/>
                          <a:cs typeface="+mn-cs"/>
                        </a:rPr>
                        <a:t>Brightness</a:t>
                      </a:r>
                    </a:p>
                  </a:txBody>
                  <a:tcPr/>
                </a:tc>
                <a:tc>
                  <a:txBody>
                    <a:bodyPr/>
                    <a:lstStyle/>
                    <a:p>
                      <a:r>
                        <a:rPr lang="en-US" altLang="zh-TW" sz="1600" b="0" kern="1200" dirty="0">
                          <a:solidFill>
                            <a:schemeClr val="tx1"/>
                          </a:solidFill>
                          <a:effectLst/>
                          <a:latin typeface="+mn-lt"/>
                          <a:ea typeface="+mn-ea"/>
                          <a:cs typeface="+mn-cs"/>
                        </a:rPr>
                        <a:t>Measure the Case LED parameters under red and white light conditions</a:t>
                      </a:r>
                      <a:endParaRPr lang="en-US" sz="1600" b="0" kern="1200" dirty="0">
                        <a:solidFill>
                          <a:schemeClr val="tx1"/>
                        </a:solidFill>
                        <a:effectLst/>
                        <a:latin typeface="+mn-lt"/>
                        <a:ea typeface="+mn-ea"/>
                        <a:cs typeface="+mn-cs"/>
                      </a:endParaRPr>
                    </a:p>
                  </a:txBody>
                  <a:tcPr/>
                </a:tc>
                <a:extLst>
                  <a:ext uri="{0D108BD9-81ED-4DB2-BD59-A6C34878D82A}">
                    <a16:rowId xmlns:a16="http://schemas.microsoft.com/office/drawing/2014/main" val="355206756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b="0" kern="1200" dirty="0" err="1">
                          <a:solidFill>
                            <a:schemeClr val="tx1"/>
                          </a:solidFill>
                          <a:effectLst/>
                          <a:latin typeface="+mn-lt"/>
                          <a:ea typeface="+mn-ea"/>
                          <a:cs typeface="+mn-cs"/>
                        </a:rPr>
                        <a:t>GPIOCheck_Button</a:t>
                      </a:r>
                      <a:r>
                        <a:rPr lang="en-US" altLang="zh-TW" sz="1800" b="0" kern="1200" dirty="0">
                          <a:solidFill>
                            <a:schemeClr val="tx1"/>
                          </a:solidFill>
                          <a:effectLst/>
                          <a:latin typeface="+mn-lt"/>
                          <a:ea typeface="+mn-ea"/>
                          <a:cs typeface="+mn-cs"/>
                        </a:rPr>
                        <a:t>_(Status)</a:t>
                      </a:r>
                    </a:p>
                  </a:txBody>
                  <a:tcPr/>
                </a:tc>
                <a:tc>
                  <a:txBody>
                    <a:bodyPr/>
                    <a:lstStyle/>
                    <a:p>
                      <a:r>
                        <a:rPr lang="en-US" altLang="zh-TW" sz="1600" b="0" kern="1200" dirty="0">
                          <a:solidFill>
                            <a:schemeClr val="tx1"/>
                          </a:solidFill>
                          <a:effectLst/>
                          <a:latin typeface="+mn-lt"/>
                          <a:ea typeface="+mn-ea"/>
                          <a:cs typeface="+mn-cs"/>
                        </a:rPr>
                        <a:t>Verify the </a:t>
                      </a:r>
                      <a:r>
                        <a:rPr lang="en-US" altLang="zh-TW" sz="1600" b="0" kern="1200" dirty="0" err="1">
                          <a:solidFill>
                            <a:schemeClr val="tx1"/>
                          </a:solidFill>
                          <a:effectLst/>
                          <a:latin typeface="+mn-lt"/>
                          <a:ea typeface="+mn-ea"/>
                          <a:cs typeface="+mn-cs"/>
                        </a:rPr>
                        <a:t>ststus</a:t>
                      </a:r>
                      <a:r>
                        <a:rPr lang="en-US" altLang="zh-TW" sz="1600" b="0" kern="1200" dirty="0">
                          <a:solidFill>
                            <a:schemeClr val="tx1"/>
                          </a:solidFill>
                          <a:effectLst/>
                          <a:latin typeface="+mn-lt"/>
                          <a:ea typeface="+mn-ea"/>
                          <a:cs typeface="+mn-cs"/>
                        </a:rPr>
                        <a:t> of the button under the state of pressing and releasing</a:t>
                      </a:r>
                      <a:endParaRPr lang="en-US" sz="1600" b="0" kern="1200" dirty="0">
                        <a:solidFill>
                          <a:schemeClr val="tx1"/>
                        </a:solidFill>
                        <a:effectLst/>
                        <a:latin typeface="+mn-lt"/>
                        <a:ea typeface="+mn-ea"/>
                        <a:cs typeface="+mn-cs"/>
                      </a:endParaRPr>
                    </a:p>
                  </a:txBody>
                  <a:tcPr/>
                </a:tc>
                <a:extLst>
                  <a:ext uri="{0D108BD9-81ED-4DB2-BD59-A6C34878D82A}">
                    <a16:rowId xmlns:a16="http://schemas.microsoft.com/office/drawing/2014/main" val="160351876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b="0" kern="1200" dirty="0">
                          <a:solidFill>
                            <a:schemeClr val="tx1"/>
                          </a:solidFill>
                          <a:effectLst/>
                          <a:latin typeface="+mn-lt"/>
                          <a:ea typeface="+mn-ea"/>
                          <a:cs typeface="+mn-cs"/>
                        </a:rPr>
                        <a:t>OVP</a:t>
                      </a:r>
                    </a:p>
                  </a:txBody>
                  <a:tcPr/>
                </a:tc>
                <a:tc>
                  <a:txBody>
                    <a:bodyPr/>
                    <a:lstStyle/>
                    <a:p>
                      <a:r>
                        <a:rPr lang="en-US" altLang="zh-TW" sz="1600" b="0" kern="1200" dirty="0">
                          <a:solidFill>
                            <a:schemeClr val="tx1"/>
                          </a:solidFill>
                          <a:effectLst/>
                          <a:latin typeface="+mn-lt"/>
                          <a:ea typeface="+mn-ea"/>
                          <a:cs typeface="+mn-cs"/>
                        </a:rPr>
                        <a:t>Verify that the VBUS voltage is normal when OVP is disabled</a:t>
                      </a:r>
                      <a:endParaRPr lang="en-US" sz="1600" b="0" kern="1200" dirty="0">
                        <a:solidFill>
                          <a:schemeClr val="tx1"/>
                        </a:solidFill>
                        <a:effectLst/>
                        <a:latin typeface="+mn-lt"/>
                        <a:ea typeface="+mn-ea"/>
                        <a:cs typeface="+mn-cs"/>
                      </a:endParaRPr>
                    </a:p>
                  </a:txBody>
                  <a:tcPr/>
                </a:tc>
                <a:extLst>
                  <a:ext uri="{0D108BD9-81ED-4DB2-BD59-A6C34878D82A}">
                    <a16:rowId xmlns:a16="http://schemas.microsoft.com/office/drawing/2014/main" val="2863842787"/>
                  </a:ext>
                </a:extLst>
              </a:tr>
              <a:tr h="370840">
                <a:tc>
                  <a:txBody>
                    <a:bodyPr/>
                    <a:lstStyle/>
                    <a:p>
                      <a:pPr marL="0" algn="l" defTabSz="914400" rtl="0" eaLnBrk="1" latinLnBrk="0" hangingPunct="1"/>
                      <a:r>
                        <a:rPr lang="en-US" altLang="zh-TW" sz="1800" b="0" kern="1200" dirty="0">
                          <a:solidFill>
                            <a:schemeClr val="tx1"/>
                          </a:solidFill>
                          <a:effectLst/>
                          <a:latin typeface="+mn-lt"/>
                          <a:ea typeface="+mn-ea"/>
                          <a:cs typeface="+mn-cs"/>
                        </a:rPr>
                        <a:t>Reset</a:t>
                      </a:r>
                    </a:p>
                  </a:txBody>
                  <a:tcPr/>
                </a:tc>
                <a:tc>
                  <a:txBody>
                    <a:bodyPr/>
                    <a:lstStyle/>
                    <a:p>
                      <a:r>
                        <a:rPr lang="en-US" altLang="zh-TW" sz="1600" b="0" kern="1200" dirty="0">
                          <a:solidFill>
                            <a:schemeClr val="tx1"/>
                          </a:solidFill>
                          <a:effectLst/>
                          <a:latin typeface="+mn-lt"/>
                          <a:ea typeface="+mn-ea"/>
                          <a:cs typeface="+mn-cs"/>
                        </a:rPr>
                        <a:t>Verify the DUT reset behavior upon VBUS removal</a:t>
                      </a:r>
                      <a:endParaRPr lang="en-US" sz="1600" b="0" kern="1200" dirty="0">
                        <a:solidFill>
                          <a:schemeClr val="tx1"/>
                        </a:solidFill>
                        <a:effectLst/>
                        <a:latin typeface="+mn-lt"/>
                        <a:ea typeface="+mn-ea"/>
                        <a:cs typeface="+mn-cs"/>
                      </a:endParaRPr>
                    </a:p>
                  </a:txBody>
                  <a:tcPr/>
                </a:tc>
                <a:extLst>
                  <a:ext uri="{0D108BD9-81ED-4DB2-BD59-A6C34878D82A}">
                    <a16:rowId xmlns:a16="http://schemas.microsoft.com/office/drawing/2014/main" val="227087902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b="0" kern="1200" dirty="0">
                          <a:solidFill>
                            <a:schemeClr val="tx1"/>
                          </a:solidFill>
                          <a:effectLst/>
                          <a:latin typeface="+mn-lt"/>
                          <a:ea typeface="+mn-ea"/>
                          <a:cs typeface="+mn-cs"/>
                        </a:rPr>
                        <a:t>Transition</a:t>
                      </a:r>
                    </a:p>
                  </a:txBody>
                  <a:tcPr/>
                </a:tc>
                <a:tc>
                  <a:txBody>
                    <a:bodyPr/>
                    <a:lstStyle/>
                    <a:p>
                      <a:r>
                        <a:rPr lang="en-US" altLang="zh-TW" sz="1600" b="0" kern="1200" dirty="0">
                          <a:solidFill>
                            <a:schemeClr val="tx1"/>
                          </a:solidFill>
                          <a:effectLst/>
                          <a:latin typeface="+mn-lt"/>
                          <a:ea typeface="+mn-ea"/>
                          <a:cs typeface="+mn-cs"/>
                        </a:rPr>
                        <a:t>Test Case ship mode Enter &amp; Exit</a:t>
                      </a:r>
                      <a:endParaRPr lang="en-US" sz="1600" b="0" kern="1200" dirty="0">
                        <a:solidFill>
                          <a:schemeClr val="tx1"/>
                        </a:solidFill>
                        <a:effectLst/>
                        <a:latin typeface="+mn-lt"/>
                        <a:ea typeface="+mn-ea"/>
                        <a:cs typeface="+mn-cs"/>
                      </a:endParaRPr>
                    </a:p>
                  </a:txBody>
                  <a:tcPr/>
                </a:tc>
                <a:extLst>
                  <a:ext uri="{0D108BD9-81ED-4DB2-BD59-A6C34878D82A}">
                    <a16:rowId xmlns:a16="http://schemas.microsoft.com/office/drawing/2014/main" val="332539585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b="0" kern="1200" dirty="0">
                          <a:solidFill>
                            <a:schemeClr val="tx1"/>
                          </a:solidFill>
                          <a:effectLst/>
                          <a:latin typeface="+mn-lt"/>
                          <a:ea typeface="+mn-ea"/>
                          <a:cs typeface="+mn-cs"/>
                        </a:rPr>
                        <a:t>Constant</a:t>
                      </a:r>
                    </a:p>
                  </a:txBody>
                  <a:tcPr/>
                </a:tc>
                <a:tc>
                  <a:txBody>
                    <a:bodyPr/>
                    <a:lstStyle/>
                    <a:p>
                      <a:r>
                        <a:rPr lang="en-US" altLang="zh-TW" sz="1600" b="0" kern="1200" dirty="0">
                          <a:solidFill>
                            <a:schemeClr val="tx1"/>
                          </a:solidFill>
                          <a:effectLst/>
                          <a:latin typeface="+mn-lt"/>
                          <a:ea typeface="+mn-ea"/>
                          <a:cs typeface="+mn-cs"/>
                        </a:rPr>
                        <a:t>Measure the output voltage &amp; current at the L/R POS under load conditions</a:t>
                      </a:r>
                      <a:endParaRPr lang="en-US" sz="1600" b="0" kern="1200" dirty="0">
                        <a:solidFill>
                          <a:schemeClr val="tx1"/>
                        </a:solidFill>
                        <a:effectLst/>
                        <a:latin typeface="+mn-lt"/>
                        <a:ea typeface="+mn-ea"/>
                        <a:cs typeface="+mn-cs"/>
                      </a:endParaRPr>
                    </a:p>
                  </a:txBody>
                  <a:tcPr/>
                </a:tc>
                <a:extLst>
                  <a:ext uri="{0D108BD9-81ED-4DB2-BD59-A6C34878D82A}">
                    <a16:rowId xmlns:a16="http://schemas.microsoft.com/office/drawing/2014/main" val="1564306656"/>
                  </a:ext>
                </a:extLst>
              </a:tr>
            </a:tbl>
          </a:graphicData>
        </a:graphic>
      </p:graphicFrame>
    </p:spTree>
    <p:extLst>
      <p:ext uri="{BB962C8B-B14F-4D97-AF65-F5344CB8AC3E}">
        <p14:creationId xmlns:p14="http://schemas.microsoft.com/office/powerpoint/2010/main" val="1090692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3F2EA6-7584-C8DB-64C2-ED488466828A}"/>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79ACAE56-8BC7-3E6E-E015-11019928BE63}"/>
              </a:ext>
            </a:extLst>
          </p:cNvPr>
          <p:cNvSpPr>
            <a:spLocks noGrp="1"/>
          </p:cNvSpPr>
          <p:nvPr>
            <p:ph type="body" sz="quarter" idx="13"/>
          </p:nvPr>
        </p:nvSpPr>
        <p:spPr/>
        <p:txBody>
          <a:bodyPr/>
          <a:lstStyle/>
          <a:p>
            <a:r>
              <a:rPr lang="en-US" dirty="0"/>
              <a:t>Terminology  </a:t>
            </a:r>
          </a:p>
          <a:p>
            <a:endParaRPr lang="en-US" dirty="0"/>
          </a:p>
        </p:txBody>
      </p:sp>
      <p:graphicFrame>
        <p:nvGraphicFramePr>
          <p:cNvPr id="5" name="Table 5">
            <a:extLst>
              <a:ext uri="{FF2B5EF4-FFF2-40B4-BE49-F238E27FC236}">
                <a16:creationId xmlns:a16="http://schemas.microsoft.com/office/drawing/2014/main" id="{68D280E0-E35B-F8A5-E3F1-4F51BD5D6F3F}"/>
              </a:ext>
            </a:extLst>
          </p:cNvPr>
          <p:cNvGraphicFramePr>
            <a:graphicFrameLocks noGrp="1"/>
          </p:cNvGraphicFramePr>
          <p:nvPr>
            <p:extLst>
              <p:ext uri="{D42A27DB-BD31-4B8C-83A1-F6EECF244321}">
                <p14:modId xmlns:p14="http://schemas.microsoft.com/office/powerpoint/2010/main" val="4149303016"/>
              </p:ext>
            </p:extLst>
          </p:nvPr>
        </p:nvGraphicFramePr>
        <p:xfrm>
          <a:off x="575187" y="1192449"/>
          <a:ext cx="10748134" cy="4429989"/>
        </p:xfrm>
        <a:graphic>
          <a:graphicData uri="http://schemas.openxmlformats.org/drawingml/2006/table">
            <a:tbl>
              <a:tblPr firstRow="1" bandRow="1">
                <a:tableStyleId>{BDBED569-4797-4DF1-A0F4-6AAB3CD982D8}</a:tableStyleId>
              </a:tblPr>
              <a:tblGrid>
                <a:gridCol w="4198694">
                  <a:extLst>
                    <a:ext uri="{9D8B030D-6E8A-4147-A177-3AD203B41FA5}">
                      <a16:colId xmlns:a16="http://schemas.microsoft.com/office/drawing/2014/main" val="2272818449"/>
                    </a:ext>
                  </a:extLst>
                </a:gridCol>
                <a:gridCol w="6549440">
                  <a:extLst>
                    <a:ext uri="{9D8B030D-6E8A-4147-A177-3AD203B41FA5}">
                      <a16:colId xmlns:a16="http://schemas.microsoft.com/office/drawing/2014/main" val="632442583"/>
                    </a:ext>
                  </a:extLst>
                </a:gridCol>
              </a:tblGrid>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600" b="1" kern="1200" dirty="0">
                          <a:solidFill>
                            <a:schemeClr val="tx1"/>
                          </a:solidFill>
                          <a:effectLst/>
                          <a:latin typeface="+mn-lt"/>
                          <a:ea typeface="+mn-ea"/>
                          <a:cs typeface="+mn-cs"/>
                        </a:rPr>
                        <a:t>Test Items</a:t>
                      </a:r>
                    </a:p>
                  </a:txBody>
                  <a:tcPr/>
                </a:tc>
                <a:tc>
                  <a:txBody>
                    <a:bodyPr/>
                    <a:lstStyle/>
                    <a:p>
                      <a:r>
                        <a:rPr lang="en-US" sz="1600" b="1" kern="1200">
                          <a:solidFill>
                            <a:schemeClr val="tx1"/>
                          </a:solidFill>
                          <a:effectLst/>
                          <a:latin typeface="+mn-lt"/>
                          <a:ea typeface="+mn-ea"/>
                          <a:cs typeface="+mn-cs"/>
                        </a:rPr>
                        <a:t>Description</a:t>
                      </a:r>
                      <a:endParaRPr lang="en-US" sz="1600" b="1" kern="1200" dirty="0">
                        <a:solidFill>
                          <a:schemeClr val="tx1"/>
                        </a:solidFill>
                        <a:effectLst/>
                        <a:latin typeface="+mn-lt"/>
                        <a:ea typeface="+mn-ea"/>
                        <a:cs typeface="+mn-cs"/>
                      </a:endParaRPr>
                    </a:p>
                  </a:txBody>
                  <a:tcPr/>
                </a:tc>
                <a:extLst>
                  <a:ext uri="{0D108BD9-81ED-4DB2-BD59-A6C34878D82A}">
                    <a16:rowId xmlns:a16="http://schemas.microsoft.com/office/drawing/2014/main" val="1281638065"/>
                  </a:ext>
                </a:extLst>
              </a:tr>
              <a:tr h="370840">
                <a:tc>
                  <a:txBody>
                    <a:bodyPr/>
                    <a:lstStyle/>
                    <a:p>
                      <a:r>
                        <a:rPr lang="en-US" altLang="zh-TW" sz="1800" b="0" kern="1200" dirty="0" err="1">
                          <a:solidFill>
                            <a:schemeClr val="tx1"/>
                          </a:solidFill>
                          <a:effectLst/>
                          <a:latin typeface="+mn-lt"/>
                          <a:ea typeface="+mn-ea"/>
                          <a:cs typeface="+mn-cs"/>
                        </a:rPr>
                        <a:t>DummyReset</a:t>
                      </a:r>
                      <a:endParaRPr lang="en-US" altLang="zh-TW" sz="1800" b="0" kern="1200" dirty="0">
                        <a:solidFill>
                          <a:schemeClr val="tx1"/>
                        </a:solidFill>
                        <a:effectLst/>
                        <a:latin typeface="+mn-lt"/>
                        <a:ea typeface="+mn-ea"/>
                        <a:cs typeface="+mn-cs"/>
                      </a:endParaRPr>
                    </a:p>
                  </a:txBody>
                  <a:tcPr/>
                </a:tc>
                <a:tc>
                  <a:txBody>
                    <a:bodyPr/>
                    <a:lstStyle/>
                    <a:p>
                      <a:r>
                        <a:rPr lang="en-US" sz="1600" b="0" kern="1200" dirty="0">
                          <a:solidFill>
                            <a:schemeClr val="tx1"/>
                          </a:solidFill>
                          <a:effectLst/>
                          <a:latin typeface="+mn-lt"/>
                          <a:ea typeface="+mn-ea"/>
                          <a:cs typeface="+mn-cs"/>
                        </a:rPr>
                        <a:t>Reset the Dummy board</a:t>
                      </a:r>
                    </a:p>
                  </a:txBody>
                  <a:tcPr/>
                </a:tc>
                <a:extLst>
                  <a:ext uri="{0D108BD9-81ED-4DB2-BD59-A6C34878D82A}">
                    <a16:rowId xmlns:a16="http://schemas.microsoft.com/office/drawing/2014/main" val="3660078263"/>
                  </a:ext>
                </a:extLst>
              </a:tr>
              <a:tr h="370840">
                <a:tc>
                  <a:txBody>
                    <a:bodyPr/>
                    <a:lstStyle/>
                    <a:p>
                      <a:r>
                        <a:rPr lang="en-US" altLang="zh-TW" sz="1800" b="0" kern="1200" dirty="0" err="1">
                          <a:solidFill>
                            <a:schemeClr val="tx1"/>
                          </a:solidFill>
                          <a:effectLst/>
                          <a:latin typeface="+mn-lt"/>
                          <a:ea typeface="+mn-ea"/>
                          <a:cs typeface="+mn-cs"/>
                        </a:rPr>
                        <a:t>ConnectivityTest_PARROT</a:t>
                      </a:r>
                      <a:endParaRPr lang="en-US" altLang="zh-TW" sz="1800" b="0" kern="1200" dirty="0">
                        <a:solidFill>
                          <a:schemeClr val="tx1"/>
                        </a:solidFill>
                        <a:effectLst/>
                        <a:latin typeface="+mn-lt"/>
                        <a:ea typeface="+mn-ea"/>
                        <a:cs typeface="+mn-cs"/>
                      </a:endParaRPr>
                    </a:p>
                  </a:txBody>
                  <a:tcPr/>
                </a:tc>
                <a:tc>
                  <a:txBody>
                    <a:bodyPr/>
                    <a:lstStyle/>
                    <a:p>
                      <a:r>
                        <a:rPr lang="en-US" altLang="zh-TW" sz="1600" b="0" kern="1200" dirty="0">
                          <a:solidFill>
                            <a:schemeClr val="tx1"/>
                          </a:solidFill>
                          <a:effectLst/>
                          <a:latin typeface="+mn-lt"/>
                          <a:ea typeface="+mn-ea"/>
                          <a:cs typeface="+mn-cs"/>
                        </a:rPr>
                        <a:t>Verify the connectivity between the DUT and the PARROT device</a:t>
                      </a:r>
                      <a:endParaRPr lang="en-US" sz="1600" b="0" kern="1200" dirty="0">
                        <a:solidFill>
                          <a:schemeClr val="tx1"/>
                        </a:solidFill>
                        <a:effectLst/>
                        <a:latin typeface="+mn-lt"/>
                        <a:ea typeface="+mn-ea"/>
                        <a:cs typeface="+mn-cs"/>
                      </a:endParaRPr>
                    </a:p>
                  </a:txBody>
                  <a:tcPr/>
                </a:tc>
                <a:extLst>
                  <a:ext uri="{0D108BD9-81ED-4DB2-BD59-A6C34878D82A}">
                    <a16:rowId xmlns:a16="http://schemas.microsoft.com/office/drawing/2014/main" val="402767234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b="0" kern="1200" dirty="0" err="1">
                          <a:solidFill>
                            <a:schemeClr val="tx1"/>
                          </a:solidFill>
                          <a:effectLst/>
                          <a:latin typeface="+mn-lt"/>
                          <a:ea typeface="+mn-ea"/>
                          <a:cs typeface="+mn-cs"/>
                        </a:rPr>
                        <a:t>OpenBudlinkChannel</a:t>
                      </a:r>
                      <a:endParaRPr lang="en-US" altLang="zh-TW" sz="1800" b="0" kern="1200" dirty="0">
                        <a:solidFill>
                          <a:schemeClr val="tx1"/>
                        </a:solidFill>
                        <a:effectLst/>
                        <a:latin typeface="+mn-lt"/>
                        <a:ea typeface="+mn-ea"/>
                        <a:cs typeface="+mn-cs"/>
                      </a:endParaRPr>
                    </a:p>
                  </a:txBody>
                  <a:tcPr/>
                </a:tc>
                <a:tc>
                  <a:txBody>
                    <a:bodyPr/>
                    <a:lstStyle/>
                    <a:p>
                      <a:r>
                        <a:rPr lang="en-US" sz="1600" b="0" kern="1200" dirty="0">
                          <a:solidFill>
                            <a:schemeClr val="tx1"/>
                          </a:solidFill>
                          <a:effectLst/>
                          <a:latin typeface="+mn-lt"/>
                          <a:ea typeface="+mn-ea"/>
                          <a:cs typeface="+mn-cs"/>
                        </a:rPr>
                        <a:t>Open the dummy board </a:t>
                      </a:r>
                      <a:r>
                        <a:rPr lang="en-US" sz="1600" b="0" kern="1200" dirty="0" err="1">
                          <a:solidFill>
                            <a:schemeClr val="tx1"/>
                          </a:solidFill>
                          <a:effectLst/>
                          <a:latin typeface="+mn-lt"/>
                          <a:ea typeface="+mn-ea"/>
                          <a:cs typeface="+mn-cs"/>
                        </a:rPr>
                        <a:t>budlink</a:t>
                      </a:r>
                      <a:r>
                        <a:rPr lang="en-US" sz="1600" b="0" kern="1200" dirty="0">
                          <a:solidFill>
                            <a:schemeClr val="tx1"/>
                          </a:solidFill>
                          <a:effectLst/>
                          <a:latin typeface="+mn-lt"/>
                          <a:ea typeface="+mn-ea"/>
                          <a:cs typeface="+mn-cs"/>
                        </a:rPr>
                        <a:t> channel</a:t>
                      </a:r>
                    </a:p>
                  </a:txBody>
                  <a:tcPr/>
                </a:tc>
                <a:extLst>
                  <a:ext uri="{0D108BD9-81ED-4DB2-BD59-A6C34878D82A}">
                    <a16:rowId xmlns:a16="http://schemas.microsoft.com/office/drawing/2014/main" val="376368070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b="0" kern="1200" dirty="0" err="1">
                          <a:solidFill>
                            <a:schemeClr val="tx1"/>
                          </a:solidFill>
                          <a:effectLst/>
                          <a:latin typeface="+mn-lt"/>
                          <a:ea typeface="+mn-ea"/>
                          <a:cs typeface="+mn-cs"/>
                        </a:rPr>
                        <a:t>ConnectivityTest_BuddyLink</a:t>
                      </a:r>
                      <a:r>
                        <a:rPr lang="en-US" altLang="zh-TW" sz="1800" b="0" kern="1200" dirty="0">
                          <a:solidFill>
                            <a:schemeClr val="tx1"/>
                          </a:solidFill>
                          <a:effectLst/>
                          <a:latin typeface="+mn-lt"/>
                          <a:ea typeface="+mn-ea"/>
                          <a:cs typeface="+mn-cs"/>
                        </a:rPr>
                        <a:t>(Right/Left)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600" b="0" kern="1200">
                          <a:solidFill>
                            <a:schemeClr val="tx1"/>
                          </a:solidFill>
                          <a:effectLst/>
                          <a:latin typeface="+mn-lt"/>
                          <a:ea typeface="+mn-ea"/>
                          <a:cs typeface="+mn-cs"/>
                        </a:rPr>
                        <a:t>Check the communication function between Case and bud</a:t>
                      </a:r>
                      <a:endParaRPr lang="en-US" altLang="zh-TW" sz="1600" b="0" kern="1200" dirty="0">
                        <a:solidFill>
                          <a:schemeClr val="tx1"/>
                        </a:solidFill>
                        <a:effectLst/>
                        <a:latin typeface="+mn-lt"/>
                        <a:ea typeface="+mn-ea"/>
                        <a:cs typeface="+mn-cs"/>
                      </a:endParaRPr>
                    </a:p>
                  </a:txBody>
                  <a:tcPr/>
                </a:tc>
                <a:extLst>
                  <a:ext uri="{0D108BD9-81ED-4DB2-BD59-A6C34878D82A}">
                    <a16:rowId xmlns:a16="http://schemas.microsoft.com/office/drawing/2014/main" val="51467496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b="0" kern="1200" dirty="0" err="1">
                          <a:solidFill>
                            <a:schemeClr val="tx1"/>
                          </a:solidFill>
                          <a:effectLst/>
                          <a:latin typeface="+mn-lt"/>
                          <a:ea typeface="+mn-ea"/>
                          <a:cs typeface="+mn-cs"/>
                        </a:rPr>
                        <a:t>CloseBudlinkChannel</a:t>
                      </a:r>
                      <a:endParaRPr lang="en-US" altLang="zh-TW" sz="1800" b="0" kern="1200" dirty="0">
                        <a:solidFill>
                          <a:schemeClr val="tx1"/>
                        </a:solidFill>
                        <a:effectLst/>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600" b="0" kern="1200">
                          <a:solidFill>
                            <a:schemeClr val="tx1"/>
                          </a:solidFill>
                          <a:effectLst/>
                          <a:latin typeface="+mn-lt"/>
                          <a:ea typeface="+mn-ea"/>
                          <a:cs typeface="+mn-cs"/>
                        </a:rPr>
                        <a:t>Close the dummy board budlink channel</a:t>
                      </a:r>
                      <a:endParaRPr lang="en-US" altLang="zh-TW" sz="1600" b="0" kern="1200" dirty="0">
                        <a:solidFill>
                          <a:schemeClr val="tx1"/>
                        </a:solidFill>
                        <a:effectLst/>
                        <a:latin typeface="+mn-lt"/>
                        <a:ea typeface="+mn-ea"/>
                        <a:cs typeface="+mn-cs"/>
                      </a:endParaRPr>
                    </a:p>
                  </a:txBody>
                  <a:tcPr/>
                </a:tc>
                <a:extLst>
                  <a:ext uri="{0D108BD9-81ED-4DB2-BD59-A6C34878D82A}">
                    <a16:rowId xmlns:a16="http://schemas.microsoft.com/office/drawing/2014/main" val="178066437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b="0" kern="1200" dirty="0" err="1">
                          <a:solidFill>
                            <a:schemeClr val="tx1"/>
                          </a:solidFill>
                          <a:effectLst/>
                          <a:latin typeface="+mn-lt"/>
                          <a:ea typeface="+mn-ea"/>
                          <a:cs typeface="+mn-cs"/>
                        </a:rPr>
                        <a:t>Release_DUT</a:t>
                      </a:r>
                      <a:endParaRPr lang="en-US" altLang="zh-TW" sz="1800" b="0" kern="1200" dirty="0">
                        <a:solidFill>
                          <a:schemeClr val="tx1"/>
                        </a:solidFill>
                        <a:effectLst/>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600" b="0" kern="1200" dirty="0">
                          <a:solidFill>
                            <a:schemeClr val="tx1"/>
                          </a:solidFill>
                          <a:effectLst/>
                          <a:latin typeface="+mn-lt"/>
                          <a:ea typeface="+mn-ea"/>
                          <a:cs typeface="+mn-cs"/>
                        </a:rPr>
                        <a:t>Raise the dummy-bud pressing module to release the DUT fixture</a:t>
                      </a:r>
                    </a:p>
                  </a:txBody>
                  <a:tcPr/>
                </a:tc>
                <a:extLst>
                  <a:ext uri="{0D108BD9-81ED-4DB2-BD59-A6C34878D82A}">
                    <a16:rowId xmlns:a16="http://schemas.microsoft.com/office/drawing/2014/main" val="400560139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b="0" kern="1200" dirty="0" err="1">
                          <a:solidFill>
                            <a:schemeClr val="tx1"/>
                          </a:solidFill>
                          <a:effectLst/>
                          <a:latin typeface="+mn-lt"/>
                          <a:ea typeface="+mn-ea"/>
                          <a:cs typeface="+mn-cs"/>
                        </a:rPr>
                        <a:t>LidStatusCheck</a:t>
                      </a:r>
                      <a:endParaRPr lang="en-US" altLang="zh-TW" sz="1800" b="0" kern="1200" dirty="0">
                        <a:solidFill>
                          <a:schemeClr val="tx1"/>
                        </a:solidFill>
                        <a:effectLst/>
                        <a:latin typeface="+mn-lt"/>
                        <a:ea typeface="+mn-ea"/>
                        <a:cs typeface="+mn-cs"/>
                      </a:endParaRPr>
                    </a:p>
                  </a:txBody>
                  <a:tcPr/>
                </a:tc>
                <a:tc>
                  <a:txBody>
                    <a:bodyPr/>
                    <a:lstStyle/>
                    <a:p>
                      <a:r>
                        <a:rPr lang="en-US" altLang="zh-TW" sz="1600" b="0" kern="1200">
                          <a:solidFill>
                            <a:schemeClr val="tx1"/>
                          </a:solidFill>
                          <a:effectLst/>
                          <a:latin typeface="+mn-lt"/>
                          <a:ea typeface="+mn-ea"/>
                          <a:cs typeface="+mn-cs"/>
                        </a:rPr>
                        <a:t>Check Case lid status</a:t>
                      </a:r>
                      <a:endParaRPr lang="en-US" altLang="zh-TW" sz="1600" b="0" kern="1200" dirty="0">
                        <a:solidFill>
                          <a:schemeClr val="tx1"/>
                        </a:solidFill>
                        <a:effectLst/>
                        <a:latin typeface="+mn-lt"/>
                        <a:ea typeface="+mn-ea"/>
                        <a:cs typeface="+mn-cs"/>
                      </a:endParaRPr>
                    </a:p>
                  </a:txBody>
                  <a:tcPr/>
                </a:tc>
                <a:extLst>
                  <a:ext uri="{0D108BD9-81ED-4DB2-BD59-A6C34878D82A}">
                    <a16:rowId xmlns:a16="http://schemas.microsoft.com/office/drawing/2014/main" val="136141798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b="0" kern="1200" dirty="0" err="1">
                          <a:solidFill>
                            <a:schemeClr val="tx1"/>
                          </a:solidFill>
                          <a:effectLst/>
                          <a:latin typeface="+mn-lt"/>
                          <a:ea typeface="+mn-ea"/>
                          <a:cs typeface="+mn-cs"/>
                        </a:rPr>
                        <a:t>SystemReset</a:t>
                      </a:r>
                      <a:endParaRPr lang="en-US" altLang="zh-TW" sz="1800" b="0" kern="1200" dirty="0">
                        <a:solidFill>
                          <a:schemeClr val="tx1"/>
                        </a:solidFill>
                        <a:effectLst/>
                        <a:latin typeface="+mn-lt"/>
                        <a:ea typeface="+mn-ea"/>
                        <a:cs typeface="+mn-cs"/>
                      </a:endParaRPr>
                    </a:p>
                  </a:txBody>
                  <a:tcPr/>
                </a:tc>
                <a:tc>
                  <a:txBody>
                    <a:bodyPr/>
                    <a:lstStyle/>
                    <a:p>
                      <a:r>
                        <a:rPr lang="en-US" sz="1600" b="0" kern="1200" dirty="0">
                          <a:solidFill>
                            <a:schemeClr val="tx1"/>
                          </a:solidFill>
                          <a:effectLst/>
                          <a:latin typeface="+mn-lt"/>
                          <a:ea typeface="+mn-ea"/>
                          <a:cs typeface="+mn-cs"/>
                        </a:rPr>
                        <a:t>Reset the DUT device </a:t>
                      </a:r>
                    </a:p>
                  </a:txBody>
                  <a:tcPr/>
                </a:tc>
                <a:extLst>
                  <a:ext uri="{0D108BD9-81ED-4DB2-BD59-A6C34878D82A}">
                    <a16:rowId xmlns:a16="http://schemas.microsoft.com/office/drawing/2014/main" val="29902983"/>
                  </a:ext>
                </a:extLst>
              </a:tr>
              <a:tr h="370840">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600" b="1" kern="1200" dirty="0">
                          <a:solidFill>
                            <a:schemeClr val="tx1"/>
                          </a:solidFill>
                          <a:effectLst/>
                          <a:latin typeface="+mn-lt"/>
                          <a:ea typeface="+mn-ea"/>
                          <a:cs typeface="+mn-cs"/>
                        </a:rPr>
                        <a:t>Teardown</a:t>
                      </a:r>
                    </a:p>
                  </a:txBody>
                  <a:tcPr>
                    <a:solidFill>
                      <a:schemeClr val="accent6">
                        <a:alpha val="20000"/>
                      </a:schemeClr>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TW" sz="1600" b="1" kern="1200" dirty="0">
                        <a:solidFill>
                          <a:schemeClr val="tx1"/>
                        </a:solidFill>
                        <a:effectLst/>
                        <a:latin typeface="+mn-lt"/>
                        <a:ea typeface="+mn-ea"/>
                        <a:cs typeface="+mn-cs"/>
                      </a:endParaRPr>
                    </a:p>
                  </a:txBody>
                  <a:tcPr>
                    <a:solidFill>
                      <a:schemeClr val="accent6">
                        <a:alpha val="20000"/>
                      </a:schemeClr>
                    </a:solidFill>
                  </a:tcPr>
                </a:tc>
                <a:extLst>
                  <a:ext uri="{0D108BD9-81ED-4DB2-BD59-A6C34878D82A}">
                    <a16:rowId xmlns:a16="http://schemas.microsoft.com/office/drawing/2014/main" val="70796894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b="0" kern="1200" dirty="0" err="1">
                          <a:solidFill>
                            <a:schemeClr val="tx1"/>
                          </a:solidFill>
                          <a:effectLst/>
                          <a:latin typeface="+mn-lt"/>
                          <a:ea typeface="+mn-ea"/>
                          <a:cs typeface="+mn-cs"/>
                        </a:rPr>
                        <a:t>FixtureReset</a:t>
                      </a:r>
                      <a:endParaRPr lang="en-US" altLang="zh-TW" sz="1800" b="0" kern="1200" dirty="0">
                        <a:solidFill>
                          <a:schemeClr val="tx1"/>
                        </a:solidFill>
                        <a:effectLst/>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600" b="0" kern="1200" dirty="0">
                          <a:solidFill>
                            <a:schemeClr val="tx1"/>
                          </a:solidFill>
                          <a:effectLst/>
                          <a:latin typeface="+mn-lt"/>
                          <a:ea typeface="+mn-ea"/>
                          <a:cs typeface="+mn-cs"/>
                        </a:rPr>
                        <a:t>Reset the fixture to ensure it returns to the initial position</a:t>
                      </a:r>
                    </a:p>
                  </a:txBody>
                  <a:tcPr/>
                </a:tc>
                <a:extLst>
                  <a:ext uri="{0D108BD9-81ED-4DB2-BD59-A6C34878D82A}">
                    <a16:rowId xmlns:a16="http://schemas.microsoft.com/office/drawing/2014/main" val="2537795761"/>
                  </a:ext>
                </a:extLst>
              </a:tr>
              <a:tr h="3863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b="0" kern="1200" dirty="0" err="1">
                          <a:solidFill>
                            <a:schemeClr val="tx1"/>
                          </a:solidFill>
                          <a:effectLst/>
                          <a:latin typeface="+mn-lt"/>
                          <a:ea typeface="+mn-ea"/>
                          <a:cs typeface="+mn-cs"/>
                        </a:rPr>
                        <a:t>cleanSN</a:t>
                      </a:r>
                      <a:endParaRPr lang="en-US" altLang="zh-TW" sz="1800" b="0" kern="1200" dirty="0">
                        <a:solidFill>
                          <a:schemeClr val="tx1"/>
                        </a:solidFill>
                        <a:effectLst/>
                        <a:latin typeface="+mn-lt"/>
                        <a:ea typeface="+mn-ea"/>
                        <a:cs typeface="+mn-cs"/>
                      </a:endParaRPr>
                    </a:p>
                  </a:txBody>
                  <a:tcPr/>
                </a:tc>
                <a:tc>
                  <a:txBody>
                    <a:bodyPr/>
                    <a:lstStyle/>
                    <a:p>
                      <a:pPr marL="0" algn="l" defTabSz="914400" rtl="0" eaLnBrk="1" latinLnBrk="0" hangingPunct="1"/>
                      <a:r>
                        <a:rPr lang="en-US" altLang="zh-TW" sz="1600" b="0" kern="1200" dirty="0">
                          <a:solidFill>
                            <a:schemeClr val="tx1"/>
                          </a:solidFill>
                          <a:effectLst/>
                          <a:latin typeface="+mn-lt"/>
                          <a:ea typeface="+mn-ea"/>
                          <a:cs typeface="+mn-cs"/>
                        </a:rPr>
                        <a:t>Clear the DUT's SN to allow reprogramming or retesting.</a:t>
                      </a:r>
                      <a:endParaRPr lang="en-US" sz="1600" b="0" kern="1200" dirty="0">
                        <a:solidFill>
                          <a:schemeClr val="tx1"/>
                        </a:solidFill>
                        <a:effectLst/>
                        <a:latin typeface="+mn-lt"/>
                        <a:ea typeface="+mn-ea"/>
                        <a:cs typeface="+mn-cs"/>
                      </a:endParaRPr>
                    </a:p>
                  </a:txBody>
                  <a:tcPr/>
                </a:tc>
                <a:extLst>
                  <a:ext uri="{0D108BD9-81ED-4DB2-BD59-A6C34878D82A}">
                    <a16:rowId xmlns:a16="http://schemas.microsoft.com/office/drawing/2014/main" val="3552067569"/>
                  </a:ext>
                </a:extLst>
              </a:tr>
            </a:tbl>
          </a:graphicData>
        </a:graphic>
      </p:graphicFrame>
    </p:spTree>
    <p:extLst>
      <p:ext uri="{BB962C8B-B14F-4D97-AF65-F5344CB8AC3E}">
        <p14:creationId xmlns:p14="http://schemas.microsoft.com/office/powerpoint/2010/main" val="10640091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EE17E9-3466-B9E3-27A1-B80797122514}"/>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353BA92A-82A6-F996-3098-CDE99A87318C}"/>
              </a:ext>
            </a:extLst>
          </p:cNvPr>
          <p:cNvSpPr>
            <a:spLocks noGrp="1"/>
          </p:cNvSpPr>
          <p:nvPr>
            <p:ph type="body" sz="quarter" idx="13"/>
          </p:nvPr>
        </p:nvSpPr>
        <p:spPr/>
        <p:txBody>
          <a:bodyPr/>
          <a:lstStyle/>
          <a:p>
            <a:r>
              <a:rPr lang="en-US" dirty="0"/>
              <a:t>Terminology  </a:t>
            </a:r>
          </a:p>
          <a:p>
            <a:endParaRPr lang="en-US" dirty="0"/>
          </a:p>
        </p:txBody>
      </p:sp>
      <p:graphicFrame>
        <p:nvGraphicFramePr>
          <p:cNvPr id="2" name="表格 1">
            <a:extLst>
              <a:ext uri="{FF2B5EF4-FFF2-40B4-BE49-F238E27FC236}">
                <a16:creationId xmlns:a16="http://schemas.microsoft.com/office/drawing/2014/main" id="{65EC57E2-EA1C-18A8-6C59-C401F0EB6B3C}"/>
              </a:ext>
            </a:extLst>
          </p:cNvPr>
          <p:cNvGraphicFramePr>
            <a:graphicFrameLocks noGrp="1"/>
          </p:cNvGraphicFramePr>
          <p:nvPr>
            <p:extLst>
              <p:ext uri="{D42A27DB-BD31-4B8C-83A1-F6EECF244321}">
                <p14:modId xmlns:p14="http://schemas.microsoft.com/office/powerpoint/2010/main" val="2724949100"/>
              </p:ext>
            </p:extLst>
          </p:nvPr>
        </p:nvGraphicFramePr>
        <p:xfrm>
          <a:off x="571501" y="1583775"/>
          <a:ext cx="10282114" cy="4976759"/>
        </p:xfrm>
        <a:graphic>
          <a:graphicData uri="http://schemas.openxmlformats.org/drawingml/2006/table">
            <a:tbl>
              <a:tblPr>
                <a:tableStyleId>{5C22544A-7EE6-4342-B048-85BDC9FD1C3A}</a:tableStyleId>
              </a:tblPr>
              <a:tblGrid>
                <a:gridCol w="2040209">
                  <a:extLst>
                    <a:ext uri="{9D8B030D-6E8A-4147-A177-3AD203B41FA5}">
                      <a16:colId xmlns:a16="http://schemas.microsoft.com/office/drawing/2014/main" val="3516443454"/>
                    </a:ext>
                  </a:extLst>
                </a:gridCol>
                <a:gridCol w="1553803">
                  <a:extLst>
                    <a:ext uri="{9D8B030D-6E8A-4147-A177-3AD203B41FA5}">
                      <a16:colId xmlns:a16="http://schemas.microsoft.com/office/drawing/2014/main" val="2903254492"/>
                    </a:ext>
                  </a:extLst>
                </a:gridCol>
                <a:gridCol w="2391502">
                  <a:extLst>
                    <a:ext uri="{9D8B030D-6E8A-4147-A177-3AD203B41FA5}">
                      <a16:colId xmlns:a16="http://schemas.microsoft.com/office/drawing/2014/main" val="547022443"/>
                    </a:ext>
                  </a:extLst>
                </a:gridCol>
                <a:gridCol w="4296600">
                  <a:extLst>
                    <a:ext uri="{9D8B030D-6E8A-4147-A177-3AD203B41FA5}">
                      <a16:colId xmlns:a16="http://schemas.microsoft.com/office/drawing/2014/main" val="679067234"/>
                    </a:ext>
                  </a:extLst>
                </a:gridCol>
              </a:tblGrid>
              <a:tr h="291254">
                <a:tc>
                  <a:txBody>
                    <a:bodyPr/>
                    <a:lstStyle/>
                    <a:p>
                      <a:pPr algn="l" fontAlgn="ctr">
                        <a:buNone/>
                      </a:pPr>
                      <a:r>
                        <a:rPr lang="en-US" sz="1400" b="1" u="none" strike="noStrike" dirty="0">
                          <a:solidFill>
                            <a:schemeClr val="bg1"/>
                          </a:solidFill>
                          <a:effectLst/>
                        </a:rPr>
                        <a:t>Functions</a:t>
                      </a:r>
                      <a:endParaRPr lang="en-US" sz="1400" b="1" i="0" u="none" strike="noStrike" dirty="0">
                        <a:solidFill>
                          <a:schemeClr val="bg1"/>
                        </a:solidFill>
                        <a:effectLst/>
                        <a:latin typeface="新細明體" panose="02020500000000000000" pitchFamily="18" charset="-120"/>
                        <a:ea typeface="新細明體" panose="02020500000000000000" pitchFamily="18" charset="-120"/>
                      </a:endParaRPr>
                    </a:p>
                  </a:txBody>
                  <a:tcPr marL="6881" marR="6881" marT="6881"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accent6">
                        <a:lumMod val="75000"/>
                      </a:schemeClr>
                    </a:solidFill>
                  </a:tcPr>
                </a:tc>
                <a:tc>
                  <a:txBody>
                    <a:bodyPr/>
                    <a:lstStyle/>
                    <a:p>
                      <a:pPr algn="l" fontAlgn="ctr">
                        <a:buNone/>
                      </a:pPr>
                      <a:r>
                        <a:rPr lang="en-US" sz="1400" b="1" u="none" strike="noStrike" dirty="0">
                          <a:solidFill>
                            <a:schemeClr val="bg1"/>
                          </a:solidFill>
                          <a:effectLst/>
                        </a:rPr>
                        <a:t>Command</a:t>
                      </a:r>
                      <a:endParaRPr lang="en-US" sz="1400" b="1" i="0" u="none" strike="noStrike" dirty="0">
                        <a:solidFill>
                          <a:schemeClr val="bg1"/>
                        </a:solidFill>
                        <a:effectLst/>
                        <a:latin typeface="新細明體" panose="02020500000000000000" pitchFamily="18" charset="-120"/>
                        <a:ea typeface="新細明體" panose="02020500000000000000" pitchFamily="18" charset="-120"/>
                      </a:endParaRPr>
                    </a:p>
                  </a:txBody>
                  <a:tcPr marL="6881" marR="6881" marT="6881" marB="0" anchor="ctr">
                    <a:lnT w="12700" cap="flat" cmpd="sng" algn="ctr">
                      <a:solidFill>
                        <a:schemeClr val="tx1"/>
                      </a:solidFill>
                      <a:prstDash val="solid"/>
                      <a:round/>
                      <a:headEnd type="none" w="med" len="med"/>
                      <a:tailEnd type="none" w="med" len="med"/>
                    </a:lnT>
                    <a:solidFill>
                      <a:schemeClr val="accent6">
                        <a:lumMod val="75000"/>
                      </a:schemeClr>
                    </a:solidFill>
                  </a:tcPr>
                </a:tc>
                <a:tc>
                  <a:txBody>
                    <a:bodyPr/>
                    <a:lstStyle/>
                    <a:p>
                      <a:pPr algn="ctr" fontAlgn="ctr">
                        <a:buNone/>
                      </a:pPr>
                      <a:r>
                        <a:rPr lang="en-US" sz="1400" b="1" u="none" strike="noStrike" dirty="0">
                          <a:solidFill>
                            <a:schemeClr val="bg1"/>
                          </a:solidFill>
                          <a:effectLst/>
                        </a:rPr>
                        <a:t>Return</a:t>
                      </a:r>
                      <a:endParaRPr lang="en-US" sz="1400" b="1" i="0" u="none" strike="noStrike" dirty="0">
                        <a:solidFill>
                          <a:schemeClr val="bg1"/>
                        </a:solidFill>
                        <a:effectLst/>
                        <a:latin typeface="新細明體" panose="02020500000000000000" pitchFamily="18" charset="-120"/>
                        <a:ea typeface="新細明體" panose="02020500000000000000" pitchFamily="18" charset="-120"/>
                      </a:endParaRPr>
                    </a:p>
                  </a:txBody>
                  <a:tcPr marL="6881" marR="6881" marT="6881" marB="0" anchor="ctr">
                    <a:lnT w="12700" cap="flat" cmpd="sng" algn="ctr">
                      <a:solidFill>
                        <a:schemeClr val="tx1"/>
                      </a:solidFill>
                      <a:prstDash val="solid"/>
                      <a:round/>
                      <a:headEnd type="none" w="med" len="med"/>
                      <a:tailEnd type="none" w="med" len="med"/>
                    </a:lnT>
                    <a:solidFill>
                      <a:schemeClr val="accent6">
                        <a:lumMod val="75000"/>
                      </a:schemeClr>
                    </a:solidFill>
                  </a:tcPr>
                </a:tc>
                <a:tc>
                  <a:txBody>
                    <a:bodyPr/>
                    <a:lstStyle/>
                    <a:p>
                      <a:pPr algn="ctr" fontAlgn="ctr">
                        <a:buNone/>
                      </a:pPr>
                      <a:r>
                        <a:rPr lang="en-US" sz="1400" b="1" u="none" strike="noStrike" dirty="0">
                          <a:solidFill>
                            <a:schemeClr val="bg1"/>
                          </a:solidFill>
                          <a:effectLst/>
                        </a:rPr>
                        <a:t>Notes</a:t>
                      </a:r>
                      <a:endParaRPr lang="en-US" sz="1400" b="1" i="0" u="none" strike="noStrike" dirty="0">
                        <a:solidFill>
                          <a:schemeClr val="bg1"/>
                        </a:solidFill>
                        <a:effectLst/>
                        <a:latin typeface="新細明體" panose="02020500000000000000" pitchFamily="18" charset="-120"/>
                        <a:ea typeface="新細明體" panose="02020500000000000000" pitchFamily="18" charset="-120"/>
                      </a:endParaRPr>
                    </a:p>
                  </a:txBody>
                  <a:tcPr marL="6881" marR="6881" marT="6881"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6">
                        <a:lumMod val="75000"/>
                      </a:schemeClr>
                    </a:solidFill>
                  </a:tcPr>
                </a:tc>
                <a:extLst>
                  <a:ext uri="{0D108BD9-81ED-4DB2-BD59-A6C34878D82A}">
                    <a16:rowId xmlns:a16="http://schemas.microsoft.com/office/drawing/2014/main" val="162791098"/>
                  </a:ext>
                </a:extLst>
              </a:tr>
              <a:tr h="261257">
                <a:tc>
                  <a:txBody>
                    <a:bodyPr/>
                    <a:lstStyle/>
                    <a:p>
                      <a:pPr algn="l" fontAlgn="ctr">
                        <a:buNone/>
                      </a:pPr>
                      <a:r>
                        <a:rPr lang="zh-TW" altLang="en-US" sz="1400" u="none" strike="noStrike" dirty="0">
                          <a:effectLst/>
                        </a:rPr>
                        <a:t>開始測試</a:t>
                      </a:r>
                      <a:endParaRPr lang="zh-TW" altLang="en-US" sz="1400" b="0" i="0" u="none" strike="noStrike" dirty="0">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lnL w="12700" cap="flat" cmpd="sng" algn="ctr">
                      <a:solidFill>
                        <a:schemeClr val="tx1"/>
                      </a:solidFill>
                      <a:prstDash val="solid"/>
                      <a:round/>
                      <a:headEnd type="none" w="med" len="med"/>
                      <a:tailEnd type="none" w="med" len="med"/>
                    </a:lnL>
                  </a:tcPr>
                </a:tc>
                <a:tc>
                  <a:txBody>
                    <a:bodyPr/>
                    <a:lstStyle/>
                    <a:p>
                      <a:pPr algn="l" fontAlgn="ctr">
                        <a:buNone/>
                      </a:pPr>
                      <a:r>
                        <a:rPr lang="zh-TW" altLang="en-US" sz="1400" u="none" strike="noStrike">
                          <a:effectLst/>
                        </a:rPr>
                        <a:t>　</a:t>
                      </a:r>
                      <a:endParaRPr lang="zh-TW" altLang="en-US" sz="1400" b="0" i="0" u="none" strike="noStrike">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tc>
                <a:tc>
                  <a:txBody>
                    <a:bodyPr/>
                    <a:lstStyle/>
                    <a:p>
                      <a:pPr algn="l" fontAlgn="ctr">
                        <a:buNone/>
                      </a:pPr>
                      <a:r>
                        <a:rPr lang="en-US" sz="1400" u="none" strike="noStrike" dirty="0">
                          <a:effectLst/>
                        </a:rPr>
                        <a:t>START</a:t>
                      </a:r>
                      <a:endParaRPr lang="en-US" sz="1400" b="0" i="0" u="none" strike="noStrike" dirty="0">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tc>
                <a:tc>
                  <a:txBody>
                    <a:bodyPr/>
                    <a:lstStyle/>
                    <a:p>
                      <a:pPr algn="ctr" fontAlgn="ctr">
                        <a:buNone/>
                      </a:pPr>
                      <a:r>
                        <a:rPr lang="zh-TW" altLang="en-US" sz="1400" u="none" strike="noStrike" dirty="0">
                          <a:effectLst/>
                        </a:rPr>
                        <a:t>按下左右按鈕，且氣壓缸有正確吸取時才發送 </a:t>
                      </a:r>
                      <a:r>
                        <a:rPr lang="en-US" sz="1400" u="none" strike="noStrike" dirty="0">
                          <a:effectLst/>
                        </a:rPr>
                        <a:t>START</a:t>
                      </a:r>
                      <a:endParaRPr lang="en-US" sz="1400" b="0" i="0" u="none" strike="noStrike" dirty="0">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766295620"/>
                  </a:ext>
                </a:extLst>
              </a:tr>
              <a:tr h="249382">
                <a:tc>
                  <a:txBody>
                    <a:bodyPr/>
                    <a:lstStyle/>
                    <a:p>
                      <a:pPr algn="l" fontAlgn="ctr">
                        <a:buNone/>
                      </a:pPr>
                      <a:r>
                        <a:rPr lang="zh-TW" altLang="en-US" sz="1400" u="none" strike="noStrike">
                          <a:effectLst/>
                        </a:rPr>
                        <a:t>進出汽缸工作位</a:t>
                      </a:r>
                      <a:r>
                        <a:rPr lang="en-US" altLang="zh-TW" sz="1400" u="none" strike="noStrike">
                          <a:effectLst/>
                        </a:rPr>
                        <a:t>(</a:t>
                      </a:r>
                      <a:r>
                        <a:rPr lang="zh-TW" altLang="en-US" sz="1400" u="none" strike="noStrike">
                          <a:effectLst/>
                        </a:rPr>
                        <a:t>入</a:t>
                      </a:r>
                      <a:r>
                        <a:rPr lang="en-US" altLang="zh-TW" sz="1400" u="none" strike="noStrike">
                          <a:effectLst/>
                        </a:rPr>
                        <a:t>)</a:t>
                      </a:r>
                      <a:endParaRPr lang="en-US" altLang="zh-TW" sz="1400" b="0" i="0" u="none" strike="noStrike">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lnL w="12700" cap="flat" cmpd="sng" algn="ctr">
                      <a:solidFill>
                        <a:schemeClr val="tx1"/>
                      </a:solidFill>
                      <a:prstDash val="solid"/>
                      <a:round/>
                      <a:headEnd type="none" w="med" len="med"/>
                      <a:tailEnd type="none" w="med" len="med"/>
                    </a:lnL>
                  </a:tcPr>
                </a:tc>
                <a:tc>
                  <a:txBody>
                    <a:bodyPr/>
                    <a:lstStyle/>
                    <a:p>
                      <a:pPr algn="l" fontAlgn="ctr">
                        <a:buNone/>
                      </a:pPr>
                      <a:r>
                        <a:rPr lang="en-US" sz="1400" u="none" strike="noStrike">
                          <a:effectLst/>
                        </a:rPr>
                        <a:t>cylinder1 front</a:t>
                      </a:r>
                      <a:endParaRPr lang="en-US" sz="1400" b="0" i="0" u="none" strike="noStrike">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tc>
                <a:tc>
                  <a:txBody>
                    <a:bodyPr/>
                    <a:lstStyle/>
                    <a:p>
                      <a:pPr algn="l" fontAlgn="ctr">
                        <a:buNone/>
                      </a:pPr>
                      <a:r>
                        <a:rPr lang="en-US" sz="1400" u="none" strike="noStrike">
                          <a:effectLst/>
                        </a:rPr>
                        <a:t>cylinder1 front[ok]</a:t>
                      </a:r>
                      <a:endParaRPr lang="en-US" sz="1400" b="0" i="0" u="none" strike="noStrike">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tc>
                <a:tc>
                  <a:txBody>
                    <a:bodyPr/>
                    <a:lstStyle/>
                    <a:p>
                      <a:pPr algn="ctr" fontAlgn="ctr">
                        <a:buNone/>
                      </a:pPr>
                      <a:r>
                        <a:rPr lang="zh-TW" altLang="en-US" sz="1400" u="none" strike="noStrike" dirty="0">
                          <a:effectLst/>
                        </a:rPr>
                        <a:t>先關蓋汽缸動作</a:t>
                      </a:r>
                      <a:r>
                        <a:rPr lang="en-US" altLang="zh-TW" sz="1400" u="none" strike="noStrike" dirty="0">
                          <a:effectLst/>
                        </a:rPr>
                        <a:t>(</a:t>
                      </a:r>
                      <a:r>
                        <a:rPr lang="en-US" sz="1400" u="none" strike="noStrike" dirty="0">
                          <a:effectLst/>
                        </a:rPr>
                        <a:t>cylinder3 front)，</a:t>
                      </a:r>
                      <a:r>
                        <a:rPr lang="zh-TW" altLang="en-US" sz="1400" u="none" strike="noStrike" dirty="0">
                          <a:effectLst/>
                        </a:rPr>
                        <a:t>再進入汽缸工作位</a:t>
                      </a:r>
                      <a:endParaRPr lang="zh-TW" altLang="en-US" sz="1400" b="0" i="0" u="none" strike="noStrike" dirty="0">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890778467"/>
                  </a:ext>
                </a:extLst>
              </a:tr>
              <a:tr h="231937">
                <a:tc>
                  <a:txBody>
                    <a:bodyPr/>
                    <a:lstStyle/>
                    <a:p>
                      <a:pPr algn="l" fontAlgn="ctr">
                        <a:buNone/>
                      </a:pPr>
                      <a:r>
                        <a:rPr lang="zh-TW" altLang="en-US" sz="1400" u="none" strike="noStrike">
                          <a:effectLst/>
                        </a:rPr>
                        <a:t>進出汽缸初始位</a:t>
                      </a:r>
                      <a:r>
                        <a:rPr lang="en-US" altLang="zh-TW" sz="1400" u="none" strike="noStrike">
                          <a:effectLst/>
                        </a:rPr>
                        <a:t>(</a:t>
                      </a:r>
                      <a:r>
                        <a:rPr lang="zh-TW" altLang="en-US" sz="1400" u="none" strike="noStrike">
                          <a:effectLst/>
                        </a:rPr>
                        <a:t>外</a:t>
                      </a:r>
                      <a:r>
                        <a:rPr lang="en-US" altLang="zh-TW" sz="1400" u="none" strike="noStrike">
                          <a:effectLst/>
                        </a:rPr>
                        <a:t>)</a:t>
                      </a:r>
                      <a:endParaRPr lang="en-US" altLang="zh-TW" sz="1400" b="0" i="0" u="none" strike="noStrike">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lnL w="12700" cap="flat" cmpd="sng" algn="ctr">
                      <a:solidFill>
                        <a:schemeClr val="tx1"/>
                      </a:solidFill>
                      <a:prstDash val="solid"/>
                      <a:round/>
                      <a:headEnd type="none" w="med" len="med"/>
                      <a:tailEnd type="none" w="med" len="med"/>
                    </a:lnL>
                  </a:tcPr>
                </a:tc>
                <a:tc>
                  <a:txBody>
                    <a:bodyPr/>
                    <a:lstStyle/>
                    <a:p>
                      <a:pPr algn="l" fontAlgn="ctr">
                        <a:buNone/>
                      </a:pPr>
                      <a:r>
                        <a:rPr lang="en-US" sz="1400" u="none" strike="noStrike" dirty="0">
                          <a:effectLst/>
                        </a:rPr>
                        <a:t>cylinder1 back</a:t>
                      </a:r>
                      <a:endParaRPr lang="en-US" sz="1400" b="0" i="0" u="none" strike="noStrike" dirty="0">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tc>
                <a:tc>
                  <a:txBody>
                    <a:bodyPr/>
                    <a:lstStyle/>
                    <a:p>
                      <a:pPr algn="l" fontAlgn="ctr">
                        <a:buNone/>
                      </a:pPr>
                      <a:r>
                        <a:rPr lang="en-US" sz="1400" u="none" strike="noStrike">
                          <a:effectLst/>
                        </a:rPr>
                        <a:t>cylinder1 back[ok]</a:t>
                      </a:r>
                      <a:endParaRPr lang="en-US" sz="1400" b="0" i="0" u="none" strike="noStrike">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TW" altLang="en-US" sz="1400" u="none" strike="noStrike" dirty="0">
                          <a:effectLst/>
                        </a:rPr>
                        <a:t>初始位後，底部真空吸關</a:t>
                      </a:r>
                      <a:r>
                        <a:rPr lang="en-US" altLang="zh-TW" sz="1400" u="none" strike="noStrike" dirty="0">
                          <a:effectLst/>
                        </a:rPr>
                        <a:t>(cylinder6 back)</a:t>
                      </a:r>
                      <a:endParaRPr lang="zh-TW" altLang="en-US" sz="1400" b="0" i="0" u="none" strike="noStrike" dirty="0">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305510834"/>
                  </a:ext>
                </a:extLst>
              </a:tr>
              <a:tr h="231937">
                <a:tc>
                  <a:txBody>
                    <a:bodyPr/>
                    <a:lstStyle/>
                    <a:p>
                      <a:pPr algn="l" fontAlgn="ctr">
                        <a:buNone/>
                      </a:pPr>
                      <a:r>
                        <a:rPr lang="en-US" sz="1400" u="none" strike="noStrike">
                          <a:effectLst/>
                        </a:rPr>
                        <a:t>Type-C</a:t>
                      </a:r>
                      <a:r>
                        <a:rPr lang="zh-TW" altLang="en-US" sz="1400" u="none" strike="noStrike">
                          <a:effectLst/>
                        </a:rPr>
                        <a:t>汽缸動作</a:t>
                      </a:r>
                      <a:endParaRPr lang="zh-TW" altLang="en-US" sz="1400" b="0" i="0" u="none" strike="noStrike">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lnL w="12700" cap="flat" cmpd="sng" algn="ctr">
                      <a:solidFill>
                        <a:schemeClr val="tx1"/>
                      </a:solidFill>
                      <a:prstDash val="solid"/>
                      <a:round/>
                      <a:headEnd type="none" w="med" len="med"/>
                      <a:tailEnd type="none" w="med" len="med"/>
                    </a:lnL>
                  </a:tcPr>
                </a:tc>
                <a:tc>
                  <a:txBody>
                    <a:bodyPr/>
                    <a:lstStyle/>
                    <a:p>
                      <a:pPr algn="l" fontAlgn="ctr">
                        <a:buNone/>
                      </a:pPr>
                      <a:r>
                        <a:rPr lang="en-US" sz="1400" u="none" strike="noStrike">
                          <a:effectLst/>
                        </a:rPr>
                        <a:t>cylinder2 front</a:t>
                      </a:r>
                      <a:endParaRPr lang="en-US" sz="1400" b="0" i="0" u="none" strike="noStrike">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tc>
                <a:tc>
                  <a:txBody>
                    <a:bodyPr/>
                    <a:lstStyle/>
                    <a:p>
                      <a:pPr algn="l" fontAlgn="ctr">
                        <a:buNone/>
                      </a:pPr>
                      <a:r>
                        <a:rPr lang="en-US" sz="1400" u="none" strike="noStrike">
                          <a:effectLst/>
                        </a:rPr>
                        <a:t>cylinder2 front[ok]</a:t>
                      </a:r>
                      <a:endParaRPr lang="en-US" sz="1400" b="0" i="0" u="none" strike="noStrike">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tc>
                <a:tc>
                  <a:txBody>
                    <a:bodyPr/>
                    <a:lstStyle/>
                    <a:p>
                      <a:pPr algn="ctr" fontAlgn="ctr">
                        <a:buNone/>
                      </a:pPr>
                      <a:r>
                        <a:rPr lang="zh-TW" altLang="en-US" sz="1400" u="none" strike="noStrike" dirty="0">
                          <a:effectLst/>
                        </a:rPr>
                        <a:t>　</a:t>
                      </a:r>
                      <a:endParaRPr lang="zh-TW" altLang="en-US" sz="1400" b="0" i="0" u="none" strike="noStrike" dirty="0">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577121696"/>
                  </a:ext>
                </a:extLst>
              </a:tr>
              <a:tr h="231937">
                <a:tc>
                  <a:txBody>
                    <a:bodyPr/>
                    <a:lstStyle/>
                    <a:p>
                      <a:pPr algn="l" fontAlgn="ctr">
                        <a:buNone/>
                      </a:pPr>
                      <a:r>
                        <a:rPr lang="en-US" sz="1400" u="none" strike="noStrike" dirty="0">
                          <a:effectLst/>
                        </a:rPr>
                        <a:t>Type-C</a:t>
                      </a:r>
                      <a:r>
                        <a:rPr lang="zh-TW" altLang="en-US" sz="1400" u="none" strike="noStrike" dirty="0">
                          <a:effectLst/>
                        </a:rPr>
                        <a:t>汽缸復位</a:t>
                      </a:r>
                      <a:endParaRPr lang="zh-TW" altLang="en-US" sz="1400" b="0" i="0" u="none" strike="noStrike" dirty="0">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lnL w="12700" cap="flat" cmpd="sng" algn="ctr">
                      <a:solidFill>
                        <a:schemeClr val="tx1"/>
                      </a:solidFill>
                      <a:prstDash val="solid"/>
                      <a:round/>
                      <a:headEnd type="none" w="med" len="med"/>
                      <a:tailEnd type="none" w="med" len="med"/>
                    </a:lnL>
                  </a:tcPr>
                </a:tc>
                <a:tc>
                  <a:txBody>
                    <a:bodyPr/>
                    <a:lstStyle/>
                    <a:p>
                      <a:pPr algn="l" fontAlgn="ctr">
                        <a:buNone/>
                      </a:pPr>
                      <a:r>
                        <a:rPr lang="en-US" sz="1400" u="none" strike="noStrike">
                          <a:effectLst/>
                        </a:rPr>
                        <a:t>cylinder2 back</a:t>
                      </a:r>
                      <a:endParaRPr lang="en-US" sz="1400" b="0" i="0" u="none" strike="noStrike">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tc>
                <a:tc>
                  <a:txBody>
                    <a:bodyPr/>
                    <a:lstStyle/>
                    <a:p>
                      <a:pPr algn="l" fontAlgn="ctr">
                        <a:buNone/>
                      </a:pPr>
                      <a:r>
                        <a:rPr lang="en-US" sz="1400" u="none" strike="noStrike">
                          <a:effectLst/>
                        </a:rPr>
                        <a:t>cylinder2 back[ok]</a:t>
                      </a:r>
                      <a:endParaRPr lang="en-US" sz="1400" b="0" i="0" u="none" strike="noStrike">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tc>
                <a:tc>
                  <a:txBody>
                    <a:bodyPr/>
                    <a:lstStyle/>
                    <a:p>
                      <a:pPr algn="ctr" fontAlgn="ctr">
                        <a:buNone/>
                      </a:pPr>
                      <a:r>
                        <a:rPr lang="zh-TW" altLang="en-US" sz="1400" u="none" strike="noStrike">
                          <a:effectLst/>
                        </a:rPr>
                        <a:t>　</a:t>
                      </a:r>
                      <a:endParaRPr lang="zh-TW" altLang="en-US" sz="1400" b="0" i="0" u="none" strike="noStrike">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43396282"/>
                  </a:ext>
                </a:extLst>
              </a:tr>
              <a:tr h="231937">
                <a:tc>
                  <a:txBody>
                    <a:bodyPr/>
                    <a:lstStyle/>
                    <a:p>
                      <a:pPr algn="l" fontAlgn="ctr">
                        <a:buNone/>
                      </a:pPr>
                      <a:r>
                        <a:rPr lang="zh-TW" altLang="en-US" sz="1400" u="none" strike="noStrike">
                          <a:effectLst/>
                        </a:rPr>
                        <a:t>關蓋汽缸動作</a:t>
                      </a:r>
                      <a:endParaRPr lang="zh-TW" altLang="en-US" sz="1400" b="0" i="0" u="none" strike="noStrike">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lnL w="12700" cap="flat" cmpd="sng" algn="ctr">
                      <a:solidFill>
                        <a:schemeClr val="tx1"/>
                      </a:solidFill>
                      <a:prstDash val="solid"/>
                      <a:round/>
                      <a:headEnd type="none" w="med" len="med"/>
                      <a:tailEnd type="none" w="med" len="med"/>
                    </a:lnL>
                  </a:tcPr>
                </a:tc>
                <a:tc>
                  <a:txBody>
                    <a:bodyPr/>
                    <a:lstStyle/>
                    <a:p>
                      <a:pPr algn="l" fontAlgn="ctr">
                        <a:buNone/>
                      </a:pPr>
                      <a:r>
                        <a:rPr lang="en-US" sz="1400" u="none" strike="noStrike">
                          <a:effectLst/>
                        </a:rPr>
                        <a:t>cylinder3 front</a:t>
                      </a:r>
                      <a:endParaRPr lang="en-US" sz="1400" b="0" i="0" u="none" strike="noStrike">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tc>
                <a:tc>
                  <a:txBody>
                    <a:bodyPr/>
                    <a:lstStyle/>
                    <a:p>
                      <a:pPr algn="l" fontAlgn="ctr">
                        <a:buNone/>
                      </a:pPr>
                      <a:r>
                        <a:rPr lang="en-US" sz="1400" u="none" strike="noStrike">
                          <a:effectLst/>
                        </a:rPr>
                        <a:t>cylinder3 front[ok]</a:t>
                      </a:r>
                      <a:endParaRPr lang="en-US" sz="1400" b="0" i="0" u="none" strike="noStrike">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tc>
                <a:tc>
                  <a:txBody>
                    <a:bodyPr/>
                    <a:lstStyle/>
                    <a:p>
                      <a:pPr algn="ctr" fontAlgn="ctr">
                        <a:buNone/>
                      </a:pPr>
                      <a:r>
                        <a:rPr lang="zh-TW" altLang="en-US" sz="1400" u="none" strike="noStrike" dirty="0">
                          <a:effectLst/>
                        </a:rPr>
                        <a:t>　</a:t>
                      </a:r>
                      <a:endParaRPr lang="zh-TW" altLang="en-US" sz="1400" b="0" i="0" u="none" strike="noStrike" dirty="0">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551454522"/>
                  </a:ext>
                </a:extLst>
              </a:tr>
              <a:tr h="231937">
                <a:tc>
                  <a:txBody>
                    <a:bodyPr/>
                    <a:lstStyle/>
                    <a:p>
                      <a:pPr algn="l" fontAlgn="ctr">
                        <a:buNone/>
                      </a:pPr>
                      <a:r>
                        <a:rPr lang="zh-TW" altLang="en-US" sz="1400" u="none" strike="noStrike">
                          <a:effectLst/>
                        </a:rPr>
                        <a:t>關蓋汽缸復位</a:t>
                      </a:r>
                      <a:endParaRPr lang="zh-TW" altLang="en-US" sz="1400" b="0" i="0" u="none" strike="noStrike">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lnL w="12700" cap="flat" cmpd="sng" algn="ctr">
                      <a:solidFill>
                        <a:schemeClr val="tx1"/>
                      </a:solidFill>
                      <a:prstDash val="solid"/>
                      <a:round/>
                      <a:headEnd type="none" w="med" len="med"/>
                      <a:tailEnd type="none" w="med" len="med"/>
                    </a:lnL>
                  </a:tcPr>
                </a:tc>
                <a:tc>
                  <a:txBody>
                    <a:bodyPr/>
                    <a:lstStyle/>
                    <a:p>
                      <a:pPr algn="l" fontAlgn="ctr">
                        <a:buNone/>
                      </a:pPr>
                      <a:r>
                        <a:rPr lang="en-US" sz="1400" u="none" strike="noStrike">
                          <a:effectLst/>
                        </a:rPr>
                        <a:t>cylinder3 back</a:t>
                      </a:r>
                      <a:endParaRPr lang="en-US" sz="1400" b="0" i="0" u="none" strike="noStrike">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tc>
                <a:tc>
                  <a:txBody>
                    <a:bodyPr/>
                    <a:lstStyle/>
                    <a:p>
                      <a:pPr algn="l" fontAlgn="ctr">
                        <a:buNone/>
                      </a:pPr>
                      <a:r>
                        <a:rPr lang="en-US" sz="1400" u="none" strike="noStrike">
                          <a:effectLst/>
                        </a:rPr>
                        <a:t>cylinder3 back[ok]</a:t>
                      </a:r>
                      <a:endParaRPr lang="en-US" sz="1400" b="0" i="0" u="none" strike="noStrike">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tc>
                <a:tc>
                  <a:txBody>
                    <a:bodyPr/>
                    <a:lstStyle/>
                    <a:p>
                      <a:pPr algn="ctr" fontAlgn="ctr">
                        <a:buNone/>
                      </a:pPr>
                      <a:r>
                        <a:rPr lang="zh-TW" altLang="en-US" sz="1400" u="none" strike="noStrike" dirty="0">
                          <a:effectLst/>
                        </a:rPr>
                        <a:t>開蓋真空吸開後復位</a:t>
                      </a:r>
                      <a:endParaRPr lang="zh-TW" altLang="en-US" sz="1400" b="0" i="0" u="none" strike="noStrike" dirty="0">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544658374"/>
                  </a:ext>
                </a:extLst>
              </a:tr>
              <a:tr h="231937">
                <a:tc>
                  <a:txBody>
                    <a:bodyPr/>
                    <a:lstStyle/>
                    <a:p>
                      <a:pPr algn="l" fontAlgn="ctr">
                        <a:buNone/>
                      </a:pPr>
                      <a:r>
                        <a:rPr lang="zh-TW" altLang="en-US" sz="1400" u="none" strike="noStrike" dirty="0">
                          <a:effectLst/>
                        </a:rPr>
                        <a:t>開關蓋狀態判定</a:t>
                      </a:r>
                      <a:endParaRPr lang="zh-TW" altLang="en-US" sz="1400" b="0" i="0" u="none" strike="noStrike" dirty="0">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lnL w="12700" cap="flat" cmpd="sng" algn="ctr">
                      <a:solidFill>
                        <a:schemeClr val="tx1"/>
                      </a:solidFill>
                      <a:prstDash val="solid"/>
                      <a:round/>
                      <a:headEnd type="none" w="med" len="med"/>
                      <a:tailEnd type="none" w="med" len="med"/>
                    </a:lnL>
                  </a:tcPr>
                </a:tc>
                <a:tc>
                  <a:txBody>
                    <a:bodyPr/>
                    <a:lstStyle/>
                    <a:p>
                      <a:pPr algn="l" fontAlgn="ctr">
                        <a:buNone/>
                      </a:pPr>
                      <a:r>
                        <a:rPr lang="en-US" sz="1400" u="none" strike="noStrike">
                          <a:effectLst/>
                        </a:rPr>
                        <a:t>Check DUT</a:t>
                      </a:r>
                      <a:endParaRPr lang="en-US" sz="1400" b="0" i="0" u="none" strike="noStrike">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tc>
                <a:tc>
                  <a:txBody>
                    <a:bodyPr/>
                    <a:lstStyle/>
                    <a:p>
                      <a:pPr algn="l" fontAlgn="ctr">
                        <a:buNone/>
                      </a:pPr>
                      <a:r>
                        <a:rPr lang="en-US" sz="1400" u="none" strike="noStrike">
                          <a:effectLst/>
                        </a:rPr>
                        <a:t>DUT[n]</a:t>
                      </a:r>
                      <a:endParaRPr lang="en-US" sz="1400" b="0" i="0" u="none" strike="noStrike">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tc>
                <a:tc>
                  <a:txBody>
                    <a:bodyPr/>
                    <a:lstStyle/>
                    <a:p>
                      <a:pPr algn="ctr" fontAlgn="ctr">
                        <a:buNone/>
                      </a:pPr>
                      <a:r>
                        <a:rPr lang="en-US" sz="1400" u="none" strike="noStrike">
                          <a:effectLst/>
                        </a:rPr>
                        <a:t>DUT[0]</a:t>
                      </a:r>
                      <a:r>
                        <a:rPr lang="zh-TW" altLang="en-US" sz="1400" u="none" strike="noStrike">
                          <a:effectLst/>
                        </a:rPr>
                        <a:t>代表關蓋、</a:t>
                      </a:r>
                      <a:r>
                        <a:rPr lang="en-US" sz="1400" u="none" strike="noStrike">
                          <a:effectLst/>
                        </a:rPr>
                        <a:t>DUT[1]</a:t>
                      </a:r>
                      <a:r>
                        <a:rPr lang="zh-TW" altLang="en-US" sz="1400" u="none" strike="noStrike">
                          <a:effectLst/>
                        </a:rPr>
                        <a:t>代表開蓋</a:t>
                      </a:r>
                      <a:endParaRPr lang="zh-TW" altLang="en-US" sz="1400" b="0" i="0" u="none" strike="noStrike">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406291245"/>
                  </a:ext>
                </a:extLst>
              </a:tr>
              <a:tr h="231937">
                <a:tc>
                  <a:txBody>
                    <a:bodyPr/>
                    <a:lstStyle/>
                    <a:p>
                      <a:pPr algn="l" fontAlgn="ctr">
                        <a:buNone/>
                      </a:pPr>
                      <a:r>
                        <a:rPr lang="zh-TW" altLang="en-US" sz="1400" u="none" strike="noStrike" dirty="0">
                          <a:effectLst/>
                        </a:rPr>
                        <a:t>假耳下壓汽缸動作</a:t>
                      </a:r>
                      <a:endParaRPr lang="zh-TW" altLang="en-US" sz="1400" b="0" i="0" u="none" strike="noStrike" dirty="0">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lnL w="12700" cap="flat" cmpd="sng" algn="ctr">
                      <a:solidFill>
                        <a:schemeClr val="tx1"/>
                      </a:solidFill>
                      <a:prstDash val="solid"/>
                      <a:round/>
                      <a:headEnd type="none" w="med" len="med"/>
                      <a:tailEnd type="none" w="med" len="med"/>
                    </a:lnL>
                  </a:tcPr>
                </a:tc>
                <a:tc>
                  <a:txBody>
                    <a:bodyPr/>
                    <a:lstStyle/>
                    <a:p>
                      <a:pPr algn="l" fontAlgn="ctr">
                        <a:buNone/>
                      </a:pPr>
                      <a:r>
                        <a:rPr lang="en-US" sz="1400" u="none" strike="noStrike">
                          <a:effectLst/>
                        </a:rPr>
                        <a:t>cylinder4 front</a:t>
                      </a:r>
                      <a:endParaRPr lang="en-US" sz="1400" b="0" i="0" u="none" strike="noStrike">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tc>
                <a:tc>
                  <a:txBody>
                    <a:bodyPr/>
                    <a:lstStyle/>
                    <a:p>
                      <a:pPr algn="l" fontAlgn="ctr">
                        <a:buNone/>
                      </a:pPr>
                      <a:r>
                        <a:rPr lang="en-US" sz="1400" u="none" strike="noStrike">
                          <a:effectLst/>
                        </a:rPr>
                        <a:t>cylinder4 front[ok]</a:t>
                      </a:r>
                      <a:endParaRPr lang="en-US" sz="1400" b="0" i="0" u="none" strike="noStrike">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tc>
                <a:tc>
                  <a:txBody>
                    <a:bodyPr/>
                    <a:lstStyle/>
                    <a:p>
                      <a:pPr algn="ctr" fontAlgn="ctr">
                        <a:buNone/>
                      </a:pPr>
                      <a:r>
                        <a:rPr lang="zh-TW" altLang="en-US" sz="1400" u="none" strike="noStrike">
                          <a:effectLst/>
                        </a:rPr>
                        <a:t>　</a:t>
                      </a:r>
                      <a:endParaRPr lang="zh-TW" altLang="en-US" sz="1400" b="0" i="0" u="none" strike="noStrike">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900924627"/>
                  </a:ext>
                </a:extLst>
              </a:tr>
              <a:tr h="231937">
                <a:tc>
                  <a:txBody>
                    <a:bodyPr/>
                    <a:lstStyle/>
                    <a:p>
                      <a:pPr algn="l" fontAlgn="ctr">
                        <a:buNone/>
                      </a:pPr>
                      <a:r>
                        <a:rPr lang="zh-TW" altLang="en-US" sz="1400" u="none" strike="noStrike" dirty="0">
                          <a:effectLst/>
                        </a:rPr>
                        <a:t>假耳汽缸復位</a:t>
                      </a:r>
                      <a:endParaRPr lang="zh-TW" altLang="en-US" sz="1400" b="0" i="0" u="none" strike="noStrike" dirty="0">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lnL w="12700" cap="flat" cmpd="sng" algn="ctr">
                      <a:solidFill>
                        <a:schemeClr val="tx1"/>
                      </a:solidFill>
                      <a:prstDash val="solid"/>
                      <a:round/>
                      <a:headEnd type="none" w="med" len="med"/>
                      <a:tailEnd type="none" w="med" len="med"/>
                    </a:lnL>
                  </a:tcPr>
                </a:tc>
                <a:tc>
                  <a:txBody>
                    <a:bodyPr/>
                    <a:lstStyle/>
                    <a:p>
                      <a:pPr algn="l" fontAlgn="ctr">
                        <a:buNone/>
                      </a:pPr>
                      <a:r>
                        <a:rPr lang="en-US" sz="1400" u="none" strike="noStrike">
                          <a:effectLst/>
                        </a:rPr>
                        <a:t>cylinder4 back</a:t>
                      </a:r>
                      <a:endParaRPr lang="en-US" sz="1400" b="0" i="0" u="none" strike="noStrike">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tc>
                <a:tc>
                  <a:txBody>
                    <a:bodyPr/>
                    <a:lstStyle/>
                    <a:p>
                      <a:pPr algn="l" fontAlgn="ctr">
                        <a:buNone/>
                      </a:pPr>
                      <a:r>
                        <a:rPr lang="en-US" sz="1400" u="none" strike="noStrike">
                          <a:effectLst/>
                        </a:rPr>
                        <a:t>cylinder4 back[ok]</a:t>
                      </a:r>
                      <a:endParaRPr lang="en-US" sz="1400" b="0" i="0" u="none" strike="noStrike">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tc>
                <a:tc>
                  <a:txBody>
                    <a:bodyPr/>
                    <a:lstStyle/>
                    <a:p>
                      <a:pPr algn="ctr" fontAlgn="ctr">
                        <a:buNone/>
                      </a:pPr>
                      <a:r>
                        <a:rPr lang="zh-TW" altLang="en-US" sz="1400" u="none" strike="noStrike">
                          <a:effectLst/>
                        </a:rPr>
                        <a:t>　</a:t>
                      </a:r>
                      <a:endParaRPr lang="zh-TW" altLang="en-US" sz="1400" b="0" i="0" u="none" strike="noStrike">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98012349"/>
                  </a:ext>
                </a:extLst>
              </a:tr>
              <a:tr h="231937">
                <a:tc>
                  <a:txBody>
                    <a:bodyPr/>
                    <a:lstStyle/>
                    <a:p>
                      <a:pPr algn="l" fontAlgn="ctr">
                        <a:buNone/>
                      </a:pPr>
                      <a:r>
                        <a:rPr lang="zh-TW" altLang="en-US" sz="1400" u="none" strike="noStrike">
                          <a:effectLst/>
                        </a:rPr>
                        <a:t>按鍵汽缸動作</a:t>
                      </a:r>
                      <a:endParaRPr lang="zh-TW" altLang="en-US" sz="1400" b="0" i="0" u="none" strike="noStrike">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lnL w="12700" cap="flat" cmpd="sng" algn="ctr">
                      <a:solidFill>
                        <a:schemeClr val="tx1"/>
                      </a:solidFill>
                      <a:prstDash val="solid"/>
                      <a:round/>
                      <a:headEnd type="none" w="med" len="med"/>
                      <a:tailEnd type="none" w="med" len="med"/>
                    </a:lnL>
                  </a:tcPr>
                </a:tc>
                <a:tc>
                  <a:txBody>
                    <a:bodyPr/>
                    <a:lstStyle/>
                    <a:p>
                      <a:pPr algn="l" fontAlgn="ctr">
                        <a:buNone/>
                      </a:pPr>
                      <a:r>
                        <a:rPr lang="en-US" sz="1400" u="none" strike="noStrike">
                          <a:effectLst/>
                        </a:rPr>
                        <a:t>cylinder5 front</a:t>
                      </a:r>
                      <a:endParaRPr lang="en-US" sz="1400" b="0" i="0" u="none" strike="noStrike">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tc>
                <a:tc>
                  <a:txBody>
                    <a:bodyPr/>
                    <a:lstStyle/>
                    <a:p>
                      <a:pPr algn="l" fontAlgn="ctr">
                        <a:buNone/>
                      </a:pPr>
                      <a:r>
                        <a:rPr lang="en-US" sz="1400" u="none" strike="noStrike">
                          <a:effectLst/>
                        </a:rPr>
                        <a:t>cylinder5 front[ok]</a:t>
                      </a:r>
                      <a:endParaRPr lang="en-US" sz="1400" b="0" i="0" u="none" strike="noStrike">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tc>
                <a:tc>
                  <a:txBody>
                    <a:bodyPr/>
                    <a:lstStyle/>
                    <a:p>
                      <a:pPr algn="ctr" fontAlgn="ctr">
                        <a:buNone/>
                      </a:pPr>
                      <a:r>
                        <a:rPr lang="zh-TW" altLang="en-US" sz="1400" u="none" strike="noStrike">
                          <a:effectLst/>
                        </a:rPr>
                        <a:t>　</a:t>
                      </a:r>
                      <a:endParaRPr lang="zh-TW" altLang="en-US" sz="1400" b="0" i="0" u="none" strike="noStrike">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500921161"/>
                  </a:ext>
                </a:extLst>
              </a:tr>
              <a:tr h="231937">
                <a:tc>
                  <a:txBody>
                    <a:bodyPr/>
                    <a:lstStyle/>
                    <a:p>
                      <a:pPr algn="l" fontAlgn="ctr">
                        <a:buNone/>
                      </a:pPr>
                      <a:r>
                        <a:rPr lang="zh-TW" altLang="en-US" sz="1400" u="none" strike="noStrike">
                          <a:effectLst/>
                        </a:rPr>
                        <a:t>按鍵汽缸復位</a:t>
                      </a:r>
                      <a:endParaRPr lang="zh-TW" altLang="en-US" sz="1400" b="0" i="0" u="none" strike="noStrike">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lnL w="12700" cap="flat" cmpd="sng" algn="ctr">
                      <a:solidFill>
                        <a:schemeClr val="tx1"/>
                      </a:solidFill>
                      <a:prstDash val="solid"/>
                      <a:round/>
                      <a:headEnd type="none" w="med" len="med"/>
                      <a:tailEnd type="none" w="med" len="med"/>
                    </a:lnL>
                  </a:tcPr>
                </a:tc>
                <a:tc>
                  <a:txBody>
                    <a:bodyPr/>
                    <a:lstStyle/>
                    <a:p>
                      <a:pPr algn="l" fontAlgn="ctr">
                        <a:buNone/>
                      </a:pPr>
                      <a:r>
                        <a:rPr lang="en-US" sz="1400" u="none" strike="noStrike">
                          <a:effectLst/>
                        </a:rPr>
                        <a:t>cylinder5 back</a:t>
                      </a:r>
                      <a:endParaRPr lang="en-US" sz="1400" b="0" i="0" u="none" strike="noStrike">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tc>
                <a:tc>
                  <a:txBody>
                    <a:bodyPr/>
                    <a:lstStyle/>
                    <a:p>
                      <a:pPr algn="l" fontAlgn="ctr">
                        <a:buNone/>
                      </a:pPr>
                      <a:r>
                        <a:rPr lang="en-US" sz="1400" u="none" strike="noStrike">
                          <a:effectLst/>
                        </a:rPr>
                        <a:t>cylinder5 back[ok]</a:t>
                      </a:r>
                      <a:endParaRPr lang="en-US" sz="1400" b="0" i="0" u="none" strike="noStrike">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tc>
                <a:tc>
                  <a:txBody>
                    <a:bodyPr/>
                    <a:lstStyle/>
                    <a:p>
                      <a:pPr algn="ctr" fontAlgn="ctr">
                        <a:buNone/>
                      </a:pPr>
                      <a:r>
                        <a:rPr lang="zh-TW" altLang="en-US" sz="1400" u="none" strike="noStrike">
                          <a:effectLst/>
                        </a:rPr>
                        <a:t>　</a:t>
                      </a:r>
                      <a:endParaRPr lang="zh-TW" altLang="en-US" sz="1400" b="0" i="0" u="none" strike="noStrike">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960180056"/>
                  </a:ext>
                </a:extLst>
              </a:tr>
              <a:tr h="231937">
                <a:tc>
                  <a:txBody>
                    <a:bodyPr/>
                    <a:lstStyle/>
                    <a:p>
                      <a:pPr algn="l" fontAlgn="ctr">
                        <a:buNone/>
                      </a:pPr>
                      <a:r>
                        <a:rPr lang="zh-TW" altLang="en-US" sz="1400" u="none" strike="noStrike">
                          <a:effectLst/>
                        </a:rPr>
                        <a:t>底部真空吸開</a:t>
                      </a:r>
                      <a:endParaRPr lang="zh-TW" altLang="en-US" sz="1400" b="0" i="0" u="none" strike="noStrike">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lnL w="12700" cap="flat" cmpd="sng" algn="ctr">
                      <a:solidFill>
                        <a:schemeClr val="tx1"/>
                      </a:solidFill>
                      <a:prstDash val="solid"/>
                      <a:round/>
                      <a:headEnd type="none" w="med" len="med"/>
                      <a:tailEnd type="none" w="med" len="med"/>
                    </a:lnL>
                  </a:tcPr>
                </a:tc>
                <a:tc>
                  <a:txBody>
                    <a:bodyPr/>
                    <a:lstStyle/>
                    <a:p>
                      <a:pPr algn="l" fontAlgn="ctr">
                        <a:buNone/>
                      </a:pPr>
                      <a:r>
                        <a:rPr lang="en-US" sz="1400" u="none" strike="noStrike" dirty="0">
                          <a:effectLst/>
                        </a:rPr>
                        <a:t>cylinder6 front</a:t>
                      </a:r>
                      <a:endParaRPr lang="en-US" sz="1400" b="0" i="0" u="none" strike="noStrike" dirty="0">
                        <a:solidFill>
                          <a:srgbClr val="FF0000"/>
                        </a:solidFill>
                        <a:effectLst/>
                        <a:latin typeface="新細明體" panose="02020500000000000000" pitchFamily="18" charset="-120"/>
                        <a:ea typeface="新細明體" panose="02020500000000000000" pitchFamily="18" charset="-120"/>
                      </a:endParaRPr>
                    </a:p>
                  </a:txBody>
                  <a:tcPr marL="6881" marR="6881" marT="6881" marB="0" anchor="ctr"/>
                </a:tc>
                <a:tc>
                  <a:txBody>
                    <a:bodyPr/>
                    <a:lstStyle/>
                    <a:p>
                      <a:pPr algn="l" fontAlgn="ctr">
                        <a:buNone/>
                      </a:pPr>
                      <a:r>
                        <a:rPr lang="en-US" sz="1400" u="none" strike="noStrike">
                          <a:effectLst/>
                        </a:rPr>
                        <a:t>cylinder6 front[ok]</a:t>
                      </a:r>
                      <a:endParaRPr lang="en-US" sz="1400" b="0" i="0" u="none" strike="noStrike">
                        <a:solidFill>
                          <a:srgbClr val="FF0000"/>
                        </a:solidFill>
                        <a:effectLst/>
                        <a:latin typeface="新細明體" panose="02020500000000000000" pitchFamily="18" charset="-120"/>
                        <a:ea typeface="新細明體" panose="02020500000000000000" pitchFamily="18" charset="-120"/>
                      </a:endParaRPr>
                    </a:p>
                  </a:txBody>
                  <a:tcPr marL="6881" marR="6881" marT="6881" marB="0" anchor="ctr"/>
                </a:tc>
                <a:tc>
                  <a:txBody>
                    <a:bodyPr/>
                    <a:lstStyle/>
                    <a:p>
                      <a:pPr algn="ctr" fontAlgn="ctr">
                        <a:buNone/>
                      </a:pPr>
                      <a:r>
                        <a:rPr lang="zh-TW" altLang="en-US" sz="1400" u="none" strike="noStrike" kern="1200" dirty="0">
                          <a:solidFill>
                            <a:schemeClr val="dk1"/>
                          </a:solidFill>
                          <a:effectLst/>
                          <a:latin typeface="+mn-lt"/>
                          <a:ea typeface="+mn-ea"/>
                          <a:cs typeface="+mn-cs"/>
                        </a:rPr>
                        <a:t>綁在</a:t>
                      </a:r>
                      <a:r>
                        <a:rPr lang="en-US" sz="1400" u="none" strike="noStrike" kern="1200" dirty="0">
                          <a:solidFill>
                            <a:schemeClr val="dk1"/>
                          </a:solidFill>
                          <a:effectLst/>
                          <a:latin typeface="+mn-lt"/>
                          <a:ea typeface="+mn-ea"/>
                          <a:cs typeface="+mn-cs"/>
                        </a:rPr>
                        <a:t>cylinder1</a:t>
                      </a:r>
                      <a:r>
                        <a:rPr lang="zh-TW" altLang="en-US" sz="1400" u="none" strike="noStrike" kern="1200" dirty="0">
                          <a:solidFill>
                            <a:schemeClr val="dk1"/>
                          </a:solidFill>
                          <a:effectLst/>
                          <a:latin typeface="+mn-lt"/>
                          <a:ea typeface="+mn-ea"/>
                          <a:cs typeface="+mn-cs"/>
                        </a:rPr>
                        <a:t> </a:t>
                      </a:r>
                      <a:r>
                        <a:rPr lang="en-US" altLang="zh-TW" sz="1400" u="none" strike="noStrike" dirty="0">
                          <a:effectLst/>
                        </a:rPr>
                        <a:t>front</a:t>
                      </a:r>
                      <a:r>
                        <a:rPr lang="zh-TW" altLang="en-US" sz="1400" u="none" strike="noStrike" dirty="0">
                          <a:effectLst/>
                        </a:rPr>
                        <a:t>前</a:t>
                      </a:r>
                      <a:endParaRPr lang="en-US" sz="1400" u="none" strike="noStrike" kern="1200" dirty="0">
                        <a:solidFill>
                          <a:schemeClr val="dk1"/>
                        </a:solidFill>
                        <a:effectLst/>
                        <a:latin typeface="+mn-lt"/>
                        <a:ea typeface="+mn-ea"/>
                        <a:cs typeface="+mn-cs"/>
                      </a:endParaRPr>
                    </a:p>
                  </a:txBody>
                  <a:tcPr marL="6881" marR="6881" marT="6881"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081138841"/>
                  </a:ext>
                </a:extLst>
              </a:tr>
              <a:tr h="231937">
                <a:tc>
                  <a:txBody>
                    <a:bodyPr/>
                    <a:lstStyle/>
                    <a:p>
                      <a:pPr algn="l" fontAlgn="ctr">
                        <a:buNone/>
                      </a:pPr>
                      <a:r>
                        <a:rPr lang="zh-TW" altLang="en-US" sz="1400" u="none" strike="noStrike">
                          <a:effectLst/>
                        </a:rPr>
                        <a:t>底部真空吸關</a:t>
                      </a:r>
                      <a:endParaRPr lang="zh-TW" altLang="en-US" sz="1400" b="0" i="0" u="none" strike="noStrike">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lnL w="12700" cap="flat" cmpd="sng" algn="ctr">
                      <a:solidFill>
                        <a:schemeClr val="tx1"/>
                      </a:solidFill>
                      <a:prstDash val="solid"/>
                      <a:round/>
                      <a:headEnd type="none" w="med" len="med"/>
                      <a:tailEnd type="none" w="med" len="med"/>
                    </a:lnL>
                  </a:tcPr>
                </a:tc>
                <a:tc>
                  <a:txBody>
                    <a:bodyPr/>
                    <a:lstStyle/>
                    <a:p>
                      <a:pPr algn="l" fontAlgn="ctr">
                        <a:buNone/>
                      </a:pPr>
                      <a:r>
                        <a:rPr lang="en-US" sz="1400" u="none" strike="noStrike" dirty="0">
                          <a:effectLst/>
                        </a:rPr>
                        <a:t>cylinder6 back</a:t>
                      </a:r>
                      <a:endParaRPr lang="en-US" sz="1400" b="0" i="0" u="none" strike="noStrike" dirty="0">
                        <a:solidFill>
                          <a:srgbClr val="FF0000"/>
                        </a:solidFill>
                        <a:effectLst/>
                        <a:latin typeface="新細明體" panose="02020500000000000000" pitchFamily="18" charset="-120"/>
                        <a:ea typeface="新細明體" panose="02020500000000000000" pitchFamily="18" charset="-120"/>
                      </a:endParaRPr>
                    </a:p>
                  </a:txBody>
                  <a:tcPr marL="6881" marR="6881" marT="6881" marB="0" anchor="ctr"/>
                </a:tc>
                <a:tc>
                  <a:txBody>
                    <a:bodyPr/>
                    <a:lstStyle/>
                    <a:p>
                      <a:pPr algn="l" fontAlgn="ctr">
                        <a:buNone/>
                      </a:pPr>
                      <a:r>
                        <a:rPr lang="en-US" sz="1400" u="none" strike="noStrike">
                          <a:effectLst/>
                        </a:rPr>
                        <a:t>cylinder6 back[ok]</a:t>
                      </a:r>
                      <a:endParaRPr lang="en-US" sz="1400" b="0" i="0" u="none" strike="noStrike">
                        <a:solidFill>
                          <a:srgbClr val="FF0000"/>
                        </a:solidFill>
                        <a:effectLst/>
                        <a:latin typeface="新細明體" panose="02020500000000000000" pitchFamily="18" charset="-120"/>
                        <a:ea typeface="新細明體" panose="02020500000000000000" pitchFamily="18" charset="-120"/>
                      </a:endParaRPr>
                    </a:p>
                  </a:txBody>
                  <a:tcPr marL="6881" marR="6881" marT="6881" marB="0" anchor="ctr"/>
                </a:tc>
                <a:tc>
                  <a:txBody>
                    <a:bodyPr/>
                    <a:lstStyle/>
                    <a:p>
                      <a:pPr algn="ctr" fontAlgn="ctr">
                        <a:buNone/>
                      </a:pPr>
                      <a:r>
                        <a:rPr lang="zh-TW" altLang="en-US" sz="1400" u="none" strike="noStrike" kern="1200" dirty="0">
                          <a:solidFill>
                            <a:schemeClr val="dk1"/>
                          </a:solidFill>
                          <a:effectLst/>
                          <a:latin typeface="+mn-lt"/>
                          <a:ea typeface="+mn-ea"/>
                          <a:cs typeface="+mn-cs"/>
                        </a:rPr>
                        <a:t>綁在</a:t>
                      </a:r>
                      <a:r>
                        <a:rPr lang="en-US" sz="1400" u="none" strike="noStrike" kern="1200" dirty="0">
                          <a:solidFill>
                            <a:schemeClr val="dk1"/>
                          </a:solidFill>
                          <a:effectLst/>
                          <a:latin typeface="+mn-lt"/>
                          <a:ea typeface="+mn-ea"/>
                          <a:cs typeface="+mn-cs"/>
                        </a:rPr>
                        <a:t>cylinder1</a:t>
                      </a:r>
                      <a:r>
                        <a:rPr lang="zh-TW" altLang="en-US" sz="1400" u="none" strike="noStrike" kern="1200" dirty="0">
                          <a:solidFill>
                            <a:schemeClr val="dk1"/>
                          </a:solidFill>
                          <a:effectLst/>
                          <a:latin typeface="+mn-lt"/>
                          <a:ea typeface="+mn-ea"/>
                          <a:cs typeface="+mn-cs"/>
                        </a:rPr>
                        <a:t> </a:t>
                      </a:r>
                      <a:r>
                        <a:rPr lang="en-US" altLang="zh-TW" sz="1400" u="none" strike="noStrike" dirty="0">
                          <a:effectLst/>
                        </a:rPr>
                        <a:t>back</a:t>
                      </a:r>
                      <a:r>
                        <a:rPr lang="zh-TW" altLang="en-US" sz="1400" u="none" strike="noStrike" dirty="0">
                          <a:effectLst/>
                        </a:rPr>
                        <a:t>後</a:t>
                      </a:r>
                      <a:endParaRPr lang="en-US" sz="1400" u="none" strike="noStrike" kern="1200" dirty="0">
                        <a:solidFill>
                          <a:schemeClr val="dk1"/>
                        </a:solidFill>
                        <a:effectLst/>
                        <a:latin typeface="+mn-lt"/>
                        <a:ea typeface="+mn-ea"/>
                        <a:cs typeface="+mn-cs"/>
                      </a:endParaRPr>
                    </a:p>
                  </a:txBody>
                  <a:tcPr marL="6881" marR="6881" marT="6881"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955699695"/>
                  </a:ext>
                </a:extLst>
              </a:tr>
              <a:tr h="231937">
                <a:tc>
                  <a:txBody>
                    <a:bodyPr/>
                    <a:lstStyle/>
                    <a:p>
                      <a:pPr algn="l" fontAlgn="ctr">
                        <a:buNone/>
                      </a:pPr>
                      <a:r>
                        <a:rPr lang="zh-TW" altLang="en-US" sz="1400" u="none" strike="noStrike">
                          <a:effectLst/>
                        </a:rPr>
                        <a:t>開蓋真空吸開</a:t>
                      </a:r>
                      <a:endParaRPr lang="zh-TW" altLang="en-US" sz="1400" b="0" i="0" u="none" strike="noStrike">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lnL w="12700" cap="flat" cmpd="sng" algn="ctr">
                      <a:solidFill>
                        <a:schemeClr val="tx1"/>
                      </a:solidFill>
                      <a:prstDash val="solid"/>
                      <a:round/>
                      <a:headEnd type="none" w="med" len="med"/>
                      <a:tailEnd type="none" w="med" len="med"/>
                    </a:lnL>
                  </a:tcPr>
                </a:tc>
                <a:tc>
                  <a:txBody>
                    <a:bodyPr/>
                    <a:lstStyle/>
                    <a:p>
                      <a:pPr algn="l" fontAlgn="ctr">
                        <a:buNone/>
                      </a:pPr>
                      <a:r>
                        <a:rPr lang="en-US" sz="1400" u="none" strike="noStrike">
                          <a:effectLst/>
                        </a:rPr>
                        <a:t>cylinder9 front</a:t>
                      </a:r>
                      <a:endParaRPr lang="en-US" sz="1400" b="0" i="0" u="none" strike="noStrike">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tc>
                <a:tc>
                  <a:txBody>
                    <a:bodyPr/>
                    <a:lstStyle/>
                    <a:p>
                      <a:pPr algn="l" fontAlgn="ctr">
                        <a:buNone/>
                      </a:pPr>
                      <a:r>
                        <a:rPr lang="en-US" sz="1400" u="none" strike="noStrike">
                          <a:effectLst/>
                        </a:rPr>
                        <a:t>cylinder9 front[ok]</a:t>
                      </a:r>
                      <a:endParaRPr lang="en-US" sz="1400" b="0" i="0" u="none" strike="noStrike">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tc>
                <a:tc>
                  <a:txBody>
                    <a:bodyPr/>
                    <a:lstStyle/>
                    <a:p>
                      <a:pPr algn="ctr" fontAlgn="ctr">
                        <a:buNone/>
                      </a:pPr>
                      <a:r>
                        <a:rPr lang="zh-TW" altLang="en-US" sz="1400" u="none" strike="noStrike" kern="1200" dirty="0">
                          <a:solidFill>
                            <a:schemeClr val="dk1"/>
                          </a:solidFill>
                          <a:effectLst/>
                          <a:latin typeface="+mn-lt"/>
                          <a:ea typeface="+mn-ea"/>
                          <a:cs typeface="+mn-cs"/>
                        </a:rPr>
                        <a:t>新設計</a:t>
                      </a:r>
                    </a:p>
                  </a:txBody>
                  <a:tcPr marL="6881" marR="6881" marT="6881"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264311293"/>
                  </a:ext>
                </a:extLst>
              </a:tr>
              <a:tr h="231937">
                <a:tc>
                  <a:txBody>
                    <a:bodyPr/>
                    <a:lstStyle/>
                    <a:p>
                      <a:pPr algn="l" fontAlgn="ctr">
                        <a:buNone/>
                      </a:pPr>
                      <a:r>
                        <a:rPr lang="zh-TW" altLang="en-US" sz="1400" u="none" strike="noStrike">
                          <a:effectLst/>
                        </a:rPr>
                        <a:t>開蓋真空吸關</a:t>
                      </a:r>
                      <a:endParaRPr lang="zh-TW" altLang="en-US" sz="1400" b="0" i="0" u="none" strike="noStrike">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lnL w="12700" cap="flat" cmpd="sng" algn="ctr">
                      <a:solidFill>
                        <a:schemeClr val="tx1"/>
                      </a:solidFill>
                      <a:prstDash val="solid"/>
                      <a:round/>
                      <a:headEnd type="none" w="med" len="med"/>
                      <a:tailEnd type="none" w="med" len="med"/>
                    </a:lnL>
                  </a:tcPr>
                </a:tc>
                <a:tc>
                  <a:txBody>
                    <a:bodyPr/>
                    <a:lstStyle/>
                    <a:p>
                      <a:pPr algn="l" fontAlgn="ctr">
                        <a:buNone/>
                      </a:pPr>
                      <a:r>
                        <a:rPr lang="en-US" sz="1400" u="none" strike="noStrike">
                          <a:effectLst/>
                        </a:rPr>
                        <a:t>cylinder9 back</a:t>
                      </a:r>
                      <a:endParaRPr lang="en-US" sz="1400" b="0" i="0" u="none" strike="noStrike">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tc>
                <a:tc>
                  <a:txBody>
                    <a:bodyPr/>
                    <a:lstStyle/>
                    <a:p>
                      <a:pPr algn="l" fontAlgn="ctr">
                        <a:buNone/>
                      </a:pPr>
                      <a:r>
                        <a:rPr lang="en-US" sz="1400" u="none" strike="noStrike">
                          <a:effectLst/>
                        </a:rPr>
                        <a:t>cylinder9 back[ok]</a:t>
                      </a:r>
                      <a:endParaRPr lang="en-US" sz="1400" b="0" i="0" u="none" strike="noStrike">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tc>
                <a:tc>
                  <a:txBody>
                    <a:bodyPr/>
                    <a:lstStyle/>
                    <a:p>
                      <a:pPr algn="ctr" fontAlgn="ctr">
                        <a:buNone/>
                      </a:pPr>
                      <a:r>
                        <a:rPr lang="zh-TW" altLang="en-US" sz="1400" u="none" strike="noStrike" kern="1200" dirty="0">
                          <a:solidFill>
                            <a:schemeClr val="dk1"/>
                          </a:solidFill>
                          <a:effectLst/>
                          <a:latin typeface="+mn-lt"/>
                          <a:ea typeface="+mn-ea"/>
                          <a:cs typeface="+mn-cs"/>
                        </a:rPr>
                        <a:t>新設計</a:t>
                      </a:r>
                    </a:p>
                  </a:txBody>
                  <a:tcPr marL="6881" marR="6881" marT="6881"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316934348"/>
                  </a:ext>
                </a:extLst>
              </a:tr>
              <a:tr h="231937">
                <a:tc>
                  <a:txBody>
                    <a:bodyPr/>
                    <a:lstStyle/>
                    <a:p>
                      <a:pPr algn="l" fontAlgn="ctr">
                        <a:buNone/>
                      </a:pPr>
                      <a:r>
                        <a:rPr lang="zh-TW" altLang="en-US" sz="1400" u="none" strike="noStrike">
                          <a:effectLst/>
                        </a:rPr>
                        <a:t>測試成功</a:t>
                      </a:r>
                      <a:endParaRPr lang="zh-TW" altLang="en-US" sz="1400" b="0" i="0" u="none" strike="noStrike">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lnL w="12700" cap="flat" cmpd="sng" algn="ctr">
                      <a:solidFill>
                        <a:schemeClr val="tx1"/>
                      </a:solidFill>
                      <a:prstDash val="solid"/>
                      <a:round/>
                      <a:headEnd type="none" w="med" len="med"/>
                      <a:tailEnd type="none" w="med" len="med"/>
                    </a:lnL>
                  </a:tcPr>
                </a:tc>
                <a:tc>
                  <a:txBody>
                    <a:bodyPr/>
                    <a:lstStyle/>
                    <a:p>
                      <a:pPr algn="l" fontAlgn="ctr">
                        <a:buNone/>
                      </a:pPr>
                      <a:r>
                        <a:rPr lang="en-US" sz="1400" u="none" strike="noStrike">
                          <a:effectLst/>
                        </a:rPr>
                        <a:t>Pass</a:t>
                      </a:r>
                      <a:endParaRPr lang="en-US" sz="1400" b="0" i="0" u="none" strike="noStrike">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tc>
                <a:tc>
                  <a:txBody>
                    <a:bodyPr/>
                    <a:lstStyle/>
                    <a:p>
                      <a:pPr algn="l" fontAlgn="ctr">
                        <a:buNone/>
                      </a:pPr>
                      <a:r>
                        <a:rPr lang="en-US" sz="1400" u="none" strike="noStrike">
                          <a:effectLst/>
                        </a:rPr>
                        <a:t>Pass OK</a:t>
                      </a:r>
                      <a:endParaRPr lang="en-US" sz="1400" b="0" i="0" u="none" strike="noStrike">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tc>
                <a:tc>
                  <a:txBody>
                    <a:bodyPr/>
                    <a:lstStyle/>
                    <a:p>
                      <a:pPr algn="ctr" fontAlgn="ctr">
                        <a:buNone/>
                      </a:pPr>
                      <a:r>
                        <a:rPr lang="zh-TW" altLang="en-US" sz="1400" u="none" strike="noStrike" dirty="0">
                          <a:effectLst/>
                        </a:rPr>
                        <a:t>測試成功燈號</a:t>
                      </a:r>
                      <a:endParaRPr lang="zh-TW" altLang="en-US" sz="1400" b="0" i="0" u="none" strike="noStrike" dirty="0">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529290977"/>
                  </a:ext>
                </a:extLst>
              </a:tr>
              <a:tr h="231937">
                <a:tc>
                  <a:txBody>
                    <a:bodyPr/>
                    <a:lstStyle/>
                    <a:p>
                      <a:pPr algn="l" fontAlgn="ctr">
                        <a:buNone/>
                      </a:pPr>
                      <a:r>
                        <a:rPr lang="zh-TW" altLang="en-US" sz="1400" u="none" strike="noStrike">
                          <a:effectLst/>
                        </a:rPr>
                        <a:t>測試失敗</a:t>
                      </a:r>
                      <a:endParaRPr lang="zh-TW" altLang="en-US" sz="1400" b="0" i="0" u="none" strike="noStrike">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lnL w="12700" cap="flat" cmpd="sng" algn="ctr">
                      <a:solidFill>
                        <a:schemeClr val="tx1"/>
                      </a:solidFill>
                      <a:prstDash val="solid"/>
                      <a:round/>
                      <a:headEnd type="none" w="med" len="med"/>
                      <a:tailEnd type="none" w="med" len="med"/>
                    </a:lnL>
                  </a:tcPr>
                </a:tc>
                <a:tc>
                  <a:txBody>
                    <a:bodyPr/>
                    <a:lstStyle/>
                    <a:p>
                      <a:pPr algn="l" fontAlgn="ctr">
                        <a:buNone/>
                      </a:pPr>
                      <a:r>
                        <a:rPr lang="en-US" sz="1400" u="none" strike="noStrike">
                          <a:effectLst/>
                        </a:rPr>
                        <a:t>Fail</a:t>
                      </a:r>
                      <a:endParaRPr lang="en-US" sz="1400" b="0" i="0" u="none" strike="noStrike">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tc>
                <a:tc>
                  <a:txBody>
                    <a:bodyPr/>
                    <a:lstStyle/>
                    <a:p>
                      <a:pPr algn="l" fontAlgn="ctr">
                        <a:buNone/>
                      </a:pPr>
                      <a:r>
                        <a:rPr lang="en-US" sz="1400" u="none" strike="noStrike">
                          <a:effectLst/>
                        </a:rPr>
                        <a:t>Fail OK</a:t>
                      </a:r>
                      <a:endParaRPr lang="en-US" sz="1400" b="0" i="0" u="none" strike="noStrike">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tc>
                <a:tc>
                  <a:txBody>
                    <a:bodyPr/>
                    <a:lstStyle/>
                    <a:p>
                      <a:pPr algn="ctr" fontAlgn="ctr">
                        <a:buNone/>
                      </a:pPr>
                      <a:r>
                        <a:rPr lang="zh-TW" altLang="en-US" sz="1400" u="none" strike="noStrike">
                          <a:effectLst/>
                        </a:rPr>
                        <a:t>測試失敗燈號</a:t>
                      </a:r>
                      <a:endParaRPr lang="zh-TW" altLang="en-US" sz="1400" b="0" i="0" u="none" strike="noStrike">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811264744"/>
                  </a:ext>
                </a:extLst>
              </a:tr>
              <a:tr h="231937">
                <a:tc>
                  <a:txBody>
                    <a:bodyPr/>
                    <a:lstStyle/>
                    <a:p>
                      <a:pPr algn="l" fontAlgn="ctr">
                        <a:buNone/>
                      </a:pPr>
                      <a:r>
                        <a:rPr lang="en-US" sz="1400" u="none" strike="noStrike">
                          <a:effectLst/>
                        </a:rPr>
                        <a:t>reset</a:t>
                      </a:r>
                      <a:endParaRPr lang="en-US" sz="1400" b="0" i="0" u="none" strike="noStrike">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lnL w="12700" cap="flat" cmpd="sng" algn="ctr">
                      <a:solidFill>
                        <a:schemeClr val="tx1"/>
                      </a:solidFill>
                      <a:prstDash val="solid"/>
                      <a:round/>
                      <a:headEnd type="none" w="med" len="med"/>
                      <a:tailEnd type="none" w="med" len="med"/>
                    </a:lnL>
                  </a:tcPr>
                </a:tc>
                <a:tc>
                  <a:txBody>
                    <a:bodyPr/>
                    <a:lstStyle/>
                    <a:p>
                      <a:pPr algn="l" fontAlgn="ctr">
                        <a:buNone/>
                      </a:pPr>
                      <a:r>
                        <a:rPr lang="en-US" sz="1400" u="none" strike="noStrike">
                          <a:effectLst/>
                        </a:rPr>
                        <a:t>reset</a:t>
                      </a:r>
                      <a:endParaRPr lang="en-US" sz="1400" b="0" i="0" u="none" strike="noStrike">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tc>
                <a:tc>
                  <a:txBody>
                    <a:bodyPr/>
                    <a:lstStyle/>
                    <a:p>
                      <a:pPr algn="l" fontAlgn="ctr">
                        <a:buNone/>
                      </a:pPr>
                      <a:r>
                        <a:rPr lang="en-US" sz="1400" u="none" strike="noStrike">
                          <a:effectLst/>
                        </a:rPr>
                        <a:t>Reset OK\r\n</a:t>
                      </a:r>
                      <a:endParaRPr lang="en-US" sz="1400" b="0" i="0" u="none" strike="noStrike">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tc>
                <a:tc>
                  <a:txBody>
                    <a:bodyPr/>
                    <a:lstStyle/>
                    <a:p>
                      <a:pPr algn="ctr" fontAlgn="ctr">
                        <a:buNone/>
                      </a:pPr>
                      <a:r>
                        <a:rPr lang="zh-TW" altLang="en-US" sz="1400" u="none" strike="noStrike">
                          <a:effectLst/>
                        </a:rPr>
                        <a:t>全部動作復位</a:t>
                      </a:r>
                      <a:endParaRPr lang="zh-TW" altLang="en-US" sz="1400" b="0" i="0" u="none" strike="noStrike">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4233212125"/>
                  </a:ext>
                </a:extLst>
              </a:tr>
              <a:tr h="231937">
                <a:tc>
                  <a:txBody>
                    <a:bodyPr/>
                    <a:lstStyle/>
                    <a:p>
                      <a:pPr algn="l" fontAlgn="ctr">
                        <a:buNone/>
                      </a:pPr>
                      <a:r>
                        <a:rPr lang="en-US" sz="1400" u="none" strike="noStrike">
                          <a:effectLst/>
                        </a:rPr>
                        <a:t>help</a:t>
                      </a:r>
                      <a:endParaRPr lang="en-US" sz="1400" b="0" i="0" u="none" strike="noStrike">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l" fontAlgn="ctr">
                        <a:buNone/>
                      </a:pPr>
                      <a:r>
                        <a:rPr lang="en-US" sz="1400" u="none" strike="noStrike">
                          <a:effectLst/>
                        </a:rPr>
                        <a:t>help</a:t>
                      </a:r>
                      <a:endParaRPr lang="en-US" sz="1400" b="0" i="0" u="none" strike="noStrike">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lnB w="12700" cap="flat" cmpd="sng" algn="ctr">
                      <a:solidFill>
                        <a:schemeClr val="tx1"/>
                      </a:solidFill>
                      <a:prstDash val="solid"/>
                      <a:round/>
                      <a:headEnd type="none" w="med" len="med"/>
                      <a:tailEnd type="none" w="med" len="med"/>
                    </a:lnB>
                  </a:tcPr>
                </a:tc>
                <a:tc>
                  <a:txBody>
                    <a:bodyPr/>
                    <a:lstStyle/>
                    <a:p>
                      <a:pPr algn="l" fontAlgn="ctr">
                        <a:buNone/>
                      </a:pPr>
                      <a:r>
                        <a:rPr lang="zh-TW" altLang="en-US" sz="1400" u="none" strike="noStrike" dirty="0">
                          <a:effectLst/>
                        </a:rPr>
                        <a:t>　</a:t>
                      </a:r>
                      <a:endParaRPr lang="zh-TW" altLang="en-US" sz="1400" b="0" i="0" u="none" strike="noStrike" dirty="0">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lnB w="12700" cap="flat" cmpd="sng" algn="ctr">
                      <a:solidFill>
                        <a:schemeClr val="tx1"/>
                      </a:solidFill>
                      <a:prstDash val="solid"/>
                      <a:round/>
                      <a:headEnd type="none" w="med" len="med"/>
                      <a:tailEnd type="none" w="med" len="med"/>
                    </a:lnB>
                  </a:tcPr>
                </a:tc>
                <a:tc>
                  <a:txBody>
                    <a:bodyPr/>
                    <a:lstStyle/>
                    <a:p>
                      <a:pPr algn="ctr" fontAlgn="ctr">
                        <a:buNone/>
                      </a:pPr>
                      <a:r>
                        <a:rPr lang="en-US" sz="1400" u="none" strike="noStrike" dirty="0">
                          <a:effectLst/>
                        </a:rPr>
                        <a:t>Command list</a:t>
                      </a:r>
                      <a:endParaRPr lang="en-US" sz="1400" b="0" i="0" u="none" strike="noStrike" dirty="0">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16567880"/>
                  </a:ext>
                </a:extLst>
              </a:tr>
            </a:tbl>
          </a:graphicData>
        </a:graphic>
      </p:graphicFrame>
      <p:sp>
        <p:nvSpPr>
          <p:cNvPr id="6" name="文字方塊 5">
            <a:extLst>
              <a:ext uri="{FF2B5EF4-FFF2-40B4-BE49-F238E27FC236}">
                <a16:creationId xmlns:a16="http://schemas.microsoft.com/office/drawing/2014/main" id="{FC3C6508-5973-78A6-F0D9-852389873F77}"/>
              </a:ext>
            </a:extLst>
          </p:cNvPr>
          <p:cNvSpPr txBox="1"/>
          <p:nvPr/>
        </p:nvSpPr>
        <p:spPr>
          <a:xfrm>
            <a:off x="571501" y="1076446"/>
            <a:ext cx="2962671" cy="369332"/>
          </a:xfrm>
          <a:prstGeom prst="rect">
            <a:avLst/>
          </a:prstGeom>
          <a:noFill/>
        </p:spPr>
        <p:txBody>
          <a:bodyPr wrap="none" rtlCol="0">
            <a:spAutoFit/>
          </a:bodyPr>
          <a:lstStyle/>
          <a:p>
            <a:r>
              <a:rPr lang="en-US" altLang="zh-TW" dirty="0"/>
              <a:t>Cylinder</a:t>
            </a:r>
            <a:r>
              <a:rPr lang="zh-TW" altLang="en-US" dirty="0"/>
              <a:t> </a:t>
            </a:r>
            <a:r>
              <a:rPr lang="en-US" altLang="zh-TW" dirty="0"/>
              <a:t>Board Command</a:t>
            </a:r>
            <a:r>
              <a:rPr lang="en-US" altLang="zh-TW" dirty="0">
                <a:solidFill>
                  <a:srgbClr val="FF0000"/>
                </a:solidFill>
                <a:latin typeface="新細明體" panose="02020500000000000000" pitchFamily="18" charset="-120"/>
                <a:ea typeface="新細明體" panose="02020500000000000000" pitchFamily="18" charset="-120"/>
              </a:rPr>
              <a:t> </a:t>
            </a:r>
            <a:r>
              <a:rPr kumimoji="1" lang="en-US" altLang="zh-TW" dirty="0"/>
              <a:t>:</a:t>
            </a:r>
            <a:endParaRPr kumimoji="1" lang="zh-TW" altLang="en-US" dirty="0"/>
          </a:p>
        </p:txBody>
      </p:sp>
    </p:spTree>
    <p:extLst>
      <p:ext uri="{BB962C8B-B14F-4D97-AF65-F5344CB8AC3E}">
        <p14:creationId xmlns:p14="http://schemas.microsoft.com/office/powerpoint/2010/main" val="35872526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989C1-E6E5-87DD-5FC0-11632BFA47D0}"/>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A19184A5-A61C-2213-F690-2A7EA865F558}"/>
              </a:ext>
            </a:extLst>
          </p:cNvPr>
          <p:cNvSpPr>
            <a:spLocks noGrp="1"/>
          </p:cNvSpPr>
          <p:nvPr>
            <p:ph type="body" sz="quarter" idx="13"/>
          </p:nvPr>
        </p:nvSpPr>
        <p:spPr/>
        <p:txBody>
          <a:bodyPr/>
          <a:lstStyle/>
          <a:p>
            <a:r>
              <a:rPr lang="en-US" dirty="0"/>
              <a:t>Terminology  </a:t>
            </a:r>
          </a:p>
          <a:p>
            <a:endParaRPr lang="en-US" dirty="0"/>
          </a:p>
        </p:txBody>
      </p:sp>
      <p:sp>
        <p:nvSpPr>
          <p:cNvPr id="6" name="文字方塊 5">
            <a:extLst>
              <a:ext uri="{FF2B5EF4-FFF2-40B4-BE49-F238E27FC236}">
                <a16:creationId xmlns:a16="http://schemas.microsoft.com/office/drawing/2014/main" id="{CC2FC059-D9F7-4CC3-F85C-2FF888A5D56D}"/>
              </a:ext>
            </a:extLst>
          </p:cNvPr>
          <p:cNvSpPr txBox="1"/>
          <p:nvPr/>
        </p:nvSpPr>
        <p:spPr>
          <a:xfrm>
            <a:off x="571500" y="938449"/>
            <a:ext cx="8886825" cy="1420261"/>
          </a:xfrm>
          <a:prstGeom prst="rect">
            <a:avLst/>
          </a:prstGeom>
          <a:noFill/>
        </p:spPr>
        <p:txBody>
          <a:bodyPr wrap="square">
            <a:spAutoFit/>
          </a:bodyPr>
          <a:lstStyle/>
          <a:p>
            <a:pPr>
              <a:lnSpc>
                <a:spcPct val="150000"/>
              </a:lnSpc>
              <a:defRPr/>
            </a:pPr>
            <a:r>
              <a:rPr lang="en-US" altLang="zh-TW" sz="2000" b="1" dirty="0" err="1"/>
              <a:t>scan_sn</a:t>
            </a:r>
            <a:r>
              <a:rPr lang="zh-TW" altLang="en-US" sz="2000" b="1" kern="1200" dirty="0">
                <a:solidFill>
                  <a:schemeClr val="tx1"/>
                </a:solidFill>
                <a:effectLst/>
                <a:latin typeface="+mn-lt"/>
                <a:ea typeface="+mn-ea"/>
                <a:cs typeface="+mn-cs"/>
              </a:rPr>
              <a:t>：</a:t>
            </a:r>
            <a:endParaRPr lang="en-US" altLang="zh-TW" sz="2000" b="1" kern="1200" dirty="0">
              <a:solidFill>
                <a:schemeClr val="tx1"/>
              </a:solidFill>
              <a:effectLst/>
              <a:latin typeface="+mn-lt"/>
              <a:ea typeface="+mn-ea"/>
              <a:cs typeface="+mn-cs"/>
            </a:endParaRPr>
          </a:p>
          <a:p>
            <a:pPr marL="800100" lvl="1" indent="-342900">
              <a:lnSpc>
                <a:spcPct val="150000"/>
              </a:lnSpc>
              <a:buFont typeface="Arial" panose="020B0604020202020204" pitchFamily="34" charset="0"/>
              <a:buChar char="•"/>
              <a:defRPr/>
            </a:pPr>
            <a:r>
              <a:rPr lang="en-US" altLang="zh-TW" sz="2000" dirty="0"/>
              <a:t>Read and verify the SN</a:t>
            </a:r>
            <a:endParaRPr lang="en-US" altLang="zh-TW" sz="2000" b="1" dirty="0"/>
          </a:p>
          <a:p>
            <a:pPr>
              <a:lnSpc>
                <a:spcPct val="150000"/>
              </a:lnSpc>
              <a:defRPr/>
            </a:pPr>
            <a:endParaRPr lang="en" altLang="zh-TW" sz="2000" dirty="0"/>
          </a:p>
        </p:txBody>
      </p:sp>
      <p:pic>
        <p:nvPicPr>
          <p:cNvPr id="5" name="圖片 4">
            <a:extLst>
              <a:ext uri="{FF2B5EF4-FFF2-40B4-BE49-F238E27FC236}">
                <a16:creationId xmlns:a16="http://schemas.microsoft.com/office/drawing/2014/main" id="{145EF1B7-8D11-0D97-71F6-C76B579F0E6B}"/>
              </a:ext>
            </a:extLst>
          </p:cNvPr>
          <p:cNvPicPr>
            <a:picLocks noChangeAspect="1"/>
          </p:cNvPicPr>
          <p:nvPr/>
        </p:nvPicPr>
        <p:blipFill>
          <a:blip r:embed="rId3"/>
          <a:stretch>
            <a:fillRect/>
          </a:stretch>
        </p:blipFill>
        <p:spPr>
          <a:xfrm>
            <a:off x="3626269" y="4713290"/>
            <a:ext cx="4164330" cy="1399582"/>
          </a:xfrm>
          <a:prstGeom prst="rect">
            <a:avLst/>
          </a:prstGeom>
        </p:spPr>
      </p:pic>
      <p:sp>
        <p:nvSpPr>
          <p:cNvPr id="8" name="文字方塊 7">
            <a:extLst>
              <a:ext uri="{FF2B5EF4-FFF2-40B4-BE49-F238E27FC236}">
                <a16:creationId xmlns:a16="http://schemas.microsoft.com/office/drawing/2014/main" id="{944B0F81-C58D-8272-A340-24C18748F5C0}"/>
              </a:ext>
            </a:extLst>
          </p:cNvPr>
          <p:cNvSpPr txBox="1"/>
          <p:nvPr/>
        </p:nvSpPr>
        <p:spPr>
          <a:xfrm>
            <a:off x="4146233" y="6112872"/>
            <a:ext cx="3374707" cy="369332"/>
          </a:xfrm>
          <a:prstGeom prst="rect">
            <a:avLst/>
          </a:prstGeom>
          <a:noFill/>
        </p:spPr>
        <p:txBody>
          <a:bodyPr wrap="square">
            <a:spAutoFit/>
          </a:bodyPr>
          <a:lstStyle/>
          <a:p>
            <a:r>
              <a:rPr lang="zh-TW" altLang="en-US" dirty="0"/>
              <a:t>SN length must be </a:t>
            </a:r>
            <a:r>
              <a:rPr lang="en-US" altLang="zh-TW" dirty="0"/>
              <a:t>12 or 10 </a:t>
            </a:r>
            <a:endParaRPr lang="zh-TW" altLang="en-US" dirty="0"/>
          </a:p>
        </p:txBody>
      </p:sp>
      <p:pic>
        <p:nvPicPr>
          <p:cNvPr id="10" name="圖片 9">
            <a:extLst>
              <a:ext uri="{FF2B5EF4-FFF2-40B4-BE49-F238E27FC236}">
                <a16:creationId xmlns:a16="http://schemas.microsoft.com/office/drawing/2014/main" id="{DFA8CBEA-AD2D-1D75-34B8-1E80E73531B9}"/>
              </a:ext>
            </a:extLst>
          </p:cNvPr>
          <p:cNvPicPr>
            <a:picLocks noChangeAspect="1"/>
          </p:cNvPicPr>
          <p:nvPr/>
        </p:nvPicPr>
        <p:blipFill>
          <a:blip r:embed="rId4"/>
          <a:stretch>
            <a:fillRect/>
          </a:stretch>
        </p:blipFill>
        <p:spPr>
          <a:xfrm>
            <a:off x="1947386" y="2144710"/>
            <a:ext cx="7772400" cy="1824233"/>
          </a:xfrm>
          <a:prstGeom prst="rect">
            <a:avLst/>
          </a:prstGeom>
        </p:spPr>
      </p:pic>
      <p:sp>
        <p:nvSpPr>
          <p:cNvPr id="11" name="文字方塊 10">
            <a:extLst>
              <a:ext uri="{FF2B5EF4-FFF2-40B4-BE49-F238E27FC236}">
                <a16:creationId xmlns:a16="http://schemas.microsoft.com/office/drawing/2014/main" id="{312B7E52-AD7F-7B54-1EA8-E255B6B566C0}"/>
              </a:ext>
            </a:extLst>
          </p:cNvPr>
          <p:cNvSpPr txBox="1"/>
          <p:nvPr/>
        </p:nvSpPr>
        <p:spPr>
          <a:xfrm>
            <a:off x="3713049" y="3968943"/>
            <a:ext cx="3990771" cy="646331"/>
          </a:xfrm>
          <a:prstGeom prst="rect">
            <a:avLst/>
          </a:prstGeom>
          <a:noFill/>
        </p:spPr>
        <p:txBody>
          <a:bodyPr wrap="square">
            <a:spAutoFit/>
          </a:bodyPr>
          <a:lstStyle/>
          <a:p>
            <a:r>
              <a:rPr lang="en-US" altLang="zh-TW" dirty="0"/>
              <a:t>Use </a:t>
            </a:r>
            <a:r>
              <a:rPr lang="en-US" altLang="zh-TW" dirty="0" err="1"/>
              <a:t>TPInterview</a:t>
            </a:r>
            <a:r>
              <a:rPr lang="en-US" altLang="zh-TW" dirty="0"/>
              <a:t> Plugin to get the SN</a:t>
            </a:r>
          </a:p>
          <a:p>
            <a:endParaRPr lang="zh-TW" altLang="en-US" dirty="0"/>
          </a:p>
        </p:txBody>
      </p:sp>
      <p:sp>
        <p:nvSpPr>
          <p:cNvPr id="12" name="矩形 11">
            <a:extLst>
              <a:ext uri="{FF2B5EF4-FFF2-40B4-BE49-F238E27FC236}">
                <a16:creationId xmlns:a16="http://schemas.microsoft.com/office/drawing/2014/main" id="{7BFFA8F6-AA5C-6517-582C-742D4C9C110A}"/>
              </a:ext>
            </a:extLst>
          </p:cNvPr>
          <p:cNvSpPr/>
          <p:nvPr/>
        </p:nvSpPr>
        <p:spPr>
          <a:xfrm>
            <a:off x="2048719" y="3429000"/>
            <a:ext cx="7569842" cy="45463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Tree>
    <p:extLst>
      <p:ext uri="{BB962C8B-B14F-4D97-AF65-F5344CB8AC3E}">
        <p14:creationId xmlns:p14="http://schemas.microsoft.com/office/powerpoint/2010/main" val="746962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1CE925-D3D7-54FE-8B7B-D1B0A7D52DC1}"/>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73C8318-1524-BE06-22B7-DCC151C9F490}"/>
              </a:ext>
            </a:extLst>
          </p:cNvPr>
          <p:cNvSpPr>
            <a:spLocks noGrp="1"/>
          </p:cNvSpPr>
          <p:nvPr>
            <p:ph type="body" sz="quarter" idx="13"/>
          </p:nvPr>
        </p:nvSpPr>
        <p:spPr/>
        <p:txBody>
          <a:bodyPr/>
          <a:lstStyle/>
          <a:p>
            <a:r>
              <a:rPr lang="en-US" dirty="0"/>
              <a:t>Terminology  </a:t>
            </a:r>
          </a:p>
          <a:p>
            <a:endParaRPr lang="en-US" dirty="0"/>
          </a:p>
        </p:txBody>
      </p:sp>
      <p:sp>
        <p:nvSpPr>
          <p:cNvPr id="6" name="文字方塊 5">
            <a:extLst>
              <a:ext uri="{FF2B5EF4-FFF2-40B4-BE49-F238E27FC236}">
                <a16:creationId xmlns:a16="http://schemas.microsoft.com/office/drawing/2014/main" id="{36013F67-84D5-B61D-0C4B-9D024DA1FECD}"/>
              </a:ext>
            </a:extLst>
          </p:cNvPr>
          <p:cNvSpPr txBox="1"/>
          <p:nvPr/>
        </p:nvSpPr>
        <p:spPr>
          <a:xfrm>
            <a:off x="571500" y="938449"/>
            <a:ext cx="8886825" cy="1881925"/>
          </a:xfrm>
          <a:prstGeom prst="rect">
            <a:avLst/>
          </a:prstGeom>
          <a:noFill/>
        </p:spPr>
        <p:txBody>
          <a:bodyPr wrap="square">
            <a:spAutoFit/>
          </a:bodyPr>
          <a:lstStyle/>
          <a:p>
            <a:pPr>
              <a:lnSpc>
                <a:spcPct val="150000"/>
              </a:lnSpc>
              <a:defRPr/>
            </a:pPr>
            <a:r>
              <a:rPr lang="en-US" altLang="zh-TW" sz="2000" b="1" dirty="0" err="1"/>
              <a:t>CloseDoor</a:t>
            </a:r>
            <a:r>
              <a:rPr lang="zh-TW" altLang="en-US" sz="2000" b="1" kern="1200" dirty="0">
                <a:solidFill>
                  <a:schemeClr val="tx1"/>
                </a:solidFill>
                <a:effectLst/>
                <a:latin typeface="+mn-lt"/>
                <a:ea typeface="+mn-ea"/>
                <a:cs typeface="+mn-cs"/>
              </a:rPr>
              <a:t>：</a:t>
            </a:r>
            <a:endParaRPr lang="en-US" altLang="zh-TW" sz="2000" b="1" kern="1200" dirty="0">
              <a:solidFill>
                <a:schemeClr val="tx1"/>
              </a:solidFill>
              <a:effectLst/>
              <a:latin typeface="+mn-lt"/>
              <a:ea typeface="+mn-ea"/>
              <a:cs typeface="+mn-cs"/>
            </a:endParaRPr>
          </a:p>
          <a:p>
            <a:pPr marL="800100" lvl="1" indent="-342900">
              <a:lnSpc>
                <a:spcPct val="150000"/>
              </a:lnSpc>
              <a:buFont typeface="Arial" panose="020B0604020202020204" pitchFamily="34" charset="0"/>
              <a:buChar char="•"/>
              <a:defRPr/>
            </a:pPr>
            <a:r>
              <a:rPr lang="en-US" altLang="zh-TW" sz="2000" dirty="0"/>
              <a:t>Close the fixture door</a:t>
            </a:r>
            <a:endParaRPr lang="en-US" altLang="zh-TW" sz="2000" b="1" dirty="0"/>
          </a:p>
          <a:p>
            <a:pPr>
              <a:lnSpc>
                <a:spcPct val="150000"/>
              </a:lnSpc>
              <a:defRPr/>
            </a:pPr>
            <a:r>
              <a:rPr lang="en-US" altLang="zh-TW" sz="2000" b="1" dirty="0"/>
              <a:t>Command</a:t>
            </a:r>
            <a:r>
              <a:rPr lang="zh-TW" altLang="en-US" sz="2000" b="1" dirty="0"/>
              <a:t>：</a:t>
            </a:r>
            <a:endParaRPr lang="en-US" altLang="zh-TW" sz="2000" b="1" dirty="0"/>
          </a:p>
          <a:p>
            <a:pPr>
              <a:lnSpc>
                <a:spcPct val="150000"/>
              </a:lnSpc>
              <a:defRPr/>
            </a:pPr>
            <a:endParaRPr lang="en" altLang="zh-TW" sz="2000" dirty="0"/>
          </a:p>
        </p:txBody>
      </p:sp>
      <p:graphicFrame>
        <p:nvGraphicFramePr>
          <p:cNvPr id="4" name="表格 3">
            <a:extLst>
              <a:ext uri="{FF2B5EF4-FFF2-40B4-BE49-F238E27FC236}">
                <a16:creationId xmlns:a16="http://schemas.microsoft.com/office/drawing/2014/main" id="{03A78843-CB2D-B69E-7CAE-CB3E232C547E}"/>
              </a:ext>
            </a:extLst>
          </p:cNvPr>
          <p:cNvGraphicFramePr>
            <a:graphicFrameLocks noGrp="1"/>
          </p:cNvGraphicFramePr>
          <p:nvPr>
            <p:extLst>
              <p:ext uri="{D42A27DB-BD31-4B8C-83A1-F6EECF244321}">
                <p14:modId xmlns:p14="http://schemas.microsoft.com/office/powerpoint/2010/main" val="2773272461"/>
              </p:ext>
            </p:extLst>
          </p:nvPr>
        </p:nvGraphicFramePr>
        <p:xfrm>
          <a:off x="571499" y="2615367"/>
          <a:ext cx="6177845" cy="612224"/>
        </p:xfrm>
        <a:graphic>
          <a:graphicData uri="http://schemas.openxmlformats.org/drawingml/2006/table">
            <a:tbl>
              <a:tblPr>
                <a:tableStyleId>{5C22544A-7EE6-4342-B048-85BDC9FD1C3A}</a:tableStyleId>
              </a:tblPr>
              <a:tblGrid>
                <a:gridCol w="1962902">
                  <a:extLst>
                    <a:ext uri="{9D8B030D-6E8A-4147-A177-3AD203B41FA5}">
                      <a16:colId xmlns:a16="http://schemas.microsoft.com/office/drawing/2014/main" val="299693813"/>
                    </a:ext>
                  </a:extLst>
                </a:gridCol>
                <a:gridCol w="1962902">
                  <a:extLst>
                    <a:ext uri="{9D8B030D-6E8A-4147-A177-3AD203B41FA5}">
                      <a16:colId xmlns:a16="http://schemas.microsoft.com/office/drawing/2014/main" val="2590447521"/>
                    </a:ext>
                  </a:extLst>
                </a:gridCol>
                <a:gridCol w="2252041">
                  <a:extLst>
                    <a:ext uri="{9D8B030D-6E8A-4147-A177-3AD203B41FA5}">
                      <a16:colId xmlns:a16="http://schemas.microsoft.com/office/drawing/2014/main" val="2991921358"/>
                    </a:ext>
                  </a:extLst>
                </a:gridCol>
              </a:tblGrid>
              <a:tr h="288224">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TW" sz="1100" b="1" u="none" strike="noStrike" dirty="0">
                          <a:effectLst/>
                        </a:rPr>
                        <a:t>Test</a:t>
                      </a:r>
                      <a:r>
                        <a:rPr lang="en-US" altLang="zh-TW" sz="1100" u="none" strike="noStrike" dirty="0">
                          <a:effectLst/>
                        </a:rPr>
                        <a:t> </a:t>
                      </a:r>
                      <a:r>
                        <a:rPr lang="en-US" altLang="zh-TW" sz="1100" b="1" u="none" strike="noStrike" dirty="0">
                          <a:effectLst/>
                        </a:rPr>
                        <a:t>item</a:t>
                      </a:r>
                      <a:endParaRPr lang="en-US" altLang="zh-TW" sz="1100" b="1"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40000"/>
                        <a:lumOff val="60000"/>
                      </a:schemeClr>
                    </a:solidFill>
                  </a:tcPr>
                </a:tc>
                <a:tc>
                  <a:txBody>
                    <a:bodyPr/>
                    <a:lstStyle/>
                    <a:p>
                      <a:pPr algn="ctr" fontAlgn="ctr">
                        <a:buNone/>
                      </a:pPr>
                      <a:r>
                        <a:rPr lang="en-US" sz="1100" b="1" u="none" strike="noStrike" dirty="0">
                          <a:effectLst/>
                        </a:rPr>
                        <a:t>cylinder command</a:t>
                      </a:r>
                      <a:endParaRPr lang="en-US" sz="1100" b="1" i="0" u="none" strike="noStrike" dirty="0">
                        <a:solidFill>
                          <a:srgbClr val="FF0000"/>
                        </a:solidFill>
                        <a:effectLst/>
                        <a:latin typeface="新細明體" panose="02020500000000000000" pitchFamily="18" charset="-120"/>
                        <a:ea typeface="新細明體" panose="02020500000000000000" pitchFamily="18" charset="-120"/>
                      </a:endParaRPr>
                    </a:p>
                  </a:txBody>
                  <a:tcPr marL="9411" marR="9411" marT="9411" marB="0" anchor="ct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40000"/>
                        <a:lumOff val="60000"/>
                      </a:schemeClr>
                    </a:solidFill>
                  </a:tcPr>
                </a:tc>
                <a:tc>
                  <a:txBody>
                    <a:bodyPr/>
                    <a:lstStyle/>
                    <a:p>
                      <a:pPr algn="l" fontAlgn="ctr">
                        <a:buNone/>
                      </a:pPr>
                      <a:r>
                        <a:rPr lang="en-US" altLang="zh-TW" sz="1100" b="1" kern="1200" dirty="0">
                          <a:solidFill>
                            <a:schemeClr val="tx1"/>
                          </a:solidFill>
                          <a:effectLst/>
                          <a:latin typeface="+mn-lt"/>
                          <a:ea typeface="+mn-ea"/>
                          <a:cs typeface="+mn-cs"/>
                        </a:rPr>
                        <a:t>Description</a:t>
                      </a: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0733310"/>
                  </a:ext>
                </a:extLst>
              </a:tr>
              <a:tr h="324000">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TW" sz="1400" b="1" dirty="0" err="1"/>
                        <a:t>CloseDoor</a:t>
                      </a:r>
                      <a:endParaRPr lang="en-US" altLang="zh-TW" sz="1400" b="0" kern="1200" dirty="0">
                        <a:solidFill>
                          <a:schemeClr val="dk1"/>
                        </a:solidFill>
                        <a:effectLst/>
                        <a:latin typeface="+mn-lt"/>
                        <a:ea typeface="+mn-ea"/>
                        <a:cs typeface="+mn-cs"/>
                      </a:endParaRPr>
                    </a:p>
                  </a:txBody>
                  <a:tcPr marL="9411" marR="9411" marT="9411" marB="0"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zh-TW" altLang="en-US" sz="1200" u="none" strike="noStrike" kern="1200" dirty="0">
                          <a:solidFill>
                            <a:schemeClr val="dk1"/>
                          </a:solidFill>
                          <a:effectLst/>
                          <a:latin typeface="+mn-lt"/>
                          <a:ea typeface="+mn-ea"/>
                          <a:cs typeface="+mn-cs"/>
                        </a:rPr>
                        <a:t> </a:t>
                      </a:r>
                      <a:r>
                        <a:rPr lang="en-US" altLang="zh-TW" sz="1200" u="none" strike="noStrike" kern="1200" dirty="0">
                          <a:solidFill>
                            <a:schemeClr val="dk1"/>
                          </a:solidFill>
                          <a:effectLst/>
                          <a:latin typeface="+mn-lt"/>
                          <a:ea typeface="+mn-ea"/>
                          <a:cs typeface="+mn-cs"/>
                        </a:rPr>
                        <a:t>cylinder1 front</a:t>
                      </a:r>
                    </a:p>
                  </a:txBody>
                  <a:tcPr marL="9411" marR="9411" marT="941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zh-TW" altLang="en-US" sz="1200" u="none" strike="noStrike" kern="1200" dirty="0">
                          <a:solidFill>
                            <a:schemeClr val="dk1"/>
                          </a:solidFill>
                          <a:effectLst/>
                          <a:latin typeface="+mn-lt"/>
                          <a:ea typeface="+mn-ea"/>
                          <a:cs typeface="+mn-cs"/>
                        </a:rPr>
                        <a:t>進入工作位（先關蓋）</a:t>
                      </a:r>
                      <a:endParaRPr lang="en-US" altLang="zh-TW" sz="1200" u="none" strike="noStrike" kern="1200" dirty="0">
                        <a:solidFill>
                          <a:schemeClr val="dk1"/>
                        </a:solidFill>
                        <a:effectLst/>
                        <a:latin typeface="+mn-lt"/>
                        <a:ea typeface="+mn-ea"/>
                        <a:cs typeface="+mn-cs"/>
                      </a:endParaRPr>
                    </a:p>
                  </a:txBody>
                  <a:tcPr marL="9411" marR="9411" marT="9411"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66757595"/>
                  </a:ext>
                </a:extLst>
              </a:tr>
            </a:tbl>
          </a:graphicData>
        </a:graphic>
      </p:graphicFrame>
      <p:sp>
        <p:nvSpPr>
          <p:cNvPr id="7" name="文字方塊 6">
            <a:extLst>
              <a:ext uri="{FF2B5EF4-FFF2-40B4-BE49-F238E27FC236}">
                <a16:creationId xmlns:a16="http://schemas.microsoft.com/office/drawing/2014/main" id="{FDBAFB8A-95D5-1E9C-5B02-BBDCA23C4D9E}"/>
              </a:ext>
            </a:extLst>
          </p:cNvPr>
          <p:cNvSpPr txBox="1"/>
          <p:nvPr/>
        </p:nvSpPr>
        <p:spPr>
          <a:xfrm>
            <a:off x="4309110" y="3429000"/>
            <a:ext cx="184731" cy="369332"/>
          </a:xfrm>
          <a:prstGeom prst="rect">
            <a:avLst/>
          </a:prstGeom>
          <a:noFill/>
        </p:spPr>
        <p:txBody>
          <a:bodyPr wrap="none" rtlCol="0">
            <a:spAutoFit/>
          </a:bodyPr>
          <a:lstStyle/>
          <a:p>
            <a:endParaRPr kumimoji="1" lang="zh-TW" altLang="en-US" dirty="0"/>
          </a:p>
        </p:txBody>
      </p:sp>
      <p:pic>
        <p:nvPicPr>
          <p:cNvPr id="9" name="圖片 8">
            <a:extLst>
              <a:ext uri="{FF2B5EF4-FFF2-40B4-BE49-F238E27FC236}">
                <a16:creationId xmlns:a16="http://schemas.microsoft.com/office/drawing/2014/main" id="{153BC9CA-FA07-BEBE-3D04-74AB6F4D7368}"/>
              </a:ext>
            </a:extLst>
          </p:cNvPr>
          <p:cNvPicPr>
            <a:picLocks noChangeAspect="1"/>
          </p:cNvPicPr>
          <p:nvPr/>
        </p:nvPicPr>
        <p:blipFill>
          <a:blip r:embed="rId3"/>
          <a:srcRect b="19152"/>
          <a:stretch>
            <a:fillRect/>
          </a:stretch>
        </p:blipFill>
        <p:spPr>
          <a:xfrm>
            <a:off x="905862" y="3798332"/>
            <a:ext cx="5363566" cy="2011630"/>
          </a:xfrm>
          <a:prstGeom prst="rect">
            <a:avLst/>
          </a:prstGeom>
        </p:spPr>
      </p:pic>
    </p:spTree>
    <p:extLst>
      <p:ext uri="{BB962C8B-B14F-4D97-AF65-F5344CB8AC3E}">
        <p14:creationId xmlns:p14="http://schemas.microsoft.com/office/powerpoint/2010/main" val="476732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5E408-F8C3-B942-DF27-89EE57088B24}"/>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38FAD15D-EDC4-3A09-EC13-F08B8829B837}"/>
              </a:ext>
            </a:extLst>
          </p:cNvPr>
          <p:cNvSpPr>
            <a:spLocks noGrp="1"/>
          </p:cNvSpPr>
          <p:nvPr>
            <p:ph type="body" sz="quarter" idx="13"/>
          </p:nvPr>
        </p:nvSpPr>
        <p:spPr/>
        <p:txBody>
          <a:bodyPr/>
          <a:lstStyle/>
          <a:p>
            <a:r>
              <a:rPr lang="en-US" dirty="0"/>
              <a:t>Terminology  </a:t>
            </a:r>
          </a:p>
          <a:p>
            <a:endParaRPr lang="en-US" dirty="0"/>
          </a:p>
        </p:txBody>
      </p:sp>
      <p:sp>
        <p:nvSpPr>
          <p:cNvPr id="6" name="文字方塊 5">
            <a:extLst>
              <a:ext uri="{FF2B5EF4-FFF2-40B4-BE49-F238E27FC236}">
                <a16:creationId xmlns:a16="http://schemas.microsoft.com/office/drawing/2014/main" id="{66464221-A4C5-30DB-EB09-E42C59FF21CE}"/>
              </a:ext>
            </a:extLst>
          </p:cNvPr>
          <p:cNvSpPr txBox="1"/>
          <p:nvPr/>
        </p:nvSpPr>
        <p:spPr>
          <a:xfrm>
            <a:off x="571500" y="938449"/>
            <a:ext cx="8886825" cy="1881925"/>
          </a:xfrm>
          <a:prstGeom prst="rect">
            <a:avLst/>
          </a:prstGeom>
          <a:noFill/>
        </p:spPr>
        <p:txBody>
          <a:bodyPr wrap="square">
            <a:spAutoFit/>
          </a:bodyPr>
          <a:lstStyle/>
          <a:p>
            <a:pPr lvl="0">
              <a:lnSpc>
                <a:spcPct val="150000"/>
              </a:lnSpc>
              <a:defRPr/>
            </a:pPr>
            <a:r>
              <a:rPr lang="en-US" altLang="zh-TW" sz="2000" b="1" dirty="0" err="1"/>
              <a:t>DeviceReset</a:t>
            </a:r>
            <a:r>
              <a:rPr lang="zh-TW" altLang="en-US" sz="2000" b="1" kern="1200" dirty="0">
                <a:solidFill>
                  <a:schemeClr val="tx1"/>
                </a:solidFill>
                <a:effectLst/>
                <a:latin typeface="+mn-lt"/>
                <a:ea typeface="+mn-ea"/>
                <a:cs typeface="+mn-cs"/>
              </a:rPr>
              <a:t>：</a:t>
            </a:r>
            <a:endParaRPr lang="en-US" altLang="zh-TW" sz="2000" b="1" kern="1200" dirty="0">
              <a:solidFill>
                <a:schemeClr val="tx1"/>
              </a:solidFill>
              <a:effectLst/>
              <a:latin typeface="+mn-lt"/>
              <a:ea typeface="+mn-ea"/>
              <a:cs typeface="+mn-cs"/>
            </a:endParaRPr>
          </a:p>
          <a:p>
            <a:pPr marL="800100" lvl="1" indent="-342900">
              <a:lnSpc>
                <a:spcPct val="150000"/>
              </a:lnSpc>
              <a:buFont typeface="Arial" panose="020B0604020202020204" pitchFamily="34" charset="0"/>
              <a:buChar char="•"/>
              <a:defRPr/>
            </a:pPr>
            <a:r>
              <a:rPr lang="en-US" altLang="zh-TW" sz="2000" dirty="0"/>
              <a:t>Reset the dummy board and Type-C board</a:t>
            </a:r>
            <a:endParaRPr lang="en-US" altLang="zh-TW" sz="2000" b="1" dirty="0"/>
          </a:p>
          <a:p>
            <a:pPr>
              <a:lnSpc>
                <a:spcPct val="150000"/>
              </a:lnSpc>
              <a:defRPr/>
            </a:pPr>
            <a:r>
              <a:rPr lang="en-US" altLang="zh-TW" sz="2000" b="1" dirty="0"/>
              <a:t>Command</a:t>
            </a:r>
            <a:r>
              <a:rPr lang="zh-TW" altLang="en-US" sz="2000" b="1" dirty="0"/>
              <a:t>：</a:t>
            </a:r>
            <a:endParaRPr lang="en-US" altLang="zh-TW" sz="2000" b="1" dirty="0"/>
          </a:p>
          <a:p>
            <a:pPr>
              <a:lnSpc>
                <a:spcPct val="150000"/>
              </a:lnSpc>
              <a:defRPr/>
            </a:pPr>
            <a:endParaRPr lang="en" altLang="zh-TW" sz="2000" dirty="0"/>
          </a:p>
        </p:txBody>
      </p:sp>
      <p:graphicFrame>
        <p:nvGraphicFramePr>
          <p:cNvPr id="2" name="表格 1">
            <a:extLst>
              <a:ext uri="{FF2B5EF4-FFF2-40B4-BE49-F238E27FC236}">
                <a16:creationId xmlns:a16="http://schemas.microsoft.com/office/drawing/2014/main" id="{18AB1874-BBD2-3589-967F-4798F48D1D39}"/>
              </a:ext>
            </a:extLst>
          </p:cNvPr>
          <p:cNvGraphicFramePr>
            <a:graphicFrameLocks noGrp="1"/>
          </p:cNvGraphicFramePr>
          <p:nvPr>
            <p:extLst>
              <p:ext uri="{D42A27DB-BD31-4B8C-83A1-F6EECF244321}">
                <p14:modId xmlns:p14="http://schemas.microsoft.com/office/powerpoint/2010/main" val="2384332575"/>
              </p:ext>
            </p:extLst>
          </p:nvPr>
        </p:nvGraphicFramePr>
        <p:xfrm>
          <a:off x="694482" y="2520000"/>
          <a:ext cx="10243596" cy="813509"/>
        </p:xfrm>
        <a:graphic>
          <a:graphicData uri="http://schemas.openxmlformats.org/drawingml/2006/table">
            <a:tbl>
              <a:tblPr>
                <a:tableStyleId>{5C22544A-7EE6-4342-B048-85BDC9FD1C3A}</a:tableStyleId>
              </a:tblPr>
              <a:tblGrid>
                <a:gridCol w="1145893">
                  <a:extLst>
                    <a:ext uri="{9D8B030D-6E8A-4147-A177-3AD203B41FA5}">
                      <a16:colId xmlns:a16="http://schemas.microsoft.com/office/drawing/2014/main" val="3315535983"/>
                    </a:ext>
                  </a:extLst>
                </a:gridCol>
                <a:gridCol w="381964">
                  <a:extLst>
                    <a:ext uri="{9D8B030D-6E8A-4147-A177-3AD203B41FA5}">
                      <a16:colId xmlns:a16="http://schemas.microsoft.com/office/drawing/2014/main" val="2960066220"/>
                    </a:ext>
                  </a:extLst>
                </a:gridCol>
                <a:gridCol w="2134768">
                  <a:extLst>
                    <a:ext uri="{9D8B030D-6E8A-4147-A177-3AD203B41FA5}">
                      <a16:colId xmlns:a16="http://schemas.microsoft.com/office/drawing/2014/main" val="3319955928"/>
                    </a:ext>
                  </a:extLst>
                </a:gridCol>
                <a:gridCol w="1919704">
                  <a:extLst>
                    <a:ext uri="{9D8B030D-6E8A-4147-A177-3AD203B41FA5}">
                      <a16:colId xmlns:a16="http://schemas.microsoft.com/office/drawing/2014/main" val="163623680"/>
                    </a:ext>
                  </a:extLst>
                </a:gridCol>
                <a:gridCol w="2320020">
                  <a:extLst>
                    <a:ext uri="{9D8B030D-6E8A-4147-A177-3AD203B41FA5}">
                      <a16:colId xmlns:a16="http://schemas.microsoft.com/office/drawing/2014/main" val="55451195"/>
                    </a:ext>
                  </a:extLst>
                </a:gridCol>
                <a:gridCol w="2341247">
                  <a:extLst>
                    <a:ext uri="{9D8B030D-6E8A-4147-A177-3AD203B41FA5}">
                      <a16:colId xmlns:a16="http://schemas.microsoft.com/office/drawing/2014/main" val="2080052651"/>
                    </a:ext>
                  </a:extLst>
                </a:gridCol>
              </a:tblGrid>
              <a:tr h="433271">
                <a:tc>
                  <a:txBody>
                    <a:bodyPr/>
                    <a:lstStyle/>
                    <a:p>
                      <a:pPr algn="ctr" fontAlgn="ctr">
                        <a:buNone/>
                      </a:pPr>
                      <a:r>
                        <a:rPr lang="en-US" sz="1100" b="1" u="none" strike="noStrike" dirty="0">
                          <a:effectLst/>
                        </a:rPr>
                        <a:t>Test</a:t>
                      </a:r>
                      <a:r>
                        <a:rPr lang="en-US" sz="1100" u="none" strike="noStrike" dirty="0">
                          <a:effectLst/>
                        </a:rPr>
                        <a:t> </a:t>
                      </a:r>
                      <a:r>
                        <a:rPr lang="en-US" sz="1100" b="1" u="none" strike="noStrike" dirty="0">
                          <a:effectLst/>
                        </a:rPr>
                        <a:t>item</a:t>
                      </a:r>
                      <a:endParaRPr lang="en-US" sz="1100" b="1"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ctr" fontAlgn="ctr">
                        <a:buNone/>
                      </a:pPr>
                      <a:r>
                        <a:rPr lang="zh-TW" altLang="en-US" sz="1100" u="none" strike="noStrike" dirty="0">
                          <a:effectLst/>
                        </a:rPr>
                        <a:t>　</a:t>
                      </a: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ctr" fontAlgn="ctr">
                        <a:buNone/>
                      </a:pPr>
                      <a:r>
                        <a:rPr lang="en-US" sz="1100" b="1" u="none" strike="noStrike" dirty="0">
                          <a:effectLst/>
                        </a:rPr>
                        <a:t>Type-C</a:t>
                      </a:r>
                      <a:r>
                        <a:rPr lang="en-US" sz="1100" u="none" strike="noStrike" dirty="0">
                          <a:effectLst/>
                        </a:rPr>
                        <a:t>  </a:t>
                      </a:r>
                      <a:r>
                        <a:rPr lang="en-US" sz="1100" b="1" u="none" strike="noStrike" dirty="0">
                          <a:effectLst/>
                        </a:rPr>
                        <a:t>command</a:t>
                      </a:r>
                      <a:endParaRPr lang="en-US" sz="1100" b="1" i="0" u="none" strike="noStrike" dirty="0">
                        <a:solidFill>
                          <a:srgbClr val="FF0000"/>
                        </a:solidFill>
                        <a:effectLst/>
                        <a:latin typeface="新細明體" panose="02020500000000000000" pitchFamily="18" charset="-120"/>
                        <a:ea typeface="新細明體" panose="02020500000000000000" pitchFamily="18" charset="-120"/>
                      </a:endParaRPr>
                    </a:p>
                  </a:txBody>
                  <a:tcPr marL="9525" marR="9525" marT="9525" marB="0"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l" fontAlgn="ctr">
                        <a:buNone/>
                      </a:pPr>
                      <a:r>
                        <a:rPr lang="en-US" altLang="zh-TW" sz="1100" b="1" kern="1200" dirty="0">
                          <a:solidFill>
                            <a:schemeClr val="tx1"/>
                          </a:solidFill>
                          <a:effectLst/>
                          <a:latin typeface="+mn-lt"/>
                          <a:ea typeface="+mn-ea"/>
                          <a:cs typeface="+mn-cs"/>
                        </a:rPr>
                        <a:t>Description</a:t>
                      </a: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ctr" fontAlgn="ctr">
                        <a:buNone/>
                      </a:pPr>
                      <a:r>
                        <a:rPr lang="en-US" sz="1100" b="1" u="none" strike="noStrike" dirty="0">
                          <a:effectLst/>
                        </a:rPr>
                        <a:t>Dummy command</a:t>
                      </a:r>
                      <a:endParaRPr lang="en-US" sz="1100" b="1" i="0" u="none" strike="noStrike" dirty="0">
                        <a:solidFill>
                          <a:srgbClr val="FF0000"/>
                        </a:solidFill>
                        <a:effectLst/>
                        <a:latin typeface="新細明體" panose="02020500000000000000" pitchFamily="18" charset="-120"/>
                        <a:ea typeface="新細明體" panose="02020500000000000000" pitchFamily="18" charset="-120"/>
                      </a:endParaRPr>
                    </a:p>
                  </a:txBody>
                  <a:tcPr marL="9525" marR="9525" marT="9525" marB="0"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l" fontAlgn="ctr">
                        <a:buNone/>
                      </a:pPr>
                      <a:r>
                        <a:rPr lang="en-US" altLang="zh-TW" sz="1100" b="1" kern="1200" dirty="0">
                          <a:solidFill>
                            <a:schemeClr val="tx1"/>
                          </a:solidFill>
                          <a:effectLst/>
                          <a:latin typeface="+mn-lt"/>
                          <a:ea typeface="+mn-ea"/>
                          <a:cs typeface="+mn-cs"/>
                        </a:rPr>
                        <a:t>Description</a:t>
                      </a: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6">
                        <a:lumMod val="40000"/>
                        <a:lumOff val="60000"/>
                      </a:schemeClr>
                    </a:solidFill>
                  </a:tcPr>
                </a:tc>
                <a:extLst>
                  <a:ext uri="{0D108BD9-81ED-4DB2-BD59-A6C34878D82A}">
                    <a16:rowId xmlns:a16="http://schemas.microsoft.com/office/drawing/2014/main" val="3824094486"/>
                  </a:ext>
                </a:extLst>
              </a:tr>
              <a:tr h="38023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1" dirty="0" err="1"/>
                        <a:t>DeviceReset</a:t>
                      </a:r>
                      <a:endParaRPr lang="en-US" altLang="zh-TW" sz="1200" b="1" i="0" u="none" strike="noStrike" dirty="0">
                        <a:solidFill>
                          <a:srgbClr val="000000"/>
                        </a:solidFill>
                        <a:effectLst/>
                        <a:latin typeface="新細明體" panose="02020500000000000000" pitchFamily="18" charset="-120"/>
                        <a:ea typeface="新細明體" panose="02020500000000000000" pitchFamily="18" charset="-120"/>
                      </a:endParaRP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fontAlgn="ctr">
                        <a:buNone/>
                      </a:pPr>
                      <a:r>
                        <a:rPr lang="en-US" altLang="zh-TW" sz="1200" b="0" i="0" u="none" strike="noStrike" dirty="0">
                          <a:solidFill>
                            <a:srgbClr val="000000"/>
                          </a:solidFill>
                          <a:effectLst/>
                          <a:latin typeface="+mn-lt"/>
                          <a:ea typeface="新細明體" panose="02020500000000000000" pitchFamily="18" charset="-120"/>
                        </a:rPr>
                        <a:t>1</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marL="0" algn="l" defTabSz="914400" rtl="0" eaLnBrk="1" fontAlgn="ctr" latinLnBrk="0" hangingPunct="1">
                        <a:buNone/>
                      </a:pPr>
                      <a:r>
                        <a:rPr lang="en-US" sz="1200" u="none" strike="noStrike" kern="1200" dirty="0">
                          <a:solidFill>
                            <a:schemeClr val="dk1"/>
                          </a:solidFill>
                          <a:effectLst/>
                          <a:latin typeface="+mn-lt"/>
                          <a:ea typeface="+mn-ea"/>
                          <a:cs typeface="+mn-cs"/>
                        </a:rPr>
                        <a:t>reset</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marL="0" algn="l" defTabSz="914400" rtl="0" eaLnBrk="1" fontAlgn="ctr" latinLnBrk="0" hangingPunct="1">
                        <a:buNone/>
                      </a:pPr>
                      <a:r>
                        <a:rPr lang="zh-TW" altLang="en-US" sz="1200" u="none" strike="noStrike" kern="1200" dirty="0">
                          <a:solidFill>
                            <a:schemeClr val="dk1"/>
                          </a:solidFill>
                          <a:effectLst/>
                          <a:latin typeface="+mn-lt"/>
                          <a:ea typeface="+mn-ea"/>
                          <a:cs typeface="+mn-cs"/>
                        </a:rPr>
                        <a:t>復位</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zh-TW" sz="1200" u="none" strike="noStrike" kern="1200" dirty="0">
                          <a:solidFill>
                            <a:schemeClr val="dk1"/>
                          </a:solidFill>
                          <a:effectLst/>
                          <a:latin typeface="+mn-lt"/>
                          <a:ea typeface="+mn-ea"/>
                          <a:cs typeface="+mn-cs"/>
                        </a:rPr>
                        <a:t>reset</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marL="0" algn="l" defTabSz="914400" rtl="0" eaLnBrk="1" fontAlgn="ctr" latinLnBrk="0" hangingPunct="1">
                        <a:buNone/>
                      </a:pPr>
                      <a:r>
                        <a:rPr lang="zh-TW" altLang="en-US" sz="1200" u="none" strike="noStrike" kern="1200" dirty="0">
                          <a:solidFill>
                            <a:schemeClr val="dk1"/>
                          </a:solidFill>
                          <a:effectLst/>
                          <a:latin typeface="+mn-lt"/>
                          <a:ea typeface="+mn-ea"/>
                          <a:cs typeface="+mn-cs"/>
                        </a:rPr>
                        <a:t>復位</a:t>
                      </a:r>
                    </a:p>
                  </a:txBody>
                  <a:tcPr marL="9525" marR="9525" marT="9525"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84187575"/>
                  </a:ext>
                </a:extLst>
              </a:tr>
            </a:tbl>
          </a:graphicData>
        </a:graphic>
      </p:graphicFrame>
    </p:spTree>
    <p:extLst>
      <p:ext uri="{BB962C8B-B14F-4D97-AF65-F5344CB8AC3E}">
        <p14:creationId xmlns:p14="http://schemas.microsoft.com/office/powerpoint/2010/main" val="19268672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A43381-7C23-A9D8-F105-0A5DEEAF5467}"/>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7B71E73B-FF86-DB1F-7300-7576718B9B4D}"/>
              </a:ext>
            </a:extLst>
          </p:cNvPr>
          <p:cNvSpPr>
            <a:spLocks noGrp="1"/>
          </p:cNvSpPr>
          <p:nvPr>
            <p:ph type="body" sz="quarter" idx="13"/>
          </p:nvPr>
        </p:nvSpPr>
        <p:spPr/>
        <p:txBody>
          <a:bodyPr/>
          <a:lstStyle/>
          <a:p>
            <a:r>
              <a:rPr lang="en-US" dirty="0"/>
              <a:t>Terminology  </a:t>
            </a:r>
          </a:p>
          <a:p>
            <a:endParaRPr lang="en-US" dirty="0"/>
          </a:p>
        </p:txBody>
      </p:sp>
      <p:sp>
        <p:nvSpPr>
          <p:cNvPr id="6" name="文字方塊 5">
            <a:extLst>
              <a:ext uri="{FF2B5EF4-FFF2-40B4-BE49-F238E27FC236}">
                <a16:creationId xmlns:a16="http://schemas.microsoft.com/office/drawing/2014/main" id="{7C6CB8D7-6B9F-E22A-3CA2-8D7308602CF8}"/>
              </a:ext>
            </a:extLst>
          </p:cNvPr>
          <p:cNvSpPr txBox="1"/>
          <p:nvPr/>
        </p:nvSpPr>
        <p:spPr>
          <a:xfrm>
            <a:off x="571500" y="938449"/>
            <a:ext cx="8886825" cy="1881925"/>
          </a:xfrm>
          <a:prstGeom prst="rect">
            <a:avLst/>
          </a:prstGeom>
          <a:noFill/>
        </p:spPr>
        <p:txBody>
          <a:bodyPr wrap="square">
            <a:spAutoFit/>
          </a:bodyPr>
          <a:lstStyle/>
          <a:p>
            <a:pPr>
              <a:lnSpc>
                <a:spcPct val="150000"/>
              </a:lnSpc>
              <a:defRPr/>
            </a:pPr>
            <a:r>
              <a:rPr lang="en-US" altLang="zh-TW" sz="2000" b="1" dirty="0" err="1"/>
              <a:t>TypeC_In</a:t>
            </a:r>
            <a:r>
              <a:rPr lang="zh-TW" altLang="en-US" sz="2000" b="1" kern="1200" dirty="0">
                <a:solidFill>
                  <a:schemeClr val="tx1"/>
                </a:solidFill>
                <a:effectLst/>
                <a:latin typeface="+mn-lt"/>
                <a:ea typeface="+mn-ea"/>
                <a:cs typeface="+mn-cs"/>
              </a:rPr>
              <a:t>：</a:t>
            </a:r>
            <a:endParaRPr lang="en-US" altLang="zh-TW" sz="2000" b="1" kern="1200" dirty="0">
              <a:solidFill>
                <a:schemeClr val="tx1"/>
              </a:solidFill>
              <a:effectLst/>
              <a:latin typeface="+mn-lt"/>
              <a:ea typeface="+mn-ea"/>
              <a:cs typeface="+mn-cs"/>
            </a:endParaRPr>
          </a:p>
          <a:p>
            <a:pPr marL="800100" lvl="1" indent="-342900">
              <a:lnSpc>
                <a:spcPct val="150000"/>
              </a:lnSpc>
              <a:buFont typeface="Arial" panose="020B0604020202020204" pitchFamily="34" charset="0"/>
              <a:buChar char="•"/>
              <a:defRPr/>
            </a:pPr>
            <a:r>
              <a:rPr lang="en-US" altLang="zh-TW" sz="2000" dirty="0"/>
              <a:t>Insert the Type-C module</a:t>
            </a:r>
          </a:p>
          <a:p>
            <a:pPr>
              <a:lnSpc>
                <a:spcPct val="150000"/>
              </a:lnSpc>
              <a:defRPr/>
            </a:pPr>
            <a:r>
              <a:rPr lang="en-US" altLang="zh-TW" sz="2000" b="1" dirty="0"/>
              <a:t>Command</a:t>
            </a:r>
            <a:r>
              <a:rPr lang="zh-TW" altLang="en-US" sz="2000" b="1" dirty="0"/>
              <a:t>：</a:t>
            </a:r>
            <a:endParaRPr lang="en-US" altLang="zh-TW" sz="2000" b="1" dirty="0"/>
          </a:p>
          <a:p>
            <a:pPr>
              <a:lnSpc>
                <a:spcPct val="150000"/>
              </a:lnSpc>
              <a:defRPr/>
            </a:pPr>
            <a:endParaRPr lang="en" altLang="zh-TW" sz="2000" dirty="0"/>
          </a:p>
        </p:txBody>
      </p:sp>
      <p:graphicFrame>
        <p:nvGraphicFramePr>
          <p:cNvPr id="5" name="表格 4">
            <a:extLst>
              <a:ext uri="{FF2B5EF4-FFF2-40B4-BE49-F238E27FC236}">
                <a16:creationId xmlns:a16="http://schemas.microsoft.com/office/drawing/2014/main" id="{8FFE6CAB-8031-BEFB-9FB5-D23C08450012}"/>
              </a:ext>
            </a:extLst>
          </p:cNvPr>
          <p:cNvGraphicFramePr>
            <a:graphicFrameLocks noGrp="1"/>
          </p:cNvGraphicFramePr>
          <p:nvPr>
            <p:extLst>
              <p:ext uri="{D42A27DB-BD31-4B8C-83A1-F6EECF244321}">
                <p14:modId xmlns:p14="http://schemas.microsoft.com/office/powerpoint/2010/main" val="264245472"/>
              </p:ext>
            </p:extLst>
          </p:nvPr>
        </p:nvGraphicFramePr>
        <p:xfrm>
          <a:off x="905862" y="2560320"/>
          <a:ext cx="6305166" cy="640080"/>
        </p:xfrm>
        <a:graphic>
          <a:graphicData uri="http://schemas.openxmlformats.org/drawingml/2006/table">
            <a:tbl>
              <a:tblPr>
                <a:tableStyleId>{5C22544A-7EE6-4342-B048-85BDC9FD1C3A}</a:tableStyleId>
              </a:tblPr>
              <a:tblGrid>
                <a:gridCol w="2003356">
                  <a:extLst>
                    <a:ext uri="{9D8B030D-6E8A-4147-A177-3AD203B41FA5}">
                      <a16:colId xmlns:a16="http://schemas.microsoft.com/office/drawing/2014/main" val="1334882996"/>
                    </a:ext>
                  </a:extLst>
                </a:gridCol>
                <a:gridCol w="2003356">
                  <a:extLst>
                    <a:ext uri="{9D8B030D-6E8A-4147-A177-3AD203B41FA5}">
                      <a16:colId xmlns:a16="http://schemas.microsoft.com/office/drawing/2014/main" val="2590447521"/>
                    </a:ext>
                  </a:extLst>
                </a:gridCol>
                <a:gridCol w="2298454">
                  <a:extLst>
                    <a:ext uri="{9D8B030D-6E8A-4147-A177-3AD203B41FA5}">
                      <a16:colId xmlns:a16="http://schemas.microsoft.com/office/drawing/2014/main" val="2991921358"/>
                    </a:ext>
                  </a:extLst>
                </a:gridCol>
              </a:tblGrid>
              <a:tr h="288224">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TW" sz="1100" b="1" u="none" strike="noStrike" dirty="0">
                          <a:effectLst/>
                        </a:rPr>
                        <a:t>Test</a:t>
                      </a:r>
                      <a:r>
                        <a:rPr lang="en-US" altLang="zh-TW" sz="1100" u="none" strike="noStrike" dirty="0">
                          <a:effectLst/>
                        </a:rPr>
                        <a:t> </a:t>
                      </a:r>
                      <a:r>
                        <a:rPr lang="en-US" altLang="zh-TW" sz="1100" b="1" u="none" strike="noStrike" dirty="0">
                          <a:effectLst/>
                        </a:rPr>
                        <a:t>item</a:t>
                      </a:r>
                      <a:endParaRPr lang="en-US" altLang="zh-TW" sz="1100" b="1"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40000"/>
                        <a:lumOff val="60000"/>
                      </a:schemeClr>
                    </a:solidFill>
                  </a:tcPr>
                </a:tc>
                <a:tc>
                  <a:txBody>
                    <a:bodyPr/>
                    <a:lstStyle/>
                    <a:p>
                      <a:pPr algn="ctr" fontAlgn="ctr">
                        <a:buNone/>
                      </a:pPr>
                      <a:r>
                        <a:rPr lang="en-US" sz="1100" b="1" u="none" strike="noStrike" dirty="0">
                          <a:effectLst/>
                        </a:rPr>
                        <a:t>cylinder command</a:t>
                      </a:r>
                      <a:endParaRPr lang="en-US" sz="1100" b="1" i="0" u="none" strike="noStrike" dirty="0">
                        <a:solidFill>
                          <a:srgbClr val="FF0000"/>
                        </a:solidFill>
                        <a:effectLst/>
                        <a:latin typeface="新細明體" panose="02020500000000000000" pitchFamily="18" charset="-120"/>
                        <a:ea typeface="新細明體" panose="02020500000000000000" pitchFamily="18" charset="-120"/>
                      </a:endParaRPr>
                    </a:p>
                  </a:txBody>
                  <a:tcPr marL="9411" marR="9411" marT="9411" marB="0" anchor="ct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40000"/>
                        <a:lumOff val="60000"/>
                      </a:schemeClr>
                    </a:solidFill>
                  </a:tcPr>
                </a:tc>
                <a:tc>
                  <a:txBody>
                    <a:bodyPr/>
                    <a:lstStyle/>
                    <a:p>
                      <a:pPr algn="l" fontAlgn="ctr">
                        <a:buNone/>
                      </a:pPr>
                      <a:r>
                        <a:rPr lang="en-US" altLang="zh-TW" sz="1100" b="1" kern="1200" dirty="0">
                          <a:solidFill>
                            <a:schemeClr val="tx1"/>
                          </a:solidFill>
                          <a:effectLst/>
                          <a:latin typeface="+mn-lt"/>
                          <a:ea typeface="+mn-ea"/>
                          <a:cs typeface="+mn-cs"/>
                        </a:rPr>
                        <a:t>Description</a:t>
                      </a: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0733310"/>
                  </a:ext>
                </a:extLst>
              </a:tr>
              <a:tr h="351856">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TW" sz="1200" b="1" dirty="0" err="1"/>
                        <a:t>TypeC_In</a:t>
                      </a:r>
                      <a:endParaRPr lang="en-US" altLang="zh-TW" sz="1200" b="0" kern="1200" dirty="0">
                        <a:solidFill>
                          <a:schemeClr val="dk1"/>
                        </a:solidFill>
                        <a:effectLst/>
                        <a:latin typeface="+mn-lt"/>
                        <a:ea typeface="+mn-ea"/>
                        <a:cs typeface="+mn-cs"/>
                      </a:endParaRPr>
                    </a:p>
                  </a:txBody>
                  <a:tcPr marL="9411" marR="9411" marT="9411" marB="0"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zh-TW" altLang="en-US" sz="1200" u="none" strike="noStrike" kern="1200" dirty="0">
                          <a:solidFill>
                            <a:schemeClr val="dk1"/>
                          </a:solidFill>
                          <a:effectLst/>
                          <a:latin typeface="+mn-lt"/>
                          <a:ea typeface="+mn-ea"/>
                          <a:cs typeface="+mn-cs"/>
                        </a:rPr>
                        <a:t> </a:t>
                      </a:r>
                      <a:r>
                        <a:rPr lang="en-US" altLang="zh-TW" sz="1200" u="none" strike="noStrike" kern="1200" dirty="0">
                          <a:solidFill>
                            <a:schemeClr val="dk1"/>
                          </a:solidFill>
                          <a:effectLst/>
                          <a:latin typeface="+mn-lt"/>
                          <a:ea typeface="+mn-ea"/>
                          <a:cs typeface="+mn-cs"/>
                        </a:rPr>
                        <a:t>cylinder2 front</a:t>
                      </a:r>
                    </a:p>
                  </a:txBody>
                  <a:tcPr marL="9411" marR="9411" marT="941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zh-TW" altLang="en-US" sz="1200" u="none" strike="noStrike" kern="1200" dirty="0">
                          <a:solidFill>
                            <a:schemeClr val="dk1"/>
                          </a:solidFill>
                          <a:effectLst/>
                          <a:latin typeface="+mn-lt"/>
                          <a:ea typeface="+mn-ea"/>
                          <a:cs typeface="+mn-cs"/>
                        </a:rPr>
                        <a:t>進入工作位（先關蓋）</a:t>
                      </a:r>
                      <a:endParaRPr lang="en-US" altLang="zh-TW" sz="1200" u="none" strike="noStrike" kern="1200" dirty="0">
                        <a:solidFill>
                          <a:schemeClr val="dk1"/>
                        </a:solidFill>
                        <a:effectLst/>
                        <a:latin typeface="+mn-lt"/>
                        <a:ea typeface="+mn-ea"/>
                        <a:cs typeface="+mn-cs"/>
                      </a:endParaRPr>
                    </a:p>
                  </a:txBody>
                  <a:tcPr marL="9411" marR="9411" marT="9411"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66757595"/>
                  </a:ext>
                </a:extLst>
              </a:tr>
            </a:tbl>
          </a:graphicData>
        </a:graphic>
      </p:graphicFrame>
    </p:spTree>
    <p:extLst>
      <p:ext uri="{BB962C8B-B14F-4D97-AF65-F5344CB8AC3E}">
        <p14:creationId xmlns:p14="http://schemas.microsoft.com/office/powerpoint/2010/main" val="38127811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9D4B51-35A7-5D27-3834-CE65808E365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58DBCD69-D172-8526-1DF2-7050555E00C0}"/>
              </a:ext>
            </a:extLst>
          </p:cNvPr>
          <p:cNvSpPr>
            <a:spLocks noGrp="1"/>
          </p:cNvSpPr>
          <p:nvPr>
            <p:ph type="body" sz="quarter" idx="13"/>
          </p:nvPr>
        </p:nvSpPr>
        <p:spPr/>
        <p:txBody>
          <a:bodyPr/>
          <a:lstStyle/>
          <a:p>
            <a:r>
              <a:rPr lang="en-US" dirty="0"/>
              <a:t>Terminology  </a:t>
            </a:r>
          </a:p>
          <a:p>
            <a:endParaRPr lang="en-US" dirty="0"/>
          </a:p>
        </p:txBody>
      </p:sp>
      <p:sp>
        <p:nvSpPr>
          <p:cNvPr id="6" name="文字方塊 5">
            <a:extLst>
              <a:ext uri="{FF2B5EF4-FFF2-40B4-BE49-F238E27FC236}">
                <a16:creationId xmlns:a16="http://schemas.microsoft.com/office/drawing/2014/main" id="{2EE3B0F3-E395-A5F7-4E50-F1375BD93886}"/>
              </a:ext>
            </a:extLst>
          </p:cNvPr>
          <p:cNvSpPr txBox="1"/>
          <p:nvPr/>
        </p:nvSpPr>
        <p:spPr>
          <a:xfrm>
            <a:off x="571500" y="938449"/>
            <a:ext cx="8886825" cy="1881925"/>
          </a:xfrm>
          <a:prstGeom prst="rect">
            <a:avLst/>
          </a:prstGeom>
          <a:noFill/>
        </p:spPr>
        <p:txBody>
          <a:bodyPr wrap="square">
            <a:spAutoFit/>
          </a:bodyPr>
          <a:lstStyle/>
          <a:p>
            <a:pPr>
              <a:lnSpc>
                <a:spcPct val="150000"/>
              </a:lnSpc>
              <a:defRPr/>
            </a:pPr>
            <a:r>
              <a:rPr lang="en-US" altLang="zh-TW" sz="2000" b="1" dirty="0" err="1"/>
              <a:t>Press_DUT</a:t>
            </a:r>
            <a:r>
              <a:rPr lang="zh-TW" altLang="en-US" sz="2000" b="1" kern="1200" dirty="0">
                <a:solidFill>
                  <a:schemeClr val="tx1"/>
                </a:solidFill>
                <a:effectLst/>
                <a:latin typeface="+mn-lt"/>
                <a:ea typeface="+mn-ea"/>
                <a:cs typeface="+mn-cs"/>
              </a:rPr>
              <a:t>：</a:t>
            </a:r>
            <a:endParaRPr lang="en-US" altLang="zh-TW" sz="2000" b="1" kern="1200" dirty="0">
              <a:solidFill>
                <a:schemeClr val="tx1"/>
              </a:solidFill>
              <a:effectLst/>
              <a:latin typeface="+mn-lt"/>
              <a:ea typeface="+mn-ea"/>
              <a:cs typeface="+mn-cs"/>
            </a:endParaRPr>
          </a:p>
          <a:p>
            <a:pPr marL="800100" lvl="1" indent="-342900">
              <a:lnSpc>
                <a:spcPct val="150000"/>
              </a:lnSpc>
              <a:buFont typeface="Arial" panose="020B0604020202020204" pitchFamily="34" charset="0"/>
              <a:buChar char="•"/>
              <a:defRPr/>
            </a:pPr>
            <a:r>
              <a:rPr lang="en-US" altLang="zh-TW" sz="2000" dirty="0"/>
              <a:t>Open the lid and press down to secure the DUT</a:t>
            </a:r>
            <a:endParaRPr lang="en-US" altLang="zh-TW" sz="2000" b="1" dirty="0"/>
          </a:p>
          <a:p>
            <a:pPr>
              <a:lnSpc>
                <a:spcPct val="150000"/>
              </a:lnSpc>
              <a:defRPr/>
            </a:pPr>
            <a:r>
              <a:rPr lang="en-US" altLang="zh-TW" sz="2000" b="1" dirty="0"/>
              <a:t>Command</a:t>
            </a:r>
            <a:r>
              <a:rPr lang="zh-TW" altLang="en-US" sz="2000" b="1" dirty="0"/>
              <a:t>：</a:t>
            </a:r>
            <a:endParaRPr lang="en-US" altLang="zh-TW" sz="2000" b="1" dirty="0"/>
          </a:p>
          <a:p>
            <a:pPr>
              <a:lnSpc>
                <a:spcPct val="150000"/>
              </a:lnSpc>
              <a:defRPr/>
            </a:pPr>
            <a:endParaRPr lang="en" altLang="zh-TW" sz="2000" dirty="0"/>
          </a:p>
        </p:txBody>
      </p:sp>
      <p:graphicFrame>
        <p:nvGraphicFramePr>
          <p:cNvPr id="4" name="表格 3">
            <a:extLst>
              <a:ext uri="{FF2B5EF4-FFF2-40B4-BE49-F238E27FC236}">
                <a16:creationId xmlns:a16="http://schemas.microsoft.com/office/drawing/2014/main" id="{D7F99040-0F1B-E96B-F3C6-79B8A2B42107}"/>
              </a:ext>
            </a:extLst>
          </p:cNvPr>
          <p:cNvGraphicFramePr>
            <a:graphicFrameLocks noGrp="1"/>
          </p:cNvGraphicFramePr>
          <p:nvPr>
            <p:extLst>
              <p:ext uri="{D42A27DB-BD31-4B8C-83A1-F6EECF244321}">
                <p14:modId xmlns:p14="http://schemas.microsoft.com/office/powerpoint/2010/main" val="1767410519"/>
              </p:ext>
            </p:extLst>
          </p:nvPr>
        </p:nvGraphicFramePr>
        <p:xfrm>
          <a:off x="794351" y="2589738"/>
          <a:ext cx="6997358" cy="1059109"/>
        </p:xfrm>
        <a:graphic>
          <a:graphicData uri="http://schemas.openxmlformats.org/drawingml/2006/table">
            <a:tbl>
              <a:tblPr>
                <a:tableStyleId>{5C22544A-7EE6-4342-B048-85BDC9FD1C3A}</a:tableStyleId>
              </a:tblPr>
              <a:tblGrid>
                <a:gridCol w="2044472">
                  <a:extLst>
                    <a:ext uri="{9D8B030D-6E8A-4147-A177-3AD203B41FA5}">
                      <a16:colId xmlns:a16="http://schemas.microsoft.com/office/drawing/2014/main" val="549460067"/>
                    </a:ext>
                  </a:extLst>
                </a:gridCol>
                <a:gridCol w="523324">
                  <a:extLst>
                    <a:ext uri="{9D8B030D-6E8A-4147-A177-3AD203B41FA5}">
                      <a16:colId xmlns:a16="http://schemas.microsoft.com/office/drawing/2014/main" val="2327150729"/>
                    </a:ext>
                  </a:extLst>
                </a:gridCol>
                <a:gridCol w="2467098">
                  <a:extLst>
                    <a:ext uri="{9D8B030D-6E8A-4147-A177-3AD203B41FA5}">
                      <a16:colId xmlns:a16="http://schemas.microsoft.com/office/drawing/2014/main" val="486039291"/>
                    </a:ext>
                  </a:extLst>
                </a:gridCol>
                <a:gridCol w="1962464">
                  <a:extLst>
                    <a:ext uri="{9D8B030D-6E8A-4147-A177-3AD203B41FA5}">
                      <a16:colId xmlns:a16="http://schemas.microsoft.com/office/drawing/2014/main" val="2143126558"/>
                    </a:ext>
                  </a:extLst>
                </a:gridCol>
              </a:tblGrid>
              <a:tr h="257109">
                <a:tc>
                  <a:txBody>
                    <a:bodyPr/>
                    <a:lstStyle/>
                    <a:p>
                      <a:pPr algn="ctr" fontAlgn="ctr">
                        <a:buNone/>
                      </a:pPr>
                      <a:r>
                        <a:rPr lang="en-US" sz="1100" b="1" u="none" strike="noStrike" dirty="0">
                          <a:effectLst/>
                        </a:rPr>
                        <a:t>Test item</a:t>
                      </a:r>
                      <a:endParaRPr lang="en-US" sz="1100" b="1"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ctr" fontAlgn="ctr">
                        <a:buNone/>
                      </a:pPr>
                      <a:r>
                        <a:rPr lang="zh-TW" altLang="en-US" sz="1100" u="none" strike="noStrike">
                          <a:effectLst/>
                        </a:rPr>
                        <a:t>　</a:t>
                      </a:r>
                      <a:endParaRPr lang="zh-TW" altLang="en-US" sz="11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ctr" fontAlgn="ctr">
                        <a:buNone/>
                      </a:pPr>
                      <a:r>
                        <a:rPr lang="en-US" sz="1100" b="1" u="none" strike="noStrike" dirty="0">
                          <a:effectLst/>
                        </a:rPr>
                        <a:t>cylinder command</a:t>
                      </a:r>
                      <a:endParaRPr lang="en-US" sz="1100" b="1" i="0" u="none" strike="noStrike" dirty="0">
                        <a:solidFill>
                          <a:srgbClr val="FF0000"/>
                        </a:solidFill>
                        <a:effectLst/>
                        <a:latin typeface="新細明體" panose="02020500000000000000" pitchFamily="18" charset="-120"/>
                        <a:ea typeface="新細明體" panose="02020500000000000000" pitchFamily="18" charset="-120"/>
                      </a:endParaRPr>
                    </a:p>
                  </a:txBody>
                  <a:tcPr marL="9411" marR="9411" marT="9411" marB="0"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l" fontAlgn="ctr">
                        <a:buNone/>
                      </a:pPr>
                      <a:r>
                        <a:rPr lang="en-US" altLang="zh-TW" sz="1100" b="1" kern="1200" dirty="0">
                          <a:solidFill>
                            <a:schemeClr val="tx1"/>
                          </a:solidFill>
                          <a:effectLst/>
                          <a:latin typeface="+mn-lt"/>
                          <a:ea typeface="+mn-ea"/>
                          <a:cs typeface="+mn-cs"/>
                        </a:rPr>
                        <a:t>Description</a:t>
                      </a: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6">
                        <a:lumMod val="40000"/>
                        <a:lumOff val="60000"/>
                      </a:schemeClr>
                    </a:solidFill>
                  </a:tcPr>
                </a:tc>
                <a:extLst>
                  <a:ext uri="{0D108BD9-81ED-4DB2-BD59-A6C34878D82A}">
                    <a16:rowId xmlns:a16="http://schemas.microsoft.com/office/drawing/2014/main" val="3535358712"/>
                  </a:ext>
                </a:extLst>
              </a:tr>
              <a:tr h="257109">
                <a:tc rowSpan="3">
                  <a:txBody>
                    <a:bodyPr/>
                    <a:lstStyle/>
                    <a:p>
                      <a:pPr algn="ctr" fontAlgn="ctr">
                        <a:buNone/>
                      </a:pPr>
                      <a:r>
                        <a:rPr lang="en-US" altLang="zh-TW" sz="1100" b="1" dirty="0" err="1"/>
                        <a:t>Press_DUT</a:t>
                      </a: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marL="0" algn="ctr" defTabSz="914400" rtl="0" eaLnBrk="1" fontAlgn="ctr" latinLnBrk="0" hangingPunct="1">
                        <a:buNone/>
                      </a:pPr>
                      <a:r>
                        <a:rPr lang="en-US" altLang="zh-TW" sz="1100" b="0" kern="1200" dirty="0">
                          <a:solidFill>
                            <a:schemeClr val="dk1"/>
                          </a:solidFill>
                          <a:latin typeface="+mn-lt"/>
                          <a:ea typeface="+mn-ea"/>
                          <a:cs typeface="+mn-cs"/>
                        </a:rPr>
                        <a:t>1</a:t>
                      </a:r>
                    </a:p>
                  </a:txBody>
                  <a:tcPr marL="9411" marR="9411" marT="9411"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zh-TW" sz="1100" b="0" kern="1200" dirty="0">
                          <a:solidFill>
                            <a:schemeClr val="dk1"/>
                          </a:solidFill>
                          <a:latin typeface="+mn-lt"/>
                          <a:ea typeface="+mn-ea"/>
                          <a:cs typeface="+mn-cs"/>
                        </a:rPr>
                        <a:t>cylinder3 back</a:t>
                      </a:r>
                    </a:p>
                  </a:txBody>
                  <a:tcPr marL="9411" marR="9411" marT="9411" marB="0" anchor="ctr">
                    <a:lnR w="12700" cap="flat" cmpd="sng" algn="ctr">
                      <a:solidFill>
                        <a:schemeClr val="bg1"/>
                      </a:solidFill>
                      <a:prstDash val="solid"/>
                      <a:round/>
                      <a:headEnd type="none" w="med" len="med"/>
                      <a:tailEnd type="none" w="med" len="med"/>
                    </a:lnR>
                  </a:tcPr>
                </a:tc>
                <a:tc>
                  <a:txBody>
                    <a:bodyPr/>
                    <a:lstStyle/>
                    <a:p>
                      <a:pPr marL="0" algn="l" defTabSz="914400" rtl="0" eaLnBrk="1" fontAlgn="ctr" latinLnBrk="0" hangingPunct="1">
                        <a:buNone/>
                      </a:pPr>
                      <a:r>
                        <a:rPr lang="zh-TW" altLang="en-US" sz="1100" b="0" i="0" u="none" strike="noStrike" kern="1200" dirty="0">
                          <a:solidFill>
                            <a:schemeClr val="tx1"/>
                          </a:solidFill>
                          <a:effectLst/>
                          <a:latin typeface="+mn-lt"/>
                          <a:ea typeface="+mn-ea"/>
                          <a:cs typeface="+mn-cs"/>
                        </a:rPr>
                        <a:t>關蓋汽缸復位</a:t>
                      </a:r>
                      <a:r>
                        <a:rPr lang="en-US" altLang="zh-TW" sz="1100" b="0" i="0" u="none" strike="noStrike" kern="1200" dirty="0">
                          <a:solidFill>
                            <a:schemeClr val="tx1"/>
                          </a:solidFill>
                          <a:effectLst/>
                          <a:latin typeface="+mn-lt"/>
                          <a:ea typeface="+mn-ea"/>
                          <a:cs typeface="+mn-cs"/>
                        </a:rPr>
                        <a:t>(</a:t>
                      </a:r>
                      <a:r>
                        <a:rPr lang="zh-TW" altLang="en-US" sz="1100" b="0" i="0" u="none" strike="noStrike" kern="1200" dirty="0">
                          <a:solidFill>
                            <a:schemeClr val="tx1"/>
                          </a:solidFill>
                          <a:effectLst/>
                          <a:latin typeface="+mn-lt"/>
                          <a:ea typeface="+mn-ea"/>
                          <a:cs typeface="+mn-cs"/>
                        </a:rPr>
                        <a:t>開蓋</a:t>
                      </a:r>
                      <a:r>
                        <a:rPr lang="en-US" altLang="zh-TW" sz="1100" b="0" i="0" u="none" strike="noStrike" kern="1200" dirty="0">
                          <a:solidFill>
                            <a:schemeClr val="tx1"/>
                          </a:solidFill>
                          <a:effectLst/>
                          <a:latin typeface="+mn-lt"/>
                          <a:ea typeface="+mn-ea"/>
                          <a:cs typeface="+mn-cs"/>
                        </a:rPr>
                        <a:t>)</a:t>
                      </a:r>
                      <a:endParaRPr lang="zh-TW" altLang="en-US" sz="1100" b="0" i="0" u="none" strike="noStrike" kern="1200" dirty="0">
                        <a:solidFill>
                          <a:schemeClr val="tx1"/>
                        </a:solidFill>
                        <a:effectLst/>
                        <a:latin typeface="+mn-lt"/>
                        <a:ea typeface="+mn-ea"/>
                        <a:cs typeface="+mn-cs"/>
                      </a:endParaRPr>
                    </a:p>
                  </a:txBody>
                  <a:tcPr marL="9411" marR="9411" marT="9411"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794060309"/>
                  </a:ext>
                </a:extLst>
              </a:tr>
              <a:tr h="257109">
                <a:tc vMerge="1">
                  <a:txBody>
                    <a:bodyPr/>
                    <a:lstStyle/>
                    <a:p>
                      <a:pPr algn="ctr"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b">
                    <a:lnL w="12700" cap="flat" cmpd="sng" algn="ctr">
                      <a:solidFill>
                        <a:schemeClr val="tx1"/>
                      </a:solidFill>
                      <a:prstDash val="solid"/>
                      <a:round/>
                      <a:headEnd type="none" w="med" len="med"/>
                      <a:tailEnd type="none" w="med" len="med"/>
                    </a:lnL>
                  </a:tcPr>
                </a:tc>
                <a:tc>
                  <a:txBody>
                    <a:bodyPr/>
                    <a:lstStyle/>
                    <a:p>
                      <a:pPr marL="0" algn="ctr" defTabSz="914400" rtl="0" eaLnBrk="1" fontAlgn="ctr" latinLnBrk="0" hangingPunct="1">
                        <a:buNone/>
                      </a:pPr>
                      <a:r>
                        <a:rPr lang="en-US" altLang="zh-TW" sz="1100" b="0" kern="1200" dirty="0">
                          <a:solidFill>
                            <a:schemeClr val="dk1"/>
                          </a:solidFill>
                          <a:latin typeface="+mn-lt"/>
                          <a:ea typeface="+mn-ea"/>
                          <a:cs typeface="+mn-cs"/>
                        </a:rPr>
                        <a:t>2</a:t>
                      </a:r>
                    </a:p>
                  </a:txBody>
                  <a:tcPr marL="9411" marR="9411" marT="9411"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zh-TW" sz="1100" b="0" kern="1200" dirty="0">
                          <a:solidFill>
                            <a:schemeClr val="dk1"/>
                          </a:solidFill>
                          <a:latin typeface="+mn-lt"/>
                          <a:ea typeface="+mn-ea"/>
                          <a:cs typeface="+mn-cs"/>
                        </a:rPr>
                        <a:t>Check DUT</a:t>
                      </a:r>
                    </a:p>
                  </a:txBody>
                  <a:tcPr marL="9411" marR="9411" marT="9411" marB="0" anchor="ctr">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tcPr>
                </a:tc>
                <a:tc>
                  <a:txBody>
                    <a:bodyPr/>
                    <a:lstStyle/>
                    <a:p>
                      <a:pPr algn="l" fontAlgn="ctr">
                        <a:buNone/>
                      </a:pPr>
                      <a:r>
                        <a:rPr lang="zh-TW" altLang="en-US" sz="1100" u="none" strike="noStrike" dirty="0">
                          <a:effectLst/>
                        </a:rPr>
                        <a:t>開關蓋狀態判定</a:t>
                      </a: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728507967"/>
                  </a:ext>
                </a:extLst>
              </a:tr>
              <a:tr h="287782">
                <a:tc vMerge="1">
                  <a:txBody>
                    <a:bodyPr/>
                    <a:lstStyle/>
                    <a:p>
                      <a:endParaRPr lang="zh-TW" altLang="en-US"/>
                    </a:p>
                  </a:txBody>
                  <a:tcPr/>
                </a:tc>
                <a:tc>
                  <a:txBody>
                    <a:bodyPr/>
                    <a:lstStyle/>
                    <a:p>
                      <a:pPr marL="0" algn="ctr" defTabSz="914400" rtl="0" eaLnBrk="1" fontAlgn="ctr" latinLnBrk="0" hangingPunct="1">
                        <a:buNone/>
                      </a:pPr>
                      <a:r>
                        <a:rPr lang="en-US" altLang="zh-TW" sz="1100" b="0" kern="1200" dirty="0">
                          <a:solidFill>
                            <a:schemeClr val="dk1"/>
                          </a:solidFill>
                          <a:latin typeface="+mn-lt"/>
                          <a:ea typeface="+mn-ea"/>
                          <a:cs typeface="+mn-cs"/>
                        </a:rPr>
                        <a:t>3</a:t>
                      </a:r>
                    </a:p>
                  </a:txBody>
                  <a:tcPr marL="9411" marR="9411" marT="9411" marB="0" anchor="ctr">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zh-TW" sz="1100" b="0" kern="1200" dirty="0">
                          <a:solidFill>
                            <a:schemeClr val="dk1"/>
                          </a:solidFill>
                          <a:latin typeface="+mn-lt"/>
                          <a:ea typeface="+mn-ea"/>
                          <a:cs typeface="+mn-cs"/>
                        </a:rPr>
                        <a:t>cylinder4 front</a:t>
                      </a:r>
                    </a:p>
                  </a:txBody>
                  <a:tcPr marL="9411" marR="9411" marT="9411" marB="0"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100" u="none" strike="noStrike" kern="1200" dirty="0">
                          <a:solidFill>
                            <a:schemeClr val="dk1"/>
                          </a:solidFill>
                          <a:effectLst/>
                          <a:latin typeface="+mn-lt"/>
                          <a:ea typeface="+mn-ea"/>
                          <a:cs typeface="+mn-cs"/>
                        </a:rPr>
                        <a:t>假耳下壓動作</a:t>
                      </a:r>
                    </a:p>
                  </a:txBody>
                  <a:tcPr marL="9411" marR="9411" marT="9411"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791286"/>
                  </a:ext>
                </a:extLst>
              </a:tr>
            </a:tbl>
          </a:graphicData>
        </a:graphic>
      </p:graphicFrame>
      <p:pic>
        <p:nvPicPr>
          <p:cNvPr id="7" name="圖片 6">
            <a:extLst>
              <a:ext uri="{FF2B5EF4-FFF2-40B4-BE49-F238E27FC236}">
                <a16:creationId xmlns:a16="http://schemas.microsoft.com/office/drawing/2014/main" id="{A3C1DB7F-30C8-3559-7457-C695F9761A13}"/>
              </a:ext>
            </a:extLst>
          </p:cNvPr>
          <p:cNvPicPr>
            <a:picLocks noChangeAspect="1"/>
          </p:cNvPicPr>
          <p:nvPr/>
        </p:nvPicPr>
        <p:blipFill>
          <a:blip r:embed="rId3"/>
          <a:stretch>
            <a:fillRect/>
          </a:stretch>
        </p:blipFill>
        <p:spPr>
          <a:xfrm>
            <a:off x="8029683" y="938449"/>
            <a:ext cx="3302986" cy="5469038"/>
          </a:xfrm>
          <a:prstGeom prst="rect">
            <a:avLst/>
          </a:prstGeom>
        </p:spPr>
      </p:pic>
    </p:spTree>
    <p:extLst>
      <p:ext uri="{BB962C8B-B14F-4D97-AF65-F5344CB8AC3E}">
        <p14:creationId xmlns:p14="http://schemas.microsoft.com/office/powerpoint/2010/main" val="9809360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602A94-9289-9B23-7E9B-6FCFEEF86C51}"/>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676BBD4-1967-CDAB-9D51-8088C7CD792C}"/>
              </a:ext>
            </a:extLst>
          </p:cNvPr>
          <p:cNvSpPr>
            <a:spLocks noGrp="1"/>
          </p:cNvSpPr>
          <p:nvPr>
            <p:ph type="body" sz="quarter" idx="13"/>
          </p:nvPr>
        </p:nvSpPr>
        <p:spPr>
          <a:xfrm>
            <a:off x="457201" y="320041"/>
            <a:ext cx="4762499" cy="366948"/>
          </a:xfrm>
        </p:spPr>
        <p:txBody>
          <a:bodyPr/>
          <a:lstStyle/>
          <a:p>
            <a:r>
              <a:rPr lang="en-US" dirty="0"/>
              <a:t>Terminology  </a:t>
            </a:r>
          </a:p>
          <a:p>
            <a:endParaRPr lang="en-US" dirty="0"/>
          </a:p>
        </p:txBody>
      </p:sp>
      <p:sp>
        <p:nvSpPr>
          <p:cNvPr id="6" name="文字方塊 5">
            <a:extLst>
              <a:ext uri="{FF2B5EF4-FFF2-40B4-BE49-F238E27FC236}">
                <a16:creationId xmlns:a16="http://schemas.microsoft.com/office/drawing/2014/main" id="{6B83CC93-F13F-3789-8AEA-66AFC76A97AA}"/>
              </a:ext>
            </a:extLst>
          </p:cNvPr>
          <p:cNvSpPr txBox="1"/>
          <p:nvPr/>
        </p:nvSpPr>
        <p:spPr>
          <a:xfrm>
            <a:off x="571498" y="649506"/>
            <a:ext cx="8886825" cy="1881925"/>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altLang="zh-TW" sz="2000" b="1" kern="1200" dirty="0">
                <a:solidFill>
                  <a:schemeClr val="tx1"/>
                </a:solidFill>
                <a:effectLst/>
                <a:latin typeface="+mn-lt"/>
                <a:ea typeface="+mn-ea"/>
                <a:cs typeface="+mn-cs"/>
              </a:rPr>
              <a:t>DCR</a:t>
            </a:r>
            <a:r>
              <a:rPr lang="zh-TW" altLang="en-US" sz="2000" b="1" kern="1200" dirty="0">
                <a:solidFill>
                  <a:schemeClr val="tx1"/>
                </a:solidFill>
                <a:effectLst/>
                <a:latin typeface="+mn-lt"/>
                <a:ea typeface="+mn-ea"/>
                <a:cs typeface="+mn-cs"/>
              </a:rPr>
              <a:t>：</a:t>
            </a:r>
            <a:endParaRPr lang="en-US" altLang="zh-TW" sz="2000" b="1" kern="1200" dirty="0">
              <a:solidFill>
                <a:schemeClr val="tx1"/>
              </a:solidFill>
              <a:effectLst/>
              <a:latin typeface="+mn-lt"/>
              <a:ea typeface="+mn-ea"/>
              <a:cs typeface="+mn-cs"/>
            </a:endParaRPr>
          </a:p>
          <a:p>
            <a:pPr marL="800100" lvl="1" indent="-342900">
              <a:lnSpc>
                <a:spcPct val="150000"/>
              </a:lnSpc>
              <a:buFont typeface="Arial" panose="020B0604020202020204" pitchFamily="34" charset="0"/>
              <a:buChar char="•"/>
              <a:defRPr/>
            </a:pPr>
            <a:r>
              <a:rPr lang="en" altLang="zh-TW" sz="2000" dirty="0"/>
              <a:t>Measure GND DCR from Type-C to BUD_L/R_NEG</a:t>
            </a:r>
            <a:endParaRPr lang="en-US" altLang="zh-TW" sz="2000" b="1" dirty="0"/>
          </a:p>
          <a:p>
            <a:pPr>
              <a:lnSpc>
                <a:spcPct val="150000"/>
              </a:lnSpc>
              <a:defRPr/>
            </a:pPr>
            <a:r>
              <a:rPr lang="en-US" altLang="zh-TW" sz="2000" b="1" dirty="0"/>
              <a:t>Command</a:t>
            </a:r>
            <a:r>
              <a:rPr lang="zh-TW" altLang="en-US" sz="2000" b="1" dirty="0"/>
              <a:t>：</a:t>
            </a:r>
            <a:endParaRPr lang="en-US" altLang="zh-TW" sz="2000" b="1" dirty="0"/>
          </a:p>
          <a:p>
            <a:pPr>
              <a:lnSpc>
                <a:spcPct val="150000"/>
              </a:lnSpc>
              <a:defRPr/>
            </a:pPr>
            <a:endParaRPr lang="en" altLang="zh-TW" sz="2000" dirty="0"/>
          </a:p>
        </p:txBody>
      </p:sp>
      <p:graphicFrame>
        <p:nvGraphicFramePr>
          <p:cNvPr id="2" name="表格 1">
            <a:extLst>
              <a:ext uri="{FF2B5EF4-FFF2-40B4-BE49-F238E27FC236}">
                <a16:creationId xmlns:a16="http://schemas.microsoft.com/office/drawing/2014/main" id="{0ACD191D-73E9-41D7-56CD-AD0247643503}"/>
              </a:ext>
            </a:extLst>
          </p:cNvPr>
          <p:cNvGraphicFramePr>
            <a:graphicFrameLocks noGrp="1"/>
          </p:cNvGraphicFramePr>
          <p:nvPr>
            <p:extLst>
              <p:ext uri="{D42A27DB-BD31-4B8C-83A1-F6EECF244321}">
                <p14:modId xmlns:p14="http://schemas.microsoft.com/office/powerpoint/2010/main" val="677736255"/>
              </p:ext>
            </p:extLst>
          </p:nvPr>
        </p:nvGraphicFramePr>
        <p:xfrm>
          <a:off x="175312" y="2061434"/>
          <a:ext cx="11288979" cy="4195854"/>
        </p:xfrm>
        <a:graphic>
          <a:graphicData uri="http://schemas.openxmlformats.org/drawingml/2006/table">
            <a:tbl>
              <a:tblPr>
                <a:tableStyleId>{5C22544A-7EE6-4342-B048-85BDC9FD1C3A}</a:tableStyleId>
              </a:tblPr>
              <a:tblGrid>
                <a:gridCol w="738251">
                  <a:extLst>
                    <a:ext uri="{9D8B030D-6E8A-4147-A177-3AD203B41FA5}">
                      <a16:colId xmlns:a16="http://schemas.microsoft.com/office/drawing/2014/main" val="3315535983"/>
                    </a:ext>
                  </a:extLst>
                </a:gridCol>
                <a:gridCol w="250021">
                  <a:extLst>
                    <a:ext uri="{9D8B030D-6E8A-4147-A177-3AD203B41FA5}">
                      <a16:colId xmlns:a16="http://schemas.microsoft.com/office/drawing/2014/main" val="2960066220"/>
                    </a:ext>
                  </a:extLst>
                </a:gridCol>
                <a:gridCol w="2093966">
                  <a:extLst>
                    <a:ext uri="{9D8B030D-6E8A-4147-A177-3AD203B41FA5}">
                      <a16:colId xmlns:a16="http://schemas.microsoft.com/office/drawing/2014/main" val="3319955928"/>
                    </a:ext>
                  </a:extLst>
                </a:gridCol>
                <a:gridCol w="971550">
                  <a:extLst>
                    <a:ext uri="{9D8B030D-6E8A-4147-A177-3AD203B41FA5}">
                      <a16:colId xmlns:a16="http://schemas.microsoft.com/office/drawing/2014/main" val="163623680"/>
                    </a:ext>
                  </a:extLst>
                </a:gridCol>
                <a:gridCol w="2183130">
                  <a:extLst>
                    <a:ext uri="{9D8B030D-6E8A-4147-A177-3AD203B41FA5}">
                      <a16:colId xmlns:a16="http://schemas.microsoft.com/office/drawing/2014/main" val="55451195"/>
                    </a:ext>
                  </a:extLst>
                </a:gridCol>
                <a:gridCol w="982980">
                  <a:extLst>
                    <a:ext uri="{9D8B030D-6E8A-4147-A177-3AD203B41FA5}">
                      <a16:colId xmlns:a16="http://schemas.microsoft.com/office/drawing/2014/main" val="2080052651"/>
                    </a:ext>
                  </a:extLst>
                </a:gridCol>
                <a:gridCol w="891540">
                  <a:extLst>
                    <a:ext uri="{9D8B030D-6E8A-4147-A177-3AD203B41FA5}">
                      <a16:colId xmlns:a16="http://schemas.microsoft.com/office/drawing/2014/main" val="3857510605"/>
                    </a:ext>
                  </a:extLst>
                </a:gridCol>
                <a:gridCol w="1017270">
                  <a:extLst>
                    <a:ext uri="{9D8B030D-6E8A-4147-A177-3AD203B41FA5}">
                      <a16:colId xmlns:a16="http://schemas.microsoft.com/office/drawing/2014/main" val="3034574178"/>
                    </a:ext>
                  </a:extLst>
                </a:gridCol>
                <a:gridCol w="1200150">
                  <a:extLst>
                    <a:ext uri="{9D8B030D-6E8A-4147-A177-3AD203B41FA5}">
                      <a16:colId xmlns:a16="http://schemas.microsoft.com/office/drawing/2014/main" val="1189380842"/>
                    </a:ext>
                  </a:extLst>
                </a:gridCol>
                <a:gridCol w="960121">
                  <a:extLst>
                    <a:ext uri="{9D8B030D-6E8A-4147-A177-3AD203B41FA5}">
                      <a16:colId xmlns:a16="http://schemas.microsoft.com/office/drawing/2014/main" val="226210720"/>
                    </a:ext>
                  </a:extLst>
                </a:gridCol>
              </a:tblGrid>
              <a:tr h="466206">
                <a:tc>
                  <a:txBody>
                    <a:bodyPr/>
                    <a:lstStyle/>
                    <a:p>
                      <a:pPr algn="ctr" fontAlgn="ctr">
                        <a:buNone/>
                      </a:pPr>
                      <a:r>
                        <a:rPr lang="en-US" sz="1100" b="1" u="none" strike="noStrike" dirty="0">
                          <a:effectLst/>
                        </a:rPr>
                        <a:t>Test</a:t>
                      </a:r>
                      <a:r>
                        <a:rPr lang="en-US" sz="1100" u="none" strike="noStrike" dirty="0">
                          <a:effectLst/>
                        </a:rPr>
                        <a:t> </a:t>
                      </a:r>
                      <a:r>
                        <a:rPr lang="en-US" sz="1100" b="1" u="none" strike="noStrike" dirty="0">
                          <a:effectLst/>
                        </a:rPr>
                        <a:t>item</a:t>
                      </a:r>
                      <a:endParaRPr lang="en-US" sz="1100" b="1"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ctr" fontAlgn="ctr">
                        <a:buNone/>
                      </a:pPr>
                      <a:r>
                        <a:rPr lang="zh-TW" altLang="en-US" sz="1100" u="none" strike="noStrike" dirty="0">
                          <a:effectLst/>
                        </a:rPr>
                        <a:t>　</a:t>
                      </a: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ctr" fontAlgn="ctr">
                        <a:buNone/>
                      </a:pPr>
                      <a:r>
                        <a:rPr lang="en-US" sz="1100" b="1" u="none" strike="noStrike" dirty="0">
                          <a:effectLst/>
                        </a:rPr>
                        <a:t>Type-C</a:t>
                      </a:r>
                      <a:r>
                        <a:rPr lang="en-US" sz="1100" u="none" strike="noStrike" dirty="0">
                          <a:effectLst/>
                        </a:rPr>
                        <a:t>  </a:t>
                      </a:r>
                      <a:r>
                        <a:rPr lang="en-US" sz="1100" b="1" u="none" strike="noStrike" dirty="0" err="1">
                          <a:effectLst/>
                        </a:rPr>
                        <a:t>cmd</a:t>
                      </a:r>
                      <a:endParaRPr lang="en-US" sz="1100" b="1" i="0" u="none" strike="noStrike" dirty="0">
                        <a:solidFill>
                          <a:srgbClr val="FF0000"/>
                        </a:solidFill>
                        <a:effectLst/>
                        <a:latin typeface="新細明體" panose="02020500000000000000" pitchFamily="18" charset="-120"/>
                        <a:ea typeface="新細明體" panose="02020500000000000000" pitchFamily="18" charset="-120"/>
                      </a:endParaRPr>
                    </a:p>
                  </a:txBody>
                  <a:tcPr marL="9525" marR="9525" marT="9525" marB="0"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l" fontAlgn="ctr">
                        <a:buNone/>
                      </a:pPr>
                      <a:r>
                        <a:rPr lang="en-US" altLang="zh-TW" sz="1100" b="1" kern="1200" dirty="0">
                          <a:solidFill>
                            <a:schemeClr val="tx1"/>
                          </a:solidFill>
                          <a:effectLst/>
                          <a:latin typeface="+mn-lt"/>
                          <a:ea typeface="+mn-ea"/>
                          <a:cs typeface="+mn-cs"/>
                        </a:rPr>
                        <a:t>Description</a:t>
                      </a: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ctr" fontAlgn="ctr">
                        <a:buNone/>
                      </a:pPr>
                      <a:r>
                        <a:rPr lang="en-US" sz="1100" b="1" u="none" strike="noStrike" dirty="0">
                          <a:effectLst/>
                        </a:rPr>
                        <a:t>Dummy </a:t>
                      </a:r>
                      <a:r>
                        <a:rPr lang="en-US" sz="1100" b="1" u="none" strike="noStrike" dirty="0" err="1">
                          <a:effectLst/>
                        </a:rPr>
                        <a:t>cmd</a:t>
                      </a:r>
                      <a:endParaRPr lang="en-US" sz="1100" b="1" i="0" u="none" strike="noStrike" dirty="0">
                        <a:solidFill>
                          <a:srgbClr val="FF0000"/>
                        </a:solidFill>
                        <a:effectLst/>
                        <a:latin typeface="新細明體" panose="02020500000000000000" pitchFamily="18" charset="-120"/>
                        <a:ea typeface="新細明體" panose="02020500000000000000" pitchFamily="18" charset="-120"/>
                      </a:endParaRPr>
                    </a:p>
                  </a:txBody>
                  <a:tcPr marL="9525" marR="9525" marT="9525" marB="0"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l" fontAlgn="ctr">
                        <a:buNone/>
                      </a:pPr>
                      <a:r>
                        <a:rPr lang="en-US" altLang="zh-TW" sz="1100" b="1" kern="1200" dirty="0">
                          <a:solidFill>
                            <a:schemeClr val="tx1"/>
                          </a:solidFill>
                          <a:effectLst/>
                          <a:latin typeface="+mn-lt"/>
                          <a:ea typeface="+mn-ea"/>
                          <a:cs typeface="+mn-cs"/>
                        </a:rPr>
                        <a:t>Description</a:t>
                      </a: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TW" sz="1100" b="1" u="none" strike="noStrike" dirty="0">
                          <a:effectLst/>
                        </a:rPr>
                        <a:t>shell </a:t>
                      </a:r>
                      <a:r>
                        <a:rPr lang="en-US" altLang="zh-TW" sz="1100" b="1" u="none" strike="noStrike" dirty="0" err="1">
                          <a:effectLst/>
                        </a:rPr>
                        <a:t>cmd</a:t>
                      </a:r>
                      <a:endParaRPr lang="en-US" altLang="zh-TW" sz="1100" b="1" i="0" u="none" strike="noStrike" dirty="0">
                        <a:solidFill>
                          <a:srgbClr val="FF0000"/>
                        </a:solidFill>
                        <a:effectLst/>
                        <a:latin typeface="新細明體" panose="02020500000000000000" pitchFamily="18" charset="-120"/>
                        <a:ea typeface="新細明體" panose="02020500000000000000" pitchFamily="18" charset="-120"/>
                      </a:endParaRPr>
                    </a:p>
                  </a:txBody>
                  <a:tcPr marL="9525" marR="9525" marT="9525" marB="0"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l" fontAlgn="ctr">
                        <a:buNone/>
                      </a:pPr>
                      <a:r>
                        <a:rPr lang="en-US" altLang="zh-TW" sz="1100" b="1" kern="1200" dirty="0">
                          <a:solidFill>
                            <a:schemeClr val="tx1"/>
                          </a:solidFill>
                          <a:effectLst/>
                          <a:latin typeface="+mn-lt"/>
                          <a:ea typeface="+mn-ea"/>
                          <a:cs typeface="+mn-cs"/>
                        </a:rPr>
                        <a:t>Description</a:t>
                      </a: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ctr" fontAlgn="ctr">
                        <a:buNone/>
                      </a:pPr>
                      <a:r>
                        <a:rPr lang="en-US" altLang="zh-TW" sz="1100" b="1" u="none" strike="noStrike" dirty="0">
                          <a:effectLst/>
                        </a:rPr>
                        <a:t>Cylinder </a:t>
                      </a:r>
                      <a:r>
                        <a:rPr lang="en-US" altLang="zh-TW" sz="1100" b="1" u="none" strike="noStrike" dirty="0" err="1">
                          <a:effectLst/>
                        </a:rPr>
                        <a:t>cmd</a:t>
                      </a:r>
                      <a:endParaRPr lang="en-US" altLang="zh-TW" sz="1100" b="1" i="0" u="none" strike="noStrike" dirty="0">
                        <a:solidFill>
                          <a:srgbClr val="FF0000"/>
                        </a:solidFill>
                        <a:effectLst/>
                        <a:latin typeface="新細明體" panose="02020500000000000000" pitchFamily="18" charset="-120"/>
                        <a:ea typeface="新細明體" panose="02020500000000000000" pitchFamily="18" charset="-120"/>
                      </a:endParaRPr>
                    </a:p>
                  </a:txBody>
                  <a:tcPr marL="9525" marR="9525" marT="9525" marB="0"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l" fontAlgn="ctr">
                        <a:buNone/>
                      </a:pPr>
                      <a:r>
                        <a:rPr lang="en-US" altLang="zh-TW" sz="1100" b="1" kern="1200" dirty="0">
                          <a:solidFill>
                            <a:schemeClr val="tx1"/>
                          </a:solidFill>
                          <a:effectLst/>
                          <a:latin typeface="+mn-lt"/>
                          <a:ea typeface="+mn-ea"/>
                          <a:cs typeface="+mn-cs"/>
                        </a:rPr>
                        <a:t>Description</a:t>
                      </a: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6">
                        <a:lumMod val="40000"/>
                        <a:lumOff val="60000"/>
                      </a:schemeClr>
                    </a:solidFill>
                  </a:tcPr>
                </a:tc>
                <a:extLst>
                  <a:ext uri="{0D108BD9-81ED-4DB2-BD59-A6C34878D82A}">
                    <a16:rowId xmlns:a16="http://schemas.microsoft.com/office/drawing/2014/main" val="3824094486"/>
                  </a:ext>
                </a:extLst>
              </a:tr>
              <a:tr h="466206">
                <a:tc rowSpan="8">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1" u="none" strike="noStrike" dirty="0">
                          <a:effectLst/>
                        </a:rPr>
                        <a:t>DCR (Left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1" u="none" strike="noStrike" dirty="0">
                          <a:effectLst/>
                        </a:rPr>
                        <a:t>/Right)</a:t>
                      </a:r>
                      <a:endParaRPr lang="en-US" altLang="zh-TW" sz="1200" b="1" i="0" u="none" strike="noStrike" dirty="0">
                        <a:solidFill>
                          <a:srgbClr val="000000"/>
                        </a:solidFill>
                        <a:effectLst/>
                        <a:latin typeface="新細明體" panose="02020500000000000000" pitchFamily="18" charset="-120"/>
                        <a:ea typeface="新細明體" panose="02020500000000000000" pitchFamily="18" charset="-120"/>
                      </a:endParaRP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fontAlgn="ctr">
                        <a:buNone/>
                      </a:pPr>
                      <a:r>
                        <a:rPr lang="en-US" altLang="zh-TW" sz="1100" b="0" i="0" u="none" strike="noStrike" dirty="0">
                          <a:solidFill>
                            <a:srgbClr val="000000"/>
                          </a:solidFill>
                          <a:effectLst/>
                          <a:latin typeface="+mn-lt"/>
                          <a:ea typeface="新細明體" panose="02020500000000000000" pitchFamily="18" charset="-120"/>
                        </a:rPr>
                        <a:t>1</a:t>
                      </a:r>
                    </a:p>
                  </a:txBody>
                  <a:tcPr marL="9525" marR="9525" marT="9525" marB="0" anchor="ctr"/>
                </a:tc>
                <a:tc>
                  <a:txBody>
                    <a:bodyPr/>
                    <a:lstStyle/>
                    <a:p>
                      <a:pPr algn="l" fontAlgn="ctr">
                        <a:buNone/>
                      </a:pPr>
                      <a:r>
                        <a:rPr lang="en-US" sz="1100" u="none" strike="noStrike" dirty="0" err="1">
                          <a:effectLst/>
                        </a:rPr>
                        <a:t>test_vbus_contact_resistance_on</a:t>
                      </a: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l" fontAlgn="ctr">
                        <a:buNone/>
                      </a:pPr>
                      <a:r>
                        <a:rPr lang="zh-TW" altLang="en-US" sz="1100" u="none" strike="noStrike" dirty="0">
                          <a:effectLst/>
                        </a:rPr>
                        <a:t>打開通道</a:t>
                      </a:r>
                      <a:r>
                        <a:rPr lang="en-US" altLang="zh-TW" sz="1100" u="none" strike="noStrike" dirty="0">
                          <a:effectLst/>
                        </a:rPr>
                        <a:t>,</a:t>
                      </a:r>
                      <a:r>
                        <a:rPr lang="en-US" sz="1100" u="none" strike="noStrike" dirty="0">
                          <a:effectLst/>
                        </a:rPr>
                        <a:t>DMM</a:t>
                      </a:r>
                      <a:r>
                        <a:rPr lang="zh-TW" altLang="en-US" sz="1100" u="none" strike="noStrike" dirty="0">
                          <a:effectLst/>
                        </a:rPr>
                        <a:t>獲取內阻</a:t>
                      </a: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gridSpan="6">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R w="12700" cap="flat" cmpd="sng" algn="ctr">
                      <a:solidFill>
                        <a:schemeClr val="tx1"/>
                      </a:solidFill>
                      <a:prstDash val="solid"/>
                      <a:round/>
                      <a:headEnd type="none" w="med" len="med"/>
                      <a:tailEnd type="none" w="med" len="med"/>
                    </a:lnR>
                  </a:tcPr>
                </a:tc>
                <a:tc h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h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h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h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h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884187575"/>
                  </a:ext>
                </a:extLst>
              </a:tr>
              <a:tr h="466206">
                <a:tc vMerge="1">
                  <a:txBody>
                    <a:bodyPr/>
                    <a:lstStyle/>
                    <a:p>
                      <a:endParaRPr lang="zh-TW" altLang="en-US"/>
                    </a:p>
                  </a:txBody>
                  <a:tcPr/>
                </a:tc>
                <a:tc>
                  <a:txBody>
                    <a:bodyPr/>
                    <a:lstStyle/>
                    <a:p>
                      <a:pPr algn="ctr" fontAlgn="ctr">
                        <a:buNone/>
                      </a:pPr>
                      <a:r>
                        <a:rPr lang="en-US" altLang="zh-TW" sz="1100" b="0" i="0" u="none" strike="noStrike" dirty="0">
                          <a:solidFill>
                            <a:srgbClr val="000000"/>
                          </a:solidFill>
                          <a:effectLst/>
                          <a:latin typeface="+mn-lt"/>
                          <a:ea typeface="新細明體" panose="02020500000000000000" pitchFamily="18" charset="-120"/>
                        </a:rPr>
                        <a:t>2</a:t>
                      </a:r>
                    </a:p>
                  </a:txBody>
                  <a:tcPr marL="9525" marR="9525" marT="9525" marB="0" anchor="ctr"/>
                </a:tc>
                <a:tc gridSpan="2">
                  <a:txBody>
                    <a:bodyPr/>
                    <a:lstStyle/>
                    <a:p>
                      <a:pPr algn="l" fontAlgn="ctr">
                        <a:buNone/>
                      </a:pP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h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zh-TW" sz="1100" u="none" strike="noStrike" dirty="0">
                          <a:effectLst/>
                        </a:rPr>
                        <a:t>test_(L/R)_</a:t>
                      </a:r>
                      <a:r>
                        <a:rPr lang="en-US" altLang="zh-TW" sz="1100" u="none" strike="noStrike" dirty="0" err="1">
                          <a:effectLst/>
                        </a:rPr>
                        <a:t>contact_resistance_on</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l" fontAlgn="ctr">
                        <a:buNone/>
                      </a:pPr>
                      <a:r>
                        <a:rPr lang="zh-TW" altLang="en-US" sz="1100" u="none" strike="noStrike" dirty="0">
                          <a:effectLst/>
                        </a:rPr>
                        <a:t>打開通道</a:t>
                      </a:r>
                      <a:r>
                        <a:rPr lang="en-US" altLang="zh-TW" sz="1100" u="none" strike="noStrike" dirty="0">
                          <a:effectLst/>
                        </a:rPr>
                        <a:t>,</a:t>
                      </a:r>
                      <a:r>
                        <a:rPr lang="en-US" sz="1100" u="none" strike="noStrike" dirty="0">
                          <a:effectLst/>
                        </a:rPr>
                        <a:t>DMM</a:t>
                      </a:r>
                      <a:r>
                        <a:rPr lang="zh-TW" altLang="en-US" sz="1100" u="none" strike="noStrike" dirty="0">
                          <a:effectLst/>
                        </a:rPr>
                        <a:t>獲取內阻</a:t>
                      </a: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gridSpan="4">
                  <a:txBody>
                    <a:bodyPr/>
                    <a:lstStyle/>
                    <a:p>
                      <a:pPr algn="l" fontAlgn="ctr">
                        <a:buNone/>
                      </a:pPr>
                      <a:endParaRPr lang="zh-TW" altLang="en-US" sz="1100" u="none" strike="noStrike" kern="1200" dirty="0">
                        <a:solidFill>
                          <a:schemeClr val="dk1"/>
                        </a:solidFill>
                        <a:effectLst/>
                        <a:latin typeface="+mn-lt"/>
                        <a:ea typeface="+mn-ea"/>
                        <a:cs typeface="+mn-cs"/>
                      </a:endParaRPr>
                    </a:p>
                  </a:txBody>
                  <a:tcPr marL="9525" marR="9525" marT="9525" marB="0" anchor="ctr">
                    <a:lnR w="12700" cap="flat" cmpd="sng" algn="ctr">
                      <a:solidFill>
                        <a:schemeClr val="tx1"/>
                      </a:solidFill>
                      <a:prstDash val="solid"/>
                      <a:round/>
                      <a:headEnd type="none" w="med" len="med"/>
                      <a:tailEnd type="none" w="med" len="med"/>
                    </a:lnR>
                  </a:tcPr>
                </a:tc>
                <a:tc h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h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h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268980571"/>
                  </a:ext>
                </a:extLst>
              </a:tr>
              <a:tr h="466206">
                <a:tc vMerge="1">
                  <a:txBody>
                    <a:bodyPr/>
                    <a:lstStyle/>
                    <a:p>
                      <a:endParaRPr lang="zh-TW" altLang="en-US"/>
                    </a:p>
                  </a:txBody>
                  <a:tcPr/>
                </a:tc>
                <a:tc>
                  <a:txBody>
                    <a:bodyPr/>
                    <a:lstStyle/>
                    <a:p>
                      <a:pPr algn="ctr" fontAlgn="ctr">
                        <a:buNone/>
                      </a:pPr>
                      <a:r>
                        <a:rPr lang="en-US" altLang="zh-TW" sz="1100" b="0" i="0" u="none" strike="noStrike" dirty="0">
                          <a:solidFill>
                            <a:srgbClr val="000000"/>
                          </a:solidFill>
                          <a:effectLst/>
                          <a:latin typeface="+mn-lt"/>
                          <a:ea typeface="新細明體" panose="02020500000000000000" pitchFamily="18" charset="-120"/>
                        </a:rPr>
                        <a:t>3</a:t>
                      </a:r>
                    </a:p>
                  </a:txBody>
                  <a:tcPr marL="9525" marR="9525" marT="9525" marB="0" anchor="ctr"/>
                </a:tc>
                <a:tc gridSpan="4">
                  <a:txBody>
                    <a:bodyPr/>
                    <a:lstStyle/>
                    <a:p>
                      <a:pPr algn="l" fontAlgn="ctr">
                        <a:buNone/>
                      </a:pP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h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h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hMerge="1">
                  <a:txBody>
                    <a:bodyPr/>
                    <a:lstStyle/>
                    <a:p>
                      <a:pPr algn="l" fontAlgn="ctr">
                        <a:buNone/>
                      </a:pPr>
                      <a:endParaRPr lang="zh-TW" altLang="en-US" sz="1100" u="none" strike="noStrike" kern="1200" dirty="0">
                        <a:solidFill>
                          <a:schemeClr val="dk1"/>
                        </a:solidFill>
                        <a:effectLst/>
                        <a:latin typeface="+mn-lt"/>
                        <a:ea typeface="+mn-ea"/>
                        <a:cs typeface="+mn-cs"/>
                      </a:endParaRPr>
                    </a:p>
                  </a:txBody>
                  <a:tcPr marL="9525" marR="9525" marT="9525" marB="0" anchor="ctr"/>
                </a:tc>
                <a:tc>
                  <a:txBody>
                    <a:bodyPr/>
                    <a:lstStyle/>
                    <a:p>
                      <a:pPr algn="l" fontAlgn="ctr">
                        <a:buNone/>
                      </a:pPr>
                      <a:r>
                        <a:rPr lang="en-US" altLang="zh-TW" sz="1100" u="none" strike="noStrike" kern="1200" dirty="0" err="1">
                          <a:solidFill>
                            <a:schemeClr val="dk1"/>
                          </a:solidFill>
                          <a:effectLst/>
                          <a:latin typeface="+mn-lt"/>
                          <a:ea typeface="+mn-ea"/>
                          <a:cs typeface="+mn-cs"/>
                        </a:rPr>
                        <a:t>DMM.py</a:t>
                      </a:r>
                      <a:endParaRPr lang="zh-TW" altLang="en-US" sz="1100" u="none" strike="noStrike" kern="1200" dirty="0">
                        <a:solidFill>
                          <a:schemeClr val="dk1"/>
                        </a:solidFill>
                        <a:effectLst/>
                        <a:latin typeface="+mn-lt"/>
                        <a:ea typeface="+mn-ea"/>
                        <a:cs typeface="+mn-cs"/>
                      </a:endParaRPr>
                    </a:p>
                  </a:txBody>
                  <a:tcPr marL="9525" marR="9525" marT="9525"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zh-TW" altLang="en-US" sz="1100" u="none" strike="noStrike" kern="1200" dirty="0">
                          <a:solidFill>
                            <a:schemeClr val="dk1"/>
                          </a:solidFill>
                          <a:effectLst/>
                          <a:latin typeface="+mn-lt"/>
                          <a:ea typeface="+mn-ea"/>
                          <a:cs typeface="+mn-cs"/>
                        </a:rPr>
                        <a:t>量測</a:t>
                      </a:r>
                      <a:r>
                        <a:rPr lang="en-US" altLang="zh-TW" sz="1100" u="none" strike="noStrike" kern="1200" dirty="0">
                          <a:solidFill>
                            <a:schemeClr val="dk1"/>
                          </a:solidFill>
                          <a:effectLst/>
                          <a:latin typeface="+mn-lt"/>
                          <a:ea typeface="+mn-ea"/>
                          <a:cs typeface="+mn-cs"/>
                        </a:rPr>
                        <a:t>DCR(1st)</a:t>
                      </a:r>
                      <a:endParaRPr lang="zh-TW" altLang="en-US" sz="1100" u="none" strike="noStrike" kern="1200" dirty="0">
                        <a:solidFill>
                          <a:schemeClr val="dk1"/>
                        </a:solidFill>
                        <a:effectLst/>
                        <a:latin typeface="+mn-lt"/>
                        <a:ea typeface="+mn-ea"/>
                        <a:cs typeface="+mn-cs"/>
                      </a:endParaRPr>
                    </a:p>
                  </a:txBody>
                  <a:tcPr marL="9525" marR="9525" marT="9525" marB="0" anchor="ctr"/>
                </a:tc>
                <a:tc gridSpan="2">
                  <a:txBody>
                    <a:bodyPr/>
                    <a:lstStyle/>
                    <a:p>
                      <a:pPr algn="l" fontAlgn="ctr">
                        <a:buNone/>
                      </a:pPr>
                      <a:endParaRPr lang="zh-TW" altLang="en-US" sz="1100" u="none" strike="noStrike" kern="1200" dirty="0">
                        <a:solidFill>
                          <a:schemeClr val="dk1"/>
                        </a:solidFill>
                        <a:effectLst/>
                        <a:latin typeface="+mn-lt"/>
                        <a:ea typeface="+mn-ea"/>
                        <a:cs typeface="+mn-cs"/>
                      </a:endParaRPr>
                    </a:p>
                  </a:txBody>
                  <a:tcPr marL="9525" marR="9525" marT="9525" marB="0" anchor="ctr">
                    <a:lnR w="12700" cap="flat" cmpd="sng" algn="ctr">
                      <a:solidFill>
                        <a:schemeClr val="tx1"/>
                      </a:solidFill>
                      <a:prstDash val="solid"/>
                      <a:round/>
                      <a:headEnd type="none" w="med" len="med"/>
                      <a:tailEnd type="none" w="med" len="med"/>
                    </a:lnR>
                  </a:tcPr>
                </a:tc>
                <a:tc h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271196723"/>
                  </a:ext>
                </a:extLst>
              </a:tr>
              <a:tr h="466206">
                <a:tc vMerge="1">
                  <a:txBody>
                    <a:bodyPr/>
                    <a:lstStyle/>
                    <a:p>
                      <a:endParaRPr lang="zh-TW" altLang="en-US"/>
                    </a:p>
                  </a:txBody>
                  <a:tcPr/>
                </a:tc>
                <a:tc>
                  <a:txBody>
                    <a:bodyPr/>
                    <a:lstStyle/>
                    <a:p>
                      <a:pPr algn="ctr" fontAlgn="ctr">
                        <a:buNone/>
                      </a:pPr>
                      <a:r>
                        <a:rPr lang="en-US" altLang="zh-TW" sz="1100" b="0" i="0" u="none" strike="noStrike" dirty="0">
                          <a:solidFill>
                            <a:srgbClr val="000000"/>
                          </a:solidFill>
                          <a:effectLst/>
                          <a:latin typeface="+mn-lt"/>
                          <a:ea typeface="新細明體" panose="02020500000000000000" pitchFamily="18" charset="-120"/>
                        </a:rPr>
                        <a:t>4</a:t>
                      </a:r>
                    </a:p>
                  </a:txBody>
                  <a:tcPr marL="9525" marR="9525" marT="9525" marB="0" anchor="ctr"/>
                </a:tc>
                <a:tc gridSpan="6">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sz="1100" u="none" strike="noStrike" kern="1200" dirty="0">
                        <a:solidFill>
                          <a:schemeClr val="dk1"/>
                        </a:solidFill>
                        <a:effectLst/>
                        <a:latin typeface="+mn-lt"/>
                        <a:ea typeface="+mn-ea"/>
                        <a:cs typeface="+mn-cs"/>
                      </a:endParaRPr>
                    </a:p>
                  </a:txBody>
                  <a:tcPr marL="9525" marR="9525" marT="9525" marB="0" anchor="ctr"/>
                </a:tc>
                <a:tc h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h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hMerge="1">
                  <a:txBody>
                    <a:bodyPr/>
                    <a:lstStyle/>
                    <a:p>
                      <a:pPr algn="l" fontAlgn="ctr">
                        <a:buNone/>
                      </a:pPr>
                      <a:endParaRPr lang="zh-TW" altLang="en-US" sz="1100" u="none" strike="noStrike" kern="1200" dirty="0">
                        <a:solidFill>
                          <a:schemeClr val="dk1"/>
                        </a:solidFill>
                        <a:effectLst/>
                        <a:latin typeface="+mn-lt"/>
                        <a:ea typeface="+mn-ea"/>
                        <a:cs typeface="+mn-cs"/>
                      </a:endParaRPr>
                    </a:p>
                  </a:txBody>
                  <a:tcPr marL="9525" marR="9525" marT="9525" marB="0" anchor="ctr"/>
                </a:tc>
                <a:tc hMerge="1">
                  <a:txBody>
                    <a:bodyPr/>
                    <a:lstStyle/>
                    <a:p>
                      <a:pPr algn="l" fontAlgn="ctr">
                        <a:buNone/>
                      </a:pPr>
                      <a:endParaRPr lang="zh-TW" altLang="en-US" sz="1100" u="none" strike="noStrike" kern="1200" dirty="0">
                        <a:solidFill>
                          <a:schemeClr val="dk1"/>
                        </a:solidFill>
                        <a:effectLst/>
                        <a:latin typeface="+mn-lt"/>
                        <a:ea typeface="+mn-ea"/>
                        <a:cs typeface="+mn-cs"/>
                      </a:endParaRPr>
                    </a:p>
                  </a:txBody>
                  <a:tcPr marL="9525" marR="9525" marT="9525" marB="0" anchor="ctr"/>
                </a:tc>
                <a:tc hMerge="1">
                  <a:txBody>
                    <a:bodyPr/>
                    <a:lstStyle/>
                    <a:p>
                      <a:pPr algn="l" fontAlgn="ctr">
                        <a:buNone/>
                      </a:pPr>
                      <a:endParaRPr lang="zh-TW" altLang="en-US" sz="1100" u="none" strike="noStrike" kern="1200" dirty="0">
                        <a:solidFill>
                          <a:schemeClr val="dk1"/>
                        </a:solidFill>
                        <a:effectLst/>
                        <a:latin typeface="+mn-lt"/>
                        <a:ea typeface="+mn-ea"/>
                        <a:cs typeface="+mn-cs"/>
                      </a:endParaRPr>
                    </a:p>
                  </a:txBody>
                  <a:tcPr marL="9525" marR="9525" marT="9525"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zh-TW" sz="1100" u="none" strike="noStrike" kern="1200" dirty="0">
                          <a:solidFill>
                            <a:schemeClr val="dk1"/>
                          </a:solidFill>
                          <a:effectLst/>
                          <a:latin typeface="+mn-lt"/>
                          <a:ea typeface="+mn-ea"/>
                          <a:cs typeface="+mn-cs"/>
                        </a:rPr>
                        <a:t>cylinder4 back</a:t>
                      </a:r>
                    </a:p>
                  </a:txBody>
                  <a:tcPr marL="9525" marR="9525" marT="9525"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zh-TW" altLang="en-US" sz="1100" u="none" strike="noStrike" kern="1200" dirty="0">
                          <a:solidFill>
                            <a:schemeClr val="dk1"/>
                          </a:solidFill>
                          <a:effectLst/>
                          <a:latin typeface="+mn-lt"/>
                          <a:ea typeface="+mn-ea"/>
                          <a:cs typeface="+mn-cs"/>
                        </a:rPr>
                        <a:t>假耳上抬</a:t>
                      </a:r>
                    </a:p>
                  </a:txBody>
                  <a:tcPr marL="9525" marR="9525" marT="9525"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277237150"/>
                  </a:ext>
                </a:extLst>
              </a:tr>
              <a:tr h="466206">
                <a:tc vMerge="1">
                  <a:txBody>
                    <a:bodyPr/>
                    <a:lstStyle/>
                    <a:p>
                      <a:endParaRPr lang="zh-TW" altLang="en-US"/>
                    </a:p>
                  </a:txBody>
                  <a:tcPr/>
                </a:tc>
                <a:tc>
                  <a:txBody>
                    <a:bodyPr/>
                    <a:lstStyle/>
                    <a:p>
                      <a:pPr algn="ctr" fontAlgn="ctr">
                        <a:buNone/>
                      </a:pPr>
                      <a:r>
                        <a:rPr lang="en-US" altLang="zh-TW" sz="1100" b="0" i="0" u="none" strike="noStrike" dirty="0">
                          <a:solidFill>
                            <a:srgbClr val="000000"/>
                          </a:solidFill>
                          <a:effectLst/>
                          <a:latin typeface="+mn-lt"/>
                          <a:ea typeface="新細明體" panose="02020500000000000000" pitchFamily="18" charset="-120"/>
                        </a:rPr>
                        <a:t>5</a:t>
                      </a:r>
                    </a:p>
                  </a:txBody>
                  <a:tcPr marL="9525" marR="9525" marT="9525" marB="0" anchor="ctr"/>
                </a:tc>
                <a:tc gridSpan="6">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sz="1100" u="none" strike="noStrike" kern="1200" dirty="0">
                        <a:solidFill>
                          <a:schemeClr val="dk1"/>
                        </a:solidFill>
                        <a:effectLst/>
                        <a:latin typeface="+mn-lt"/>
                        <a:ea typeface="+mn-ea"/>
                        <a:cs typeface="+mn-cs"/>
                      </a:endParaRPr>
                    </a:p>
                  </a:txBody>
                  <a:tcPr marL="9525" marR="9525" marT="9525" marB="0" anchor="ctr"/>
                </a:tc>
                <a:tc h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h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hMerge="1">
                  <a:txBody>
                    <a:bodyPr/>
                    <a:lstStyle/>
                    <a:p>
                      <a:pPr algn="l" fontAlgn="ctr">
                        <a:buNone/>
                      </a:pPr>
                      <a:endParaRPr lang="zh-TW" altLang="en-US" sz="1100" u="none" strike="noStrike" kern="1200" dirty="0">
                        <a:solidFill>
                          <a:schemeClr val="dk1"/>
                        </a:solidFill>
                        <a:effectLst/>
                        <a:latin typeface="+mn-lt"/>
                        <a:ea typeface="+mn-ea"/>
                        <a:cs typeface="+mn-cs"/>
                      </a:endParaRPr>
                    </a:p>
                  </a:txBody>
                  <a:tcPr marL="9525" marR="9525" marT="9525" marB="0" anchor="ctr"/>
                </a:tc>
                <a:tc hMerge="1">
                  <a:txBody>
                    <a:bodyPr/>
                    <a:lstStyle/>
                    <a:p>
                      <a:pPr algn="l" fontAlgn="ctr">
                        <a:buNone/>
                      </a:pPr>
                      <a:endParaRPr lang="zh-TW" altLang="en-US" sz="1100" u="none" strike="noStrike" kern="1200" dirty="0">
                        <a:solidFill>
                          <a:schemeClr val="dk1"/>
                        </a:solidFill>
                        <a:effectLst/>
                        <a:latin typeface="+mn-lt"/>
                        <a:ea typeface="+mn-ea"/>
                        <a:cs typeface="+mn-cs"/>
                      </a:endParaRPr>
                    </a:p>
                  </a:txBody>
                  <a:tcPr marL="9525" marR="9525" marT="9525" marB="0" anchor="ctr"/>
                </a:tc>
                <a:tc hMerge="1">
                  <a:txBody>
                    <a:bodyPr/>
                    <a:lstStyle/>
                    <a:p>
                      <a:pPr algn="l" fontAlgn="ctr">
                        <a:buNone/>
                      </a:pPr>
                      <a:endParaRPr lang="zh-TW" altLang="en-US" sz="1100" u="none" strike="noStrike" kern="1200" dirty="0">
                        <a:solidFill>
                          <a:schemeClr val="dk1"/>
                        </a:solidFill>
                        <a:effectLst/>
                        <a:latin typeface="+mn-lt"/>
                        <a:ea typeface="+mn-ea"/>
                        <a:cs typeface="+mn-cs"/>
                      </a:endParaRPr>
                    </a:p>
                  </a:txBody>
                  <a:tcPr marL="9525" marR="9525" marT="9525"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zh-TW" sz="1100" u="none" strike="noStrike" kern="1200" dirty="0">
                          <a:solidFill>
                            <a:schemeClr val="dk1"/>
                          </a:solidFill>
                          <a:effectLst/>
                          <a:latin typeface="+mn-lt"/>
                          <a:ea typeface="+mn-ea"/>
                          <a:cs typeface="+mn-cs"/>
                        </a:rPr>
                        <a:t>cylinder4 front</a:t>
                      </a:r>
                    </a:p>
                  </a:txBody>
                  <a:tcPr marL="9525" marR="9525" marT="9525"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zh-TW" altLang="en-US" sz="1100" u="none" strike="noStrike" kern="1200" dirty="0">
                          <a:solidFill>
                            <a:schemeClr val="dk1"/>
                          </a:solidFill>
                          <a:effectLst/>
                          <a:latin typeface="+mn-lt"/>
                          <a:ea typeface="+mn-ea"/>
                          <a:cs typeface="+mn-cs"/>
                        </a:rPr>
                        <a:t>假耳下壓</a:t>
                      </a:r>
                    </a:p>
                  </a:txBody>
                  <a:tcPr marL="9525" marR="9525" marT="9525"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554237268"/>
                  </a:ext>
                </a:extLst>
              </a:tr>
              <a:tr h="466206">
                <a:tc vMerge="1">
                  <a:txBody>
                    <a:bodyPr/>
                    <a:lstStyle/>
                    <a:p>
                      <a:endParaRPr lang="zh-TW" altLang="en-US"/>
                    </a:p>
                  </a:txBody>
                  <a:tcPr/>
                </a:tc>
                <a:tc>
                  <a:txBody>
                    <a:bodyPr/>
                    <a:lstStyle/>
                    <a:p>
                      <a:pPr algn="ctr" fontAlgn="ctr">
                        <a:buNone/>
                      </a:pPr>
                      <a:r>
                        <a:rPr lang="en-US" altLang="zh-TW" sz="1100" b="0" i="0" u="none" strike="noStrike" dirty="0">
                          <a:solidFill>
                            <a:srgbClr val="000000"/>
                          </a:solidFill>
                          <a:effectLst/>
                          <a:latin typeface="+mn-lt"/>
                          <a:ea typeface="新細明體" panose="02020500000000000000" pitchFamily="18" charset="-120"/>
                        </a:rPr>
                        <a:t>6</a:t>
                      </a:r>
                    </a:p>
                  </a:txBody>
                  <a:tcPr marL="9525" marR="9525" marT="9525" marB="0" anchor="ctr"/>
                </a:tc>
                <a:tc gridSpan="4">
                  <a:txBody>
                    <a:bodyPr/>
                    <a:lstStyle/>
                    <a:p>
                      <a:pPr algn="l" fontAlgn="ctr">
                        <a:buNone/>
                      </a:pP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h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h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h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zh-TW" sz="1100" u="none" strike="noStrike" kern="1200" dirty="0" err="1">
                          <a:solidFill>
                            <a:schemeClr val="dk1"/>
                          </a:solidFill>
                          <a:effectLst/>
                          <a:latin typeface="+mn-lt"/>
                          <a:ea typeface="+mn-ea"/>
                          <a:cs typeface="+mn-cs"/>
                        </a:rPr>
                        <a:t>DMM.py</a:t>
                      </a:r>
                      <a:endParaRPr lang="zh-TW" altLang="en-US" sz="1100" u="none" strike="noStrike" kern="1200" dirty="0">
                        <a:solidFill>
                          <a:schemeClr val="dk1"/>
                        </a:solidFill>
                        <a:effectLst/>
                        <a:latin typeface="+mn-lt"/>
                        <a:ea typeface="+mn-ea"/>
                        <a:cs typeface="+mn-cs"/>
                      </a:endParaRPr>
                    </a:p>
                  </a:txBody>
                  <a:tcPr marL="9525" marR="9525" marT="9525"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zh-TW" altLang="en-US" sz="1100" u="none" strike="noStrike" kern="1200" dirty="0">
                          <a:solidFill>
                            <a:schemeClr val="dk1"/>
                          </a:solidFill>
                          <a:effectLst/>
                          <a:latin typeface="+mn-lt"/>
                          <a:ea typeface="+mn-ea"/>
                          <a:cs typeface="+mn-cs"/>
                        </a:rPr>
                        <a:t>量測</a:t>
                      </a:r>
                      <a:r>
                        <a:rPr lang="en-US" altLang="zh-TW" sz="1100" u="none" strike="noStrike" kern="1200" dirty="0">
                          <a:solidFill>
                            <a:schemeClr val="dk1"/>
                          </a:solidFill>
                          <a:effectLst/>
                          <a:latin typeface="+mn-lt"/>
                          <a:ea typeface="+mn-ea"/>
                          <a:cs typeface="+mn-cs"/>
                        </a:rPr>
                        <a:t>DCR(2nd)</a:t>
                      </a:r>
                      <a:endParaRPr lang="zh-TW" altLang="en-US" sz="1100" u="none" strike="noStrike" kern="1200" dirty="0">
                        <a:solidFill>
                          <a:schemeClr val="dk1"/>
                        </a:solidFill>
                        <a:effectLst/>
                        <a:latin typeface="+mn-lt"/>
                        <a:ea typeface="+mn-ea"/>
                        <a:cs typeface="+mn-cs"/>
                      </a:endParaRPr>
                    </a:p>
                  </a:txBody>
                  <a:tcPr marL="9525" marR="9525" marT="9525" marB="0" anchor="ctr"/>
                </a:tc>
                <a:tc gridSpan="2">
                  <a:txBody>
                    <a:bodyPr/>
                    <a:lstStyle/>
                    <a:p>
                      <a:pPr algn="l" fontAlgn="ctr">
                        <a:buNone/>
                      </a:pPr>
                      <a:endParaRPr lang="zh-TW" altLang="en-US" sz="1100" u="none" strike="noStrike" kern="1200" dirty="0">
                        <a:solidFill>
                          <a:schemeClr val="dk1"/>
                        </a:solidFill>
                        <a:effectLst/>
                        <a:latin typeface="+mn-lt"/>
                        <a:ea typeface="+mn-ea"/>
                        <a:cs typeface="+mn-cs"/>
                      </a:endParaRPr>
                    </a:p>
                  </a:txBody>
                  <a:tcPr marL="9525" marR="9525" marT="9525" marB="0" anchor="ctr">
                    <a:lnR w="12700" cap="flat" cmpd="sng" algn="ctr">
                      <a:solidFill>
                        <a:schemeClr val="tx1"/>
                      </a:solidFill>
                      <a:prstDash val="solid"/>
                      <a:round/>
                      <a:headEnd type="none" w="med" len="med"/>
                      <a:tailEnd type="none" w="med" len="med"/>
                    </a:lnR>
                  </a:tcPr>
                </a:tc>
                <a:tc h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901433185"/>
                  </a:ext>
                </a:extLst>
              </a:tr>
              <a:tr h="466206">
                <a:tc vMerge="1">
                  <a:txBody>
                    <a:bodyPr/>
                    <a:lstStyle/>
                    <a:p>
                      <a:endParaRPr lang="zh-TW" altLang="en-US"/>
                    </a:p>
                  </a:txBody>
                  <a:tcPr/>
                </a:tc>
                <a:tc>
                  <a:txBody>
                    <a:bodyPr/>
                    <a:lstStyle/>
                    <a:p>
                      <a:pPr algn="ctr" fontAlgn="ctr">
                        <a:buNone/>
                      </a:pPr>
                      <a:r>
                        <a:rPr lang="en-US" altLang="zh-TW" sz="1100" b="0" i="0" u="none" strike="noStrike" dirty="0">
                          <a:solidFill>
                            <a:srgbClr val="000000"/>
                          </a:solidFill>
                          <a:effectLst/>
                          <a:latin typeface="+mn-lt"/>
                          <a:ea typeface="新細明體" panose="02020500000000000000" pitchFamily="18" charset="-120"/>
                        </a:rPr>
                        <a:t>7</a:t>
                      </a:r>
                    </a:p>
                  </a:txBody>
                  <a:tcPr marL="9525" marR="9525" marT="9525" marB="0" anchor="ctr"/>
                </a:tc>
                <a:tc gridSpan="2">
                  <a:txBody>
                    <a:bodyPr/>
                    <a:lstStyle/>
                    <a:p>
                      <a:pPr algn="l" fontAlgn="ctr">
                        <a:buNone/>
                      </a:pP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h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l" fontAlgn="ctr">
                        <a:buNone/>
                      </a:pPr>
                      <a:r>
                        <a:rPr lang="en-US" sz="1100" u="none" strike="noStrike" dirty="0">
                          <a:effectLst/>
                        </a:rPr>
                        <a:t>test</a:t>
                      </a:r>
                      <a:r>
                        <a:rPr lang="en-US" altLang="zh-TW" sz="1100" u="none" strike="noStrike" dirty="0">
                          <a:effectLst/>
                        </a:rPr>
                        <a:t>_(L/R)</a:t>
                      </a:r>
                      <a:r>
                        <a:rPr lang="en-US" sz="1100" u="none" strike="noStrike" dirty="0">
                          <a:effectLst/>
                        </a:rPr>
                        <a:t>_</a:t>
                      </a:r>
                      <a:r>
                        <a:rPr lang="en-US" sz="1100" u="none" strike="noStrike" dirty="0" err="1">
                          <a:effectLst/>
                        </a:rPr>
                        <a:t>contact_resistance_off</a:t>
                      </a: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algn="l" fontAlgn="ctr">
                        <a:buNone/>
                      </a:pPr>
                      <a:r>
                        <a:rPr lang="zh-TW" altLang="en-US" sz="1100" u="none" strike="noStrike" dirty="0">
                          <a:effectLst/>
                        </a:rPr>
                        <a:t>測試完成</a:t>
                      </a:r>
                      <a:r>
                        <a:rPr lang="en-US" altLang="zh-TW" sz="1100" u="none" strike="noStrike" dirty="0">
                          <a:effectLst/>
                        </a:rPr>
                        <a:t>,</a:t>
                      </a:r>
                      <a:r>
                        <a:rPr lang="zh-TW" altLang="en-US" sz="1100" u="none" strike="noStrike" dirty="0">
                          <a:effectLst/>
                        </a:rPr>
                        <a:t>關閉通道</a:t>
                      </a: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gridSpan="4">
                  <a:txBody>
                    <a:bodyPr/>
                    <a:lstStyle/>
                    <a:p>
                      <a:pPr algn="l" fontAlgn="ctr">
                        <a:buNone/>
                      </a:pPr>
                      <a:endParaRPr lang="zh-TW" altLang="en-US" sz="1100" u="none" strike="noStrike" kern="1200" dirty="0">
                        <a:solidFill>
                          <a:schemeClr val="dk1"/>
                        </a:solidFill>
                        <a:effectLst/>
                        <a:latin typeface="+mn-lt"/>
                        <a:ea typeface="+mn-ea"/>
                        <a:cs typeface="+mn-cs"/>
                      </a:endParaRPr>
                    </a:p>
                  </a:txBody>
                  <a:tcPr marL="9525" marR="9525" marT="9525" marB="0" anchor="ctr">
                    <a:lnR w="12700" cap="flat" cmpd="sng" algn="ctr">
                      <a:solidFill>
                        <a:schemeClr val="tx1"/>
                      </a:solidFill>
                      <a:prstDash val="solid"/>
                      <a:round/>
                      <a:headEnd type="none" w="med" len="med"/>
                      <a:tailEnd type="none" w="med" len="med"/>
                    </a:lnR>
                  </a:tcPr>
                </a:tc>
                <a:tc h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h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h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832564753"/>
                  </a:ext>
                </a:extLst>
              </a:tr>
              <a:tr h="466206">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b="1" i="0" u="none" strike="noStrike" dirty="0">
                        <a:solidFill>
                          <a:srgbClr val="000000"/>
                        </a:solidFill>
                        <a:effectLst/>
                        <a:latin typeface="新細明體" panose="02020500000000000000" pitchFamily="18" charset="-120"/>
                        <a:ea typeface="新細明體" panose="02020500000000000000" pitchFamily="18" charset="-120"/>
                      </a:endParaRP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fontAlgn="ctr">
                        <a:buNone/>
                      </a:pPr>
                      <a:r>
                        <a:rPr lang="en-US" altLang="zh-TW" sz="1100" b="0" i="0" u="none" strike="noStrike" dirty="0">
                          <a:solidFill>
                            <a:srgbClr val="000000"/>
                          </a:solidFill>
                          <a:effectLst/>
                          <a:latin typeface="+mn-lt"/>
                          <a:ea typeface="新細明體" panose="02020500000000000000" pitchFamily="18" charset="-120"/>
                        </a:rPr>
                        <a:t>8</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l" fontAlgn="ctr">
                        <a:buNone/>
                      </a:pPr>
                      <a:r>
                        <a:rPr lang="en-US" sz="1100" u="none" strike="noStrike" dirty="0" err="1">
                          <a:effectLst/>
                        </a:rPr>
                        <a:t>test_vbus_contact_resistance_off</a:t>
                      </a: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l" fontAlgn="ctr">
                        <a:buNone/>
                      </a:pPr>
                      <a:r>
                        <a:rPr lang="zh-TW" altLang="en-US" sz="1100" u="none" strike="noStrike" dirty="0">
                          <a:effectLst/>
                        </a:rPr>
                        <a:t>測試完成</a:t>
                      </a:r>
                      <a:r>
                        <a:rPr lang="en-US" altLang="zh-TW" sz="1100" u="none" strike="noStrike" dirty="0">
                          <a:effectLst/>
                        </a:rPr>
                        <a:t>,</a:t>
                      </a:r>
                      <a:r>
                        <a:rPr lang="zh-TW" altLang="en-US" sz="1100" u="none" strike="noStrike" dirty="0">
                          <a:effectLst/>
                        </a:rPr>
                        <a:t>關閉通道</a:t>
                      </a: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B w="12700" cap="flat" cmpd="sng" algn="ctr">
                      <a:solidFill>
                        <a:schemeClr val="tx1"/>
                      </a:solidFill>
                      <a:prstDash val="solid"/>
                      <a:round/>
                      <a:headEnd type="none" w="med" len="med"/>
                      <a:tailEnd type="none" w="med" len="med"/>
                    </a:lnB>
                  </a:tcPr>
                </a:tc>
                <a:tc gridSpan="6">
                  <a:txBody>
                    <a:bodyPr/>
                    <a:lstStyle/>
                    <a:p>
                      <a:pPr algn="l" fontAlgn="ctr">
                        <a:buNone/>
                      </a:pPr>
                      <a:endParaRPr lang="en-US" sz="1100" u="none" strike="noStrike" kern="1200" dirty="0">
                        <a:solidFill>
                          <a:schemeClr val="dk1"/>
                        </a:solidFill>
                        <a:effectLst/>
                        <a:latin typeface="+mn-lt"/>
                        <a:ea typeface="+mn-ea"/>
                        <a:cs typeface="+mn-cs"/>
                      </a:endParaRPr>
                    </a:p>
                  </a:txBody>
                  <a:tcPr marL="9525" marR="9525" marT="9525"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h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h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h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h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h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680325677"/>
                  </a:ext>
                </a:extLst>
              </a:tr>
            </a:tbl>
          </a:graphicData>
        </a:graphic>
      </p:graphicFrame>
    </p:spTree>
    <p:extLst>
      <p:ext uri="{BB962C8B-B14F-4D97-AF65-F5344CB8AC3E}">
        <p14:creationId xmlns:p14="http://schemas.microsoft.com/office/powerpoint/2010/main" val="1337422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0631D7-3872-A794-87C7-CEAB13D1FB9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88037E03-FBC9-7FE8-5717-281004870021}"/>
              </a:ext>
            </a:extLst>
          </p:cNvPr>
          <p:cNvSpPr>
            <a:spLocks noGrp="1"/>
          </p:cNvSpPr>
          <p:nvPr>
            <p:ph type="body" sz="quarter" idx="13"/>
          </p:nvPr>
        </p:nvSpPr>
        <p:spPr/>
        <p:txBody>
          <a:bodyPr/>
          <a:lstStyle/>
          <a:p>
            <a:r>
              <a:rPr lang="en-US" dirty="0"/>
              <a:t>Terminology  </a:t>
            </a:r>
          </a:p>
          <a:p>
            <a:endParaRPr lang="en-US" dirty="0"/>
          </a:p>
        </p:txBody>
      </p:sp>
      <p:sp>
        <p:nvSpPr>
          <p:cNvPr id="6" name="文字方塊 5">
            <a:extLst>
              <a:ext uri="{FF2B5EF4-FFF2-40B4-BE49-F238E27FC236}">
                <a16:creationId xmlns:a16="http://schemas.microsoft.com/office/drawing/2014/main" id="{5D97CC30-33E2-B4B4-FAFF-F12E1FD25DB2}"/>
              </a:ext>
            </a:extLst>
          </p:cNvPr>
          <p:cNvSpPr txBox="1"/>
          <p:nvPr/>
        </p:nvSpPr>
        <p:spPr>
          <a:xfrm>
            <a:off x="571500" y="938449"/>
            <a:ext cx="8886825" cy="2092881"/>
          </a:xfrm>
          <a:prstGeom prst="rect">
            <a:avLst/>
          </a:prstGeom>
          <a:noFill/>
        </p:spPr>
        <p:txBody>
          <a:bodyPr wrap="square">
            <a:spAutoFit/>
          </a:bodyPr>
          <a:lstStyle/>
          <a:p>
            <a:pPr lvl="0">
              <a:lnSpc>
                <a:spcPct val="150000"/>
              </a:lnSpc>
              <a:defRPr/>
            </a:pPr>
            <a:r>
              <a:rPr lang="en-US" altLang="zh-TW" sz="2000" b="1" dirty="0" err="1"/>
              <a:t>DUTPowerON</a:t>
            </a:r>
            <a:r>
              <a:rPr lang="zh-TW" altLang="en-US" sz="2000" b="1" kern="1200" dirty="0">
                <a:solidFill>
                  <a:schemeClr val="tx1"/>
                </a:solidFill>
                <a:effectLst/>
                <a:latin typeface="+mn-lt"/>
                <a:ea typeface="+mn-ea"/>
                <a:cs typeface="+mn-cs"/>
              </a:rPr>
              <a:t>：</a:t>
            </a:r>
            <a:endParaRPr lang="en-US" altLang="zh-TW" sz="2000" b="1" kern="1200" dirty="0">
              <a:solidFill>
                <a:schemeClr val="tx1"/>
              </a:solidFill>
              <a:effectLst/>
              <a:latin typeface="+mn-lt"/>
              <a:ea typeface="+mn-ea"/>
              <a:cs typeface="+mn-cs"/>
            </a:endParaRPr>
          </a:p>
          <a:p>
            <a:pPr marL="800100" lvl="1" indent="-342900">
              <a:lnSpc>
                <a:spcPct val="150000"/>
              </a:lnSpc>
              <a:buFont typeface="Arial" panose="020B0604020202020204" pitchFamily="34" charset="0"/>
              <a:buChar char="•"/>
              <a:defRPr/>
            </a:pPr>
            <a:r>
              <a:rPr lang="en-US" altLang="zh-TW" sz="2000" dirty="0"/>
              <a:t>Open DUT communication channel</a:t>
            </a:r>
          </a:p>
          <a:p>
            <a:pPr>
              <a:lnSpc>
                <a:spcPct val="150000"/>
              </a:lnSpc>
              <a:defRPr/>
            </a:pPr>
            <a:r>
              <a:rPr lang="en-US" altLang="zh-TW" sz="2000" b="1" dirty="0"/>
              <a:t>Command</a:t>
            </a:r>
            <a:r>
              <a:rPr lang="zh-TW" altLang="en-US" sz="2000" b="1" dirty="0"/>
              <a:t>：</a:t>
            </a:r>
            <a:endParaRPr lang="en-US" altLang="zh-TW" sz="2000" b="1" dirty="0"/>
          </a:p>
          <a:p>
            <a:pPr lvl="1">
              <a:defRPr/>
            </a:pPr>
            <a:endParaRPr lang="en-US" altLang="zh-TW" sz="2000" dirty="0"/>
          </a:p>
          <a:p>
            <a:pPr marL="800100" lvl="1" indent="-342900">
              <a:buFont typeface="Arial" panose="020B0604020202020204" pitchFamily="34" charset="0"/>
              <a:buChar char="•"/>
              <a:defRPr/>
            </a:pPr>
            <a:endParaRPr lang="en-US" altLang="zh-TW" sz="2000" b="1" kern="1200" dirty="0">
              <a:solidFill>
                <a:schemeClr val="tx1"/>
              </a:solidFill>
              <a:effectLst/>
              <a:latin typeface="+mn-lt"/>
              <a:ea typeface="+mn-ea"/>
              <a:cs typeface="+mn-cs"/>
            </a:endParaRPr>
          </a:p>
        </p:txBody>
      </p:sp>
      <p:graphicFrame>
        <p:nvGraphicFramePr>
          <p:cNvPr id="2" name="表格 1">
            <a:extLst>
              <a:ext uri="{FF2B5EF4-FFF2-40B4-BE49-F238E27FC236}">
                <a16:creationId xmlns:a16="http://schemas.microsoft.com/office/drawing/2014/main" id="{E0D87A4D-E8DD-D203-F2CD-6B51A4BD79CE}"/>
              </a:ext>
            </a:extLst>
          </p:cNvPr>
          <p:cNvGraphicFramePr>
            <a:graphicFrameLocks noGrp="1"/>
          </p:cNvGraphicFramePr>
          <p:nvPr>
            <p:extLst>
              <p:ext uri="{D42A27DB-BD31-4B8C-83A1-F6EECF244321}">
                <p14:modId xmlns:p14="http://schemas.microsoft.com/office/powerpoint/2010/main" val="1050366900"/>
              </p:ext>
            </p:extLst>
          </p:nvPr>
        </p:nvGraphicFramePr>
        <p:xfrm>
          <a:off x="571499" y="2520000"/>
          <a:ext cx="10390012" cy="1379227"/>
        </p:xfrm>
        <a:graphic>
          <a:graphicData uri="http://schemas.openxmlformats.org/drawingml/2006/table">
            <a:tbl>
              <a:tblPr>
                <a:tableStyleId>{5C22544A-7EE6-4342-B048-85BDC9FD1C3A}</a:tableStyleId>
              </a:tblPr>
              <a:tblGrid>
                <a:gridCol w="1372368">
                  <a:extLst>
                    <a:ext uri="{9D8B030D-6E8A-4147-A177-3AD203B41FA5}">
                      <a16:colId xmlns:a16="http://schemas.microsoft.com/office/drawing/2014/main" val="3315535983"/>
                    </a:ext>
                  </a:extLst>
                </a:gridCol>
                <a:gridCol w="483801">
                  <a:extLst>
                    <a:ext uri="{9D8B030D-6E8A-4147-A177-3AD203B41FA5}">
                      <a16:colId xmlns:a16="http://schemas.microsoft.com/office/drawing/2014/main" val="2960066220"/>
                    </a:ext>
                  </a:extLst>
                </a:gridCol>
                <a:gridCol w="2257739">
                  <a:extLst>
                    <a:ext uri="{9D8B030D-6E8A-4147-A177-3AD203B41FA5}">
                      <a16:colId xmlns:a16="http://schemas.microsoft.com/office/drawing/2014/main" val="3319955928"/>
                    </a:ext>
                  </a:extLst>
                </a:gridCol>
                <a:gridCol w="1689720">
                  <a:extLst>
                    <a:ext uri="{9D8B030D-6E8A-4147-A177-3AD203B41FA5}">
                      <a16:colId xmlns:a16="http://schemas.microsoft.com/office/drawing/2014/main" val="163623680"/>
                    </a:ext>
                  </a:extLst>
                </a:gridCol>
                <a:gridCol w="2282749">
                  <a:extLst>
                    <a:ext uri="{9D8B030D-6E8A-4147-A177-3AD203B41FA5}">
                      <a16:colId xmlns:a16="http://schemas.microsoft.com/office/drawing/2014/main" val="55451195"/>
                    </a:ext>
                  </a:extLst>
                </a:gridCol>
                <a:gridCol w="2303635">
                  <a:extLst>
                    <a:ext uri="{9D8B030D-6E8A-4147-A177-3AD203B41FA5}">
                      <a16:colId xmlns:a16="http://schemas.microsoft.com/office/drawing/2014/main" val="2080052651"/>
                    </a:ext>
                  </a:extLst>
                </a:gridCol>
              </a:tblGrid>
              <a:tr h="438773">
                <a:tc>
                  <a:txBody>
                    <a:bodyPr/>
                    <a:lstStyle/>
                    <a:p>
                      <a:pPr algn="ctr" fontAlgn="ctr">
                        <a:buNone/>
                      </a:pPr>
                      <a:r>
                        <a:rPr lang="en-US" sz="1100" b="1" u="none" strike="noStrike" dirty="0">
                          <a:effectLst/>
                        </a:rPr>
                        <a:t>Test</a:t>
                      </a:r>
                      <a:r>
                        <a:rPr lang="en-US" sz="1100" u="none" strike="noStrike" dirty="0">
                          <a:effectLst/>
                        </a:rPr>
                        <a:t> </a:t>
                      </a:r>
                      <a:r>
                        <a:rPr lang="en-US" sz="1100" b="1" u="none" strike="noStrike" dirty="0">
                          <a:effectLst/>
                        </a:rPr>
                        <a:t>item</a:t>
                      </a:r>
                      <a:endParaRPr lang="en-US" sz="1100" b="1"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ctr" fontAlgn="ctr">
                        <a:buNone/>
                      </a:pPr>
                      <a:r>
                        <a:rPr lang="zh-TW" altLang="en-US" sz="1100" u="none" strike="noStrike" dirty="0">
                          <a:effectLst/>
                        </a:rPr>
                        <a:t>　</a:t>
                      </a: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ctr" fontAlgn="ctr">
                        <a:buNone/>
                      </a:pPr>
                      <a:r>
                        <a:rPr lang="en-US" sz="1100" b="1" u="none" strike="noStrike" dirty="0">
                          <a:effectLst/>
                        </a:rPr>
                        <a:t>Type-C</a:t>
                      </a:r>
                      <a:r>
                        <a:rPr lang="en-US" sz="1100" u="none" strike="noStrike" dirty="0">
                          <a:effectLst/>
                        </a:rPr>
                        <a:t>  </a:t>
                      </a:r>
                      <a:r>
                        <a:rPr lang="en-US" sz="1100" b="1" u="none" strike="noStrike" dirty="0">
                          <a:effectLst/>
                        </a:rPr>
                        <a:t>command</a:t>
                      </a:r>
                      <a:endParaRPr lang="en-US" sz="1100" b="1" i="0" u="none" strike="noStrike" dirty="0">
                        <a:solidFill>
                          <a:srgbClr val="FF0000"/>
                        </a:solidFill>
                        <a:effectLst/>
                        <a:latin typeface="新細明體" panose="02020500000000000000" pitchFamily="18" charset="-120"/>
                        <a:ea typeface="新細明體" panose="02020500000000000000" pitchFamily="18" charset="-120"/>
                      </a:endParaRPr>
                    </a:p>
                  </a:txBody>
                  <a:tcPr marL="9525" marR="9525" marT="9525" marB="0"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l" fontAlgn="ctr">
                        <a:buNone/>
                      </a:pPr>
                      <a:r>
                        <a:rPr lang="en-US" altLang="zh-TW" sz="1100" b="1" kern="1200" dirty="0">
                          <a:solidFill>
                            <a:schemeClr val="tx1"/>
                          </a:solidFill>
                          <a:effectLst/>
                          <a:latin typeface="+mn-lt"/>
                          <a:ea typeface="+mn-ea"/>
                          <a:cs typeface="+mn-cs"/>
                        </a:rPr>
                        <a:t>Description</a:t>
                      </a: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ctr" fontAlgn="ctr">
                        <a:buNone/>
                      </a:pPr>
                      <a:r>
                        <a:rPr lang="en-US" sz="1100" b="1" u="none" strike="noStrike" dirty="0">
                          <a:effectLst/>
                        </a:rPr>
                        <a:t>Dummy command</a:t>
                      </a:r>
                      <a:endParaRPr lang="en-US" sz="1100" b="1" i="0" u="none" strike="noStrike" dirty="0">
                        <a:solidFill>
                          <a:srgbClr val="FF0000"/>
                        </a:solidFill>
                        <a:effectLst/>
                        <a:latin typeface="新細明體" panose="02020500000000000000" pitchFamily="18" charset="-120"/>
                        <a:ea typeface="新細明體" panose="02020500000000000000" pitchFamily="18" charset="-120"/>
                      </a:endParaRPr>
                    </a:p>
                  </a:txBody>
                  <a:tcPr marL="9525" marR="9525" marT="9525" marB="0"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l" fontAlgn="ctr">
                        <a:buNone/>
                      </a:pPr>
                      <a:r>
                        <a:rPr lang="en-US" altLang="zh-TW" sz="1100" b="1" kern="1200" dirty="0">
                          <a:solidFill>
                            <a:schemeClr val="tx1"/>
                          </a:solidFill>
                          <a:effectLst/>
                          <a:latin typeface="+mn-lt"/>
                          <a:ea typeface="+mn-ea"/>
                          <a:cs typeface="+mn-cs"/>
                        </a:rPr>
                        <a:t>Description</a:t>
                      </a: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6">
                        <a:lumMod val="40000"/>
                        <a:lumOff val="60000"/>
                      </a:schemeClr>
                    </a:solidFill>
                  </a:tcPr>
                </a:tc>
                <a:extLst>
                  <a:ext uri="{0D108BD9-81ED-4DB2-BD59-A6C34878D82A}">
                    <a16:rowId xmlns:a16="http://schemas.microsoft.com/office/drawing/2014/main" val="3824094486"/>
                  </a:ext>
                </a:extLst>
              </a:tr>
              <a:tr h="470227">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400" b="1" dirty="0" err="1"/>
                        <a:t>DUTPowerON</a:t>
                      </a:r>
                      <a:endParaRPr lang="en-US" altLang="zh-TW" sz="1200" b="0" i="0" u="none" strike="noStrike" dirty="0">
                        <a:solidFill>
                          <a:srgbClr val="000000"/>
                        </a:solidFill>
                        <a:effectLst/>
                        <a:latin typeface="新細明體" panose="02020500000000000000" pitchFamily="18" charset="-120"/>
                        <a:ea typeface="新細明體" panose="02020500000000000000" pitchFamily="18" charset="-120"/>
                      </a:endParaRP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fontAlgn="ctr">
                        <a:buNone/>
                      </a:pPr>
                      <a:r>
                        <a:rPr lang="en-US" altLang="zh-TW" sz="1100" b="0" i="0" u="none" strike="noStrike" dirty="0">
                          <a:solidFill>
                            <a:srgbClr val="000000"/>
                          </a:solidFill>
                          <a:effectLst/>
                          <a:latin typeface="+mn-lt"/>
                          <a:ea typeface="新細明體" panose="02020500000000000000" pitchFamily="18" charset="-120"/>
                        </a:rPr>
                        <a:t>1</a:t>
                      </a:r>
                    </a:p>
                  </a:txBody>
                  <a:tcPr marL="9525" marR="9525" marT="9525" marB="0" anchor="ctr"/>
                </a:tc>
                <a:tc>
                  <a:txBody>
                    <a:bodyPr/>
                    <a:lstStyle/>
                    <a:p>
                      <a:pPr algn="l" fontAlgn="ctr">
                        <a:buNone/>
                      </a:pPr>
                      <a:r>
                        <a:rPr lang="en-US" sz="1100" u="none" strike="noStrike" dirty="0">
                          <a:effectLst/>
                        </a:rPr>
                        <a:t>PC_MODE_ON</a:t>
                      </a: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rtl="0" eaLnBrk="1" fontAlgn="auto" latinLnBrk="0" hangingPunct="1">
                        <a:lnSpc>
                          <a:spcPct val="150000"/>
                        </a:lnSpc>
                      </a:pPr>
                      <a:r>
                        <a:rPr lang="zh-TW" altLang="en-US" sz="1100" b="0" i="0" u="none" strike="noStrike" kern="1200" dirty="0">
                          <a:solidFill>
                            <a:schemeClr val="tx1"/>
                          </a:solidFill>
                          <a:effectLst/>
                          <a:latin typeface="+mn-lt"/>
                          <a:ea typeface="+mn-ea"/>
                          <a:cs typeface="+mn-cs"/>
                        </a:rPr>
                        <a:t>打開</a:t>
                      </a:r>
                      <a:r>
                        <a:rPr lang="en-US" altLang="zh-TW" sz="1100" b="0" i="0" u="none" strike="noStrike" kern="1200" dirty="0">
                          <a:solidFill>
                            <a:schemeClr val="tx1"/>
                          </a:solidFill>
                          <a:effectLst/>
                          <a:latin typeface="+mn-lt"/>
                          <a:ea typeface="+mn-ea"/>
                          <a:cs typeface="+mn-cs"/>
                        </a:rPr>
                        <a:t>DUT</a:t>
                      </a:r>
                      <a:r>
                        <a:rPr lang="zh-TW" altLang="en-US" sz="1100" b="0" i="0" u="none" strike="noStrike" kern="1200" dirty="0">
                          <a:solidFill>
                            <a:schemeClr val="tx1"/>
                          </a:solidFill>
                          <a:effectLst/>
                          <a:latin typeface="+mn-lt"/>
                          <a:ea typeface="+mn-ea"/>
                          <a:cs typeface="+mn-cs"/>
                        </a:rPr>
                        <a:t>通信通道（</a:t>
                      </a:r>
                      <a:r>
                        <a:rPr lang="en-US" altLang="zh-TW" sz="1100" b="0" i="0" u="none" strike="noStrike" kern="1200" dirty="0">
                          <a:solidFill>
                            <a:schemeClr val="tx1"/>
                          </a:solidFill>
                          <a:effectLst/>
                          <a:latin typeface="+mn-lt"/>
                          <a:ea typeface="+mn-ea"/>
                          <a:cs typeface="+mn-cs"/>
                        </a:rPr>
                        <a:t>USB</a:t>
                      </a:r>
                      <a:r>
                        <a:rPr lang="zh-TW" altLang="en-US" sz="1100" b="0" i="0" u="none" strike="noStrike" kern="1200" dirty="0">
                          <a:solidFill>
                            <a:schemeClr val="tx1"/>
                          </a:solidFill>
                          <a:effectLst/>
                          <a:latin typeface="+mn-lt"/>
                          <a:ea typeface="+mn-ea"/>
                          <a:cs typeface="+mn-cs"/>
                        </a:rPr>
                        <a:t>）</a:t>
                      </a:r>
                      <a:endParaRPr lang="zh-TW" altLang="zh-TW" sz="1100" b="0" i="0" u="none" strike="noStrike" kern="1200" dirty="0">
                        <a:solidFill>
                          <a:schemeClr val="tx1"/>
                        </a:solidFill>
                        <a:effectLst/>
                        <a:latin typeface="+mn-lt"/>
                        <a:ea typeface="+mn-ea"/>
                        <a:cs typeface="+mn-cs"/>
                      </a:endParaRPr>
                    </a:p>
                  </a:txBody>
                  <a:tcPr marL="9525" marR="9525" marT="9525" marB="0" anchor="ctr"/>
                </a:tc>
                <a:tc gridSpan="2">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R w="12700" cap="flat" cmpd="sng" algn="ctr">
                      <a:solidFill>
                        <a:schemeClr val="tx1"/>
                      </a:solidFill>
                      <a:prstDash val="solid"/>
                      <a:round/>
                      <a:headEnd type="none" w="med" len="med"/>
                      <a:tailEnd type="none" w="med" len="med"/>
                    </a:lnR>
                  </a:tcPr>
                </a:tc>
                <a:tc h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84187575"/>
                  </a:ext>
                </a:extLst>
              </a:tr>
              <a:tr h="470227">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b="0" i="0" u="none" strike="noStrike" dirty="0">
                        <a:solidFill>
                          <a:srgbClr val="000000"/>
                        </a:solidFill>
                        <a:effectLst/>
                        <a:latin typeface="新細明體" panose="02020500000000000000" pitchFamily="18" charset="-120"/>
                        <a:ea typeface="新細明體" panose="02020500000000000000" pitchFamily="18" charset="-120"/>
                      </a:endParaRP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fontAlgn="ctr">
                        <a:buNone/>
                      </a:pPr>
                      <a:r>
                        <a:rPr lang="en-US" altLang="zh-TW" sz="1100" b="0" i="0" u="none" strike="noStrike" dirty="0">
                          <a:solidFill>
                            <a:srgbClr val="000000"/>
                          </a:solidFill>
                          <a:effectLst/>
                          <a:latin typeface="+mn-lt"/>
                          <a:ea typeface="新細明體" panose="02020500000000000000" pitchFamily="18" charset="-120"/>
                        </a:rPr>
                        <a:t>2</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zh-TW" sz="1100" u="none" strike="noStrike" kern="1200" dirty="0" err="1">
                          <a:solidFill>
                            <a:schemeClr val="dk1"/>
                          </a:solidFill>
                          <a:effectLst/>
                          <a:latin typeface="+mn-lt"/>
                          <a:ea typeface="+mn-ea"/>
                          <a:cs typeface="+mn-cs"/>
                        </a:rPr>
                        <a:t>vbus</a:t>
                      </a:r>
                      <a:r>
                        <a:rPr lang="en-US" altLang="zh-TW" sz="1100" u="none" strike="noStrike" kern="1200" dirty="0">
                          <a:solidFill>
                            <a:schemeClr val="dk1"/>
                          </a:solidFill>
                          <a:effectLst/>
                          <a:latin typeface="+mn-lt"/>
                          <a:ea typeface="+mn-ea"/>
                          <a:cs typeface="+mn-cs"/>
                        </a:rPr>
                        <a:t>[1][5]</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zh-TW" altLang="en-US" sz="1100" b="0" i="0" u="none" strike="noStrike" kern="1200" dirty="0">
                          <a:solidFill>
                            <a:schemeClr val="tx1"/>
                          </a:solidFill>
                          <a:effectLst/>
                          <a:latin typeface="+mn-lt"/>
                          <a:ea typeface="+mn-ea"/>
                          <a:cs typeface="+mn-cs"/>
                        </a:rPr>
                        <a:t>設定外接電源</a:t>
                      </a:r>
                      <a:r>
                        <a:rPr lang="en-US" altLang="zh-TW" sz="1100" b="0" i="0" u="none" strike="noStrike" kern="1200" dirty="0">
                          <a:solidFill>
                            <a:schemeClr val="tx1"/>
                          </a:solidFill>
                          <a:effectLst/>
                          <a:latin typeface="+mn-lt"/>
                          <a:ea typeface="+mn-ea"/>
                          <a:cs typeface="+mn-cs"/>
                        </a:rPr>
                        <a:t>5v</a:t>
                      </a:r>
                      <a:endParaRPr lang="zh-TW" altLang="en-US" sz="1100" b="0" i="0" u="none" strike="noStrike" kern="1200" dirty="0">
                        <a:solidFill>
                          <a:schemeClr val="tx1"/>
                        </a:solidFill>
                        <a:effectLst/>
                        <a:latin typeface="+mn-lt"/>
                        <a:ea typeface="+mn-ea"/>
                        <a:cs typeface="+mn-cs"/>
                      </a:endParaRPr>
                    </a:p>
                  </a:txBody>
                  <a:tcPr marL="9525" marR="9525" marT="9525" marB="0" anchor="ctr">
                    <a:lnB w="12700" cap="flat" cmpd="sng" algn="ctr">
                      <a:solidFill>
                        <a:schemeClr val="tx1"/>
                      </a:solidFill>
                      <a:prstDash val="solid"/>
                      <a:round/>
                      <a:headEnd type="none" w="med" len="med"/>
                      <a:tailEnd type="none" w="med" len="med"/>
                    </a:lnB>
                  </a:tcPr>
                </a:tc>
                <a:tc gridSpan="2">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hMerge="1">
                  <a:txBody>
                    <a:bodyPr/>
                    <a:lstStyle/>
                    <a:p>
                      <a:endParaRPr lang="zh-TW" altLang="en-US"/>
                    </a:p>
                  </a:txBody>
                  <a:tcPr/>
                </a:tc>
                <a:extLst>
                  <a:ext uri="{0D108BD9-81ED-4DB2-BD59-A6C34878D82A}">
                    <a16:rowId xmlns:a16="http://schemas.microsoft.com/office/drawing/2014/main" val="240339027"/>
                  </a:ext>
                </a:extLst>
              </a:tr>
            </a:tbl>
          </a:graphicData>
        </a:graphic>
      </p:graphicFrame>
    </p:spTree>
    <p:extLst>
      <p:ext uri="{BB962C8B-B14F-4D97-AF65-F5344CB8AC3E}">
        <p14:creationId xmlns:p14="http://schemas.microsoft.com/office/powerpoint/2010/main" val="22725128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BC8DAD-D8DB-8D2A-956F-393EA131959D}"/>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4E4FFAC4-847E-D7CC-9025-D67CC64F7394}"/>
              </a:ext>
            </a:extLst>
          </p:cNvPr>
          <p:cNvSpPr>
            <a:spLocks noGrp="1"/>
          </p:cNvSpPr>
          <p:nvPr>
            <p:ph type="body" sz="quarter" idx="13"/>
          </p:nvPr>
        </p:nvSpPr>
        <p:spPr/>
        <p:txBody>
          <a:bodyPr/>
          <a:lstStyle/>
          <a:p>
            <a:r>
              <a:rPr lang="en-US" dirty="0"/>
              <a:t>Terminology  </a:t>
            </a:r>
          </a:p>
          <a:p>
            <a:endParaRPr lang="en-US" dirty="0"/>
          </a:p>
        </p:txBody>
      </p:sp>
      <p:sp>
        <p:nvSpPr>
          <p:cNvPr id="6" name="文字方塊 5">
            <a:extLst>
              <a:ext uri="{FF2B5EF4-FFF2-40B4-BE49-F238E27FC236}">
                <a16:creationId xmlns:a16="http://schemas.microsoft.com/office/drawing/2014/main" id="{907D2F81-F445-0634-F237-FDEDED531C5A}"/>
              </a:ext>
            </a:extLst>
          </p:cNvPr>
          <p:cNvSpPr txBox="1"/>
          <p:nvPr/>
        </p:nvSpPr>
        <p:spPr>
          <a:xfrm>
            <a:off x="571500" y="938449"/>
            <a:ext cx="8886825" cy="1785104"/>
          </a:xfrm>
          <a:prstGeom prst="rect">
            <a:avLst/>
          </a:prstGeom>
          <a:noFill/>
        </p:spPr>
        <p:txBody>
          <a:bodyPr wrap="square">
            <a:spAutoFit/>
          </a:bodyPr>
          <a:lstStyle/>
          <a:p>
            <a:pPr>
              <a:lnSpc>
                <a:spcPct val="150000"/>
              </a:lnSpc>
              <a:defRPr/>
            </a:pPr>
            <a:r>
              <a:rPr lang="en-US" altLang="zh-TW" sz="2000" b="1" dirty="0" err="1"/>
              <a:t>ResetDUT</a:t>
            </a:r>
            <a:r>
              <a:rPr lang="zh-TW" altLang="en-US" sz="2000" b="1" kern="1200" dirty="0">
                <a:solidFill>
                  <a:schemeClr val="tx1"/>
                </a:solidFill>
                <a:effectLst/>
                <a:latin typeface="+mn-lt"/>
                <a:ea typeface="+mn-ea"/>
                <a:cs typeface="+mn-cs"/>
              </a:rPr>
              <a:t>：</a:t>
            </a:r>
          </a:p>
          <a:p>
            <a:pPr marL="800100" lvl="1" indent="-342900">
              <a:lnSpc>
                <a:spcPct val="150000"/>
              </a:lnSpc>
              <a:buFont typeface="Arial" panose="020B0604020202020204" pitchFamily="34" charset="0"/>
              <a:buChar char="•"/>
              <a:defRPr/>
            </a:pPr>
            <a:r>
              <a:rPr lang="en-US" altLang="zh-TW" sz="2000" dirty="0"/>
              <a:t>Find DUT USB port and reset</a:t>
            </a:r>
          </a:p>
          <a:p>
            <a:pPr>
              <a:lnSpc>
                <a:spcPct val="150000"/>
              </a:lnSpc>
              <a:defRPr/>
            </a:pPr>
            <a:r>
              <a:rPr lang="en-US" altLang="zh-TW" sz="2000" b="1" dirty="0"/>
              <a:t>Command</a:t>
            </a:r>
            <a:r>
              <a:rPr lang="zh-TW" altLang="en-US" sz="2000" b="1" dirty="0"/>
              <a:t>：</a:t>
            </a:r>
            <a:endParaRPr lang="en-US" altLang="zh-TW" sz="2000" b="1" dirty="0"/>
          </a:p>
          <a:p>
            <a:pPr>
              <a:defRPr/>
            </a:pPr>
            <a:endParaRPr lang="en-US" altLang="zh-TW" sz="2000" dirty="0"/>
          </a:p>
        </p:txBody>
      </p:sp>
      <p:graphicFrame>
        <p:nvGraphicFramePr>
          <p:cNvPr id="5" name="表格 4">
            <a:extLst>
              <a:ext uri="{FF2B5EF4-FFF2-40B4-BE49-F238E27FC236}">
                <a16:creationId xmlns:a16="http://schemas.microsoft.com/office/drawing/2014/main" id="{D9399961-A652-DF6F-D6D6-ECDCA458AE5B}"/>
              </a:ext>
            </a:extLst>
          </p:cNvPr>
          <p:cNvGraphicFramePr>
            <a:graphicFrameLocks noGrp="1"/>
          </p:cNvGraphicFramePr>
          <p:nvPr>
            <p:extLst>
              <p:ext uri="{D42A27DB-BD31-4B8C-83A1-F6EECF244321}">
                <p14:modId xmlns:p14="http://schemas.microsoft.com/office/powerpoint/2010/main" val="1693960542"/>
              </p:ext>
            </p:extLst>
          </p:nvPr>
        </p:nvGraphicFramePr>
        <p:xfrm>
          <a:off x="694070" y="2723553"/>
          <a:ext cx="10674970" cy="1450771"/>
        </p:xfrm>
        <a:graphic>
          <a:graphicData uri="http://schemas.openxmlformats.org/drawingml/2006/table">
            <a:tbl>
              <a:tblPr>
                <a:tableStyleId>{5C22544A-7EE6-4342-B048-85BDC9FD1C3A}</a:tableStyleId>
              </a:tblPr>
              <a:tblGrid>
                <a:gridCol w="1162474">
                  <a:extLst>
                    <a:ext uri="{9D8B030D-6E8A-4147-A177-3AD203B41FA5}">
                      <a16:colId xmlns:a16="http://schemas.microsoft.com/office/drawing/2014/main" val="3315535983"/>
                    </a:ext>
                  </a:extLst>
                </a:gridCol>
                <a:gridCol w="232062">
                  <a:extLst>
                    <a:ext uri="{9D8B030D-6E8A-4147-A177-3AD203B41FA5}">
                      <a16:colId xmlns:a16="http://schemas.microsoft.com/office/drawing/2014/main" val="2960066220"/>
                    </a:ext>
                  </a:extLst>
                </a:gridCol>
                <a:gridCol w="1585071">
                  <a:extLst>
                    <a:ext uri="{9D8B030D-6E8A-4147-A177-3AD203B41FA5}">
                      <a16:colId xmlns:a16="http://schemas.microsoft.com/office/drawing/2014/main" val="3319955928"/>
                    </a:ext>
                  </a:extLst>
                </a:gridCol>
                <a:gridCol w="1311570">
                  <a:extLst>
                    <a:ext uri="{9D8B030D-6E8A-4147-A177-3AD203B41FA5}">
                      <a16:colId xmlns:a16="http://schemas.microsoft.com/office/drawing/2014/main" val="163623680"/>
                    </a:ext>
                  </a:extLst>
                </a:gridCol>
                <a:gridCol w="1585071">
                  <a:extLst>
                    <a:ext uri="{9D8B030D-6E8A-4147-A177-3AD203B41FA5}">
                      <a16:colId xmlns:a16="http://schemas.microsoft.com/office/drawing/2014/main" val="55451195"/>
                    </a:ext>
                  </a:extLst>
                </a:gridCol>
                <a:gridCol w="1195148">
                  <a:extLst>
                    <a:ext uri="{9D8B030D-6E8A-4147-A177-3AD203B41FA5}">
                      <a16:colId xmlns:a16="http://schemas.microsoft.com/office/drawing/2014/main" val="2080052651"/>
                    </a:ext>
                  </a:extLst>
                </a:gridCol>
                <a:gridCol w="1764614">
                  <a:extLst>
                    <a:ext uri="{9D8B030D-6E8A-4147-A177-3AD203B41FA5}">
                      <a16:colId xmlns:a16="http://schemas.microsoft.com/office/drawing/2014/main" val="1804171445"/>
                    </a:ext>
                  </a:extLst>
                </a:gridCol>
                <a:gridCol w="1838960">
                  <a:extLst>
                    <a:ext uri="{9D8B030D-6E8A-4147-A177-3AD203B41FA5}">
                      <a16:colId xmlns:a16="http://schemas.microsoft.com/office/drawing/2014/main" val="566024844"/>
                    </a:ext>
                  </a:extLst>
                </a:gridCol>
              </a:tblGrid>
              <a:tr h="312581">
                <a:tc>
                  <a:txBody>
                    <a:bodyPr/>
                    <a:lstStyle/>
                    <a:p>
                      <a:pPr algn="ctr" fontAlgn="ctr">
                        <a:buNone/>
                      </a:pPr>
                      <a:r>
                        <a:rPr lang="en-US" sz="1100" b="1" u="none" strike="noStrike" dirty="0">
                          <a:effectLst/>
                        </a:rPr>
                        <a:t>Test</a:t>
                      </a:r>
                      <a:r>
                        <a:rPr lang="en-US" sz="1100" u="none" strike="noStrike" dirty="0">
                          <a:effectLst/>
                        </a:rPr>
                        <a:t> </a:t>
                      </a:r>
                      <a:r>
                        <a:rPr lang="en-US" sz="1100" b="1" u="none" strike="noStrike" dirty="0">
                          <a:effectLst/>
                        </a:rPr>
                        <a:t>item</a:t>
                      </a:r>
                      <a:endParaRPr lang="en-US" sz="1100" b="1"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ctr" fontAlgn="ctr">
                        <a:buNone/>
                      </a:pPr>
                      <a:r>
                        <a:rPr lang="zh-TW" altLang="en-US" sz="1100" u="none" strike="noStrike" dirty="0">
                          <a:effectLst/>
                        </a:rPr>
                        <a:t>　</a:t>
                      </a: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ctr" fontAlgn="ctr">
                        <a:buNone/>
                      </a:pPr>
                      <a:r>
                        <a:rPr lang="en-US" sz="1100" b="1" u="none" strike="noStrike" dirty="0">
                          <a:effectLst/>
                        </a:rPr>
                        <a:t>Shell</a:t>
                      </a:r>
                      <a:r>
                        <a:rPr lang="en-US" sz="1100" u="none" strike="noStrike" dirty="0">
                          <a:effectLst/>
                        </a:rPr>
                        <a:t>  </a:t>
                      </a:r>
                      <a:r>
                        <a:rPr lang="en-US" sz="1100" b="1" u="none" strike="noStrike" dirty="0">
                          <a:effectLst/>
                        </a:rPr>
                        <a:t>command</a:t>
                      </a:r>
                      <a:endParaRPr lang="en-US" sz="1100" b="1" i="0" u="none" strike="noStrike" dirty="0">
                        <a:solidFill>
                          <a:srgbClr val="FF0000"/>
                        </a:solidFill>
                        <a:effectLst/>
                        <a:latin typeface="新細明體" panose="02020500000000000000" pitchFamily="18" charset="-120"/>
                        <a:ea typeface="新細明體" panose="02020500000000000000" pitchFamily="18" charset="-120"/>
                      </a:endParaRPr>
                    </a:p>
                  </a:txBody>
                  <a:tcPr marL="9525" marR="9525" marT="9525" marB="0"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l" fontAlgn="ctr">
                        <a:buNone/>
                      </a:pPr>
                      <a:r>
                        <a:rPr lang="en-US" altLang="zh-TW" sz="1100" b="1" kern="1200" dirty="0">
                          <a:solidFill>
                            <a:schemeClr val="tx1"/>
                          </a:solidFill>
                          <a:effectLst/>
                          <a:latin typeface="+mn-lt"/>
                          <a:ea typeface="+mn-ea"/>
                          <a:cs typeface="+mn-cs"/>
                        </a:rPr>
                        <a:t>Description</a:t>
                      </a: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ctr" fontAlgn="ctr">
                        <a:buNone/>
                      </a:pPr>
                      <a:r>
                        <a:rPr lang="en-US" sz="1100" b="1" u="none" strike="noStrike" dirty="0">
                          <a:effectLst/>
                        </a:rPr>
                        <a:t>DUT_USB command</a:t>
                      </a:r>
                      <a:endParaRPr lang="en-US" sz="1100" b="1" i="0" u="none" strike="noStrike" dirty="0">
                        <a:solidFill>
                          <a:srgbClr val="FF0000"/>
                        </a:solidFill>
                        <a:effectLst/>
                        <a:latin typeface="新細明體" panose="02020500000000000000" pitchFamily="18" charset="-120"/>
                        <a:ea typeface="新細明體" panose="02020500000000000000" pitchFamily="18" charset="-120"/>
                      </a:endParaRPr>
                    </a:p>
                  </a:txBody>
                  <a:tcPr marL="9525" marR="9525" marT="9525" marB="0"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l" fontAlgn="ctr">
                        <a:buNone/>
                      </a:pPr>
                      <a:r>
                        <a:rPr lang="en-US" altLang="zh-TW" sz="1100" b="1" kern="1200" dirty="0">
                          <a:solidFill>
                            <a:schemeClr val="tx1"/>
                          </a:solidFill>
                          <a:effectLst/>
                          <a:latin typeface="+mn-lt"/>
                          <a:ea typeface="+mn-ea"/>
                          <a:cs typeface="+mn-cs"/>
                        </a:rPr>
                        <a:t>Description</a:t>
                      </a: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ctr" fontAlgn="ctr">
                        <a:buNone/>
                      </a:pPr>
                      <a:r>
                        <a:rPr lang="en-US" sz="1100" b="1" u="none" strike="noStrike" dirty="0">
                          <a:effectLst/>
                        </a:rPr>
                        <a:t>DUT command</a:t>
                      </a:r>
                      <a:endParaRPr lang="en-US" sz="1100" b="1" i="0" u="none" strike="noStrike" dirty="0">
                        <a:solidFill>
                          <a:srgbClr val="FF0000"/>
                        </a:solidFill>
                        <a:effectLst/>
                        <a:latin typeface="新細明體" panose="02020500000000000000" pitchFamily="18" charset="-120"/>
                        <a:ea typeface="新細明體" panose="02020500000000000000" pitchFamily="18" charset="-120"/>
                      </a:endParaRPr>
                    </a:p>
                  </a:txBody>
                  <a:tcPr marL="9411" marR="9411" marT="9411" marB="0"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ctr" fontAlgn="ctr">
                        <a:buNone/>
                      </a:pPr>
                      <a:r>
                        <a:rPr lang="en-US" altLang="zh-TW" sz="1100" b="1" kern="1200" dirty="0">
                          <a:solidFill>
                            <a:schemeClr val="tx1"/>
                          </a:solidFill>
                          <a:effectLst/>
                          <a:latin typeface="+mn-lt"/>
                          <a:ea typeface="+mn-ea"/>
                          <a:cs typeface="+mn-cs"/>
                        </a:rPr>
                        <a:t>Description</a:t>
                      </a:r>
                      <a:endParaRPr lang="en-US" sz="1100" b="1" i="0" u="none" strike="noStrike" dirty="0">
                        <a:solidFill>
                          <a:srgbClr val="FF0000"/>
                        </a:solidFill>
                        <a:effectLst/>
                        <a:latin typeface="新細明體" panose="02020500000000000000" pitchFamily="18" charset="-120"/>
                        <a:ea typeface="新細明體" panose="02020500000000000000" pitchFamily="18" charset="-120"/>
                      </a:endParaRPr>
                    </a:p>
                  </a:txBody>
                  <a:tcPr marL="9411" marR="9411" marT="9411"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6">
                        <a:lumMod val="40000"/>
                        <a:lumOff val="60000"/>
                      </a:schemeClr>
                    </a:solidFill>
                  </a:tcPr>
                </a:tc>
                <a:extLst>
                  <a:ext uri="{0D108BD9-81ED-4DB2-BD59-A6C34878D82A}">
                    <a16:rowId xmlns:a16="http://schemas.microsoft.com/office/drawing/2014/main" val="3824094486"/>
                  </a:ext>
                </a:extLst>
              </a:tr>
              <a:tr h="253958">
                <a:tc rowSpan="4">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TW" sz="1200" b="1" dirty="0" err="1"/>
                        <a:t>ResetDUT</a:t>
                      </a:r>
                      <a:endParaRPr lang="zh-TW" altLang="en-US" sz="1200" b="0" i="0" u="none" strike="noStrike" dirty="0">
                        <a:solidFill>
                          <a:srgbClr val="000000"/>
                        </a:solidFill>
                        <a:effectLst/>
                        <a:latin typeface="新細明體" panose="02020500000000000000" pitchFamily="18" charset="-120"/>
                        <a:ea typeface="新細明體" panose="02020500000000000000" pitchFamily="18" charset="-120"/>
                      </a:endParaRP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fontAlgn="ctr">
                        <a:buNone/>
                      </a:pPr>
                      <a:r>
                        <a:rPr lang="en-US" altLang="zh-TW" sz="1400" b="0" kern="1200" dirty="0">
                          <a:solidFill>
                            <a:schemeClr val="dk1"/>
                          </a:solidFill>
                          <a:effectLst/>
                          <a:latin typeface="+mn-lt"/>
                          <a:ea typeface="+mn-ea"/>
                          <a:cs typeface="+mn-cs"/>
                        </a:rPr>
                        <a:t>1</a:t>
                      </a:r>
                    </a:p>
                  </a:txBody>
                  <a:tcPr marL="9525" marR="9525" marT="9525"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zh-TW" sz="1100" b="0" u="none" strike="noStrike" kern="1200" dirty="0">
                          <a:solidFill>
                            <a:schemeClr val="dk1"/>
                          </a:solidFill>
                          <a:effectLst/>
                          <a:latin typeface="+mn-lt"/>
                          <a:ea typeface="+mn-ea"/>
                          <a:cs typeface="+mn-cs"/>
                        </a:rPr>
                        <a:t>find /dev/</a:t>
                      </a:r>
                      <a:r>
                        <a:rPr lang="en-US" altLang="zh-TW" sz="1100" b="0" u="none" strike="noStrike" kern="1200" dirty="0" err="1">
                          <a:solidFill>
                            <a:schemeClr val="dk1"/>
                          </a:solidFill>
                          <a:effectLst/>
                          <a:latin typeface="+mn-lt"/>
                          <a:ea typeface="+mn-ea"/>
                          <a:cs typeface="+mn-cs"/>
                        </a:rPr>
                        <a:t>cu.usbmodem</a:t>
                      </a:r>
                      <a:r>
                        <a:rPr lang="en-US" altLang="zh-TW" sz="1100" b="0" u="none" strike="noStrike" kern="1200" dirty="0">
                          <a:solidFill>
                            <a:schemeClr val="dk1"/>
                          </a:solidFill>
                          <a:effectLst/>
                          <a:latin typeface="+mn-lt"/>
                          <a:ea typeface="+mn-ea"/>
                          <a:cs typeface="+mn-cs"/>
                        </a:rPr>
                        <a:t>*</a:t>
                      </a:r>
                    </a:p>
                  </a:txBody>
                  <a:tcPr marL="9525" marR="9525" marT="9525" marB="0" anchor="ctr"/>
                </a:tc>
                <a:tc>
                  <a:txBody>
                    <a:bodyPr/>
                    <a:lstStyle/>
                    <a:p>
                      <a:pPr algn="l" fontAlgn="ctr">
                        <a:buNone/>
                      </a:pPr>
                      <a:r>
                        <a:rPr lang="en-US" altLang="zh-TW" sz="1100" b="0" u="none" strike="noStrike" kern="1200" dirty="0">
                          <a:solidFill>
                            <a:schemeClr val="dk1"/>
                          </a:solidFill>
                          <a:effectLst/>
                          <a:latin typeface="+mn-lt"/>
                          <a:ea typeface="+mn-ea"/>
                          <a:cs typeface="+mn-cs"/>
                        </a:rPr>
                        <a:t>macOS </a:t>
                      </a:r>
                      <a:r>
                        <a:rPr lang="zh-TW" altLang="en-US" sz="1100" b="0" u="none" strike="noStrike" kern="1200" dirty="0">
                          <a:solidFill>
                            <a:schemeClr val="dk1"/>
                          </a:solidFill>
                          <a:effectLst/>
                          <a:latin typeface="+mn-lt"/>
                          <a:ea typeface="+mn-ea"/>
                          <a:cs typeface="+mn-cs"/>
                        </a:rPr>
                        <a:t>找 </a:t>
                      </a:r>
                      <a:r>
                        <a:rPr lang="en-US" altLang="zh-TW" sz="1100" b="0" u="none" strike="noStrike" kern="1200" dirty="0">
                          <a:solidFill>
                            <a:schemeClr val="dk1"/>
                          </a:solidFill>
                          <a:effectLst/>
                          <a:latin typeface="+mn-lt"/>
                          <a:ea typeface="+mn-ea"/>
                          <a:cs typeface="+mn-cs"/>
                        </a:rPr>
                        <a:t>DUT serial port</a:t>
                      </a:r>
                      <a:endParaRPr lang="zh-TW" altLang="en-US" sz="1100" b="0" u="none" strike="noStrike" kern="1200" dirty="0">
                        <a:solidFill>
                          <a:schemeClr val="dk1"/>
                        </a:solidFill>
                        <a:effectLst/>
                        <a:latin typeface="+mn-lt"/>
                        <a:ea typeface="+mn-ea"/>
                        <a:cs typeface="+mn-cs"/>
                      </a:endParaRPr>
                    </a:p>
                  </a:txBody>
                  <a:tcPr marL="9525" marR="9525" marT="9525" marB="0" anchor="ctr"/>
                </a:tc>
                <a:tc gridSpan="4">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zh-TW" sz="1400" b="0" kern="1200" dirty="0">
                        <a:solidFill>
                          <a:schemeClr val="dk1"/>
                        </a:solidFill>
                        <a:effectLst/>
                        <a:latin typeface="+mn-lt"/>
                        <a:ea typeface="+mn-ea"/>
                        <a:cs typeface="+mn-cs"/>
                      </a:endParaRPr>
                    </a:p>
                  </a:txBody>
                  <a:tcPr marL="9525" marR="9525" marT="9525" marB="0" anchor="ctr">
                    <a:lnR w="12700" cap="flat" cmpd="sng" algn="ctr">
                      <a:solidFill>
                        <a:schemeClr val="tx1"/>
                      </a:solidFill>
                      <a:prstDash val="solid"/>
                      <a:round/>
                      <a:headEnd type="none" w="med" len="med"/>
                      <a:tailEnd type="none" w="med" len="med"/>
                    </a:lnR>
                  </a:tcPr>
                </a:tc>
                <a:tc hMerge="1">
                  <a:txBody>
                    <a:bodyPr/>
                    <a:lstStyle/>
                    <a:p>
                      <a:pPr algn="l" fontAlgn="ctr">
                        <a:buNone/>
                      </a:pPr>
                      <a:endParaRPr lang="zh-TW" altLang="en-US" sz="1400" b="0" kern="1200" dirty="0">
                        <a:solidFill>
                          <a:schemeClr val="dk1"/>
                        </a:solidFill>
                        <a:effectLst/>
                        <a:latin typeface="+mn-lt"/>
                        <a:ea typeface="+mn-ea"/>
                        <a:cs typeface="+mn-cs"/>
                      </a:endParaRPr>
                    </a:p>
                  </a:txBody>
                  <a:tcPr marL="9525" marR="9525" marT="9525" marB="0" anchor="ctr"/>
                </a:tc>
                <a:tc hMerge="1">
                  <a:txBody>
                    <a:bodyPr/>
                    <a:lstStyle/>
                    <a:p>
                      <a:pPr algn="l" fontAlgn="ctr">
                        <a:buNone/>
                      </a:pPr>
                      <a:endParaRPr lang="zh-TW" altLang="en-US" sz="1400" b="0" kern="1200" dirty="0">
                        <a:solidFill>
                          <a:schemeClr val="dk1"/>
                        </a:solidFill>
                        <a:effectLst/>
                        <a:latin typeface="+mn-lt"/>
                        <a:ea typeface="+mn-ea"/>
                        <a:cs typeface="+mn-cs"/>
                      </a:endParaRPr>
                    </a:p>
                  </a:txBody>
                  <a:tcPr marL="9525" marR="9525" marT="9525" marB="0" anchor="ctr">
                    <a:lnR w="12700" cap="flat" cmpd="sng" algn="ctr">
                      <a:solidFill>
                        <a:schemeClr val="tx1"/>
                      </a:solidFill>
                      <a:prstDash val="solid"/>
                      <a:round/>
                      <a:headEnd type="none" w="med" len="med"/>
                      <a:tailEnd type="none" w="med" len="med"/>
                    </a:lnR>
                  </a:tcPr>
                </a:tc>
                <a:tc hMerge="1">
                  <a:txBody>
                    <a:bodyPr/>
                    <a:lstStyle/>
                    <a:p>
                      <a:endParaRPr lang="zh-TW" altLang="en-US"/>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884187575"/>
                  </a:ext>
                </a:extLst>
              </a:tr>
              <a:tr h="253084">
                <a:tc vMerge="1">
                  <a:txBody>
                    <a:bodyPr/>
                    <a:lstStyle/>
                    <a:p>
                      <a:endParaRPr lang="zh-TW" altLang="en-US"/>
                    </a:p>
                  </a:txBody>
                  <a:tcPr/>
                </a:tc>
                <a:tc>
                  <a:txBody>
                    <a:bodyPr/>
                    <a:lstStyle/>
                    <a:p>
                      <a:pPr algn="ctr" fontAlgn="ctr">
                        <a:buNone/>
                      </a:pPr>
                      <a:r>
                        <a:rPr lang="en-US" altLang="zh-TW" sz="1400" b="0" kern="1200" dirty="0">
                          <a:solidFill>
                            <a:schemeClr val="dk1"/>
                          </a:solidFill>
                          <a:effectLst/>
                          <a:latin typeface="+mn-lt"/>
                          <a:ea typeface="+mn-ea"/>
                          <a:cs typeface="+mn-cs"/>
                        </a:rPr>
                        <a:t>2</a:t>
                      </a:r>
                    </a:p>
                  </a:txBody>
                  <a:tcPr marL="9525" marR="9525" marT="9525" marB="0" anchor="ctr"/>
                </a:tc>
                <a:tc rowSpan="2" gridSpan="2">
                  <a:txBody>
                    <a:bodyPr/>
                    <a:lstStyle/>
                    <a:p>
                      <a:pPr algn="l" fontAlgn="ctr">
                        <a:buNone/>
                      </a:pPr>
                      <a:endParaRPr lang="en-US" sz="1400" b="0" kern="1200" dirty="0">
                        <a:solidFill>
                          <a:schemeClr val="dk1"/>
                        </a:solidFill>
                        <a:effectLst/>
                        <a:latin typeface="+mn-lt"/>
                        <a:ea typeface="+mn-ea"/>
                        <a:cs typeface="+mn-cs"/>
                      </a:endParaRPr>
                    </a:p>
                  </a:txBody>
                  <a:tcPr marL="9525" marR="9525" marT="9525" marB="0" anchor="ctr"/>
                </a:tc>
                <a:tc rowSpan="2" hMerge="1">
                  <a:txBody>
                    <a:bodyPr/>
                    <a:lstStyle/>
                    <a:p>
                      <a:pPr algn="l" fontAlgn="ctr">
                        <a:buNone/>
                      </a:pPr>
                      <a:endParaRPr lang="zh-TW" altLang="en-US" sz="1400" b="0" kern="1200" dirty="0">
                        <a:solidFill>
                          <a:schemeClr val="dk1"/>
                        </a:solidFill>
                        <a:effectLst/>
                        <a:latin typeface="+mn-lt"/>
                        <a:ea typeface="+mn-ea"/>
                        <a:cs typeface="+mn-cs"/>
                      </a:endParaRPr>
                    </a:p>
                  </a:txBody>
                  <a:tcPr marL="9525" marR="9525" marT="9525"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zh-TW" sz="1100" b="0" u="none" strike="noStrike" kern="1200" dirty="0">
                          <a:solidFill>
                            <a:schemeClr val="dk1"/>
                          </a:solidFill>
                          <a:effectLst/>
                          <a:latin typeface="+mn-lt"/>
                          <a:ea typeface="+mn-ea"/>
                          <a:cs typeface="+mn-cs"/>
                        </a:rPr>
                        <a:t>\n</a:t>
                      </a:r>
                    </a:p>
                  </a:txBody>
                  <a:tcPr marL="9525" marR="9525" marT="9525" marB="0" anchor="ctr"/>
                </a:tc>
                <a:tc>
                  <a:txBody>
                    <a:bodyPr/>
                    <a:lstStyle/>
                    <a:p>
                      <a:pPr algn="l" fontAlgn="ctr">
                        <a:buNone/>
                      </a:pPr>
                      <a:endParaRPr lang="zh-TW" altLang="en-US" sz="1400" b="0" kern="1200" dirty="0">
                        <a:solidFill>
                          <a:schemeClr val="dk1"/>
                        </a:solidFill>
                        <a:effectLst/>
                        <a:latin typeface="+mn-lt"/>
                        <a:ea typeface="+mn-ea"/>
                        <a:cs typeface="+mn-cs"/>
                      </a:endParaRPr>
                    </a:p>
                  </a:txBody>
                  <a:tcPr marL="9525" marR="9525" marT="9525" marB="0" anchor="ctr">
                    <a:lnR w="12700" cap="flat" cmpd="sng" algn="ctr">
                      <a:solidFill>
                        <a:schemeClr val="bg1"/>
                      </a:solidFill>
                      <a:prstDash val="solid"/>
                      <a:round/>
                      <a:headEnd type="none" w="med" len="med"/>
                      <a:tailEnd type="none" w="med" len="med"/>
                    </a:lnR>
                  </a:tcPr>
                </a:tc>
                <a:tc rowSpan="2" gridSpan="2">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zh-TW" sz="1400" b="0" kern="1200" dirty="0">
                        <a:solidFill>
                          <a:schemeClr val="dk1"/>
                        </a:solidFill>
                        <a:effectLst/>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rowSpan="2" h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zh-TW" sz="1400" b="0" kern="1200" dirty="0">
                        <a:solidFill>
                          <a:schemeClr val="dk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832564753"/>
                  </a:ext>
                </a:extLst>
              </a:tr>
              <a:tr h="253084">
                <a:tc v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zh-TW" altLang="en-US" sz="1200" b="0" i="0" u="none" strike="noStrike" dirty="0">
                        <a:solidFill>
                          <a:srgbClr val="000000"/>
                        </a:solidFill>
                        <a:effectLst/>
                        <a:latin typeface="新細明體" panose="02020500000000000000" pitchFamily="18" charset="-120"/>
                        <a:ea typeface="新細明體" panose="02020500000000000000" pitchFamily="18" charset="-120"/>
                      </a:endParaRPr>
                    </a:p>
                  </a:txBody>
                  <a:tcPr anchor="ctr">
                    <a:lnL w="12700" cap="flat" cmpd="sng" algn="ctr">
                      <a:solidFill>
                        <a:schemeClr val="tx1"/>
                      </a:solidFill>
                      <a:prstDash val="solid"/>
                      <a:round/>
                      <a:headEnd type="none" w="med" len="med"/>
                      <a:tailEnd type="none" w="med" len="med"/>
                    </a:lnL>
                  </a:tcPr>
                </a:tc>
                <a:tc>
                  <a:txBody>
                    <a:bodyPr/>
                    <a:lstStyle/>
                    <a:p>
                      <a:pPr algn="ctr" fontAlgn="ctr">
                        <a:buNone/>
                      </a:pPr>
                      <a:r>
                        <a:rPr lang="en-US" altLang="zh-TW" sz="1400" b="0" kern="1200" dirty="0">
                          <a:solidFill>
                            <a:schemeClr val="dk1"/>
                          </a:solidFill>
                          <a:effectLst/>
                          <a:latin typeface="+mn-lt"/>
                          <a:ea typeface="+mn-ea"/>
                          <a:cs typeface="+mn-cs"/>
                        </a:rPr>
                        <a:t>3</a:t>
                      </a:r>
                    </a:p>
                  </a:txBody>
                  <a:tcPr marL="9525" marR="9525" marT="9525" marB="0" anchor="ctr"/>
                </a:tc>
                <a:tc gridSpan="2" vMerge="1">
                  <a:txBody>
                    <a:bodyPr/>
                    <a:lstStyle/>
                    <a:p>
                      <a:pPr algn="l" fontAlgn="ctr">
                        <a:buNone/>
                      </a:pPr>
                      <a:endParaRPr lang="en-US" sz="1400" b="0" kern="1200" dirty="0">
                        <a:solidFill>
                          <a:schemeClr val="dk1"/>
                        </a:solidFill>
                        <a:effectLst/>
                        <a:latin typeface="+mn-lt"/>
                        <a:ea typeface="+mn-ea"/>
                        <a:cs typeface="+mn-cs"/>
                      </a:endParaRPr>
                    </a:p>
                  </a:txBody>
                  <a:tcPr marL="9525" marR="9525" marT="9525" marB="0" anchor="ctr"/>
                </a:tc>
                <a:tc hMerge="1" vMerge="1">
                  <a:txBody>
                    <a:bodyPr/>
                    <a:lstStyle/>
                    <a:p>
                      <a:pPr algn="l" fontAlgn="ctr">
                        <a:buNone/>
                      </a:pPr>
                      <a:endParaRPr lang="zh-TW" altLang="en-US" sz="1400" b="0" kern="1200" dirty="0">
                        <a:solidFill>
                          <a:schemeClr val="dk1"/>
                        </a:solidFill>
                        <a:effectLst/>
                        <a:latin typeface="+mn-lt"/>
                        <a:ea typeface="+mn-ea"/>
                        <a:cs typeface="+mn-cs"/>
                      </a:endParaRPr>
                    </a:p>
                  </a:txBody>
                  <a:tcPr marL="9525" marR="9525" marT="9525"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zh-TW" sz="1100" b="0" u="none" strike="noStrike" kern="1200" dirty="0">
                          <a:solidFill>
                            <a:schemeClr val="dk1"/>
                          </a:solidFill>
                          <a:effectLst/>
                          <a:latin typeface="+mn-lt"/>
                          <a:ea typeface="+mn-ea"/>
                          <a:cs typeface="+mn-cs"/>
                        </a:rPr>
                        <a:t>ft reset\n</a:t>
                      </a:r>
                    </a:p>
                  </a:txBody>
                  <a:tcPr marL="9525" marR="9525" marT="9525" marB="0" anchor="ctr"/>
                </a:tc>
                <a:tc>
                  <a:txBody>
                    <a:bodyPr/>
                    <a:lstStyle/>
                    <a:p>
                      <a:pPr algn="l" fontAlgn="ctr">
                        <a:buNone/>
                      </a:pPr>
                      <a:r>
                        <a:rPr lang="zh-TW" altLang="en-US" sz="1100" b="0" u="none" strike="noStrike" kern="1200" dirty="0">
                          <a:solidFill>
                            <a:schemeClr val="dk1"/>
                          </a:solidFill>
                          <a:effectLst/>
                          <a:latin typeface="+mn-lt"/>
                          <a:ea typeface="+mn-ea"/>
                          <a:cs typeface="+mn-cs"/>
                        </a:rPr>
                        <a:t>重置</a:t>
                      </a:r>
                      <a:r>
                        <a:rPr lang="en-US" altLang="zh-TW" sz="1100" b="0" u="none" strike="noStrike" kern="1200" dirty="0">
                          <a:solidFill>
                            <a:schemeClr val="dk1"/>
                          </a:solidFill>
                          <a:effectLst/>
                          <a:latin typeface="+mn-lt"/>
                          <a:ea typeface="+mn-ea"/>
                          <a:cs typeface="+mn-cs"/>
                        </a:rPr>
                        <a:t>DUT</a:t>
                      </a:r>
                      <a:endParaRPr lang="zh-TW" altLang="en-US" sz="1100" b="0" u="none" strike="noStrike" kern="1200" dirty="0">
                        <a:solidFill>
                          <a:schemeClr val="dk1"/>
                        </a:solidFill>
                        <a:effectLst/>
                        <a:latin typeface="+mn-lt"/>
                        <a:ea typeface="+mn-ea"/>
                        <a:cs typeface="+mn-cs"/>
                      </a:endParaRPr>
                    </a:p>
                  </a:txBody>
                  <a:tcPr marL="9525" marR="9525" marT="9525" marB="0" anchor="ctr"/>
                </a:tc>
                <a:tc gridSpan="2" v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zh-TW" sz="1100" b="0" u="none" strike="noStrike" kern="1200" dirty="0">
                        <a:solidFill>
                          <a:schemeClr val="dk1"/>
                        </a:solidFill>
                        <a:effectLst/>
                        <a:latin typeface="+mn-lt"/>
                        <a:ea typeface="+mn-ea"/>
                        <a:cs typeface="+mn-cs"/>
                      </a:endParaRPr>
                    </a:p>
                  </a:txBody>
                  <a:tcPr marL="9525" marR="9525" marT="9525" marB="0" anchor="ctr">
                    <a:lnR w="12700" cap="flat" cmpd="sng" algn="ctr">
                      <a:solidFill>
                        <a:schemeClr val="tx1"/>
                      </a:solidFill>
                      <a:prstDash val="solid"/>
                      <a:round/>
                      <a:headEnd type="none" w="med" len="med"/>
                      <a:tailEnd type="none" w="med" len="med"/>
                    </a:lnR>
                  </a:tcPr>
                </a:tc>
                <a:tc hMerge="1" v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zh-TW" sz="1400" b="0" kern="1200" dirty="0">
                        <a:solidFill>
                          <a:schemeClr val="dk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4519934"/>
                  </a:ext>
                </a:extLst>
              </a:tr>
              <a:tr h="287217">
                <a:tc v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zh-TW" altLang="en-US" sz="1200" b="0" i="0" u="none" strike="noStrike" dirty="0">
                        <a:solidFill>
                          <a:srgbClr val="000000"/>
                        </a:solidFill>
                        <a:effectLst/>
                        <a:latin typeface="新細明體" panose="02020500000000000000" pitchFamily="18" charset="-120"/>
                        <a:ea typeface="新細明體" panose="02020500000000000000" pitchFamily="18" charset="-120"/>
                      </a:endParaRPr>
                    </a:p>
                  </a:txBody>
                  <a:tcPr anchor="ctr">
                    <a:lnL w="12700" cap="flat" cmpd="sng" algn="ctr">
                      <a:solidFill>
                        <a:schemeClr val="tx1"/>
                      </a:solidFill>
                      <a:prstDash val="solid"/>
                      <a:round/>
                      <a:headEnd type="none" w="med" len="med"/>
                      <a:tailEnd type="none" w="med" len="med"/>
                    </a:lnL>
                  </a:tcPr>
                </a:tc>
                <a:tc>
                  <a:txBody>
                    <a:bodyPr/>
                    <a:lstStyle/>
                    <a:p>
                      <a:pPr algn="ctr" fontAlgn="ctr">
                        <a:buNone/>
                      </a:pPr>
                      <a:r>
                        <a:rPr lang="en-US" altLang="zh-TW" sz="1400" b="0" kern="1200" dirty="0">
                          <a:solidFill>
                            <a:schemeClr val="dk1"/>
                          </a:solidFill>
                          <a:effectLst/>
                          <a:latin typeface="+mn-lt"/>
                          <a:ea typeface="+mn-ea"/>
                          <a:cs typeface="+mn-cs"/>
                        </a:rPr>
                        <a:t>4</a:t>
                      </a:r>
                    </a:p>
                  </a:txBody>
                  <a:tcPr marL="9525" marR="9525" marT="9525" marB="0" anchor="ctr">
                    <a:lnB w="12700" cap="flat" cmpd="sng" algn="ctr">
                      <a:solidFill>
                        <a:schemeClr val="tx1"/>
                      </a:solidFill>
                      <a:prstDash val="solid"/>
                      <a:round/>
                      <a:headEnd type="none" w="med" len="med"/>
                      <a:tailEnd type="none" w="med" len="med"/>
                    </a:lnB>
                  </a:tcPr>
                </a:tc>
                <a:tc gridSpan="4">
                  <a:txBody>
                    <a:bodyPr/>
                    <a:lstStyle/>
                    <a:p>
                      <a:pPr algn="l" fontAlgn="ctr">
                        <a:buNone/>
                      </a:pPr>
                      <a:endParaRPr lang="en-US" sz="1100" b="0" u="none" strike="noStrike" kern="1200" dirty="0">
                        <a:solidFill>
                          <a:schemeClr val="dk1"/>
                        </a:solidFill>
                        <a:effectLst/>
                        <a:latin typeface="+mn-lt"/>
                        <a:ea typeface="+mn-ea"/>
                        <a:cs typeface="+mn-cs"/>
                      </a:endParaRPr>
                    </a:p>
                  </a:txBody>
                  <a:tcPr marL="9525" marR="9525" marT="9525" marB="0" anchor="ctr">
                    <a:lnB w="12700" cap="flat" cmpd="sng" algn="ctr">
                      <a:solidFill>
                        <a:schemeClr val="tx1"/>
                      </a:solidFill>
                      <a:prstDash val="solid"/>
                      <a:round/>
                      <a:headEnd type="none" w="med" len="med"/>
                      <a:tailEnd type="none" w="med" len="med"/>
                    </a:lnB>
                  </a:tcPr>
                </a:tc>
                <a:tc hMerge="1">
                  <a:txBody>
                    <a:bodyPr/>
                    <a:lstStyle/>
                    <a:p>
                      <a:pPr algn="l" fontAlgn="ctr">
                        <a:buNone/>
                      </a:pPr>
                      <a:endParaRPr lang="zh-TW" altLang="en-US" sz="1400" b="0" kern="1200" dirty="0">
                        <a:solidFill>
                          <a:schemeClr val="dk1"/>
                        </a:solidFill>
                        <a:effectLst/>
                        <a:latin typeface="+mn-lt"/>
                        <a:ea typeface="+mn-ea"/>
                        <a:cs typeface="+mn-cs"/>
                      </a:endParaRPr>
                    </a:p>
                  </a:txBody>
                  <a:tcPr marL="9525" marR="9525" marT="9525" marB="0" anchor="ctr">
                    <a:lnB w="12700" cap="flat" cmpd="sng" algn="ctr">
                      <a:solidFill>
                        <a:schemeClr val="tx1"/>
                      </a:solidFill>
                      <a:prstDash val="solid"/>
                      <a:round/>
                      <a:headEnd type="none" w="med" len="med"/>
                      <a:tailEnd type="none" w="med" len="med"/>
                    </a:lnB>
                  </a:tcPr>
                </a:tc>
                <a:tc h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zh-TW" sz="1100" b="0" u="none" strike="noStrike" kern="1200" dirty="0">
                        <a:solidFill>
                          <a:schemeClr val="dk1"/>
                        </a:solidFill>
                        <a:effectLst/>
                        <a:latin typeface="+mn-lt"/>
                        <a:ea typeface="+mn-ea"/>
                        <a:cs typeface="+mn-cs"/>
                      </a:endParaRPr>
                    </a:p>
                  </a:txBody>
                  <a:tcPr marL="9525" marR="9525" marT="9525" marB="0" anchor="ctr">
                    <a:lnB w="12700" cap="flat" cmpd="sng" algn="ctr">
                      <a:solidFill>
                        <a:schemeClr val="tx1"/>
                      </a:solidFill>
                      <a:prstDash val="solid"/>
                      <a:round/>
                      <a:headEnd type="none" w="med" len="med"/>
                      <a:tailEnd type="none" w="med" len="med"/>
                    </a:lnB>
                  </a:tcPr>
                </a:tc>
                <a:tc hMerge="1">
                  <a:txBody>
                    <a:bodyPr/>
                    <a:lstStyle/>
                    <a:p>
                      <a:pPr algn="l" fontAlgn="ctr">
                        <a:buNone/>
                      </a:pPr>
                      <a:endParaRPr lang="zh-TW" altLang="en-US" sz="1400" b="0" kern="1200" dirty="0">
                        <a:solidFill>
                          <a:schemeClr val="dk1"/>
                        </a:solidFill>
                        <a:effectLst/>
                        <a:latin typeface="+mn-lt"/>
                        <a:ea typeface="+mn-ea"/>
                        <a:cs typeface="+mn-cs"/>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zh-TW" sz="1100" b="0" u="none" strike="noStrike" kern="1200" dirty="0">
                          <a:solidFill>
                            <a:schemeClr val="dk1"/>
                          </a:solidFill>
                          <a:effectLst/>
                          <a:latin typeface="+mn-lt"/>
                          <a:ea typeface="+mn-ea"/>
                          <a:cs typeface="+mn-cs"/>
                        </a:rPr>
                        <a:t>ft </a:t>
                      </a:r>
                      <a:r>
                        <a:rPr lang="en-US" altLang="zh-TW" sz="1100" b="0" u="none" strike="noStrike" kern="1200" dirty="0" err="1">
                          <a:solidFill>
                            <a:schemeClr val="dk1"/>
                          </a:solidFill>
                          <a:effectLst/>
                          <a:latin typeface="+mn-lt"/>
                          <a:ea typeface="+mn-ea"/>
                          <a:cs typeface="+mn-cs"/>
                        </a:rPr>
                        <a:t>fw</a:t>
                      </a:r>
                      <a:r>
                        <a:rPr lang="en-US" altLang="zh-TW" sz="1100" b="0" u="none" strike="noStrike" kern="1200" dirty="0">
                          <a:solidFill>
                            <a:schemeClr val="dk1"/>
                          </a:solidFill>
                          <a:effectLst/>
                          <a:latin typeface="+mn-lt"/>
                          <a:ea typeface="+mn-ea"/>
                          <a:cs typeface="+mn-cs"/>
                        </a:rPr>
                        <a:t> </a:t>
                      </a:r>
                      <a:r>
                        <a:rPr lang="en-US" altLang="zh-TW" sz="1100" b="0" u="none" strike="noStrike" kern="1200" dirty="0" err="1">
                          <a:solidFill>
                            <a:schemeClr val="dk1"/>
                          </a:solidFill>
                          <a:effectLst/>
                          <a:latin typeface="+mn-lt"/>
                          <a:ea typeface="+mn-ea"/>
                          <a:cs typeface="+mn-cs"/>
                        </a:rPr>
                        <a:t>ver</a:t>
                      </a:r>
                      <a:endParaRPr lang="en-US" altLang="zh-TW" sz="1100" b="0" u="none" strike="noStrike" kern="1200" dirty="0">
                        <a:solidFill>
                          <a:schemeClr val="dk1"/>
                        </a:solidFill>
                        <a:effectLst/>
                        <a:latin typeface="+mn-lt"/>
                        <a:ea typeface="+mn-ea"/>
                        <a:cs typeface="+mn-cs"/>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zh-TW" altLang="en-US" sz="1100" b="0" u="none" strike="noStrike" kern="1200" dirty="0">
                          <a:solidFill>
                            <a:srgbClr val="FF0000"/>
                          </a:solidFill>
                          <a:effectLst/>
                          <a:latin typeface="+mn-lt"/>
                          <a:ea typeface="+mn-ea"/>
                          <a:cs typeface="+mn-cs"/>
                        </a:rPr>
                        <a:t>當回應是亂碼才執行</a:t>
                      </a:r>
                      <a:endParaRPr lang="en-US" altLang="zh-TW" sz="1100" b="0" u="none" strike="noStrike" kern="1200" dirty="0">
                        <a:solidFill>
                          <a:srgbClr val="FF0000"/>
                        </a:solidFill>
                        <a:effectLst/>
                        <a:latin typeface="+mn-lt"/>
                        <a:ea typeface="+mn-ea"/>
                        <a:cs typeface="+mn-cs"/>
                      </a:endParaRPr>
                    </a:p>
                  </a:txBody>
                  <a:tcPr marL="9525" marR="9525" marT="9525"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76606790"/>
                  </a:ext>
                </a:extLst>
              </a:tr>
            </a:tbl>
          </a:graphicData>
        </a:graphic>
      </p:graphicFrame>
      <p:graphicFrame>
        <p:nvGraphicFramePr>
          <p:cNvPr id="2" name="表格 1">
            <a:extLst>
              <a:ext uri="{FF2B5EF4-FFF2-40B4-BE49-F238E27FC236}">
                <a16:creationId xmlns:a16="http://schemas.microsoft.com/office/drawing/2014/main" id="{4861E825-48BE-0A23-FB4F-49F6B143DDAC}"/>
              </a:ext>
            </a:extLst>
          </p:cNvPr>
          <p:cNvGraphicFramePr>
            <a:graphicFrameLocks noGrp="1"/>
          </p:cNvGraphicFramePr>
          <p:nvPr>
            <p:extLst>
              <p:ext uri="{D42A27DB-BD31-4B8C-83A1-F6EECF244321}">
                <p14:modId xmlns:p14="http://schemas.microsoft.com/office/powerpoint/2010/main" val="15896879"/>
              </p:ext>
            </p:extLst>
          </p:nvPr>
        </p:nvGraphicFramePr>
        <p:xfrm>
          <a:off x="1757987" y="4836625"/>
          <a:ext cx="7925732" cy="1031956"/>
        </p:xfrm>
        <a:graphic>
          <a:graphicData uri="http://schemas.openxmlformats.org/drawingml/2006/table">
            <a:tbl>
              <a:tblPr>
                <a:tableStyleId>{5C22544A-7EE6-4342-B048-85BDC9FD1C3A}</a:tableStyleId>
              </a:tblPr>
              <a:tblGrid>
                <a:gridCol w="1663693">
                  <a:extLst>
                    <a:ext uri="{9D8B030D-6E8A-4147-A177-3AD203B41FA5}">
                      <a16:colId xmlns:a16="http://schemas.microsoft.com/office/drawing/2014/main" val="3315535983"/>
                    </a:ext>
                  </a:extLst>
                </a:gridCol>
                <a:gridCol w="520400">
                  <a:extLst>
                    <a:ext uri="{9D8B030D-6E8A-4147-A177-3AD203B41FA5}">
                      <a16:colId xmlns:a16="http://schemas.microsoft.com/office/drawing/2014/main" val="2960066220"/>
                    </a:ext>
                  </a:extLst>
                </a:gridCol>
                <a:gridCol w="3353809">
                  <a:extLst>
                    <a:ext uri="{9D8B030D-6E8A-4147-A177-3AD203B41FA5}">
                      <a16:colId xmlns:a16="http://schemas.microsoft.com/office/drawing/2014/main" val="3319955928"/>
                    </a:ext>
                  </a:extLst>
                </a:gridCol>
                <a:gridCol w="2387830">
                  <a:extLst>
                    <a:ext uri="{9D8B030D-6E8A-4147-A177-3AD203B41FA5}">
                      <a16:colId xmlns:a16="http://schemas.microsoft.com/office/drawing/2014/main" val="163623680"/>
                    </a:ext>
                  </a:extLst>
                </a:gridCol>
              </a:tblGrid>
              <a:tr h="342346">
                <a:tc>
                  <a:txBody>
                    <a:bodyPr/>
                    <a:lstStyle/>
                    <a:p>
                      <a:pPr algn="ctr" fontAlgn="ctr">
                        <a:buNone/>
                      </a:pPr>
                      <a:r>
                        <a:rPr lang="en-US" sz="1100" b="1" u="none" strike="noStrike" dirty="0">
                          <a:effectLst/>
                        </a:rPr>
                        <a:t>Test</a:t>
                      </a:r>
                      <a:r>
                        <a:rPr lang="en-US" sz="1100" u="none" strike="noStrike" dirty="0">
                          <a:effectLst/>
                        </a:rPr>
                        <a:t> </a:t>
                      </a:r>
                      <a:r>
                        <a:rPr lang="en-US" sz="1100" b="1" u="none" strike="noStrike" dirty="0">
                          <a:effectLst/>
                        </a:rPr>
                        <a:t>item</a:t>
                      </a:r>
                      <a:endParaRPr lang="en-US" sz="1100" b="1"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ctr" fontAlgn="ctr">
                        <a:buNone/>
                      </a:pPr>
                      <a:r>
                        <a:rPr lang="zh-TW" altLang="en-US" sz="1100" u="none" strike="noStrike" dirty="0">
                          <a:effectLst/>
                        </a:rPr>
                        <a:t>　</a:t>
                      </a: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ctr" fontAlgn="ctr">
                        <a:buNone/>
                      </a:pPr>
                      <a:r>
                        <a:rPr lang="en-US" sz="1100" u="none" strike="noStrike" dirty="0">
                          <a:effectLst/>
                        </a:rPr>
                        <a:t> </a:t>
                      </a:r>
                      <a:r>
                        <a:rPr lang="en-US" altLang="zh-TW" sz="1100" b="1" u="none" strike="noStrike" dirty="0">
                          <a:effectLst/>
                        </a:rPr>
                        <a:t>cylinder</a:t>
                      </a:r>
                      <a:r>
                        <a:rPr lang="en-US" sz="1100" u="none" strike="noStrike" dirty="0">
                          <a:effectLst/>
                        </a:rPr>
                        <a:t> </a:t>
                      </a:r>
                      <a:r>
                        <a:rPr lang="en-US" sz="1100" b="1" u="none" strike="noStrike" dirty="0">
                          <a:effectLst/>
                        </a:rPr>
                        <a:t>command</a:t>
                      </a:r>
                      <a:endParaRPr lang="en-US" sz="1100" b="1" i="0" u="none" strike="noStrike" dirty="0">
                        <a:solidFill>
                          <a:srgbClr val="FF0000"/>
                        </a:solidFill>
                        <a:effectLst/>
                        <a:latin typeface="新細明體" panose="02020500000000000000" pitchFamily="18" charset="-120"/>
                        <a:ea typeface="新細明體" panose="02020500000000000000" pitchFamily="18" charset="-120"/>
                      </a:endParaRPr>
                    </a:p>
                  </a:txBody>
                  <a:tcPr marL="9525" marR="9525" marT="9525" marB="0"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l" fontAlgn="ctr">
                        <a:buNone/>
                      </a:pPr>
                      <a:r>
                        <a:rPr lang="en-US" altLang="zh-TW" sz="1100" b="1" kern="1200" dirty="0">
                          <a:solidFill>
                            <a:schemeClr val="tx1"/>
                          </a:solidFill>
                          <a:effectLst/>
                          <a:latin typeface="+mn-lt"/>
                          <a:ea typeface="+mn-ea"/>
                          <a:cs typeface="+mn-cs"/>
                        </a:rPr>
                        <a:t>Description</a:t>
                      </a: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6">
                        <a:lumMod val="40000"/>
                        <a:lumOff val="60000"/>
                      </a:schemeClr>
                    </a:solidFill>
                  </a:tcPr>
                </a:tc>
                <a:extLst>
                  <a:ext uri="{0D108BD9-81ED-4DB2-BD59-A6C34878D82A}">
                    <a16:rowId xmlns:a16="http://schemas.microsoft.com/office/drawing/2014/main" val="3824094486"/>
                  </a:ext>
                </a:extLst>
              </a:tr>
              <a:tr h="344805">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dirty="0" err="1"/>
                        <a:t>ResetDUT</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marL="0" algn="ctr" defTabSz="914400" rtl="0" eaLnBrk="1" fontAlgn="ctr" latinLnBrk="0" hangingPunct="1">
                        <a:buNone/>
                      </a:pPr>
                      <a:r>
                        <a:rPr lang="en-US" altLang="zh-TW" sz="1400" b="0" kern="1200" dirty="0">
                          <a:solidFill>
                            <a:schemeClr val="dk1"/>
                          </a:solidFill>
                          <a:effectLst/>
                          <a:latin typeface="+mn-lt"/>
                          <a:ea typeface="+mn-ea"/>
                          <a:cs typeface="+mn-cs"/>
                        </a:rPr>
                        <a:t>1</a:t>
                      </a:r>
                    </a:p>
                  </a:txBody>
                  <a:tcPr marL="9525" marR="9525" marT="9525" marB="0" anchor="ctr"/>
                </a:tc>
                <a:tc>
                  <a:txBody>
                    <a:bodyPr/>
                    <a:lstStyle/>
                    <a:p>
                      <a:r>
                        <a:rPr lang="en-US" altLang="zh-TW" sz="1100" b="0" u="none" strike="noStrike" kern="1200" dirty="0">
                          <a:solidFill>
                            <a:schemeClr val="dk1"/>
                          </a:solidFill>
                          <a:effectLst/>
                          <a:latin typeface="+mn-lt"/>
                          <a:ea typeface="+mn-ea"/>
                          <a:cs typeface="+mn-cs"/>
                        </a:rPr>
                        <a:t>cylinder2 back</a:t>
                      </a:r>
                    </a:p>
                  </a:txBody>
                  <a:tcPr marL="9525" marR="9525" marT="9525" marB="0" anchor="ctr"/>
                </a:tc>
                <a:tc>
                  <a:txBody>
                    <a:bodyPr/>
                    <a:lstStyle/>
                    <a:p>
                      <a:pPr algn="l" fontAlgn="ctr">
                        <a:buNone/>
                      </a:pPr>
                      <a:r>
                        <a:rPr lang="en-US" sz="1100" b="0" u="none" strike="noStrike" kern="1200" dirty="0">
                          <a:solidFill>
                            <a:schemeClr val="dk1"/>
                          </a:solidFill>
                          <a:effectLst/>
                          <a:latin typeface="+mn-lt"/>
                          <a:ea typeface="+mn-ea"/>
                          <a:cs typeface="+mn-cs"/>
                        </a:rPr>
                        <a:t>Type-C</a:t>
                      </a:r>
                      <a:r>
                        <a:rPr lang="zh-TW" altLang="en-US" sz="1100" b="0" u="none" strike="noStrike" kern="1200" dirty="0">
                          <a:solidFill>
                            <a:schemeClr val="dk1"/>
                          </a:solidFill>
                          <a:effectLst/>
                          <a:latin typeface="+mn-lt"/>
                          <a:ea typeface="+mn-ea"/>
                          <a:cs typeface="+mn-cs"/>
                        </a:rPr>
                        <a:t>汽缸復位</a:t>
                      </a:r>
                    </a:p>
                  </a:txBody>
                  <a:tcPr marL="6881" marR="6881" marT="6881"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884187575"/>
                  </a:ext>
                </a:extLst>
              </a:tr>
              <a:tr h="344805">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TW" sz="1200" b="0" i="0" u="none" strike="noStrike" dirty="0">
                        <a:solidFill>
                          <a:srgbClr val="000000"/>
                        </a:solidFill>
                        <a:effectLst/>
                        <a:latin typeface="新細明體" panose="02020500000000000000" pitchFamily="18" charset="-120"/>
                        <a:ea typeface="新細明體" panose="02020500000000000000" pitchFamily="18" charset="-120"/>
                      </a:endParaRP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marL="0" algn="ctr" defTabSz="914400" rtl="0" eaLnBrk="1" fontAlgn="ctr" latinLnBrk="0" hangingPunct="1">
                        <a:buNone/>
                      </a:pPr>
                      <a:r>
                        <a:rPr lang="en-US" altLang="zh-TW" sz="1400" b="0" kern="1200" dirty="0">
                          <a:solidFill>
                            <a:schemeClr val="dk1"/>
                          </a:solidFill>
                          <a:effectLst/>
                          <a:latin typeface="+mn-lt"/>
                          <a:ea typeface="+mn-ea"/>
                          <a:cs typeface="+mn-cs"/>
                        </a:rPr>
                        <a:t>2</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100" b="0" u="none" strike="noStrike" kern="1200" dirty="0">
                          <a:solidFill>
                            <a:schemeClr val="dk1"/>
                          </a:solidFill>
                          <a:effectLst/>
                          <a:latin typeface="+mn-lt"/>
                          <a:ea typeface="+mn-ea"/>
                          <a:cs typeface="+mn-cs"/>
                        </a:rPr>
                        <a:t>cylinder2 front</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l" fontAlgn="ctr">
                        <a:buNone/>
                      </a:pPr>
                      <a:r>
                        <a:rPr lang="en-US" sz="1100" b="0" u="none" strike="noStrike" kern="1200" dirty="0">
                          <a:solidFill>
                            <a:schemeClr val="dk1"/>
                          </a:solidFill>
                          <a:effectLst/>
                          <a:latin typeface="+mn-lt"/>
                          <a:ea typeface="+mn-ea"/>
                          <a:cs typeface="+mn-cs"/>
                        </a:rPr>
                        <a:t>Type-C</a:t>
                      </a:r>
                      <a:r>
                        <a:rPr lang="zh-TW" altLang="en-US" sz="1100" b="0" u="none" strike="noStrike" kern="1200" dirty="0">
                          <a:solidFill>
                            <a:schemeClr val="dk1"/>
                          </a:solidFill>
                          <a:effectLst/>
                          <a:latin typeface="+mn-lt"/>
                          <a:ea typeface="+mn-ea"/>
                          <a:cs typeface="+mn-cs"/>
                        </a:rPr>
                        <a:t>汽缸動作</a:t>
                      </a:r>
                    </a:p>
                  </a:txBody>
                  <a:tcPr marL="6881" marR="6881" marT="6881"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06423193"/>
                  </a:ext>
                </a:extLst>
              </a:tr>
            </a:tbl>
          </a:graphicData>
        </a:graphic>
      </p:graphicFrame>
      <p:cxnSp>
        <p:nvCxnSpPr>
          <p:cNvPr id="7" name="直線箭頭接點 6">
            <a:extLst>
              <a:ext uri="{FF2B5EF4-FFF2-40B4-BE49-F238E27FC236}">
                <a16:creationId xmlns:a16="http://schemas.microsoft.com/office/drawing/2014/main" id="{6D234D0F-4AC9-6070-753F-DAD078E8FCD6}"/>
              </a:ext>
            </a:extLst>
          </p:cNvPr>
          <p:cNvCxnSpPr>
            <a:cxnSpLocks/>
          </p:cNvCxnSpPr>
          <p:nvPr/>
        </p:nvCxnSpPr>
        <p:spPr>
          <a:xfrm>
            <a:off x="5720853" y="4174324"/>
            <a:ext cx="0" cy="66230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文字方塊 7">
            <a:extLst>
              <a:ext uri="{FF2B5EF4-FFF2-40B4-BE49-F238E27FC236}">
                <a16:creationId xmlns:a16="http://schemas.microsoft.com/office/drawing/2014/main" id="{E5439A0D-77C1-DA4E-9817-BCFFAEAEC09C}"/>
              </a:ext>
            </a:extLst>
          </p:cNvPr>
          <p:cNvSpPr txBox="1"/>
          <p:nvPr/>
        </p:nvSpPr>
        <p:spPr>
          <a:xfrm>
            <a:off x="4910374" y="6179212"/>
            <a:ext cx="1685077" cy="369332"/>
          </a:xfrm>
          <a:prstGeom prst="rect">
            <a:avLst/>
          </a:prstGeom>
          <a:noFill/>
        </p:spPr>
        <p:txBody>
          <a:bodyPr wrap="none" rtlCol="0">
            <a:spAutoFit/>
          </a:bodyPr>
          <a:lstStyle/>
          <a:p>
            <a:r>
              <a:rPr kumimoji="1" lang="en-US" altLang="zh-TW" dirty="0"/>
              <a:t>Retry</a:t>
            </a:r>
            <a:r>
              <a:rPr kumimoji="1" lang="zh-TW" altLang="en-US" dirty="0"/>
              <a:t> 最多 </a:t>
            </a:r>
            <a:r>
              <a:rPr kumimoji="1" lang="en-US" altLang="zh-TW" dirty="0"/>
              <a:t>3</a:t>
            </a:r>
            <a:r>
              <a:rPr kumimoji="1" lang="zh-TW" altLang="en-US" dirty="0"/>
              <a:t>次</a:t>
            </a:r>
          </a:p>
        </p:txBody>
      </p:sp>
      <p:cxnSp>
        <p:nvCxnSpPr>
          <p:cNvPr id="10" name="肘形接點 9">
            <a:extLst>
              <a:ext uri="{FF2B5EF4-FFF2-40B4-BE49-F238E27FC236}">
                <a16:creationId xmlns:a16="http://schemas.microsoft.com/office/drawing/2014/main" id="{C0812998-278C-9BBA-21C3-7BEC38808C4F}"/>
              </a:ext>
            </a:extLst>
          </p:cNvPr>
          <p:cNvCxnSpPr>
            <a:cxnSpLocks/>
            <a:stCxn id="2" idx="2"/>
            <a:endCxn id="5" idx="1"/>
          </p:cNvCxnSpPr>
          <p:nvPr/>
        </p:nvCxnSpPr>
        <p:spPr>
          <a:xfrm rot="5400000" flipH="1">
            <a:off x="1997640" y="2145369"/>
            <a:ext cx="2419643" cy="5026783"/>
          </a:xfrm>
          <a:prstGeom prst="bentConnector4">
            <a:avLst>
              <a:gd name="adj1" fmla="val -9448"/>
              <a:gd name="adj2" fmla="val 104548"/>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文字方塊 18">
            <a:extLst>
              <a:ext uri="{FF2B5EF4-FFF2-40B4-BE49-F238E27FC236}">
                <a16:creationId xmlns:a16="http://schemas.microsoft.com/office/drawing/2014/main" id="{3E973828-1E87-8D7D-6FAE-6C4518D1F92B}"/>
              </a:ext>
            </a:extLst>
          </p:cNvPr>
          <p:cNvSpPr txBox="1"/>
          <p:nvPr/>
        </p:nvSpPr>
        <p:spPr>
          <a:xfrm>
            <a:off x="5943600" y="4275385"/>
            <a:ext cx="2954655" cy="369332"/>
          </a:xfrm>
          <a:prstGeom prst="rect">
            <a:avLst/>
          </a:prstGeom>
          <a:noFill/>
        </p:spPr>
        <p:txBody>
          <a:bodyPr wrap="none" rtlCol="0">
            <a:spAutoFit/>
          </a:bodyPr>
          <a:lstStyle/>
          <a:p>
            <a:r>
              <a:rPr kumimoji="1" lang="zh-TW" altLang="en-US" dirty="0"/>
              <a:t>若連接失敗，執行以下指令</a:t>
            </a:r>
          </a:p>
        </p:txBody>
      </p:sp>
    </p:spTree>
    <p:extLst>
      <p:ext uri="{BB962C8B-B14F-4D97-AF65-F5344CB8AC3E}">
        <p14:creationId xmlns:p14="http://schemas.microsoft.com/office/powerpoint/2010/main" val="3451059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C2D815-8427-06BB-2C74-0D1BF7D611FA}"/>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F7541BD0-2792-2E8F-2948-C85B097FCBD8}"/>
              </a:ext>
            </a:extLst>
          </p:cNvPr>
          <p:cNvSpPr>
            <a:spLocks noGrp="1"/>
          </p:cNvSpPr>
          <p:nvPr>
            <p:ph type="body" sz="quarter" idx="13"/>
          </p:nvPr>
        </p:nvSpPr>
        <p:spPr/>
        <p:txBody>
          <a:bodyPr/>
          <a:lstStyle/>
          <a:p>
            <a:r>
              <a:rPr lang="en-US" dirty="0"/>
              <a:t>Terminology  </a:t>
            </a:r>
          </a:p>
          <a:p>
            <a:endParaRPr lang="en-US" dirty="0"/>
          </a:p>
        </p:txBody>
      </p:sp>
      <p:sp>
        <p:nvSpPr>
          <p:cNvPr id="6" name="文字方塊 5">
            <a:extLst>
              <a:ext uri="{FF2B5EF4-FFF2-40B4-BE49-F238E27FC236}">
                <a16:creationId xmlns:a16="http://schemas.microsoft.com/office/drawing/2014/main" id="{BCDE9387-5725-5610-5C2E-2BB08B94B213}"/>
              </a:ext>
            </a:extLst>
          </p:cNvPr>
          <p:cNvSpPr txBox="1"/>
          <p:nvPr/>
        </p:nvSpPr>
        <p:spPr>
          <a:xfrm>
            <a:off x="571500" y="938449"/>
            <a:ext cx="9872980" cy="1785104"/>
          </a:xfrm>
          <a:prstGeom prst="rect">
            <a:avLst/>
          </a:prstGeom>
          <a:noFill/>
        </p:spPr>
        <p:txBody>
          <a:bodyPr wrap="square">
            <a:spAutoFit/>
          </a:bodyPr>
          <a:lstStyle/>
          <a:p>
            <a:pPr>
              <a:lnSpc>
                <a:spcPct val="150000"/>
              </a:lnSpc>
              <a:defRPr/>
            </a:pPr>
            <a:r>
              <a:rPr lang="en-US" altLang="zh-TW" sz="2000" b="1" dirty="0" err="1"/>
              <a:t>CleanDUTPort</a:t>
            </a:r>
            <a:r>
              <a:rPr lang="zh-TW" altLang="en-US" sz="2000" b="1" kern="1200" dirty="0">
                <a:solidFill>
                  <a:schemeClr val="tx1"/>
                </a:solidFill>
                <a:effectLst/>
                <a:latin typeface="+mn-lt"/>
                <a:ea typeface="+mn-ea"/>
                <a:cs typeface="+mn-cs"/>
              </a:rPr>
              <a:t>：</a:t>
            </a:r>
            <a:endParaRPr lang="en-US" altLang="zh-TW" sz="2000" b="1" kern="1200" dirty="0">
              <a:solidFill>
                <a:schemeClr val="tx1"/>
              </a:solidFill>
              <a:effectLst/>
              <a:latin typeface="+mn-lt"/>
              <a:ea typeface="+mn-ea"/>
              <a:cs typeface="+mn-cs"/>
            </a:endParaRPr>
          </a:p>
          <a:p>
            <a:pPr marL="800100" lvl="1" indent="-342900">
              <a:lnSpc>
                <a:spcPct val="150000"/>
              </a:lnSpc>
              <a:buFont typeface="Arial" panose="020B0604020202020204" pitchFamily="34" charset="0"/>
              <a:buChar char="•"/>
              <a:defRPr/>
            </a:pPr>
            <a:r>
              <a:rPr lang="en-US" altLang="zh-TW" sz="2000" dirty="0"/>
              <a:t>Use UART to send a command and verify the DUT port communication</a:t>
            </a:r>
          </a:p>
          <a:p>
            <a:pPr>
              <a:lnSpc>
                <a:spcPct val="150000"/>
              </a:lnSpc>
              <a:defRPr/>
            </a:pPr>
            <a:r>
              <a:rPr lang="en-US" altLang="zh-TW" sz="2000" b="1" dirty="0"/>
              <a:t>Command</a:t>
            </a:r>
            <a:r>
              <a:rPr lang="zh-TW" altLang="en-US" sz="2000" b="1" dirty="0"/>
              <a:t>：</a:t>
            </a:r>
            <a:endParaRPr lang="en-US" altLang="zh-TW" sz="2000" b="1" dirty="0"/>
          </a:p>
          <a:p>
            <a:pPr marL="800100" lvl="1" indent="-342900">
              <a:buFont typeface="Arial" panose="020B0604020202020204" pitchFamily="34" charset="0"/>
              <a:buChar char="•"/>
              <a:defRPr/>
            </a:pPr>
            <a:endParaRPr lang="en-US" altLang="zh-TW" sz="2000" b="1" kern="1200" dirty="0">
              <a:solidFill>
                <a:schemeClr val="tx1"/>
              </a:solidFill>
              <a:effectLst/>
              <a:latin typeface="+mn-lt"/>
              <a:ea typeface="+mn-ea"/>
              <a:cs typeface="+mn-cs"/>
            </a:endParaRPr>
          </a:p>
        </p:txBody>
      </p:sp>
      <p:graphicFrame>
        <p:nvGraphicFramePr>
          <p:cNvPr id="5" name="表格 4">
            <a:extLst>
              <a:ext uri="{FF2B5EF4-FFF2-40B4-BE49-F238E27FC236}">
                <a16:creationId xmlns:a16="http://schemas.microsoft.com/office/drawing/2014/main" id="{2ABD1400-5B68-8A20-746B-8CA189D7BEAD}"/>
              </a:ext>
            </a:extLst>
          </p:cNvPr>
          <p:cNvGraphicFramePr>
            <a:graphicFrameLocks noGrp="1"/>
          </p:cNvGraphicFramePr>
          <p:nvPr>
            <p:extLst>
              <p:ext uri="{D42A27DB-BD31-4B8C-83A1-F6EECF244321}">
                <p14:modId xmlns:p14="http://schemas.microsoft.com/office/powerpoint/2010/main" val="3590564087"/>
              </p:ext>
            </p:extLst>
          </p:nvPr>
        </p:nvGraphicFramePr>
        <p:xfrm>
          <a:off x="1117907" y="2520001"/>
          <a:ext cx="7925732" cy="689610"/>
        </p:xfrm>
        <a:graphic>
          <a:graphicData uri="http://schemas.openxmlformats.org/drawingml/2006/table">
            <a:tbl>
              <a:tblPr>
                <a:tableStyleId>{5C22544A-7EE6-4342-B048-85BDC9FD1C3A}</a:tableStyleId>
              </a:tblPr>
              <a:tblGrid>
                <a:gridCol w="1663693">
                  <a:extLst>
                    <a:ext uri="{9D8B030D-6E8A-4147-A177-3AD203B41FA5}">
                      <a16:colId xmlns:a16="http://schemas.microsoft.com/office/drawing/2014/main" val="3315535983"/>
                    </a:ext>
                  </a:extLst>
                </a:gridCol>
                <a:gridCol w="683682">
                  <a:extLst>
                    <a:ext uri="{9D8B030D-6E8A-4147-A177-3AD203B41FA5}">
                      <a16:colId xmlns:a16="http://schemas.microsoft.com/office/drawing/2014/main" val="2960066220"/>
                    </a:ext>
                  </a:extLst>
                </a:gridCol>
                <a:gridCol w="3190527">
                  <a:extLst>
                    <a:ext uri="{9D8B030D-6E8A-4147-A177-3AD203B41FA5}">
                      <a16:colId xmlns:a16="http://schemas.microsoft.com/office/drawing/2014/main" val="3319955928"/>
                    </a:ext>
                  </a:extLst>
                </a:gridCol>
                <a:gridCol w="2387830">
                  <a:extLst>
                    <a:ext uri="{9D8B030D-6E8A-4147-A177-3AD203B41FA5}">
                      <a16:colId xmlns:a16="http://schemas.microsoft.com/office/drawing/2014/main" val="163623680"/>
                    </a:ext>
                  </a:extLst>
                </a:gridCol>
              </a:tblGrid>
              <a:tr h="344805">
                <a:tc>
                  <a:txBody>
                    <a:bodyPr/>
                    <a:lstStyle/>
                    <a:p>
                      <a:pPr algn="ctr" fontAlgn="ctr">
                        <a:buNone/>
                      </a:pPr>
                      <a:r>
                        <a:rPr lang="en-US" sz="1100" b="1" u="none" strike="noStrike" dirty="0">
                          <a:effectLst/>
                        </a:rPr>
                        <a:t>Test</a:t>
                      </a:r>
                      <a:r>
                        <a:rPr lang="en-US" sz="1100" u="none" strike="noStrike" dirty="0">
                          <a:effectLst/>
                        </a:rPr>
                        <a:t> </a:t>
                      </a:r>
                      <a:r>
                        <a:rPr lang="en-US" sz="1100" b="1" u="none" strike="noStrike" dirty="0">
                          <a:effectLst/>
                        </a:rPr>
                        <a:t>item</a:t>
                      </a:r>
                      <a:endParaRPr lang="en-US" sz="1100" b="1"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ctr" fontAlgn="ctr">
                        <a:buNone/>
                      </a:pPr>
                      <a:r>
                        <a:rPr lang="zh-TW" altLang="en-US" sz="1100" u="none" strike="noStrike" dirty="0">
                          <a:effectLst/>
                        </a:rPr>
                        <a:t>　</a:t>
                      </a: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ctr" fontAlgn="ctr">
                        <a:buNone/>
                      </a:pPr>
                      <a:r>
                        <a:rPr lang="en-US" sz="1100" b="1" u="none" strike="noStrike" dirty="0">
                          <a:effectLst/>
                        </a:rPr>
                        <a:t>DUT</a:t>
                      </a:r>
                      <a:r>
                        <a:rPr lang="en-US" sz="1100" u="none" strike="noStrike" dirty="0">
                          <a:effectLst/>
                        </a:rPr>
                        <a:t>  </a:t>
                      </a:r>
                      <a:r>
                        <a:rPr lang="en-US" sz="1100" b="1" u="none" strike="noStrike" dirty="0">
                          <a:effectLst/>
                        </a:rPr>
                        <a:t>command</a:t>
                      </a:r>
                      <a:endParaRPr lang="en-US" sz="1100" b="1" i="0" u="none" strike="noStrike" dirty="0">
                        <a:solidFill>
                          <a:srgbClr val="FF0000"/>
                        </a:solidFill>
                        <a:effectLst/>
                        <a:latin typeface="新細明體" panose="02020500000000000000" pitchFamily="18" charset="-120"/>
                        <a:ea typeface="新細明體" panose="02020500000000000000" pitchFamily="18" charset="-120"/>
                      </a:endParaRPr>
                    </a:p>
                  </a:txBody>
                  <a:tcPr marL="9525" marR="9525" marT="9525" marB="0"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l" fontAlgn="ctr">
                        <a:buNone/>
                      </a:pPr>
                      <a:r>
                        <a:rPr lang="en-US" altLang="zh-TW" sz="1100" b="1" kern="1200" dirty="0">
                          <a:solidFill>
                            <a:schemeClr val="tx1"/>
                          </a:solidFill>
                          <a:effectLst/>
                          <a:latin typeface="+mn-lt"/>
                          <a:ea typeface="+mn-ea"/>
                          <a:cs typeface="+mn-cs"/>
                        </a:rPr>
                        <a:t>Description</a:t>
                      </a: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6">
                        <a:lumMod val="40000"/>
                        <a:lumOff val="60000"/>
                      </a:schemeClr>
                    </a:solidFill>
                  </a:tcPr>
                </a:tc>
                <a:extLst>
                  <a:ext uri="{0D108BD9-81ED-4DB2-BD59-A6C34878D82A}">
                    <a16:rowId xmlns:a16="http://schemas.microsoft.com/office/drawing/2014/main" val="3824094486"/>
                  </a:ext>
                </a:extLst>
              </a:tr>
              <a:tr h="34480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dirty="0" err="1"/>
                        <a:t>CleanDUTPort</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marL="0" algn="ctr" defTabSz="914400" rtl="0" eaLnBrk="1" fontAlgn="ctr" latinLnBrk="0" hangingPunct="1">
                        <a:buNone/>
                      </a:pPr>
                      <a:r>
                        <a:rPr lang="en-US" altLang="zh-TW" sz="1100" b="0" u="none" strike="noStrike" kern="1200" dirty="0">
                          <a:solidFill>
                            <a:schemeClr val="dk1"/>
                          </a:solidFill>
                          <a:effectLst/>
                          <a:latin typeface="+mn-lt"/>
                          <a:ea typeface="+mn-ea"/>
                          <a:cs typeface="+mn-cs"/>
                        </a:rPr>
                        <a:t>1</a:t>
                      </a:r>
                    </a:p>
                  </a:txBody>
                  <a:tcPr marL="9525" marR="9525" marT="9525" marB="0" anchor="ctr">
                    <a:lnB w="12700" cap="flat" cmpd="sng" algn="ctr">
                      <a:solidFill>
                        <a:schemeClr val="tx1"/>
                      </a:solidFill>
                      <a:prstDash val="solid"/>
                      <a:round/>
                      <a:headEnd type="none" w="med" len="med"/>
                      <a:tailEnd type="none" w="med" len="med"/>
                    </a:lnB>
                  </a:tcPr>
                </a:tc>
                <a:tc>
                  <a:txBody>
                    <a:bodyPr/>
                    <a:lstStyle/>
                    <a:p>
                      <a:r>
                        <a:rPr lang="en-US" altLang="zh-TW" sz="1100" b="0" i="0" u="none" strike="noStrike" kern="1200" dirty="0">
                          <a:solidFill>
                            <a:schemeClr val="tx1"/>
                          </a:solidFill>
                          <a:effectLst/>
                          <a:latin typeface="+mn-lt"/>
                          <a:ea typeface="+mn-ea"/>
                          <a:cs typeface="+mn-cs"/>
                        </a:rPr>
                        <a:t>ft </a:t>
                      </a:r>
                      <a:r>
                        <a:rPr lang="en-US" altLang="zh-TW" sz="1100" b="0" i="0" u="none" strike="noStrike" kern="1200" dirty="0" err="1">
                          <a:solidFill>
                            <a:schemeClr val="tx1"/>
                          </a:solidFill>
                          <a:effectLst/>
                          <a:latin typeface="+mn-lt"/>
                          <a:ea typeface="+mn-ea"/>
                          <a:cs typeface="+mn-cs"/>
                        </a:rPr>
                        <a:t>fw</a:t>
                      </a:r>
                      <a:r>
                        <a:rPr lang="en-US" altLang="zh-TW" sz="1100" b="0" i="0" u="none" strike="noStrike" kern="1200" dirty="0">
                          <a:solidFill>
                            <a:schemeClr val="tx1"/>
                          </a:solidFill>
                          <a:effectLst/>
                          <a:latin typeface="+mn-lt"/>
                          <a:ea typeface="+mn-ea"/>
                          <a:cs typeface="+mn-cs"/>
                        </a:rPr>
                        <a:t> </a:t>
                      </a:r>
                      <a:r>
                        <a:rPr lang="en-US" altLang="zh-TW" sz="1100" b="0" i="0" u="none" strike="noStrike" kern="1200" dirty="0" err="1">
                          <a:solidFill>
                            <a:schemeClr val="tx1"/>
                          </a:solidFill>
                          <a:effectLst/>
                          <a:latin typeface="+mn-lt"/>
                          <a:ea typeface="+mn-ea"/>
                          <a:cs typeface="+mn-cs"/>
                        </a:rPr>
                        <a:t>ver</a:t>
                      </a:r>
                      <a:endParaRPr lang="en-US" altLang="zh-TW" sz="1100" b="0" i="0" u="none" strike="noStrike" kern="1200" dirty="0">
                        <a:solidFill>
                          <a:schemeClr val="tx1"/>
                        </a:solidFill>
                        <a:effectLst/>
                        <a:latin typeface="+mn-lt"/>
                        <a:ea typeface="+mn-ea"/>
                        <a:cs typeface="+mn-cs"/>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rtl="0" eaLnBrk="1" fontAlgn="auto" latinLnBrk="0" hangingPunct="1">
                        <a:lnSpc>
                          <a:spcPct val="150000"/>
                        </a:lnSpc>
                      </a:pPr>
                      <a:r>
                        <a:rPr lang="zh-TW" altLang="en-US" sz="1100" b="0" i="0" u="none" strike="noStrike" kern="1200" dirty="0">
                          <a:solidFill>
                            <a:schemeClr val="tx1"/>
                          </a:solidFill>
                          <a:effectLst/>
                          <a:latin typeface="+mn-lt"/>
                          <a:ea typeface="+mn-ea"/>
                          <a:cs typeface="+mn-cs"/>
                        </a:rPr>
                        <a:t>透過回傳，確保連線是正常的</a:t>
                      </a:r>
                      <a:endParaRPr lang="zh-TW" altLang="zh-TW" sz="1100" b="0" i="0" u="none" strike="noStrike" kern="1200" dirty="0">
                        <a:solidFill>
                          <a:schemeClr val="tx1"/>
                        </a:solidFill>
                        <a:effectLst/>
                        <a:latin typeface="+mn-lt"/>
                        <a:ea typeface="+mn-ea"/>
                        <a:cs typeface="+mn-cs"/>
                      </a:endParaRPr>
                    </a:p>
                  </a:txBody>
                  <a:tcPr marL="9525" marR="9525" marT="9525"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84187575"/>
                  </a:ext>
                </a:extLst>
              </a:tr>
            </a:tbl>
          </a:graphicData>
        </a:graphic>
      </p:graphicFrame>
    </p:spTree>
    <p:extLst>
      <p:ext uri="{BB962C8B-B14F-4D97-AF65-F5344CB8AC3E}">
        <p14:creationId xmlns:p14="http://schemas.microsoft.com/office/powerpoint/2010/main" val="2218246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3EAA50-13C1-5075-0DF9-E226F1B1B23A}"/>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9307F630-A312-54B2-DF32-2F37A17C7587}"/>
              </a:ext>
            </a:extLst>
          </p:cNvPr>
          <p:cNvSpPr>
            <a:spLocks noGrp="1"/>
          </p:cNvSpPr>
          <p:nvPr>
            <p:ph type="body" sz="quarter" idx="13"/>
          </p:nvPr>
        </p:nvSpPr>
        <p:spPr/>
        <p:txBody>
          <a:bodyPr/>
          <a:lstStyle/>
          <a:p>
            <a:r>
              <a:rPr lang="en-US" dirty="0"/>
              <a:t>Terminology  </a:t>
            </a:r>
          </a:p>
          <a:p>
            <a:endParaRPr lang="en-US" dirty="0"/>
          </a:p>
        </p:txBody>
      </p:sp>
      <p:sp>
        <p:nvSpPr>
          <p:cNvPr id="6" name="文字方塊 5">
            <a:extLst>
              <a:ext uri="{FF2B5EF4-FFF2-40B4-BE49-F238E27FC236}">
                <a16:creationId xmlns:a16="http://schemas.microsoft.com/office/drawing/2014/main" id="{7FF48F8C-2050-3131-0D87-206C73CF97DE}"/>
              </a:ext>
            </a:extLst>
          </p:cNvPr>
          <p:cNvSpPr txBox="1"/>
          <p:nvPr/>
        </p:nvSpPr>
        <p:spPr>
          <a:xfrm>
            <a:off x="571500" y="938449"/>
            <a:ext cx="8886825" cy="1785104"/>
          </a:xfrm>
          <a:prstGeom prst="rect">
            <a:avLst/>
          </a:prstGeom>
          <a:noFill/>
        </p:spPr>
        <p:txBody>
          <a:bodyPr wrap="square">
            <a:spAutoFit/>
          </a:bodyPr>
          <a:lstStyle/>
          <a:p>
            <a:pPr lvl="0">
              <a:lnSpc>
                <a:spcPct val="150000"/>
              </a:lnSpc>
              <a:defRPr/>
            </a:pPr>
            <a:r>
              <a:rPr lang="en-US" altLang="zh-TW" sz="2000" b="1" dirty="0" err="1"/>
              <a:t>Bootmode</a:t>
            </a:r>
            <a:r>
              <a:rPr lang="zh-TW" altLang="en-US" sz="2000" b="1" kern="1200" dirty="0">
                <a:solidFill>
                  <a:schemeClr val="tx1"/>
                </a:solidFill>
                <a:effectLst/>
                <a:latin typeface="+mn-lt"/>
                <a:ea typeface="+mn-ea"/>
                <a:cs typeface="+mn-cs"/>
              </a:rPr>
              <a:t>：</a:t>
            </a:r>
            <a:endParaRPr lang="en-US" altLang="zh-TW" sz="2000" b="1" kern="1200" dirty="0">
              <a:solidFill>
                <a:schemeClr val="tx1"/>
              </a:solidFill>
              <a:effectLst/>
              <a:latin typeface="+mn-lt"/>
              <a:ea typeface="+mn-ea"/>
              <a:cs typeface="+mn-cs"/>
            </a:endParaRPr>
          </a:p>
          <a:p>
            <a:pPr marL="800100" lvl="1" indent="-342900">
              <a:lnSpc>
                <a:spcPct val="150000"/>
              </a:lnSpc>
              <a:buFont typeface="Arial" panose="020B0604020202020204" pitchFamily="34" charset="0"/>
              <a:buChar char="•"/>
              <a:defRPr/>
            </a:pPr>
            <a:r>
              <a:rPr lang="en-US" altLang="zh-TW" sz="2000" dirty="0"/>
              <a:t>Set the </a:t>
            </a:r>
            <a:r>
              <a:rPr lang="en-US" altLang="zh-TW" sz="2000" dirty="0" err="1"/>
              <a:t>Bootmode</a:t>
            </a:r>
            <a:r>
              <a:rPr lang="en-US" altLang="zh-TW" sz="2000" dirty="0"/>
              <a:t> 2 to facilitate subsequent testing</a:t>
            </a:r>
          </a:p>
          <a:p>
            <a:pPr>
              <a:lnSpc>
                <a:spcPct val="150000"/>
              </a:lnSpc>
              <a:defRPr/>
            </a:pPr>
            <a:r>
              <a:rPr lang="en-US" altLang="zh-TW" sz="2000" b="1" dirty="0"/>
              <a:t>Command</a:t>
            </a:r>
            <a:r>
              <a:rPr lang="zh-TW" altLang="en-US" sz="2000" b="1" dirty="0"/>
              <a:t>：</a:t>
            </a:r>
            <a:endParaRPr lang="en-US" altLang="zh-TW" sz="2000" b="1" dirty="0"/>
          </a:p>
          <a:p>
            <a:pPr marL="800100" lvl="1" indent="-342900">
              <a:buFont typeface="Arial" panose="020B0604020202020204" pitchFamily="34" charset="0"/>
              <a:buChar char="•"/>
              <a:defRPr/>
            </a:pPr>
            <a:endParaRPr lang="en-US" altLang="zh-TW" sz="2000" b="1" kern="1200" dirty="0">
              <a:solidFill>
                <a:schemeClr val="tx1"/>
              </a:solidFill>
              <a:effectLst/>
              <a:latin typeface="+mn-lt"/>
              <a:ea typeface="+mn-ea"/>
              <a:cs typeface="+mn-cs"/>
            </a:endParaRPr>
          </a:p>
        </p:txBody>
      </p:sp>
      <p:graphicFrame>
        <p:nvGraphicFramePr>
          <p:cNvPr id="5" name="表格 4">
            <a:extLst>
              <a:ext uri="{FF2B5EF4-FFF2-40B4-BE49-F238E27FC236}">
                <a16:creationId xmlns:a16="http://schemas.microsoft.com/office/drawing/2014/main" id="{C59202F7-691B-30E9-4D1B-6428FD939EB0}"/>
              </a:ext>
            </a:extLst>
          </p:cNvPr>
          <p:cNvGraphicFramePr>
            <a:graphicFrameLocks noGrp="1"/>
          </p:cNvGraphicFramePr>
          <p:nvPr/>
        </p:nvGraphicFramePr>
        <p:xfrm>
          <a:off x="1117907" y="2520001"/>
          <a:ext cx="7925732" cy="1034415"/>
        </p:xfrm>
        <a:graphic>
          <a:graphicData uri="http://schemas.openxmlformats.org/drawingml/2006/table">
            <a:tbl>
              <a:tblPr>
                <a:tableStyleId>{5C22544A-7EE6-4342-B048-85BDC9FD1C3A}</a:tableStyleId>
              </a:tblPr>
              <a:tblGrid>
                <a:gridCol w="1663693">
                  <a:extLst>
                    <a:ext uri="{9D8B030D-6E8A-4147-A177-3AD203B41FA5}">
                      <a16:colId xmlns:a16="http://schemas.microsoft.com/office/drawing/2014/main" val="3315535983"/>
                    </a:ext>
                  </a:extLst>
                </a:gridCol>
                <a:gridCol w="683682">
                  <a:extLst>
                    <a:ext uri="{9D8B030D-6E8A-4147-A177-3AD203B41FA5}">
                      <a16:colId xmlns:a16="http://schemas.microsoft.com/office/drawing/2014/main" val="2960066220"/>
                    </a:ext>
                  </a:extLst>
                </a:gridCol>
                <a:gridCol w="3190527">
                  <a:extLst>
                    <a:ext uri="{9D8B030D-6E8A-4147-A177-3AD203B41FA5}">
                      <a16:colId xmlns:a16="http://schemas.microsoft.com/office/drawing/2014/main" val="3319955928"/>
                    </a:ext>
                  </a:extLst>
                </a:gridCol>
                <a:gridCol w="2387830">
                  <a:extLst>
                    <a:ext uri="{9D8B030D-6E8A-4147-A177-3AD203B41FA5}">
                      <a16:colId xmlns:a16="http://schemas.microsoft.com/office/drawing/2014/main" val="163623680"/>
                    </a:ext>
                  </a:extLst>
                </a:gridCol>
              </a:tblGrid>
              <a:tr h="344805">
                <a:tc>
                  <a:txBody>
                    <a:bodyPr/>
                    <a:lstStyle/>
                    <a:p>
                      <a:pPr algn="ctr" fontAlgn="ctr">
                        <a:buNone/>
                      </a:pPr>
                      <a:r>
                        <a:rPr lang="en-US" sz="1100" b="1" u="none" strike="noStrike" dirty="0">
                          <a:effectLst/>
                        </a:rPr>
                        <a:t>Test</a:t>
                      </a:r>
                      <a:r>
                        <a:rPr lang="en-US" sz="1100" u="none" strike="noStrike" dirty="0">
                          <a:effectLst/>
                        </a:rPr>
                        <a:t> </a:t>
                      </a:r>
                      <a:r>
                        <a:rPr lang="en-US" sz="1100" b="1" u="none" strike="noStrike" dirty="0">
                          <a:effectLst/>
                        </a:rPr>
                        <a:t>item</a:t>
                      </a:r>
                      <a:endParaRPr lang="en-US" sz="1100" b="1"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ctr" fontAlgn="ctr">
                        <a:buNone/>
                      </a:pPr>
                      <a:r>
                        <a:rPr lang="zh-TW" altLang="en-US" sz="1100" u="none" strike="noStrike" dirty="0">
                          <a:effectLst/>
                        </a:rPr>
                        <a:t>　</a:t>
                      </a: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ctr" fontAlgn="ctr">
                        <a:buNone/>
                      </a:pPr>
                      <a:r>
                        <a:rPr lang="en-US" sz="1100" b="1" u="none" strike="noStrike" dirty="0">
                          <a:effectLst/>
                        </a:rPr>
                        <a:t>DUT</a:t>
                      </a:r>
                      <a:r>
                        <a:rPr lang="en-US" sz="1100" u="none" strike="noStrike" dirty="0">
                          <a:effectLst/>
                        </a:rPr>
                        <a:t>  </a:t>
                      </a:r>
                      <a:r>
                        <a:rPr lang="en-US" sz="1100" b="1" u="none" strike="noStrike" dirty="0">
                          <a:effectLst/>
                        </a:rPr>
                        <a:t>command</a:t>
                      </a:r>
                      <a:endParaRPr lang="en-US" sz="1100" b="1" i="0" u="none" strike="noStrike" dirty="0">
                        <a:solidFill>
                          <a:srgbClr val="FF0000"/>
                        </a:solidFill>
                        <a:effectLst/>
                        <a:latin typeface="新細明體" panose="02020500000000000000" pitchFamily="18" charset="-120"/>
                        <a:ea typeface="新細明體" panose="02020500000000000000" pitchFamily="18" charset="-120"/>
                      </a:endParaRPr>
                    </a:p>
                  </a:txBody>
                  <a:tcPr marL="9525" marR="9525" marT="9525" marB="0"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l" fontAlgn="ctr">
                        <a:buNone/>
                      </a:pPr>
                      <a:r>
                        <a:rPr lang="en-US" altLang="zh-TW" sz="1100" b="1" kern="1200" dirty="0">
                          <a:solidFill>
                            <a:schemeClr val="tx1"/>
                          </a:solidFill>
                          <a:effectLst/>
                          <a:latin typeface="+mn-lt"/>
                          <a:ea typeface="+mn-ea"/>
                          <a:cs typeface="+mn-cs"/>
                        </a:rPr>
                        <a:t>Description</a:t>
                      </a: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6">
                        <a:lumMod val="40000"/>
                        <a:lumOff val="60000"/>
                      </a:schemeClr>
                    </a:solidFill>
                  </a:tcPr>
                </a:tc>
                <a:extLst>
                  <a:ext uri="{0D108BD9-81ED-4DB2-BD59-A6C34878D82A}">
                    <a16:rowId xmlns:a16="http://schemas.microsoft.com/office/drawing/2014/main" val="3824094486"/>
                  </a:ext>
                </a:extLst>
              </a:tr>
              <a:tr h="344805">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400" b="1" dirty="0" err="1"/>
                        <a:t>Bootmode</a:t>
                      </a:r>
                      <a:endParaRPr lang="en-US" altLang="zh-TW" sz="1200" b="0" i="0" u="none" strike="noStrike" dirty="0">
                        <a:solidFill>
                          <a:srgbClr val="000000"/>
                        </a:solidFill>
                        <a:effectLst/>
                        <a:latin typeface="新細明體" panose="02020500000000000000" pitchFamily="18" charset="-120"/>
                        <a:ea typeface="新細明體" panose="02020500000000000000" pitchFamily="18" charset="-120"/>
                      </a:endParaRP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marL="0" algn="ctr" defTabSz="914400" rtl="0" eaLnBrk="1" fontAlgn="ctr" latinLnBrk="0" hangingPunct="1">
                        <a:buNone/>
                      </a:pPr>
                      <a:r>
                        <a:rPr lang="en-US" altLang="zh-TW" sz="1100" b="0" u="none" strike="noStrike" kern="1200" dirty="0">
                          <a:solidFill>
                            <a:schemeClr val="dk1"/>
                          </a:solidFill>
                          <a:effectLst/>
                          <a:latin typeface="+mn-lt"/>
                          <a:ea typeface="+mn-ea"/>
                          <a:cs typeface="+mn-cs"/>
                        </a:rPr>
                        <a:t>1</a:t>
                      </a:r>
                    </a:p>
                  </a:txBody>
                  <a:tcPr marL="9525" marR="9525" marT="9525" marB="0" anchor="ctr"/>
                </a:tc>
                <a:tc>
                  <a:txBody>
                    <a:bodyPr/>
                    <a:lstStyle/>
                    <a:p>
                      <a:pPr marL="0" algn="l" defTabSz="914400" rtl="0" eaLnBrk="1" latinLnBrk="0" hangingPunct="1"/>
                      <a:r>
                        <a:rPr lang="en-US" altLang="zh-TW" sz="1100" b="0" u="none" strike="noStrike" kern="1200" dirty="0">
                          <a:solidFill>
                            <a:schemeClr val="dk1"/>
                          </a:solidFill>
                          <a:effectLst/>
                          <a:latin typeface="+mn-lt"/>
                          <a:ea typeface="+mn-ea"/>
                          <a:cs typeface="+mn-cs"/>
                        </a:rPr>
                        <a:t>ft </a:t>
                      </a:r>
                      <a:r>
                        <a:rPr lang="en-US" altLang="zh-TW" sz="1100" b="0" u="none" strike="noStrike" kern="1200" dirty="0" err="1">
                          <a:solidFill>
                            <a:schemeClr val="dk1"/>
                          </a:solidFill>
                          <a:effectLst/>
                          <a:latin typeface="+mn-lt"/>
                          <a:ea typeface="+mn-ea"/>
                          <a:cs typeface="+mn-cs"/>
                        </a:rPr>
                        <a:t>bootmode</a:t>
                      </a:r>
                      <a:r>
                        <a:rPr lang="en-US" altLang="zh-TW" sz="1100" b="0" u="none" strike="noStrike" kern="1200" dirty="0">
                          <a:solidFill>
                            <a:schemeClr val="dk1"/>
                          </a:solidFill>
                          <a:effectLst/>
                          <a:latin typeface="+mn-lt"/>
                          <a:ea typeface="+mn-ea"/>
                          <a:cs typeface="+mn-cs"/>
                        </a:rPr>
                        <a:t> set 2</a:t>
                      </a:r>
                    </a:p>
                  </a:txBody>
                  <a:tcPr marL="9525" marR="9525" marT="9525" marB="0" anchor="ctr"/>
                </a:tc>
                <a:tc>
                  <a:txBody>
                    <a:bodyPr/>
                    <a:lstStyle/>
                    <a:p>
                      <a:pPr rtl="0" eaLnBrk="1" fontAlgn="auto" latinLnBrk="0" hangingPunct="1">
                        <a:lnSpc>
                          <a:spcPct val="150000"/>
                        </a:lnSpc>
                      </a:pPr>
                      <a:r>
                        <a:rPr lang="zh-TW" altLang="en-US" sz="1100" b="0" i="0" u="none" strike="noStrike" kern="1200" dirty="0">
                          <a:solidFill>
                            <a:schemeClr val="tx1"/>
                          </a:solidFill>
                          <a:effectLst/>
                          <a:latin typeface="+mn-lt"/>
                          <a:ea typeface="+mn-ea"/>
                          <a:cs typeface="+mn-cs"/>
                        </a:rPr>
                        <a:t>設定</a:t>
                      </a:r>
                      <a:r>
                        <a:rPr lang="en-US" altLang="zh-TW" sz="1100" b="0" u="none" strike="noStrike" kern="1200" dirty="0" err="1">
                          <a:solidFill>
                            <a:schemeClr val="dk1"/>
                          </a:solidFill>
                          <a:effectLst/>
                          <a:latin typeface="+mn-lt"/>
                          <a:ea typeface="+mn-ea"/>
                          <a:cs typeface="+mn-cs"/>
                        </a:rPr>
                        <a:t>bootmode</a:t>
                      </a:r>
                      <a:r>
                        <a:rPr lang="zh-TW" altLang="en-US" sz="1100" b="0" i="0" u="none" strike="noStrike" kern="1200" dirty="0">
                          <a:solidFill>
                            <a:schemeClr val="tx1"/>
                          </a:solidFill>
                          <a:effectLst/>
                          <a:latin typeface="+mn-lt"/>
                          <a:ea typeface="+mn-ea"/>
                          <a:cs typeface="+mn-cs"/>
                        </a:rPr>
                        <a:t>為</a:t>
                      </a:r>
                      <a:r>
                        <a:rPr lang="en-US" altLang="zh-TW" sz="1100" b="0" i="0" u="none" strike="noStrike" kern="1200" dirty="0">
                          <a:solidFill>
                            <a:schemeClr val="tx1"/>
                          </a:solidFill>
                          <a:effectLst/>
                          <a:latin typeface="+mn-lt"/>
                          <a:ea typeface="+mn-ea"/>
                          <a:cs typeface="+mn-cs"/>
                        </a:rPr>
                        <a:t>2(SMT </a:t>
                      </a:r>
                      <a:r>
                        <a:rPr lang="zh-TW" altLang="en-US" sz="1100" b="0" i="0" u="none" strike="noStrike" kern="1200" dirty="0">
                          <a:solidFill>
                            <a:schemeClr val="tx1"/>
                          </a:solidFill>
                          <a:effectLst/>
                          <a:latin typeface="+mn-lt"/>
                          <a:ea typeface="+mn-ea"/>
                          <a:cs typeface="+mn-cs"/>
                        </a:rPr>
                        <a:t>工廠模式</a:t>
                      </a:r>
                      <a:r>
                        <a:rPr lang="en-US" altLang="zh-TW" sz="1100" b="0" i="0" u="none" strike="noStrike" kern="1200" dirty="0">
                          <a:solidFill>
                            <a:schemeClr val="tx1"/>
                          </a:solidFill>
                          <a:effectLst/>
                          <a:latin typeface="+mn-lt"/>
                          <a:ea typeface="+mn-ea"/>
                          <a:cs typeface="+mn-cs"/>
                        </a:rPr>
                        <a:t>)</a:t>
                      </a:r>
                      <a:endParaRPr lang="zh-TW" altLang="zh-TW" sz="1100" b="0" i="0" u="none" strike="noStrike" kern="1200" dirty="0">
                        <a:solidFill>
                          <a:schemeClr val="tx1"/>
                        </a:solidFill>
                        <a:effectLst/>
                        <a:latin typeface="+mn-lt"/>
                        <a:ea typeface="+mn-ea"/>
                        <a:cs typeface="+mn-cs"/>
                      </a:endParaRPr>
                    </a:p>
                  </a:txBody>
                  <a:tcPr marL="9525" marR="9525" marT="9525"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884187575"/>
                  </a:ext>
                </a:extLst>
              </a:tr>
              <a:tr h="344805">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b="0" i="0" u="none" strike="noStrike" dirty="0">
                        <a:solidFill>
                          <a:srgbClr val="000000"/>
                        </a:solidFill>
                        <a:effectLst/>
                        <a:latin typeface="新細明體" panose="02020500000000000000" pitchFamily="18" charset="-120"/>
                        <a:ea typeface="新細明體" panose="02020500000000000000" pitchFamily="18" charset="-120"/>
                      </a:endParaRPr>
                    </a:p>
                  </a:txBody>
                  <a:tcPr>
                    <a:lnL w="12700" cap="flat" cmpd="sng" algn="ctr">
                      <a:solidFill>
                        <a:schemeClr val="tx1"/>
                      </a:solidFill>
                      <a:prstDash val="solid"/>
                      <a:round/>
                      <a:headEnd type="none" w="med" len="med"/>
                      <a:tailEnd type="none" w="med" len="med"/>
                    </a:lnL>
                  </a:tcPr>
                </a:tc>
                <a:tc>
                  <a:txBody>
                    <a:bodyPr/>
                    <a:lstStyle/>
                    <a:p>
                      <a:pPr algn="ctr" fontAlgn="ctr">
                        <a:buNone/>
                      </a:pPr>
                      <a:r>
                        <a:rPr lang="en-US" altLang="zh-TW" sz="1100" b="0" i="0" u="none" strike="noStrike" dirty="0">
                          <a:solidFill>
                            <a:srgbClr val="000000"/>
                          </a:solidFill>
                          <a:effectLst/>
                          <a:latin typeface="+mn-lt"/>
                          <a:ea typeface="新細明體" panose="02020500000000000000" pitchFamily="18" charset="-120"/>
                        </a:rPr>
                        <a:t>2</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100" u="none" strike="noStrike" kern="1200" dirty="0">
                          <a:solidFill>
                            <a:schemeClr val="dk1"/>
                          </a:solidFill>
                          <a:effectLst/>
                          <a:latin typeface="+mn-lt"/>
                          <a:ea typeface="+mn-ea"/>
                          <a:cs typeface="+mn-cs"/>
                        </a:rPr>
                        <a:t>ft </a:t>
                      </a:r>
                      <a:r>
                        <a:rPr lang="en-US" altLang="zh-TW" sz="1100" u="none" strike="noStrike" kern="1200" dirty="0" err="1">
                          <a:solidFill>
                            <a:schemeClr val="dk1"/>
                          </a:solidFill>
                          <a:effectLst/>
                          <a:latin typeface="+mn-lt"/>
                          <a:ea typeface="+mn-ea"/>
                          <a:cs typeface="+mn-cs"/>
                        </a:rPr>
                        <a:t>bootmode</a:t>
                      </a:r>
                      <a:r>
                        <a:rPr lang="en-US" altLang="zh-TW" sz="1100" u="none" strike="noStrike" kern="1200" dirty="0">
                          <a:solidFill>
                            <a:schemeClr val="dk1"/>
                          </a:solidFill>
                          <a:effectLst/>
                          <a:latin typeface="+mn-lt"/>
                          <a:ea typeface="+mn-ea"/>
                          <a:cs typeface="+mn-cs"/>
                        </a:rPr>
                        <a:t> get</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rtl="0" eaLnBrk="1" fontAlgn="auto" latinLnBrk="0" hangingPunct="1">
                        <a:lnSpc>
                          <a:spcPct val="150000"/>
                        </a:lnSpc>
                      </a:pPr>
                      <a:r>
                        <a:rPr lang="zh-TW" altLang="en-US" sz="1100" b="0" i="0" u="none" strike="noStrike" kern="1200" dirty="0">
                          <a:solidFill>
                            <a:schemeClr val="tx1"/>
                          </a:solidFill>
                          <a:effectLst/>
                          <a:latin typeface="+mn-lt"/>
                          <a:ea typeface="+mn-ea"/>
                          <a:cs typeface="+mn-cs"/>
                        </a:rPr>
                        <a:t>獲取</a:t>
                      </a:r>
                      <a:r>
                        <a:rPr lang="en-US" altLang="zh-TW" sz="1100" b="0" u="none" strike="noStrike" kern="1200" dirty="0" err="1">
                          <a:solidFill>
                            <a:schemeClr val="dk1"/>
                          </a:solidFill>
                          <a:effectLst/>
                          <a:latin typeface="+mn-lt"/>
                          <a:ea typeface="+mn-ea"/>
                          <a:cs typeface="+mn-cs"/>
                        </a:rPr>
                        <a:t>bootmode</a:t>
                      </a:r>
                      <a:r>
                        <a:rPr lang="en-US" altLang="zh-TW" sz="1100" b="0" u="none" strike="noStrike" kern="1200" dirty="0">
                          <a:solidFill>
                            <a:schemeClr val="dk1"/>
                          </a:solidFill>
                          <a:effectLst/>
                          <a:latin typeface="+mn-lt"/>
                          <a:ea typeface="+mn-ea"/>
                          <a:cs typeface="+mn-cs"/>
                        </a:rPr>
                        <a:t>,</a:t>
                      </a:r>
                      <a:r>
                        <a:rPr lang="zh-TW" altLang="en-US" sz="1100" b="0" u="none" strike="noStrike" kern="1200" dirty="0">
                          <a:solidFill>
                            <a:schemeClr val="dk1"/>
                          </a:solidFill>
                          <a:effectLst/>
                          <a:latin typeface="+mn-lt"/>
                          <a:ea typeface="+mn-ea"/>
                          <a:cs typeface="+mn-cs"/>
                        </a:rPr>
                        <a:t>檢查設定是否成功</a:t>
                      </a:r>
                      <a:endParaRPr lang="zh-TW" altLang="zh-TW" sz="1100" b="0" i="0" u="none" strike="noStrike" kern="1200" dirty="0">
                        <a:solidFill>
                          <a:schemeClr val="tx1"/>
                        </a:solidFill>
                        <a:effectLst/>
                        <a:latin typeface="+mn-lt"/>
                        <a:ea typeface="+mn-ea"/>
                        <a:cs typeface="+mn-cs"/>
                      </a:endParaRPr>
                    </a:p>
                  </a:txBody>
                  <a:tcPr marL="9525" marR="9525" marT="9525"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55834780"/>
                  </a:ext>
                </a:extLst>
              </a:tr>
            </a:tbl>
          </a:graphicData>
        </a:graphic>
      </p:graphicFrame>
      <p:pic>
        <p:nvPicPr>
          <p:cNvPr id="4" name="圖片 3">
            <a:extLst>
              <a:ext uri="{FF2B5EF4-FFF2-40B4-BE49-F238E27FC236}">
                <a16:creationId xmlns:a16="http://schemas.microsoft.com/office/drawing/2014/main" id="{2B0994E3-FF1E-8DDC-2083-B32B74BD7D8D}"/>
              </a:ext>
            </a:extLst>
          </p:cNvPr>
          <p:cNvPicPr>
            <a:picLocks noChangeAspect="1"/>
          </p:cNvPicPr>
          <p:nvPr/>
        </p:nvPicPr>
        <p:blipFill>
          <a:blip r:embed="rId3"/>
          <a:stretch>
            <a:fillRect/>
          </a:stretch>
        </p:blipFill>
        <p:spPr>
          <a:xfrm>
            <a:off x="3447428" y="4462192"/>
            <a:ext cx="3773143" cy="134755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8" name="文字方塊 7">
            <a:extLst>
              <a:ext uri="{FF2B5EF4-FFF2-40B4-BE49-F238E27FC236}">
                <a16:creationId xmlns:a16="http://schemas.microsoft.com/office/drawing/2014/main" id="{14EB0F18-2720-E810-8580-2967D798418C}"/>
              </a:ext>
            </a:extLst>
          </p:cNvPr>
          <p:cNvSpPr txBox="1"/>
          <p:nvPr/>
        </p:nvSpPr>
        <p:spPr>
          <a:xfrm>
            <a:off x="4171582" y="5919551"/>
            <a:ext cx="6097978" cy="369332"/>
          </a:xfrm>
          <a:prstGeom prst="rect">
            <a:avLst/>
          </a:prstGeom>
          <a:noFill/>
        </p:spPr>
        <p:txBody>
          <a:bodyPr wrap="square">
            <a:spAutoFit/>
          </a:bodyPr>
          <a:lstStyle/>
          <a:p>
            <a:r>
              <a:rPr lang="en-US" altLang="zh-TW" sz="1800" dirty="0"/>
              <a:t>Get </a:t>
            </a:r>
            <a:r>
              <a:rPr lang="en-US" altLang="zh-TW" sz="1800" dirty="0" err="1"/>
              <a:t>Bootmode</a:t>
            </a:r>
            <a:r>
              <a:rPr lang="en-US" altLang="zh-TW" sz="1800" dirty="0"/>
              <a:t> 2</a:t>
            </a:r>
            <a:endParaRPr lang="zh-TW" altLang="en-US" dirty="0"/>
          </a:p>
        </p:txBody>
      </p:sp>
    </p:spTree>
    <p:extLst>
      <p:ext uri="{BB962C8B-B14F-4D97-AF65-F5344CB8AC3E}">
        <p14:creationId xmlns:p14="http://schemas.microsoft.com/office/powerpoint/2010/main" val="10368816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3CCD9E-818B-E4EE-D4ED-DDE5BF385C1A}"/>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8C10ACA1-0CD0-E73D-87C4-EFB95C53919B}"/>
              </a:ext>
            </a:extLst>
          </p:cNvPr>
          <p:cNvSpPr>
            <a:spLocks noGrp="1"/>
          </p:cNvSpPr>
          <p:nvPr>
            <p:ph type="body" sz="quarter" idx="13"/>
          </p:nvPr>
        </p:nvSpPr>
        <p:spPr/>
        <p:txBody>
          <a:bodyPr/>
          <a:lstStyle/>
          <a:p>
            <a:r>
              <a:rPr lang="en-US" dirty="0"/>
              <a:t>Terminology  </a:t>
            </a:r>
          </a:p>
          <a:p>
            <a:endParaRPr lang="en-US" dirty="0"/>
          </a:p>
        </p:txBody>
      </p:sp>
      <p:sp>
        <p:nvSpPr>
          <p:cNvPr id="6" name="文字方塊 5">
            <a:extLst>
              <a:ext uri="{FF2B5EF4-FFF2-40B4-BE49-F238E27FC236}">
                <a16:creationId xmlns:a16="http://schemas.microsoft.com/office/drawing/2014/main" id="{E59D8696-3EDD-313E-5BC5-F6586DF107D2}"/>
              </a:ext>
            </a:extLst>
          </p:cNvPr>
          <p:cNvSpPr txBox="1"/>
          <p:nvPr/>
        </p:nvSpPr>
        <p:spPr>
          <a:xfrm>
            <a:off x="571500" y="938449"/>
            <a:ext cx="8886825" cy="1785104"/>
          </a:xfrm>
          <a:prstGeom prst="rect">
            <a:avLst/>
          </a:prstGeom>
          <a:noFill/>
        </p:spPr>
        <p:txBody>
          <a:bodyPr wrap="square">
            <a:spAutoFit/>
          </a:bodyPr>
          <a:lstStyle/>
          <a:p>
            <a:pPr>
              <a:lnSpc>
                <a:spcPct val="150000"/>
              </a:lnSpc>
              <a:defRPr/>
            </a:pPr>
            <a:r>
              <a:rPr lang="en-US" altLang="zh-TW" sz="2000" b="1" dirty="0"/>
              <a:t>MLBSN</a:t>
            </a:r>
            <a:r>
              <a:rPr lang="zh-TW" altLang="en-US" sz="2000" b="1" kern="1200" dirty="0">
                <a:solidFill>
                  <a:schemeClr val="tx1"/>
                </a:solidFill>
                <a:effectLst/>
                <a:latin typeface="+mn-lt"/>
                <a:ea typeface="+mn-ea"/>
                <a:cs typeface="+mn-cs"/>
              </a:rPr>
              <a:t>：</a:t>
            </a:r>
          </a:p>
          <a:p>
            <a:pPr marL="800100" lvl="1" indent="-342900">
              <a:lnSpc>
                <a:spcPct val="150000"/>
              </a:lnSpc>
              <a:buFont typeface="Arial" panose="020B0604020202020204" pitchFamily="34" charset="0"/>
              <a:buChar char="•"/>
              <a:defRPr/>
            </a:pPr>
            <a:r>
              <a:rPr lang="en-US" altLang="zh-TW" sz="2000" dirty="0"/>
              <a:t>Read and verify the MLBSN</a:t>
            </a:r>
          </a:p>
          <a:p>
            <a:pPr>
              <a:lnSpc>
                <a:spcPct val="150000"/>
              </a:lnSpc>
              <a:defRPr/>
            </a:pPr>
            <a:r>
              <a:rPr lang="en-US" altLang="zh-TW" sz="2000" b="1" dirty="0"/>
              <a:t>Command</a:t>
            </a:r>
            <a:r>
              <a:rPr lang="zh-TW" altLang="en-US" sz="2000" b="1" dirty="0"/>
              <a:t>：</a:t>
            </a:r>
            <a:endParaRPr lang="en-US" altLang="zh-TW" sz="2000" b="1" dirty="0"/>
          </a:p>
          <a:p>
            <a:pPr>
              <a:defRPr/>
            </a:pPr>
            <a:endParaRPr lang="en-US" altLang="zh-TW" sz="2000" dirty="0"/>
          </a:p>
        </p:txBody>
      </p:sp>
      <p:graphicFrame>
        <p:nvGraphicFramePr>
          <p:cNvPr id="2" name="表格 1">
            <a:extLst>
              <a:ext uri="{FF2B5EF4-FFF2-40B4-BE49-F238E27FC236}">
                <a16:creationId xmlns:a16="http://schemas.microsoft.com/office/drawing/2014/main" id="{2D849A16-ACF5-F36C-14B2-82304B440A39}"/>
              </a:ext>
            </a:extLst>
          </p:cNvPr>
          <p:cNvGraphicFramePr>
            <a:graphicFrameLocks noGrp="1"/>
          </p:cNvGraphicFramePr>
          <p:nvPr>
            <p:extLst>
              <p:ext uri="{D42A27DB-BD31-4B8C-83A1-F6EECF244321}">
                <p14:modId xmlns:p14="http://schemas.microsoft.com/office/powerpoint/2010/main" val="531200426"/>
              </p:ext>
            </p:extLst>
          </p:nvPr>
        </p:nvGraphicFramePr>
        <p:xfrm>
          <a:off x="912011" y="2542302"/>
          <a:ext cx="5697543" cy="707886"/>
        </p:xfrm>
        <a:graphic>
          <a:graphicData uri="http://schemas.openxmlformats.org/drawingml/2006/table">
            <a:tbl>
              <a:tblPr>
                <a:tableStyleId>{5C22544A-7EE6-4342-B048-85BDC9FD1C3A}</a:tableStyleId>
              </a:tblPr>
              <a:tblGrid>
                <a:gridCol w="1195974">
                  <a:extLst>
                    <a:ext uri="{9D8B030D-6E8A-4147-A177-3AD203B41FA5}">
                      <a16:colId xmlns:a16="http://schemas.microsoft.com/office/drawing/2014/main" val="3315535983"/>
                    </a:ext>
                  </a:extLst>
                </a:gridCol>
                <a:gridCol w="491477">
                  <a:extLst>
                    <a:ext uri="{9D8B030D-6E8A-4147-A177-3AD203B41FA5}">
                      <a16:colId xmlns:a16="http://schemas.microsoft.com/office/drawing/2014/main" val="2960066220"/>
                    </a:ext>
                  </a:extLst>
                </a:gridCol>
                <a:gridCol w="2293562">
                  <a:extLst>
                    <a:ext uri="{9D8B030D-6E8A-4147-A177-3AD203B41FA5}">
                      <a16:colId xmlns:a16="http://schemas.microsoft.com/office/drawing/2014/main" val="3319955928"/>
                    </a:ext>
                  </a:extLst>
                </a:gridCol>
                <a:gridCol w="1716530">
                  <a:extLst>
                    <a:ext uri="{9D8B030D-6E8A-4147-A177-3AD203B41FA5}">
                      <a16:colId xmlns:a16="http://schemas.microsoft.com/office/drawing/2014/main" val="163623680"/>
                    </a:ext>
                  </a:extLst>
                </a:gridCol>
              </a:tblGrid>
              <a:tr h="295314">
                <a:tc>
                  <a:txBody>
                    <a:bodyPr/>
                    <a:lstStyle/>
                    <a:p>
                      <a:pPr algn="ctr" fontAlgn="ctr">
                        <a:buNone/>
                      </a:pPr>
                      <a:r>
                        <a:rPr lang="en-US" sz="1100" b="1" u="none" strike="noStrike" dirty="0">
                          <a:effectLst/>
                        </a:rPr>
                        <a:t>Test</a:t>
                      </a:r>
                      <a:r>
                        <a:rPr lang="en-US" sz="1100" u="none" strike="noStrike" dirty="0">
                          <a:effectLst/>
                        </a:rPr>
                        <a:t> </a:t>
                      </a:r>
                      <a:r>
                        <a:rPr lang="en-US" sz="1100" b="1" u="none" strike="noStrike" dirty="0">
                          <a:effectLst/>
                        </a:rPr>
                        <a:t>item</a:t>
                      </a:r>
                      <a:endParaRPr lang="en-US" sz="1100" b="1"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ctr" fontAlgn="ctr">
                        <a:buNone/>
                      </a:pPr>
                      <a:r>
                        <a:rPr lang="zh-TW" altLang="en-US" sz="1100" u="none" strike="noStrike" dirty="0">
                          <a:effectLst/>
                        </a:rPr>
                        <a:t>　</a:t>
                      </a: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ctr" fontAlgn="ctr">
                        <a:buNone/>
                      </a:pPr>
                      <a:r>
                        <a:rPr lang="en-US" sz="1100" b="1" u="none" strike="noStrike" dirty="0">
                          <a:effectLst/>
                        </a:rPr>
                        <a:t>DUT</a:t>
                      </a:r>
                      <a:r>
                        <a:rPr lang="en-US" sz="1100" u="none" strike="noStrike" dirty="0">
                          <a:effectLst/>
                        </a:rPr>
                        <a:t>  </a:t>
                      </a:r>
                      <a:r>
                        <a:rPr lang="en-US" sz="1100" b="1" u="none" strike="noStrike" dirty="0">
                          <a:effectLst/>
                        </a:rPr>
                        <a:t>command</a:t>
                      </a:r>
                      <a:endParaRPr lang="en-US" sz="1100" b="1" i="0" u="none" strike="noStrike" dirty="0">
                        <a:solidFill>
                          <a:srgbClr val="FF0000"/>
                        </a:solidFill>
                        <a:effectLst/>
                        <a:latin typeface="新細明體" panose="02020500000000000000" pitchFamily="18" charset="-120"/>
                        <a:ea typeface="新細明體" panose="02020500000000000000" pitchFamily="18" charset="-120"/>
                      </a:endParaRPr>
                    </a:p>
                  </a:txBody>
                  <a:tcPr marL="9525" marR="9525" marT="9525" marB="0"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l" fontAlgn="ctr">
                        <a:buNone/>
                      </a:pPr>
                      <a:r>
                        <a:rPr lang="en-US" altLang="zh-TW" sz="1100" b="1" kern="1200" dirty="0">
                          <a:solidFill>
                            <a:schemeClr val="tx1"/>
                          </a:solidFill>
                          <a:effectLst/>
                          <a:latin typeface="+mn-lt"/>
                          <a:ea typeface="+mn-ea"/>
                          <a:cs typeface="+mn-cs"/>
                        </a:rPr>
                        <a:t>Description</a:t>
                      </a: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6">
                        <a:lumMod val="40000"/>
                        <a:lumOff val="60000"/>
                      </a:schemeClr>
                    </a:solidFill>
                  </a:tcPr>
                </a:tc>
                <a:extLst>
                  <a:ext uri="{0D108BD9-81ED-4DB2-BD59-A6C34878D82A}">
                    <a16:rowId xmlns:a16="http://schemas.microsoft.com/office/drawing/2014/main" val="3824094486"/>
                  </a:ext>
                </a:extLst>
              </a:tr>
              <a:tr h="41257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400" b="1" dirty="0"/>
                        <a:t>MLBSN</a:t>
                      </a:r>
                      <a:endParaRPr lang="en-US" altLang="zh-TW" sz="1200" b="0" i="0" u="none" strike="noStrike" dirty="0">
                        <a:solidFill>
                          <a:srgbClr val="000000"/>
                        </a:solidFill>
                        <a:effectLst/>
                        <a:latin typeface="新細明體" panose="02020500000000000000" pitchFamily="18" charset="-120"/>
                        <a:ea typeface="新細明體" panose="02020500000000000000" pitchFamily="18" charset="-120"/>
                      </a:endParaRP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fontAlgn="ctr">
                        <a:buNone/>
                      </a:pPr>
                      <a:r>
                        <a:rPr lang="en-US" altLang="zh-TW" sz="1100" b="0" i="0" u="none" strike="noStrike" dirty="0">
                          <a:solidFill>
                            <a:srgbClr val="000000"/>
                          </a:solidFill>
                          <a:effectLst/>
                          <a:latin typeface="+mn-lt"/>
                          <a:ea typeface="新細明體" panose="02020500000000000000" pitchFamily="18" charset="-120"/>
                        </a:rPr>
                        <a:t>1</a:t>
                      </a:r>
                    </a:p>
                  </a:txBody>
                  <a:tcPr marL="9525" marR="9525" marT="9525" marB="0" anchor="ctr">
                    <a:lnB w="12700" cap="flat" cmpd="sng" algn="ctr">
                      <a:solidFill>
                        <a:schemeClr val="tx1"/>
                      </a:solidFill>
                      <a:prstDash val="solid"/>
                      <a:round/>
                      <a:headEnd type="none" w="med" len="med"/>
                      <a:tailEnd type="none" w="med" len="med"/>
                    </a:lnB>
                  </a:tcPr>
                </a:tc>
                <a:tc>
                  <a:txBody>
                    <a:bodyPr/>
                    <a:lstStyle/>
                    <a:p>
                      <a:r>
                        <a:rPr lang="en-US" altLang="zh-TW" sz="1100" b="0" i="0" u="none" strike="noStrike" kern="1200" dirty="0">
                          <a:solidFill>
                            <a:schemeClr val="tx1"/>
                          </a:solidFill>
                          <a:effectLst/>
                          <a:latin typeface="+mn-lt"/>
                          <a:ea typeface="+mn-ea"/>
                          <a:cs typeface="+mn-cs"/>
                        </a:rPr>
                        <a:t>ft </a:t>
                      </a:r>
                      <a:r>
                        <a:rPr lang="en-US" altLang="zh-TW" sz="1100" b="0" i="0" u="none" strike="noStrike" kern="1200" dirty="0" err="1">
                          <a:solidFill>
                            <a:schemeClr val="tx1"/>
                          </a:solidFill>
                          <a:effectLst/>
                          <a:latin typeface="+mn-lt"/>
                          <a:ea typeface="+mn-ea"/>
                          <a:cs typeface="+mn-cs"/>
                        </a:rPr>
                        <a:t>sn</a:t>
                      </a:r>
                      <a:r>
                        <a:rPr lang="en-US" altLang="zh-TW" sz="1100" b="0" i="0" u="none" strike="noStrike" kern="1200" dirty="0">
                          <a:solidFill>
                            <a:schemeClr val="tx1"/>
                          </a:solidFill>
                          <a:effectLst/>
                          <a:latin typeface="+mn-lt"/>
                          <a:ea typeface="+mn-ea"/>
                          <a:cs typeface="+mn-cs"/>
                        </a:rPr>
                        <a:t> read </a:t>
                      </a:r>
                      <a:r>
                        <a:rPr lang="en-US" altLang="zh-TW" sz="1100" b="0" i="0" u="none" strike="noStrike" kern="1200" dirty="0" err="1">
                          <a:solidFill>
                            <a:schemeClr val="tx1"/>
                          </a:solidFill>
                          <a:effectLst/>
                          <a:latin typeface="+mn-lt"/>
                          <a:ea typeface="+mn-ea"/>
                          <a:cs typeface="+mn-cs"/>
                        </a:rPr>
                        <a:t>mlb</a:t>
                      </a:r>
                      <a:endParaRPr lang="en-US" altLang="zh-TW" sz="1100" b="0" i="0" u="none" strike="noStrike" kern="1200" dirty="0">
                        <a:solidFill>
                          <a:schemeClr val="tx1"/>
                        </a:solidFill>
                        <a:effectLst/>
                        <a:latin typeface="+mn-lt"/>
                        <a:ea typeface="+mn-ea"/>
                        <a:cs typeface="+mn-cs"/>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zh-TW" altLang="en-US" sz="1100" b="0" i="0" u="none" strike="noStrike" kern="1200" dirty="0">
                          <a:solidFill>
                            <a:schemeClr val="tx1"/>
                          </a:solidFill>
                          <a:effectLst/>
                          <a:latin typeface="+mn-lt"/>
                          <a:ea typeface="+mn-ea"/>
                          <a:cs typeface="+mn-cs"/>
                        </a:rPr>
                        <a:t>讀取</a:t>
                      </a:r>
                      <a:r>
                        <a:rPr lang="en-US" altLang="zh-TW" sz="1100" b="0" kern="1200" dirty="0" err="1">
                          <a:solidFill>
                            <a:schemeClr val="tx1"/>
                          </a:solidFill>
                          <a:effectLst/>
                          <a:latin typeface="+mn-lt"/>
                          <a:ea typeface="+mn-ea"/>
                          <a:cs typeface="+mn-cs"/>
                        </a:rPr>
                        <a:t>mlbsn</a:t>
                      </a:r>
                      <a:r>
                        <a:rPr lang="en-US" altLang="zh-TW" sz="1100" b="0" kern="1200" dirty="0">
                          <a:solidFill>
                            <a:schemeClr val="tx1"/>
                          </a:solidFill>
                          <a:effectLst/>
                          <a:latin typeface="+mn-lt"/>
                          <a:ea typeface="+mn-ea"/>
                          <a:cs typeface="+mn-cs"/>
                        </a:rPr>
                        <a:t> </a:t>
                      </a:r>
                      <a:endParaRPr lang="zh-TW" altLang="zh-TW" sz="1100" b="0" i="0" u="none" strike="noStrike" kern="1200" dirty="0">
                        <a:solidFill>
                          <a:schemeClr val="tx1"/>
                        </a:solidFill>
                        <a:effectLst/>
                        <a:latin typeface="+mn-lt"/>
                        <a:ea typeface="+mn-ea"/>
                        <a:cs typeface="+mn-cs"/>
                      </a:endParaRPr>
                    </a:p>
                  </a:txBody>
                  <a:tcPr marL="9525" marR="9525" marT="9525"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84187575"/>
                  </a:ext>
                </a:extLst>
              </a:tr>
            </a:tbl>
          </a:graphicData>
        </a:graphic>
      </p:graphicFrame>
      <p:pic>
        <p:nvPicPr>
          <p:cNvPr id="8" name="圖片 7" descr="一張含有 文字, 螢幕擷取畫面, 字型, 行 的圖片&#10;&#10;AI 產生的內容可能不正確。">
            <a:extLst>
              <a:ext uri="{FF2B5EF4-FFF2-40B4-BE49-F238E27FC236}">
                <a16:creationId xmlns:a16="http://schemas.microsoft.com/office/drawing/2014/main" id="{AA82E5ED-CF7A-FB7D-F9A5-E5C9A4F671B2}"/>
              </a:ext>
            </a:extLst>
          </p:cNvPr>
          <p:cNvPicPr>
            <a:picLocks noChangeAspect="1"/>
          </p:cNvPicPr>
          <p:nvPr/>
        </p:nvPicPr>
        <p:blipFill>
          <a:blip r:embed="rId3"/>
          <a:stretch>
            <a:fillRect/>
          </a:stretch>
        </p:blipFill>
        <p:spPr>
          <a:xfrm>
            <a:off x="912011" y="3811371"/>
            <a:ext cx="6286500" cy="1765300"/>
          </a:xfrm>
          <a:prstGeom prst="rect">
            <a:avLst/>
          </a:prstGeom>
        </p:spPr>
      </p:pic>
      <p:sp>
        <p:nvSpPr>
          <p:cNvPr id="9" name="文字方塊 8">
            <a:extLst>
              <a:ext uri="{FF2B5EF4-FFF2-40B4-BE49-F238E27FC236}">
                <a16:creationId xmlns:a16="http://schemas.microsoft.com/office/drawing/2014/main" id="{272E2F25-506E-DA61-F230-2F97555EFA9E}"/>
              </a:ext>
            </a:extLst>
          </p:cNvPr>
          <p:cNvSpPr txBox="1"/>
          <p:nvPr/>
        </p:nvSpPr>
        <p:spPr>
          <a:xfrm>
            <a:off x="2616405" y="5576671"/>
            <a:ext cx="2877711" cy="369332"/>
          </a:xfrm>
          <a:prstGeom prst="rect">
            <a:avLst/>
          </a:prstGeom>
          <a:noFill/>
        </p:spPr>
        <p:txBody>
          <a:bodyPr wrap="none" rtlCol="0">
            <a:spAutoFit/>
          </a:bodyPr>
          <a:lstStyle/>
          <a:p>
            <a:r>
              <a:rPr kumimoji="1" lang="zh-TW" altLang="en-US" dirty="0"/>
              <a:t>確認回傳字串並驗證</a:t>
            </a:r>
            <a:r>
              <a:rPr kumimoji="1" lang="en-US" altLang="zh-TW" dirty="0" err="1"/>
              <a:t>mlbsn</a:t>
            </a:r>
            <a:endParaRPr kumimoji="1" lang="zh-TW" altLang="en-US" dirty="0"/>
          </a:p>
        </p:txBody>
      </p:sp>
    </p:spTree>
    <p:extLst>
      <p:ext uri="{BB962C8B-B14F-4D97-AF65-F5344CB8AC3E}">
        <p14:creationId xmlns:p14="http://schemas.microsoft.com/office/powerpoint/2010/main" val="13700071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326884-B9C9-42B8-2C1F-B30969102912}"/>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54304B97-0FE1-842E-9512-126815AFE69E}"/>
              </a:ext>
            </a:extLst>
          </p:cNvPr>
          <p:cNvSpPr>
            <a:spLocks noGrp="1"/>
          </p:cNvSpPr>
          <p:nvPr>
            <p:ph type="body" sz="quarter" idx="13"/>
          </p:nvPr>
        </p:nvSpPr>
        <p:spPr/>
        <p:txBody>
          <a:bodyPr/>
          <a:lstStyle/>
          <a:p>
            <a:r>
              <a:rPr lang="en-US" dirty="0"/>
              <a:t>Terminology  </a:t>
            </a:r>
          </a:p>
          <a:p>
            <a:endParaRPr lang="en-US" dirty="0"/>
          </a:p>
        </p:txBody>
      </p:sp>
      <p:sp>
        <p:nvSpPr>
          <p:cNvPr id="6" name="文字方塊 5">
            <a:extLst>
              <a:ext uri="{FF2B5EF4-FFF2-40B4-BE49-F238E27FC236}">
                <a16:creationId xmlns:a16="http://schemas.microsoft.com/office/drawing/2014/main" id="{C88379C2-9EA2-6180-B3FB-7EFE2EE02850}"/>
              </a:ext>
            </a:extLst>
          </p:cNvPr>
          <p:cNvSpPr txBox="1"/>
          <p:nvPr/>
        </p:nvSpPr>
        <p:spPr>
          <a:xfrm>
            <a:off x="571500" y="938449"/>
            <a:ext cx="8886825" cy="1785104"/>
          </a:xfrm>
          <a:prstGeom prst="rect">
            <a:avLst/>
          </a:prstGeom>
          <a:noFill/>
        </p:spPr>
        <p:txBody>
          <a:bodyPr wrap="square">
            <a:spAutoFit/>
          </a:bodyPr>
          <a:lstStyle/>
          <a:p>
            <a:pPr>
              <a:lnSpc>
                <a:spcPct val="150000"/>
              </a:lnSpc>
              <a:defRPr/>
            </a:pPr>
            <a:r>
              <a:rPr lang="en-US" altLang="zh-TW" sz="2000" b="1" dirty="0" err="1"/>
              <a:t>SNWrite_SrNm</a:t>
            </a:r>
            <a:r>
              <a:rPr lang="zh-TW" altLang="en-US" sz="2000" b="1" kern="1200" dirty="0">
                <a:solidFill>
                  <a:schemeClr val="tx1"/>
                </a:solidFill>
                <a:effectLst/>
                <a:latin typeface="+mn-lt"/>
                <a:ea typeface="+mn-ea"/>
                <a:cs typeface="+mn-cs"/>
              </a:rPr>
              <a:t>：</a:t>
            </a:r>
          </a:p>
          <a:p>
            <a:pPr marL="800100" lvl="1" indent="-342900">
              <a:lnSpc>
                <a:spcPct val="150000"/>
              </a:lnSpc>
              <a:buFont typeface="Arial" panose="020B0604020202020204" pitchFamily="34" charset="0"/>
              <a:buChar char="•"/>
              <a:defRPr/>
            </a:pPr>
            <a:r>
              <a:rPr lang="en-US" altLang="zh-TW" sz="2000" dirty="0"/>
              <a:t>Read the SN</a:t>
            </a:r>
            <a:r>
              <a:rPr lang="zh-TW" altLang="en-US" sz="2000" dirty="0"/>
              <a:t> </a:t>
            </a:r>
            <a:r>
              <a:rPr lang="en-US" altLang="zh-TW" sz="2000" dirty="0"/>
              <a:t>and Write FGSN</a:t>
            </a:r>
          </a:p>
          <a:p>
            <a:pPr>
              <a:lnSpc>
                <a:spcPct val="150000"/>
              </a:lnSpc>
              <a:defRPr/>
            </a:pPr>
            <a:r>
              <a:rPr lang="en-US" altLang="zh-TW" sz="2000" b="1" dirty="0"/>
              <a:t>Command</a:t>
            </a:r>
            <a:r>
              <a:rPr lang="zh-TW" altLang="en-US" sz="2000" b="1" dirty="0"/>
              <a:t>：</a:t>
            </a:r>
            <a:endParaRPr lang="en-US" altLang="zh-TW" sz="2000" b="1" dirty="0"/>
          </a:p>
          <a:p>
            <a:pPr>
              <a:defRPr/>
            </a:pPr>
            <a:endParaRPr lang="en-US" altLang="zh-TW" sz="2000" dirty="0"/>
          </a:p>
        </p:txBody>
      </p:sp>
      <p:graphicFrame>
        <p:nvGraphicFramePr>
          <p:cNvPr id="2" name="表格 1">
            <a:extLst>
              <a:ext uri="{FF2B5EF4-FFF2-40B4-BE49-F238E27FC236}">
                <a16:creationId xmlns:a16="http://schemas.microsoft.com/office/drawing/2014/main" id="{19CC5319-6DEF-D637-737D-F31B6A98DAD0}"/>
              </a:ext>
            </a:extLst>
          </p:cNvPr>
          <p:cNvGraphicFramePr>
            <a:graphicFrameLocks noGrp="1"/>
          </p:cNvGraphicFramePr>
          <p:nvPr>
            <p:extLst>
              <p:ext uri="{D42A27DB-BD31-4B8C-83A1-F6EECF244321}">
                <p14:modId xmlns:p14="http://schemas.microsoft.com/office/powerpoint/2010/main" val="2906061278"/>
              </p:ext>
            </p:extLst>
          </p:nvPr>
        </p:nvGraphicFramePr>
        <p:xfrm>
          <a:off x="912011" y="2542302"/>
          <a:ext cx="7226149" cy="1120458"/>
        </p:xfrm>
        <a:graphic>
          <a:graphicData uri="http://schemas.openxmlformats.org/drawingml/2006/table">
            <a:tbl>
              <a:tblPr>
                <a:tableStyleId>{5C22544A-7EE6-4342-B048-85BDC9FD1C3A}</a:tableStyleId>
              </a:tblPr>
              <a:tblGrid>
                <a:gridCol w="1799287">
                  <a:extLst>
                    <a:ext uri="{9D8B030D-6E8A-4147-A177-3AD203B41FA5}">
                      <a16:colId xmlns:a16="http://schemas.microsoft.com/office/drawing/2014/main" val="3315535983"/>
                    </a:ext>
                  </a:extLst>
                </a:gridCol>
                <a:gridCol w="592500">
                  <a:extLst>
                    <a:ext uri="{9D8B030D-6E8A-4147-A177-3AD203B41FA5}">
                      <a16:colId xmlns:a16="http://schemas.microsoft.com/office/drawing/2014/main" val="2960066220"/>
                    </a:ext>
                  </a:extLst>
                </a:gridCol>
                <a:gridCol w="2091162">
                  <a:extLst>
                    <a:ext uri="{9D8B030D-6E8A-4147-A177-3AD203B41FA5}">
                      <a16:colId xmlns:a16="http://schemas.microsoft.com/office/drawing/2014/main" val="3319955928"/>
                    </a:ext>
                  </a:extLst>
                </a:gridCol>
                <a:gridCol w="2743200">
                  <a:extLst>
                    <a:ext uri="{9D8B030D-6E8A-4147-A177-3AD203B41FA5}">
                      <a16:colId xmlns:a16="http://schemas.microsoft.com/office/drawing/2014/main" val="163623680"/>
                    </a:ext>
                  </a:extLst>
                </a:gridCol>
              </a:tblGrid>
              <a:tr h="295314">
                <a:tc>
                  <a:txBody>
                    <a:bodyPr/>
                    <a:lstStyle/>
                    <a:p>
                      <a:pPr algn="ctr" fontAlgn="ctr">
                        <a:buNone/>
                      </a:pPr>
                      <a:r>
                        <a:rPr lang="en-US" sz="1100" b="1" u="none" strike="noStrike" dirty="0">
                          <a:effectLst/>
                        </a:rPr>
                        <a:t>Test</a:t>
                      </a:r>
                      <a:r>
                        <a:rPr lang="en-US" sz="1100" u="none" strike="noStrike" dirty="0">
                          <a:effectLst/>
                        </a:rPr>
                        <a:t> </a:t>
                      </a:r>
                      <a:r>
                        <a:rPr lang="en-US" sz="1100" b="1" u="none" strike="noStrike" dirty="0">
                          <a:effectLst/>
                        </a:rPr>
                        <a:t>item</a:t>
                      </a:r>
                      <a:endParaRPr lang="en-US" sz="1100" b="1"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ctr" fontAlgn="ctr">
                        <a:buNone/>
                      </a:pPr>
                      <a:r>
                        <a:rPr lang="zh-TW" altLang="en-US" sz="1100" u="none" strike="noStrike" dirty="0">
                          <a:effectLst/>
                        </a:rPr>
                        <a:t>　</a:t>
                      </a: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ctr" fontAlgn="ctr">
                        <a:buNone/>
                      </a:pPr>
                      <a:r>
                        <a:rPr lang="en-US" sz="1100" b="1" u="none" strike="noStrike" dirty="0">
                          <a:effectLst/>
                        </a:rPr>
                        <a:t>DUT</a:t>
                      </a:r>
                      <a:r>
                        <a:rPr lang="en-US" sz="1100" u="none" strike="noStrike" dirty="0">
                          <a:effectLst/>
                        </a:rPr>
                        <a:t>  </a:t>
                      </a:r>
                      <a:r>
                        <a:rPr lang="en-US" sz="1100" b="1" u="none" strike="noStrike" dirty="0">
                          <a:effectLst/>
                        </a:rPr>
                        <a:t>command</a:t>
                      </a:r>
                      <a:endParaRPr lang="en-US" sz="1100" b="1" i="0" u="none" strike="noStrike" dirty="0">
                        <a:solidFill>
                          <a:srgbClr val="FF0000"/>
                        </a:solidFill>
                        <a:effectLst/>
                        <a:latin typeface="新細明體" panose="02020500000000000000" pitchFamily="18" charset="-120"/>
                        <a:ea typeface="新細明體" panose="02020500000000000000" pitchFamily="18" charset="-120"/>
                      </a:endParaRPr>
                    </a:p>
                  </a:txBody>
                  <a:tcPr marL="9525" marR="9525" marT="9525" marB="0"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l" fontAlgn="ctr">
                        <a:buNone/>
                      </a:pPr>
                      <a:r>
                        <a:rPr lang="en-US" altLang="zh-TW" sz="1100" b="1" kern="1200" dirty="0">
                          <a:solidFill>
                            <a:schemeClr val="tx1"/>
                          </a:solidFill>
                          <a:effectLst/>
                          <a:latin typeface="+mn-lt"/>
                          <a:ea typeface="+mn-ea"/>
                          <a:cs typeface="+mn-cs"/>
                        </a:rPr>
                        <a:t>Description</a:t>
                      </a: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6">
                        <a:lumMod val="40000"/>
                        <a:lumOff val="60000"/>
                      </a:schemeClr>
                    </a:solidFill>
                  </a:tcPr>
                </a:tc>
                <a:extLst>
                  <a:ext uri="{0D108BD9-81ED-4DB2-BD59-A6C34878D82A}">
                    <a16:rowId xmlns:a16="http://schemas.microsoft.com/office/drawing/2014/main" val="3824094486"/>
                  </a:ext>
                </a:extLst>
              </a:tr>
              <a:tr h="412572">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400" b="1" dirty="0" err="1"/>
                        <a:t>SNWrite_SrNm</a:t>
                      </a:r>
                      <a:endParaRPr lang="en-US" altLang="zh-TW" sz="1200" b="0" i="0" u="none" strike="noStrike" dirty="0">
                        <a:solidFill>
                          <a:srgbClr val="000000"/>
                        </a:solidFill>
                        <a:effectLst/>
                        <a:latin typeface="新細明體" panose="02020500000000000000" pitchFamily="18" charset="-120"/>
                        <a:ea typeface="新細明體" panose="02020500000000000000" pitchFamily="18" charset="-120"/>
                      </a:endParaRP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fontAlgn="ctr">
                        <a:buNone/>
                      </a:pPr>
                      <a:r>
                        <a:rPr lang="en-US" altLang="zh-TW" sz="1100" b="0" i="0" u="none" strike="noStrike" dirty="0">
                          <a:solidFill>
                            <a:srgbClr val="000000"/>
                          </a:solidFill>
                          <a:effectLst/>
                          <a:latin typeface="+mn-lt"/>
                          <a:ea typeface="新細明體" panose="02020500000000000000" pitchFamily="18" charset="-120"/>
                        </a:rPr>
                        <a:t>1</a:t>
                      </a:r>
                    </a:p>
                  </a:txBody>
                  <a:tcPr marL="9525" marR="9525" marT="9525" marB="0" anchor="ctr"/>
                </a:tc>
                <a:tc>
                  <a:txBody>
                    <a:bodyPr/>
                    <a:lstStyle/>
                    <a:p>
                      <a:r>
                        <a:rPr lang="en-US" altLang="zh-TW" sz="1100" b="0" kern="1200" dirty="0">
                          <a:solidFill>
                            <a:schemeClr val="tx1"/>
                          </a:solidFill>
                          <a:effectLst/>
                          <a:latin typeface="+mn-lt"/>
                          <a:ea typeface="+mn-ea"/>
                          <a:cs typeface="+mn-cs"/>
                        </a:rPr>
                        <a:t>ft </a:t>
                      </a:r>
                      <a:r>
                        <a:rPr lang="en-US" altLang="zh-TW" sz="1100" b="0" kern="1200" dirty="0" err="1">
                          <a:solidFill>
                            <a:schemeClr val="tx1"/>
                          </a:solidFill>
                          <a:effectLst/>
                          <a:latin typeface="+mn-lt"/>
                          <a:ea typeface="+mn-ea"/>
                          <a:cs typeface="+mn-cs"/>
                        </a:rPr>
                        <a:t>sn</a:t>
                      </a:r>
                      <a:r>
                        <a:rPr lang="en-US" altLang="zh-TW" sz="1100" b="0" kern="1200" dirty="0">
                          <a:solidFill>
                            <a:schemeClr val="tx1"/>
                          </a:solidFill>
                          <a:effectLst/>
                          <a:latin typeface="+mn-lt"/>
                          <a:ea typeface="+mn-ea"/>
                          <a:cs typeface="+mn-cs"/>
                        </a:rPr>
                        <a:t> read system</a:t>
                      </a:r>
                    </a:p>
                  </a:txBody>
                  <a:tcPr marL="9525" marR="9525" marT="9525" marB="0" anchor="ct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zh-TW" altLang="en-US" sz="1100" b="0" i="0" u="none" strike="noStrike" kern="1200" dirty="0">
                          <a:solidFill>
                            <a:schemeClr val="tx1"/>
                          </a:solidFill>
                          <a:effectLst/>
                          <a:latin typeface="+mn-lt"/>
                          <a:ea typeface="+mn-ea"/>
                          <a:cs typeface="+mn-cs"/>
                        </a:rPr>
                        <a:t>讀取盒子</a:t>
                      </a:r>
                      <a:r>
                        <a:rPr lang="en-US" altLang="zh-TW" sz="1100" b="0" i="0" u="none" strike="noStrike" kern="1200" dirty="0" err="1">
                          <a:solidFill>
                            <a:schemeClr val="tx1"/>
                          </a:solidFill>
                          <a:effectLst/>
                          <a:latin typeface="+mn-lt"/>
                          <a:ea typeface="+mn-ea"/>
                          <a:cs typeface="+mn-cs"/>
                        </a:rPr>
                        <a:t>sn</a:t>
                      </a:r>
                      <a:r>
                        <a:rPr lang="en-US" altLang="zh-TW" sz="1100" b="0" i="0" u="none" strike="noStrike" kern="1200" dirty="0">
                          <a:solidFill>
                            <a:schemeClr val="tx1"/>
                          </a:solidFill>
                          <a:effectLst/>
                          <a:latin typeface="+mn-lt"/>
                          <a:ea typeface="+mn-ea"/>
                          <a:cs typeface="+mn-cs"/>
                        </a:rPr>
                        <a:t> </a:t>
                      </a:r>
                      <a:r>
                        <a:rPr lang="zh-TW" altLang="en-US" sz="1100" b="0" i="0" u="none" strike="noStrike" kern="1200" dirty="0">
                          <a:solidFill>
                            <a:schemeClr val="tx1"/>
                          </a:solidFill>
                          <a:effectLst/>
                          <a:latin typeface="+mn-lt"/>
                          <a:ea typeface="+mn-ea"/>
                          <a:cs typeface="+mn-cs"/>
                        </a:rPr>
                        <a:t>確認是否與掃描的</a:t>
                      </a:r>
                      <a:r>
                        <a:rPr lang="en-US" altLang="zh-TW" sz="1100" b="0" i="0" u="none" strike="noStrike" kern="1200" dirty="0" err="1">
                          <a:solidFill>
                            <a:schemeClr val="tx1"/>
                          </a:solidFill>
                          <a:effectLst/>
                          <a:latin typeface="+mn-lt"/>
                          <a:ea typeface="+mn-ea"/>
                          <a:cs typeface="+mn-cs"/>
                        </a:rPr>
                        <a:t>sn</a:t>
                      </a:r>
                      <a:r>
                        <a:rPr lang="zh-TW" altLang="en-US" sz="1100" b="0" i="0" u="none" strike="noStrike" kern="1200" dirty="0">
                          <a:solidFill>
                            <a:schemeClr val="tx1"/>
                          </a:solidFill>
                          <a:effectLst/>
                          <a:latin typeface="+mn-lt"/>
                          <a:ea typeface="+mn-ea"/>
                          <a:cs typeface="+mn-cs"/>
                        </a:rPr>
                        <a:t>相同</a:t>
                      </a:r>
                      <a:endParaRPr lang="zh-TW" altLang="zh-TW" sz="1100" b="0" i="0" u="none" strike="noStrike" kern="1200" dirty="0">
                        <a:solidFill>
                          <a:schemeClr val="tx1"/>
                        </a:solidFill>
                        <a:effectLst/>
                        <a:latin typeface="+mn-lt"/>
                        <a:ea typeface="+mn-ea"/>
                        <a:cs typeface="+mn-cs"/>
                      </a:endParaRPr>
                    </a:p>
                  </a:txBody>
                  <a:tcPr marL="9525" marR="9525" marT="9525"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884187575"/>
                  </a:ext>
                </a:extLst>
              </a:tr>
              <a:tr h="412572">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TW" sz="1200" b="0" i="0" u="none" strike="noStrike" dirty="0">
                        <a:solidFill>
                          <a:srgbClr val="000000"/>
                        </a:solidFill>
                        <a:effectLst/>
                        <a:latin typeface="新細明體" panose="02020500000000000000" pitchFamily="18" charset="-120"/>
                        <a:ea typeface="新細明體" panose="02020500000000000000" pitchFamily="18" charset="-120"/>
                      </a:endParaRP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fontAlgn="ctr">
                        <a:buNone/>
                      </a:pPr>
                      <a:r>
                        <a:rPr lang="en-US" altLang="zh-TW" sz="1100" b="0" i="0" u="none" strike="noStrike" dirty="0">
                          <a:solidFill>
                            <a:srgbClr val="000000"/>
                          </a:solidFill>
                          <a:effectLst/>
                          <a:latin typeface="+mn-lt"/>
                          <a:ea typeface="新細明體" panose="02020500000000000000" pitchFamily="18" charset="-120"/>
                        </a:rPr>
                        <a:t>2</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100" b="0" i="0" u="none" strike="noStrike" kern="1200" dirty="0">
                          <a:solidFill>
                            <a:schemeClr val="tx1"/>
                          </a:solidFill>
                          <a:effectLst/>
                          <a:latin typeface="+mn-lt"/>
                          <a:ea typeface="+mn-ea"/>
                          <a:cs typeface="+mn-cs"/>
                        </a:rPr>
                        <a:t>ft </a:t>
                      </a:r>
                      <a:r>
                        <a:rPr lang="en-US" altLang="zh-TW" sz="1100" b="0" i="0" u="none" strike="noStrike" kern="1200" dirty="0" err="1">
                          <a:solidFill>
                            <a:schemeClr val="tx1"/>
                          </a:solidFill>
                          <a:effectLst/>
                          <a:latin typeface="+mn-lt"/>
                          <a:ea typeface="+mn-ea"/>
                          <a:cs typeface="+mn-cs"/>
                        </a:rPr>
                        <a:t>sn</a:t>
                      </a:r>
                      <a:r>
                        <a:rPr lang="en-US" altLang="zh-TW" sz="1100" b="0" i="0" u="none" strike="noStrike" kern="1200" dirty="0">
                          <a:solidFill>
                            <a:schemeClr val="tx1"/>
                          </a:solidFill>
                          <a:effectLst/>
                          <a:latin typeface="+mn-lt"/>
                          <a:ea typeface="+mn-ea"/>
                          <a:cs typeface="+mn-cs"/>
                        </a:rPr>
                        <a:t> write system</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zh-TW" altLang="en-US" sz="1100" b="0" i="0" u="none" strike="noStrike" kern="1200" dirty="0">
                          <a:solidFill>
                            <a:srgbClr val="FF0000"/>
                          </a:solidFill>
                          <a:effectLst/>
                          <a:latin typeface="+mn-lt"/>
                          <a:ea typeface="+mn-ea"/>
                          <a:cs typeface="+mn-cs"/>
                        </a:rPr>
                        <a:t>若盒子無</a:t>
                      </a:r>
                      <a:r>
                        <a:rPr lang="en-US" altLang="zh-TW" sz="1100" b="0" i="0" u="none" strike="noStrike" kern="1200" dirty="0" err="1">
                          <a:solidFill>
                            <a:srgbClr val="FF0000"/>
                          </a:solidFill>
                          <a:effectLst/>
                          <a:latin typeface="+mn-lt"/>
                          <a:ea typeface="+mn-ea"/>
                          <a:cs typeface="+mn-cs"/>
                        </a:rPr>
                        <a:t>sn</a:t>
                      </a:r>
                      <a:r>
                        <a:rPr lang="zh-TW" altLang="en-US" sz="1100" b="0" i="0" u="none" strike="noStrike" kern="1200" dirty="0">
                          <a:solidFill>
                            <a:srgbClr val="FF0000"/>
                          </a:solidFill>
                          <a:effectLst/>
                          <a:latin typeface="+mn-lt"/>
                          <a:ea typeface="+mn-ea"/>
                          <a:cs typeface="+mn-cs"/>
                        </a:rPr>
                        <a:t> 則寫入掃描時的</a:t>
                      </a:r>
                      <a:r>
                        <a:rPr lang="en-US" altLang="zh-TW" sz="1100" b="0" i="0" u="none" strike="noStrike" kern="1200" dirty="0" err="1">
                          <a:solidFill>
                            <a:srgbClr val="FF0000"/>
                          </a:solidFill>
                          <a:effectLst/>
                          <a:latin typeface="+mn-lt"/>
                          <a:ea typeface="+mn-ea"/>
                          <a:cs typeface="+mn-cs"/>
                        </a:rPr>
                        <a:t>sn</a:t>
                      </a:r>
                      <a:endParaRPr lang="zh-TW" altLang="zh-TW" sz="1100" b="0" i="0" u="none" strike="noStrike" kern="1200" dirty="0">
                        <a:solidFill>
                          <a:srgbClr val="FF0000"/>
                        </a:solidFill>
                        <a:effectLst/>
                        <a:latin typeface="+mn-lt"/>
                        <a:ea typeface="+mn-ea"/>
                        <a:cs typeface="+mn-cs"/>
                      </a:endParaRPr>
                    </a:p>
                  </a:txBody>
                  <a:tcPr marL="9525" marR="9525" marT="9525"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42127494"/>
                  </a:ext>
                </a:extLst>
              </a:tr>
            </a:tbl>
          </a:graphicData>
        </a:graphic>
      </p:graphicFrame>
      <p:sp>
        <p:nvSpPr>
          <p:cNvPr id="4" name="文字方塊 3">
            <a:extLst>
              <a:ext uri="{FF2B5EF4-FFF2-40B4-BE49-F238E27FC236}">
                <a16:creationId xmlns:a16="http://schemas.microsoft.com/office/drawing/2014/main" id="{89745037-DE74-B736-E64A-118C2B64CADF}"/>
              </a:ext>
            </a:extLst>
          </p:cNvPr>
          <p:cNvSpPr txBox="1"/>
          <p:nvPr/>
        </p:nvSpPr>
        <p:spPr>
          <a:xfrm>
            <a:off x="2263140" y="3840480"/>
            <a:ext cx="4121641" cy="369332"/>
          </a:xfrm>
          <a:prstGeom prst="rect">
            <a:avLst/>
          </a:prstGeom>
          <a:noFill/>
        </p:spPr>
        <p:txBody>
          <a:bodyPr wrap="none" rtlCol="0">
            <a:spAutoFit/>
          </a:bodyPr>
          <a:lstStyle/>
          <a:p>
            <a:r>
              <a:rPr kumimoji="1" lang="zh-TW" altLang="en-US" dirty="0"/>
              <a:t>＃在傳送指令前會先確認</a:t>
            </a:r>
            <a:r>
              <a:rPr kumimoji="1" lang="en-US" altLang="zh-TW" dirty="0" err="1"/>
              <a:t>sn</a:t>
            </a:r>
            <a:r>
              <a:rPr kumimoji="1" lang="zh-TW" altLang="en-US" dirty="0"/>
              <a:t>有值才開始</a:t>
            </a:r>
          </a:p>
        </p:txBody>
      </p:sp>
    </p:spTree>
    <p:extLst>
      <p:ext uri="{BB962C8B-B14F-4D97-AF65-F5344CB8AC3E}">
        <p14:creationId xmlns:p14="http://schemas.microsoft.com/office/powerpoint/2010/main" val="37081168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C3288-1C7A-270F-1208-DDAB31CAD289}"/>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BE49D87F-BDA2-18A4-E273-C350CB45AF59}"/>
              </a:ext>
            </a:extLst>
          </p:cNvPr>
          <p:cNvSpPr>
            <a:spLocks noGrp="1"/>
          </p:cNvSpPr>
          <p:nvPr>
            <p:ph type="body" sz="quarter" idx="13"/>
          </p:nvPr>
        </p:nvSpPr>
        <p:spPr/>
        <p:txBody>
          <a:bodyPr/>
          <a:lstStyle/>
          <a:p>
            <a:r>
              <a:rPr lang="en-US" dirty="0"/>
              <a:t>Terminology  </a:t>
            </a:r>
          </a:p>
          <a:p>
            <a:endParaRPr lang="en-US" dirty="0"/>
          </a:p>
        </p:txBody>
      </p:sp>
      <p:sp>
        <p:nvSpPr>
          <p:cNvPr id="6" name="文字方塊 5">
            <a:extLst>
              <a:ext uri="{FF2B5EF4-FFF2-40B4-BE49-F238E27FC236}">
                <a16:creationId xmlns:a16="http://schemas.microsoft.com/office/drawing/2014/main" id="{977E571A-42CE-5C9F-9F06-7E0163EB86DB}"/>
              </a:ext>
            </a:extLst>
          </p:cNvPr>
          <p:cNvSpPr txBox="1"/>
          <p:nvPr/>
        </p:nvSpPr>
        <p:spPr>
          <a:xfrm>
            <a:off x="571500" y="938449"/>
            <a:ext cx="8886825" cy="1785104"/>
          </a:xfrm>
          <a:prstGeom prst="rect">
            <a:avLst/>
          </a:prstGeom>
          <a:noFill/>
        </p:spPr>
        <p:txBody>
          <a:bodyPr wrap="square">
            <a:spAutoFit/>
          </a:bodyPr>
          <a:lstStyle/>
          <a:p>
            <a:pPr>
              <a:lnSpc>
                <a:spcPct val="150000"/>
              </a:lnSpc>
              <a:defRPr/>
            </a:pPr>
            <a:r>
              <a:rPr lang="en-US" altLang="zh-TW" sz="2000" b="1" dirty="0" err="1"/>
              <a:t>SrNm</a:t>
            </a:r>
            <a:r>
              <a:rPr lang="zh-TW" altLang="en-US" sz="2000" b="1" kern="1200" dirty="0">
                <a:solidFill>
                  <a:schemeClr val="tx1"/>
                </a:solidFill>
                <a:effectLst/>
                <a:latin typeface="+mn-lt"/>
                <a:ea typeface="+mn-ea"/>
                <a:cs typeface="+mn-cs"/>
              </a:rPr>
              <a:t>：</a:t>
            </a:r>
          </a:p>
          <a:p>
            <a:pPr marL="800100" lvl="1" indent="-342900">
              <a:lnSpc>
                <a:spcPct val="150000"/>
              </a:lnSpc>
              <a:buFont typeface="Arial" panose="020B0604020202020204" pitchFamily="34" charset="0"/>
              <a:buChar char="•"/>
              <a:defRPr/>
            </a:pPr>
            <a:r>
              <a:rPr lang="en-US" altLang="zh-TW" dirty="0"/>
              <a:t>Read the SN</a:t>
            </a:r>
            <a:r>
              <a:rPr lang="zh-TW" altLang="en-US" dirty="0"/>
              <a:t> </a:t>
            </a:r>
            <a:r>
              <a:rPr lang="en-US" altLang="zh-TW" dirty="0"/>
              <a:t>and FGSN </a:t>
            </a:r>
            <a:r>
              <a:rPr lang="en-US" altLang="zh-TW" sz="2000" dirty="0"/>
              <a:t>and verify that they match</a:t>
            </a:r>
            <a:endParaRPr lang="en-US" altLang="zh-TW" dirty="0"/>
          </a:p>
          <a:p>
            <a:pPr>
              <a:lnSpc>
                <a:spcPct val="150000"/>
              </a:lnSpc>
              <a:defRPr/>
            </a:pPr>
            <a:r>
              <a:rPr lang="en-US" altLang="zh-TW" sz="2000" b="1" dirty="0"/>
              <a:t>Command</a:t>
            </a:r>
            <a:r>
              <a:rPr lang="zh-TW" altLang="en-US" sz="2000" b="1" dirty="0"/>
              <a:t>：</a:t>
            </a:r>
            <a:endParaRPr lang="en-US" altLang="zh-TW" sz="2000" b="1" dirty="0"/>
          </a:p>
          <a:p>
            <a:pPr>
              <a:defRPr/>
            </a:pPr>
            <a:endParaRPr lang="en-US" altLang="zh-TW" sz="2000" dirty="0"/>
          </a:p>
        </p:txBody>
      </p:sp>
      <p:graphicFrame>
        <p:nvGraphicFramePr>
          <p:cNvPr id="2" name="表格 1">
            <a:extLst>
              <a:ext uri="{FF2B5EF4-FFF2-40B4-BE49-F238E27FC236}">
                <a16:creationId xmlns:a16="http://schemas.microsoft.com/office/drawing/2014/main" id="{69417450-2CB9-744A-2957-B74E30B2B07B}"/>
              </a:ext>
            </a:extLst>
          </p:cNvPr>
          <p:cNvGraphicFramePr>
            <a:graphicFrameLocks noGrp="1"/>
          </p:cNvGraphicFramePr>
          <p:nvPr>
            <p:extLst>
              <p:ext uri="{D42A27DB-BD31-4B8C-83A1-F6EECF244321}">
                <p14:modId xmlns:p14="http://schemas.microsoft.com/office/powerpoint/2010/main" val="1686722589"/>
              </p:ext>
            </p:extLst>
          </p:nvPr>
        </p:nvGraphicFramePr>
        <p:xfrm>
          <a:off x="912011" y="2542302"/>
          <a:ext cx="5697543" cy="707886"/>
        </p:xfrm>
        <a:graphic>
          <a:graphicData uri="http://schemas.openxmlformats.org/drawingml/2006/table">
            <a:tbl>
              <a:tblPr>
                <a:tableStyleId>{5C22544A-7EE6-4342-B048-85BDC9FD1C3A}</a:tableStyleId>
              </a:tblPr>
              <a:tblGrid>
                <a:gridCol w="1195974">
                  <a:extLst>
                    <a:ext uri="{9D8B030D-6E8A-4147-A177-3AD203B41FA5}">
                      <a16:colId xmlns:a16="http://schemas.microsoft.com/office/drawing/2014/main" val="3315535983"/>
                    </a:ext>
                  </a:extLst>
                </a:gridCol>
                <a:gridCol w="491477">
                  <a:extLst>
                    <a:ext uri="{9D8B030D-6E8A-4147-A177-3AD203B41FA5}">
                      <a16:colId xmlns:a16="http://schemas.microsoft.com/office/drawing/2014/main" val="2960066220"/>
                    </a:ext>
                  </a:extLst>
                </a:gridCol>
                <a:gridCol w="2293562">
                  <a:extLst>
                    <a:ext uri="{9D8B030D-6E8A-4147-A177-3AD203B41FA5}">
                      <a16:colId xmlns:a16="http://schemas.microsoft.com/office/drawing/2014/main" val="3319955928"/>
                    </a:ext>
                  </a:extLst>
                </a:gridCol>
                <a:gridCol w="1716530">
                  <a:extLst>
                    <a:ext uri="{9D8B030D-6E8A-4147-A177-3AD203B41FA5}">
                      <a16:colId xmlns:a16="http://schemas.microsoft.com/office/drawing/2014/main" val="163623680"/>
                    </a:ext>
                  </a:extLst>
                </a:gridCol>
              </a:tblGrid>
              <a:tr h="295314">
                <a:tc>
                  <a:txBody>
                    <a:bodyPr/>
                    <a:lstStyle/>
                    <a:p>
                      <a:pPr algn="ctr" fontAlgn="ctr">
                        <a:buNone/>
                      </a:pPr>
                      <a:r>
                        <a:rPr lang="en-US" sz="1100" b="1" u="none" strike="noStrike" dirty="0">
                          <a:effectLst/>
                        </a:rPr>
                        <a:t>Test</a:t>
                      </a:r>
                      <a:r>
                        <a:rPr lang="en-US" sz="1100" u="none" strike="noStrike" dirty="0">
                          <a:effectLst/>
                        </a:rPr>
                        <a:t> </a:t>
                      </a:r>
                      <a:r>
                        <a:rPr lang="en-US" sz="1100" b="1" u="none" strike="noStrike" dirty="0">
                          <a:effectLst/>
                        </a:rPr>
                        <a:t>item</a:t>
                      </a:r>
                      <a:endParaRPr lang="en-US" sz="1100" b="1"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ctr" fontAlgn="ctr">
                        <a:buNone/>
                      </a:pPr>
                      <a:r>
                        <a:rPr lang="zh-TW" altLang="en-US" sz="1100" u="none" strike="noStrike" dirty="0">
                          <a:effectLst/>
                        </a:rPr>
                        <a:t>　</a:t>
                      </a: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ctr" fontAlgn="ctr">
                        <a:buNone/>
                      </a:pPr>
                      <a:r>
                        <a:rPr lang="en-US" sz="1100" b="1" u="none" strike="noStrike" dirty="0">
                          <a:effectLst/>
                        </a:rPr>
                        <a:t>DUT</a:t>
                      </a:r>
                      <a:r>
                        <a:rPr lang="en-US" sz="1100" u="none" strike="noStrike" dirty="0">
                          <a:effectLst/>
                        </a:rPr>
                        <a:t>  </a:t>
                      </a:r>
                      <a:r>
                        <a:rPr lang="en-US" sz="1100" b="1" u="none" strike="noStrike" dirty="0">
                          <a:effectLst/>
                        </a:rPr>
                        <a:t>command</a:t>
                      </a:r>
                      <a:endParaRPr lang="en-US" sz="1100" b="1" i="0" u="none" strike="noStrike" dirty="0">
                        <a:solidFill>
                          <a:srgbClr val="FF0000"/>
                        </a:solidFill>
                        <a:effectLst/>
                        <a:latin typeface="新細明體" panose="02020500000000000000" pitchFamily="18" charset="-120"/>
                        <a:ea typeface="新細明體" panose="02020500000000000000" pitchFamily="18" charset="-120"/>
                      </a:endParaRPr>
                    </a:p>
                  </a:txBody>
                  <a:tcPr marL="9525" marR="9525" marT="9525" marB="0"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l" fontAlgn="ctr">
                        <a:buNone/>
                      </a:pPr>
                      <a:r>
                        <a:rPr lang="en-US" altLang="zh-TW" sz="1100" b="1" kern="1200" dirty="0">
                          <a:solidFill>
                            <a:schemeClr val="tx1"/>
                          </a:solidFill>
                          <a:effectLst/>
                          <a:latin typeface="+mn-lt"/>
                          <a:ea typeface="+mn-ea"/>
                          <a:cs typeface="+mn-cs"/>
                        </a:rPr>
                        <a:t>Description</a:t>
                      </a: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6">
                        <a:lumMod val="40000"/>
                        <a:lumOff val="60000"/>
                      </a:schemeClr>
                    </a:solidFill>
                  </a:tcPr>
                </a:tc>
                <a:extLst>
                  <a:ext uri="{0D108BD9-81ED-4DB2-BD59-A6C34878D82A}">
                    <a16:rowId xmlns:a16="http://schemas.microsoft.com/office/drawing/2014/main" val="3824094486"/>
                  </a:ext>
                </a:extLst>
              </a:tr>
              <a:tr h="41257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400" b="1" dirty="0" err="1"/>
                        <a:t>SrNm</a:t>
                      </a:r>
                      <a:endParaRPr lang="en-US" altLang="zh-TW" sz="1200" b="0" i="0" u="none" strike="noStrike" dirty="0">
                        <a:solidFill>
                          <a:srgbClr val="000000"/>
                        </a:solidFill>
                        <a:effectLst/>
                        <a:latin typeface="新細明體" panose="02020500000000000000" pitchFamily="18" charset="-120"/>
                        <a:ea typeface="新細明體" panose="02020500000000000000" pitchFamily="18" charset="-120"/>
                      </a:endParaRP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fontAlgn="ctr">
                        <a:buNone/>
                      </a:pPr>
                      <a:r>
                        <a:rPr lang="en-US" altLang="zh-TW" sz="1100" b="0" i="0" u="none" strike="noStrike" dirty="0">
                          <a:solidFill>
                            <a:srgbClr val="000000"/>
                          </a:solidFill>
                          <a:effectLst/>
                          <a:latin typeface="+mn-lt"/>
                          <a:ea typeface="新細明體" panose="02020500000000000000" pitchFamily="18" charset="-120"/>
                        </a:rPr>
                        <a:t>1</a:t>
                      </a:r>
                    </a:p>
                  </a:txBody>
                  <a:tcPr marL="9525" marR="9525" marT="9525" marB="0" anchor="ctr">
                    <a:lnB w="12700" cap="flat" cmpd="sng" algn="ctr">
                      <a:solidFill>
                        <a:schemeClr val="tx1"/>
                      </a:solidFill>
                      <a:prstDash val="solid"/>
                      <a:round/>
                      <a:headEnd type="none" w="med" len="med"/>
                      <a:tailEnd type="none" w="med" len="med"/>
                    </a:lnB>
                  </a:tcPr>
                </a:tc>
                <a:tc>
                  <a:txBody>
                    <a:bodyPr/>
                    <a:lstStyle/>
                    <a:p>
                      <a:r>
                        <a:rPr lang="en-US" altLang="zh-TW" sz="1100" b="0" i="0" u="none" strike="noStrike" kern="1200" dirty="0">
                          <a:solidFill>
                            <a:schemeClr val="tx1"/>
                          </a:solidFill>
                          <a:effectLst/>
                          <a:latin typeface="+mn-lt"/>
                          <a:ea typeface="+mn-ea"/>
                          <a:cs typeface="+mn-cs"/>
                        </a:rPr>
                        <a:t>ft </a:t>
                      </a:r>
                      <a:r>
                        <a:rPr lang="en-US" altLang="zh-TW" sz="1100" b="0" i="0" u="none" strike="noStrike" kern="1200" dirty="0" err="1">
                          <a:solidFill>
                            <a:schemeClr val="tx1"/>
                          </a:solidFill>
                          <a:effectLst/>
                          <a:latin typeface="+mn-lt"/>
                          <a:ea typeface="+mn-ea"/>
                          <a:cs typeface="+mn-cs"/>
                        </a:rPr>
                        <a:t>sn</a:t>
                      </a:r>
                      <a:r>
                        <a:rPr lang="en-US" altLang="zh-TW" sz="1100" b="0" i="0" u="none" strike="noStrike" kern="1200" dirty="0">
                          <a:solidFill>
                            <a:schemeClr val="tx1"/>
                          </a:solidFill>
                          <a:effectLst/>
                          <a:latin typeface="+mn-lt"/>
                          <a:ea typeface="+mn-ea"/>
                          <a:cs typeface="+mn-cs"/>
                        </a:rPr>
                        <a:t> read system</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zh-TW" altLang="en-US" sz="1100" b="0" i="0" u="none" strike="noStrike" kern="1200" dirty="0">
                          <a:solidFill>
                            <a:schemeClr val="tx1"/>
                          </a:solidFill>
                          <a:effectLst/>
                          <a:latin typeface="+mn-lt"/>
                          <a:ea typeface="+mn-ea"/>
                          <a:cs typeface="+mn-cs"/>
                        </a:rPr>
                        <a:t>讀取</a:t>
                      </a:r>
                      <a:r>
                        <a:rPr lang="en-US" altLang="zh-TW" sz="1100" b="0" i="0" u="none" strike="noStrike" kern="1200" dirty="0">
                          <a:solidFill>
                            <a:schemeClr val="tx1"/>
                          </a:solidFill>
                          <a:effectLst/>
                          <a:latin typeface="+mn-lt"/>
                          <a:ea typeface="+mn-ea"/>
                          <a:cs typeface="+mn-cs"/>
                        </a:rPr>
                        <a:t>FGSN</a:t>
                      </a:r>
                      <a:endParaRPr lang="zh-TW" altLang="zh-TW" sz="1100" b="0" i="0" u="none" strike="noStrike" kern="1200" dirty="0">
                        <a:solidFill>
                          <a:schemeClr val="tx1"/>
                        </a:solidFill>
                        <a:effectLst/>
                        <a:latin typeface="+mn-lt"/>
                        <a:ea typeface="+mn-ea"/>
                        <a:cs typeface="+mn-cs"/>
                      </a:endParaRPr>
                    </a:p>
                  </a:txBody>
                  <a:tcPr marL="9525" marR="9525" marT="9525"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84187575"/>
                  </a:ext>
                </a:extLst>
              </a:tr>
            </a:tbl>
          </a:graphicData>
        </a:graphic>
      </p:graphicFrame>
    </p:spTree>
    <p:extLst>
      <p:ext uri="{BB962C8B-B14F-4D97-AF65-F5344CB8AC3E}">
        <p14:creationId xmlns:p14="http://schemas.microsoft.com/office/powerpoint/2010/main" val="10803651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91B9F-3329-E858-59BB-3E0D9CECD678}"/>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A81C17B9-3FD7-8E5E-008D-1E4ECF41E1B4}"/>
              </a:ext>
            </a:extLst>
          </p:cNvPr>
          <p:cNvSpPr>
            <a:spLocks noGrp="1"/>
          </p:cNvSpPr>
          <p:nvPr>
            <p:ph type="body" sz="quarter" idx="13"/>
          </p:nvPr>
        </p:nvSpPr>
        <p:spPr/>
        <p:txBody>
          <a:bodyPr/>
          <a:lstStyle/>
          <a:p>
            <a:r>
              <a:rPr lang="en-US" dirty="0"/>
              <a:t>Terminology  </a:t>
            </a:r>
          </a:p>
          <a:p>
            <a:endParaRPr lang="en-US" dirty="0"/>
          </a:p>
        </p:txBody>
      </p:sp>
      <p:sp>
        <p:nvSpPr>
          <p:cNvPr id="6" name="文字方塊 5">
            <a:extLst>
              <a:ext uri="{FF2B5EF4-FFF2-40B4-BE49-F238E27FC236}">
                <a16:creationId xmlns:a16="http://schemas.microsoft.com/office/drawing/2014/main" id="{002CE532-5BA3-A523-2ACA-8B467289F57B}"/>
              </a:ext>
            </a:extLst>
          </p:cNvPr>
          <p:cNvSpPr txBox="1"/>
          <p:nvPr/>
        </p:nvSpPr>
        <p:spPr>
          <a:xfrm>
            <a:off x="571500" y="938449"/>
            <a:ext cx="8886825" cy="1785104"/>
          </a:xfrm>
          <a:prstGeom prst="rect">
            <a:avLst/>
          </a:prstGeom>
          <a:noFill/>
        </p:spPr>
        <p:txBody>
          <a:bodyPr wrap="square">
            <a:spAutoFit/>
          </a:bodyPr>
          <a:lstStyle/>
          <a:p>
            <a:pPr>
              <a:lnSpc>
                <a:spcPct val="150000"/>
              </a:lnSpc>
              <a:defRPr/>
            </a:pPr>
            <a:r>
              <a:rPr lang="en-US" altLang="zh-TW" sz="2000" b="1" dirty="0" err="1"/>
              <a:t>BoardID</a:t>
            </a:r>
            <a:r>
              <a:rPr lang="zh-TW" altLang="en-US" sz="2000" b="1" kern="1200" dirty="0">
                <a:solidFill>
                  <a:schemeClr val="tx1"/>
                </a:solidFill>
                <a:effectLst/>
                <a:latin typeface="+mn-lt"/>
                <a:ea typeface="+mn-ea"/>
                <a:cs typeface="+mn-cs"/>
              </a:rPr>
              <a:t>：</a:t>
            </a:r>
          </a:p>
          <a:p>
            <a:pPr marL="800100" lvl="1" indent="-342900">
              <a:lnSpc>
                <a:spcPct val="150000"/>
              </a:lnSpc>
              <a:buFont typeface="Arial" panose="020B0604020202020204" pitchFamily="34" charset="0"/>
              <a:buChar char="•"/>
              <a:defRPr/>
            </a:pPr>
            <a:r>
              <a:rPr lang="en-US" altLang="zh-TW" sz="2000" dirty="0"/>
              <a:t>Read and verify the HWID</a:t>
            </a:r>
            <a:r>
              <a:rPr lang="zh-TW" altLang="en-US" sz="2000" dirty="0"/>
              <a:t> </a:t>
            </a:r>
            <a:r>
              <a:rPr lang="en-US" altLang="zh-TW" sz="2000" dirty="0"/>
              <a:t>and PID</a:t>
            </a:r>
          </a:p>
          <a:p>
            <a:pPr>
              <a:lnSpc>
                <a:spcPct val="150000"/>
              </a:lnSpc>
              <a:defRPr/>
            </a:pPr>
            <a:r>
              <a:rPr lang="en-US" altLang="zh-TW" sz="2000" b="1" dirty="0"/>
              <a:t>Command</a:t>
            </a:r>
            <a:r>
              <a:rPr lang="zh-TW" altLang="en-US" sz="2000" b="1" dirty="0"/>
              <a:t>：</a:t>
            </a:r>
            <a:endParaRPr lang="en-US" altLang="zh-TW" sz="2000" b="1" dirty="0"/>
          </a:p>
          <a:p>
            <a:pPr>
              <a:defRPr/>
            </a:pPr>
            <a:endParaRPr lang="en-US" altLang="zh-TW" sz="2000" dirty="0"/>
          </a:p>
        </p:txBody>
      </p:sp>
      <p:graphicFrame>
        <p:nvGraphicFramePr>
          <p:cNvPr id="2" name="表格 1">
            <a:extLst>
              <a:ext uri="{FF2B5EF4-FFF2-40B4-BE49-F238E27FC236}">
                <a16:creationId xmlns:a16="http://schemas.microsoft.com/office/drawing/2014/main" id="{FA49BE55-2AFF-2CC8-7D93-B5B2391E1FE1}"/>
              </a:ext>
            </a:extLst>
          </p:cNvPr>
          <p:cNvGraphicFramePr>
            <a:graphicFrameLocks noGrp="1"/>
          </p:cNvGraphicFramePr>
          <p:nvPr>
            <p:extLst>
              <p:ext uri="{D42A27DB-BD31-4B8C-83A1-F6EECF244321}">
                <p14:modId xmlns:p14="http://schemas.microsoft.com/office/powerpoint/2010/main" val="4015477417"/>
              </p:ext>
            </p:extLst>
          </p:nvPr>
        </p:nvGraphicFramePr>
        <p:xfrm>
          <a:off x="912011" y="2542302"/>
          <a:ext cx="5697543" cy="1120458"/>
        </p:xfrm>
        <a:graphic>
          <a:graphicData uri="http://schemas.openxmlformats.org/drawingml/2006/table">
            <a:tbl>
              <a:tblPr>
                <a:tableStyleId>{5C22544A-7EE6-4342-B048-85BDC9FD1C3A}</a:tableStyleId>
              </a:tblPr>
              <a:tblGrid>
                <a:gridCol w="1195974">
                  <a:extLst>
                    <a:ext uri="{9D8B030D-6E8A-4147-A177-3AD203B41FA5}">
                      <a16:colId xmlns:a16="http://schemas.microsoft.com/office/drawing/2014/main" val="3315535983"/>
                    </a:ext>
                  </a:extLst>
                </a:gridCol>
                <a:gridCol w="491477">
                  <a:extLst>
                    <a:ext uri="{9D8B030D-6E8A-4147-A177-3AD203B41FA5}">
                      <a16:colId xmlns:a16="http://schemas.microsoft.com/office/drawing/2014/main" val="2960066220"/>
                    </a:ext>
                  </a:extLst>
                </a:gridCol>
                <a:gridCol w="2293562">
                  <a:extLst>
                    <a:ext uri="{9D8B030D-6E8A-4147-A177-3AD203B41FA5}">
                      <a16:colId xmlns:a16="http://schemas.microsoft.com/office/drawing/2014/main" val="3319955928"/>
                    </a:ext>
                  </a:extLst>
                </a:gridCol>
                <a:gridCol w="1716530">
                  <a:extLst>
                    <a:ext uri="{9D8B030D-6E8A-4147-A177-3AD203B41FA5}">
                      <a16:colId xmlns:a16="http://schemas.microsoft.com/office/drawing/2014/main" val="163623680"/>
                    </a:ext>
                  </a:extLst>
                </a:gridCol>
              </a:tblGrid>
              <a:tr h="295314">
                <a:tc>
                  <a:txBody>
                    <a:bodyPr/>
                    <a:lstStyle/>
                    <a:p>
                      <a:pPr algn="ctr" fontAlgn="ctr">
                        <a:buNone/>
                      </a:pPr>
                      <a:r>
                        <a:rPr lang="en-US" sz="1100" b="1" u="none" strike="noStrike" dirty="0">
                          <a:effectLst/>
                        </a:rPr>
                        <a:t>Test</a:t>
                      </a:r>
                      <a:r>
                        <a:rPr lang="en-US" sz="1100" u="none" strike="noStrike" dirty="0">
                          <a:effectLst/>
                        </a:rPr>
                        <a:t> </a:t>
                      </a:r>
                      <a:r>
                        <a:rPr lang="en-US" sz="1100" b="1" u="none" strike="noStrike" dirty="0">
                          <a:effectLst/>
                        </a:rPr>
                        <a:t>item</a:t>
                      </a:r>
                      <a:endParaRPr lang="en-US" sz="1100" b="1"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ctr" fontAlgn="ctr">
                        <a:buNone/>
                      </a:pPr>
                      <a:r>
                        <a:rPr lang="zh-TW" altLang="en-US" sz="1100" u="none" strike="noStrike" dirty="0">
                          <a:effectLst/>
                        </a:rPr>
                        <a:t>　</a:t>
                      </a: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ctr" fontAlgn="ctr">
                        <a:buNone/>
                      </a:pPr>
                      <a:r>
                        <a:rPr lang="en-US" sz="1100" b="1" u="none" strike="noStrike" dirty="0">
                          <a:effectLst/>
                        </a:rPr>
                        <a:t>DUT</a:t>
                      </a:r>
                      <a:r>
                        <a:rPr lang="en-US" sz="1100" u="none" strike="noStrike" dirty="0">
                          <a:effectLst/>
                        </a:rPr>
                        <a:t>  </a:t>
                      </a:r>
                      <a:r>
                        <a:rPr lang="en-US" sz="1100" b="1" u="none" strike="noStrike" dirty="0">
                          <a:effectLst/>
                        </a:rPr>
                        <a:t>command</a:t>
                      </a:r>
                      <a:endParaRPr lang="en-US" sz="1100" b="1" i="0" u="none" strike="noStrike" dirty="0">
                        <a:solidFill>
                          <a:srgbClr val="FF0000"/>
                        </a:solidFill>
                        <a:effectLst/>
                        <a:latin typeface="新細明體" panose="02020500000000000000" pitchFamily="18" charset="-120"/>
                        <a:ea typeface="新細明體" panose="02020500000000000000" pitchFamily="18" charset="-120"/>
                      </a:endParaRPr>
                    </a:p>
                  </a:txBody>
                  <a:tcPr marL="9525" marR="9525" marT="9525" marB="0"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l" fontAlgn="ctr">
                        <a:buNone/>
                      </a:pPr>
                      <a:r>
                        <a:rPr lang="en-US" altLang="zh-TW" sz="1100" b="1" kern="1200" dirty="0">
                          <a:solidFill>
                            <a:schemeClr val="tx1"/>
                          </a:solidFill>
                          <a:effectLst/>
                          <a:latin typeface="+mn-lt"/>
                          <a:ea typeface="+mn-ea"/>
                          <a:cs typeface="+mn-cs"/>
                        </a:rPr>
                        <a:t>Description</a:t>
                      </a: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6">
                        <a:lumMod val="40000"/>
                        <a:lumOff val="60000"/>
                      </a:schemeClr>
                    </a:solidFill>
                  </a:tcPr>
                </a:tc>
                <a:extLst>
                  <a:ext uri="{0D108BD9-81ED-4DB2-BD59-A6C34878D82A}">
                    <a16:rowId xmlns:a16="http://schemas.microsoft.com/office/drawing/2014/main" val="3824094486"/>
                  </a:ext>
                </a:extLst>
              </a:tr>
              <a:tr h="412572">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400" b="1" dirty="0" err="1"/>
                        <a:t>BoardID</a:t>
                      </a:r>
                      <a:endParaRPr lang="en-US" altLang="zh-TW" sz="1200" b="0" i="0" u="none" strike="noStrike" dirty="0">
                        <a:solidFill>
                          <a:srgbClr val="000000"/>
                        </a:solidFill>
                        <a:effectLst/>
                        <a:latin typeface="新細明體" panose="02020500000000000000" pitchFamily="18" charset="-120"/>
                        <a:ea typeface="新細明體" panose="02020500000000000000" pitchFamily="18" charset="-120"/>
                      </a:endParaRP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fontAlgn="ctr">
                        <a:buNone/>
                      </a:pPr>
                      <a:r>
                        <a:rPr lang="en-US" altLang="zh-TW" sz="1100" b="0" i="0" u="none" strike="noStrike" dirty="0">
                          <a:solidFill>
                            <a:srgbClr val="000000"/>
                          </a:solidFill>
                          <a:effectLst/>
                          <a:latin typeface="+mn-lt"/>
                          <a:ea typeface="新細明體" panose="02020500000000000000" pitchFamily="18" charset="-120"/>
                        </a:rPr>
                        <a:t>1</a:t>
                      </a:r>
                    </a:p>
                  </a:txBody>
                  <a:tcPr marL="9525" marR="9525" marT="9525" marB="0" anchor="ctr"/>
                </a:tc>
                <a:tc>
                  <a:txBody>
                    <a:bodyPr/>
                    <a:lstStyle/>
                    <a:p>
                      <a:r>
                        <a:rPr lang="en-US" altLang="zh-TW" sz="1100" b="0" kern="1200" dirty="0">
                          <a:solidFill>
                            <a:schemeClr val="tx1"/>
                          </a:solidFill>
                          <a:effectLst/>
                          <a:latin typeface="+mn-lt"/>
                          <a:ea typeface="+mn-ea"/>
                          <a:cs typeface="+mn-cs"/>
                        </a:rPr>
                        <a:t>ft </a:t>
                      </a:r>
                      <a:r>
                        <a:rPr lang="en-US" altLang="zh-TW" sz="1100" b="0" kern="1200" dirty="0" err="1">
                          <a:solidFill>
                            <a:schemeClr val="tx1"/>
                          </a:solidFill>
                          <a:effectLst/>
                          <a:latin typeface="+mn-lt"/>
                          <a:ea typeface="+mn-ea"/>
                          <a:cs typeface="+mn-cs"/>
                        </a:rPr>
                        <a:t>hw</a:t>
                      </a:r>
                      <a:r>
                        <a:rPr lang="en-US" altLang="zh-TW" sz="1100" b="0" kern="1200" dirty="0">
                          <a:solidFill>
                            <a:schemeClr val="tx1"/>
                          </a:solidFill>
                          <a:effectLst/>
                          <a:latin typeface="+mn-lt"/>
                          <a:ea typeface="+mn-ea"/>
                          <a:cs typeface="+mn-cs"/>
                        </a:rPr>
                        <a:t> </a:t>
                      </a:r>
                      <a:r>
                        <a:rPr lang="en-US" altLang="zh-TW" sz="1100" b="0" kern="1200" dirty="0" err="1">
                          <a:solidFill>
                            <a:schemeClr val="tx1"/>
                          </a:solidFill>
                          <a:effectLst/>
                          <a:latin typeface="+mn-lt"/>
                          <a:ea typeface="+mn-ea"/>
                          <a:cs typeface="+mn-cs"/>
                        </a:rPr>
                        <a:t>ver</a:t>
                      </a:r>
                      <a:endParaRPr lang="en-US" altLang="zh-TW" sz="1100" b="0" kern="1200" dirty="0">
                        <a:solidFill>
                          <a:schemeClr val="tx1"/>
                        </a:solidFill>
                        <a:effectLst/>
                        <a:latin typeface="+mn-lt"/>
                        <a:ea typeface="+mn-ea"/>
                        <a:cs typeface="+mn-cs"/>
                      </a:endParaRPr>
                    </a:p>
                  </a:txBody>
                  <a:tcPr marL="9525" marR="9525" marT="9525" marB="0" anchor="ct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zh-TW" altLang="en-US" sz="1100" b="0" i="0" u="none" strike="noStrike" kern="1200" dirty="0">
                          <a:solidFill>
                            <a:schemeClr val="tx1"/>
                          </a:solidFill>
                          <a:effectLst/>
                          <a:latin typeface="+mn-lt"/>
                          <a:ea typeface="+mn-ea"/>
                          <a:cs typeface="+mn-cs"/>
                        </a:rPr>
                        <a:t>讀取硬體版本</a:t>
                      </a:r>
                      <a:endParaRPr lang="zh-TW" altLang="zh-TW" sz="1100" b="0" i="0" u="none" strike="noStrike" kern="1200" dirty="0">
                        <a:solidFill>
                          <a:schemeClr val="tx1"/>
                        </a:solidFill>
                        <a:effectLst/>
                        <a:latin typeface="+mn-lt"/>
                        <a:ea typeface="+mn-ea"/>
                        <a:cs typeface="+mn-cs"/>
                      </a:endParaRPr>
                    </a:p>
                  </a:txBody>
                  <a:tcPr marL="9525" marR="9525" marT="9525"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884187575"/>
                  </a:ext>
                </a:extLst>
              </a:tr>
              <a:tr h="412572">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TW" sz="1200" b="0" i="0" u="none" strike="noStrike" dirty="0">
                        <a:solidFill>
                          <a:srgbClr val="000000"/>
                        </a:solidFill>
                        <a:effectLst/>
                        <a:latin typeface="新細明體" panose="02020500000000000000" pitchFamily="18" charset="-120"/>
                        <a:ea typeface="新細明體" panose="02020500000000000000" pitchFamily="18" charset="-120"/>
                      </a:endParaRP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fontAlgn="ctr">
                        <a:buNone/>
                      </a:pPr>
                      <a:r>
                        <a:rPr lang="en-US" altLang="zh-TW" sz="1100" b="0" i="0" u="none" strike="noStrike" dirty="0">
                          <a:solidFill>
                            <a:srgbClr val="000000"/>
                          </a:solidFill>
                          <a:effectLst/>
                          <a:latin typeface="+mn-lt"/>
                          <a:ea typeface="新細明體" panose="02020500000000000000" pitchFamily="18" charset="-120"/>
                        </a:rPr>
                        <a:t>2</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100" b="0" kern="1200" dirty="0" err="1">
                          <a:solidFill>
                            <a:schemeClr val="tx1"/>
                          </a:solidFill>
                          <a:effectLst/>
                          <a:latin typeface="+mn-lt"/>
                          <a:ea typeface="+mn-ea"/>
                          <a:cs typeface="+mn-cs"/>
                        </a:rPr>
                        <a:t>adc</a:t>
                      </a:r>
                      <a:r>
                        <a:rPr lang="en-US" altLang="zh-TW" sz="1100" b="0" kern="1200" dirty="0">
                          <a:solidFill>
                            <a:schemeClr val="tx1"/>
                          </a:solidFill>
                          <a:effectLst/>
                          <a:latin typeface="+mn-lt"/>
                          <a:ea typeface="+mn-ea"/>
                          <a:cs typeface="+mn-cs"/>
                        </a:rPr>
                        <a:t> read </a:t>
                      </a:r>
                      <a:r>
                        <a:rPr lang="en-US" altLang="zh-TW" sz="1100" b="0" kern="1200" dirty="0" err="1">
                          <a:solidFill>
                            <a:schemeClr val="tx1"/>
                          </a:solidFill>
                          <a:effectLst/>
                          <a:latin typeface="+mn-lt"/>
                          <a:ea typeface="+mn-ea"/>
                          <a:cs typeface="+mn-cs"/>
                        </a:rPr>
                        <a:t>pid</a:t>
                      </a:r>
                      <a:endParaRPr lang="en-US" altLang="zh-TW" sz="1100" b="0" kern="1200" dirty="0">
                        <a:solidFill>
                          <a:schemeClr val="tx1"/>
                        </a:solidFill>
                        <a:effectLst/>
                        <a:latin typeface="+mn-lt"/>
                        <a:ea typeface="+mn-ea"/>
                        <a:cs typeface="+mn-cs"/>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zh-TW" altLang="en-US" sz="1100" b="0" i="0" u="none" strike="noStrike" kern="1200" dirty="0">
                          <a:solidFill>
                            <a:schemeClr val="tx1"/>
                          </a:solidFill>
                          <a:effectLst/>
                          <a:latin typeface="+mn-lt"/>
                          <a:ea typeface="+mn-ea"/>
                          <a:cs typeface="+mn-cs"/>
                        </a:rPr>
                        <a:t>讀取硬體識別電壓</a:t>
                      </a:r>
                      <a:endParaRPr lang="zh-TW" altLang="zh-TW" sz="1100" b="0" i="0" u="none" strike="noStrike" kern="1200" dirty="0">
                        <a:solidFill>
                          <a:schemeClr val="tx1"/>
                        </a:solidFill>
                        <a:effectLst/>
                        <a:latin typeface="+mn-lt"/>
                        <a:ea typeface="+mn-ea"/>
                        <a:cs typeface="+mn-cs"/>
                      </a:endParaRPr>
                    </a:p>
                  </a:txBody>
                  <a:tcPr marL="9525" marR="9525" marT="9525"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12241903"/>
                  </a:ext>
                </a:extLst>
              </a:tr>
            </a:tbl>
          </a:graphicData>
        </a:graphic>
      </p:graphicFrame>
    </p:spTree>
    <p:extLst>
      <p:ext uri="{BB962C8B-B14F-4D97-AF65-F5344CB8AC3E}">
        <p14:creationId xmlns:p14="http://schemas.microsoft.com/office/powerpoint/2010/main" val="23178982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BF1A5A-8723-BA5A-8E7C-CDDA32166C95}"/>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BD1D9DA9-5FBE-0623-20C7-B5B09D00CEA4}"/>
              </a:ext>
            </a:extLst>
          </p:cNvPr>
          <p:cNvSpPr>
            <a:spLocks noGrp="1"/>
          </p:cNvSpPr>
          <p:nvPr>
            <p:ph type="body" sz="quarter" idx="13"/>
          </p:nvPr>
        </p:nvSpPr>
        <p:spPr/>
        <p:txBody>
          <a:bodyPr/>
          <a:lstStyle/>
          <a:p>
            <a:r>
              <a:rPr lang="en-US" dirty="0"/>
              <a:t>Terminology  </a:t>
            </a:r>
          </a:p>
          <a:p>
            <a:endParaRPr lang="en-US" dirty="0"/>
          </a:p>
        </p:txBody>
      </p:sp>
      <p:sp>
        <p:nvSpPr>
          <p:cNvPr id="6" name="文字方塊 5">
            <a:extLst>
              <a:ext uri="{FF2B5EF4-FFF2-40B4-BE49-F238E27FC236}">
                <a16:creationId xmlns:a16="http://schemas.microsoft.com/office/drawing/2014/main" id="{C91050E2-D6CE-1C93-507B-D9D68C4304C0}"/>
              </a:ext>
            </a:extLst>
          </p:cNvPr>
          <p:cNvSpPr txBox="1"/>
          <p:nvPr/>
        </p:nvSpPr>
        <p:spPr>
          <a:xfrm>
            <a:off x="571500" y="938449"/>
            <a:ext cx="8886825" cy="1785104"/>
          </a:xfrm>
          <a:prstGeom prst="rect">
            <a:avLst/>
          </a:prstGeom>
          <a:noFill/>
        </p:spPr>
        <p:txBody>
          <a:bodyPr wrap="square">
            <a:spAutoFit/>
          </a:bodyPr>
          <a:lstStyle/>
          <a:p>
            <a:pPr>
              <a:lnSpc>
                <a:spcPct val="150000"/>
              </a:lnSpc>
              <a:defRPr/>
            </a:pPr>
            <a:r>
              <a:rPr lang="en-US" altLang="zh-TW" sz="2000" b="1" dirty="0"/>
              <a:t>FW</a:t>
            </a:r>
            <a:r>
              <a:rPr lang="zh-TW" altLang="en-US" sz="2000" b="1" kern="1200" dirty="0">
                <a:solidFill>
                  <a:schemeClr val="tx1"/>
                </a:solidFill>
                <a:effectLst/>
                <a:latin typeface="+mn-lt"/>
                <a:ea typeface="+mn-ea"/>
                <a:cs typeface="+mn-cs"/>
              </a:rPr>
              <a:t>：</a:t>
            </a:r>
          </a:p>
          <a:p>
            <a:pPr marL="800100" lvl="1" indent="-342900">
              <a:lnSpc>
                <a:spcPct val="150000"/>
              </a:lnSpc>
              <a:buFont typeface="Arial" panose="020B0604020202020204" pitchFamily="34" charset="0"/>
              <a:buChar char="•"/>
              <a:defRPr/>
            </a:pPr>
            <a:r>
              <a:rPr lang="en-US" altLang="zh-TW" sz="2000" dirty="0"/>
              <a:t>Read and verify the FW version</a:t>
            </a:r>
          </a:p>
          <a:p>
            <a:pPr>
              <a:lnSpc>
                <a:spcPct val="150000"/>
              </a:lnSpc>
              <a:defRPr/>
            </a:pPr>
            <a:r>
              <a:rPr lang="en-US" altLang="zh-TW" sz="2000" b="1" dirty="0"/>
              <a:t>Command</a:t>
            </a:r>
            <a:r>
              <a:rPr lang="zh-TW" altLang="en-US" sz="2000" b="1" dirty="0"/>
              <a:t>：</a:t>
            </a:r>
            <a:endParaRPr lang="en-US" altLang="zh-TW" sz="2000" b="1" dirty="0"/>
          </a:p>
          <a:p>
            <a:pPr>
              <a:defRPr/>
            </a:pPr>
            <a:endParaRPr lang="en-US" altLang="zh-TW" sz="2000" dirty="0"/>
          </a:p>
        </p:txBody>
      </p:sp>
      <p:graphicFrame>
        <p:nvGraphicFramePr>
          <p:cNvPr id="2" name="表格 1">
            <a:extLst>
              <a:ext uri="{FF2B5EF4-FFF2-40B4-BE49-F238E27FC236}">
                <a16:creationId xmlns:a16="http://schemas.microsoft.com/office/drawing/2014/main" id="{9AF4AB15-CB1F-8B29-FF59-1790A9225706}"/>
              </a:ext>
            </a:extLst>
          </p:cNvPr>
          <p:cNvGraphicFramePr>
            <a:graphicFrameLocks noGrp="1"/>
          </p:cNvGraphicFramePr>
          <p:nvPr>
            <p:extLst>
              <p:ext uri="{D42A27DB-BD31-4B8C-83A1-F6EECF244321}">
                <p14:modId xmlns:p14="http://schemas.microsoft.com/office/powerpoint/2010/main" val="678427693"/>
              </p:ext>
            </p:extLst>
          </p:nvPr>
        </p:nvGraphicFramePr>
        <p:xfrm>
          <a:off x="912011" y="2542302"/>
          <a:ext cx="5697543" cy="707886"/>
        </p:xfrm>
        <a:graphic>
          <a:graphicData uri="http://schemas.openxmlformats.org/drawingml/2006/table">
            <a:tbl>
              <a:tblPr>
                <a:tableStyleId>{5C22544A-7EE6-4342-B048-85BDC9FD1C3A}</a:tableStyleId>
              </a:tblPr>
              <a:tblGrid>
                <a:gridCol w="1195974">
                  <a:extLst>
                    <a:ext uri="{9D8B030D-6E8A-4147-A177-3AD203B41FA5}">
                      <a16:colId xmlns:a16="http://schemas.microsoft.com/office/drawing/2014/main" val="3315535983"/>
                    </a:ext>
                  </a:extLst>
                </a:gridCol>
                <a:gridCol w="491477">
                  <a:extLst>
                    <a:ext uri="{9D8B030D-6E8A-4147-A177-3AD203B41FA5}">
                      <a16:colId xmlns:a16="http://schemas.microsoft.com/office/drawing/2014/main" val="2960066220"/>
                    </a:ext>
                  </a:extLst>
                </a:gridCol>
                <a:gridCol w="2293562">
                  <a:extLst>
                    <a:ext uri="{9D8B030D-6E8A-4147-A177-3AD203B41FA5}">
                      <a16:colId xmlns:a16="http://schemas.microsoft.com/office/drawing/2014/main" val="3319955928"/>
                    </a:ext>
                  </a:extLst>
                </a:gridCol>
                <a:gridCol w="1716530">
                  <a:extLst>
                    <a:ext uri="{9D8B030D-6E8A-4147-A177-3AD203B41FA5}">
                      <a16:colId xmlns:a16="http://schemas.microsoft.com/office/drawing/2014/main" val="163623680"/>
                    </a:ext>
                  </a:extLst>
                </a:gridCol>
              </a:tblGrid>
              <a:tr h="295314">
                <a:tc>
                  <a:txBody>
                    <a:bodyPr/>
                    <a:lstStyle/>
                    <a:p>
                      <a:pPr algn="ctr" fontAlgn="ctr">
                        <a:buNone/>
                      </a:pPr>
                      <a:r>
                        <a:rPr lang="en-US" sz="1100" b="1" u="none" strike="noStrike" dirty="0">
                          <a:effectLst/>
                        </a:rPr>
                        <a:t>Test</a:t>
                      </a:r>
                      <a:r>
                        <a:rPr lang="en-US" sz="1100" u="none" strike="noStrike" dirty="0">
                          <a:effectLst/>
                        </a:rPr>
                        <a:t> </a:t>
                      </a:r>
                      <a:r>
                        <a:rPr lang="en-US" sz="1100" b="1" u="none" strike="noStrike" dirty="0">
                          <a:effectLst/>
                        </a:rPr>
                        <a:t>item</a:t>
                      </a:r>
                      <a:endParaRPr lang="en-US" sz="1100" b="1"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ctr" fontAlgn="ctr">
                        <a:buNone/>
                      </a:pPr>
                      <a:r>
                        <a:rPr lang="zh-TW" altLang="en-US" sz="1100" u="none" strike="noStrike" dirty="0">
                          <a:effectLst/>
                        </a:rPr>
                        <a:t>　</a:t>
                      </a: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ctr" fontAlgn="ctr">
                        <a:buNone/>
                      </a:pPr>
                      <a:r>
                        <a:rPr lang="en-US" sz="1100" b="1" u="none" strike="noStrike" dirty="0">
                          <a:effectLst/>
                        </a:rPr>
                        <a:t>DUT</a:t>
                      </a:r>
                      <a:r>
                        <a:rPr lang="en-US" sz="1100" u="none" strike="noStrike" dirty="0">
                          <a:effectLst/>
                        </a:rPr>
                        <a:t>  </a:t>
                      </a:r>
                      <a:r>
                        <a:rPr lang="en-US" sz="1100" b="1" u="none" strike="noStrike" dirty="0">
                          <a:effectLst/>
                        </a:rPr>
                        <a:t>command</a:t>
                      </a:r>
                      <a:endParaRPr lang="en-US" sz="1100" b="1" i="0" u="none" strike="noStrike" dirty="0">
                        <a:solidFill>
                          <a:srgbClr val="FF0000"/>
                        </a:solidFill>
                        <a:effectLst/>
                        <a:latin typeface="新細明體" panose="02020500000000000000" pitchFamily="18" charset="-120"/>
                        <a:ea typeface="新細明體" panose="02020500000000000000" pitchFamily="18" charset="-120"/>
                      </a:endParaRPr>
                    </a:p>
                  </a:txBody>
                  <a:tcPr marL="9525" marR="9525" marT="9525" marB="0"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l" fontAlgn="ctr">
                        <a:buNone/>
                      </a:pPr>
                      <a:r>
                        <a:rPr lang="en-US" altLang="zh-TW" sz="1100" b="1" kern="1200" dirty="0">
                          <a:solidFill>
                            <a:schemeClr val="tx1"/>
                          </a:solidFill>
                          <a:effectLst/>
                          <a:latin typeface="+mn-lt"/>
                          <a:ea typeface="+mn-ea"/>
                          <a:cs typeface="+mn-cs"/>
                        </a:rPr>
                        <a:t>Description</a:t>
                      </a: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6">
                        <a:lumMod val="40000"/>
                        <a:lumOff val="60000"/>
                      </a:schemeClr>
                    </a:solidFill>
                  </a:tcPr>
                </a:tc>
                <a:extLst>
                  <a:ext uri="{0D108BD9-81ED-4DB2-BD59-A6C34878D82A}">
                    <a16:rowId xmlns:a16="http://schemas.microsoft.com/office/drawing/2014/main" val="3824094486"/>
                  </a:ext>
                </a:extLst>
              </a:tr>
              <a:tr h="41257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400" b="1" dirty="0"/>
                        <a:t>FW</a:t>
                      </a:r>
                      <a:endParaRPr lang="en-US" altLang="zh-TW" sz="1200" b="0" i="0" u="none" strike="noStrike" dirty="0">
                        <a:solidFill>
                          <a:srgbClr val="000000"/>
                        </a:solidFill>
                        <a:effectLst/>
                        <a:latin typeface="新細明體" panose="02020500000000000000" pitchFamily="18" charset="-120"/>
                        <a:ea typeface="新細明體" panose="02020500000000000000" pitchFamily="18" charset="-120"/>
                      </a:endParaRP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fontAlgn="ctr">
                        <a:buNone/>
                      </a:pPr>
                      <a:r>
                        <a:rPr lang="en-US" altLang="zh-TW" sz="1100" b="0" i="0" u="none" strike="noStrike" dirty="0">
                          <a:solidFill>
                            <a:srgbClr val="000000"/>
                          </a:solidFill>
                          <a:effectLst/>
                          <a:latin typeface="+mn-lt"/>
                          <a:ea typeface="新細明體" panose="02020500000000000000" pitchFamily="18" charset="-120"/>
                        </a:rPr>
                        <a:t>1</a:t>
                      </a:r>
                    </a:p>
                  </a:txBody>
                  <a:tcPr marL="9525" marR="9525" marT="9525" marB="0" anchor="ctr">
                    <a:lnB w="12700" cap="flat" cmpd="sng" algn="ctr">
                      <a:solidFill>
                        <a:schemeClr val="tx1"/>
                      </a:solidFill>
                      <a:prstDash val="solid"/>
                      <a:round/>
                      <a:headEnd type="none" w="med" len="med"/>
                      <a:tailEnd type="none" w="med" len="med"/>
                    </a:lnB>
                  </a:tcPr>
                </a:tc>
                <a:tc>
                  <a:txBody>
                    <a:bodyPr/>
                    <a:lstStyle/>
                    <a:p>
                      <a:r>
                        <a:rPr lang="en-US" altLang="zh-TW" sz="1200" b="0" kern="1200" dirty="0">
                          <a:solidFill>
                            <a:schemeClr val="dk1"/>
                          </a:solidFill>
                          <a:effectLst/>
                          <a:latin typeface="+mn-lt"/>
                          <a:ea typeface="+mn-ea"/>
                          <a:cs typeface="+mn-cs"/>
                        </a:rPr>
                        <a:t>ft </a:t>
                      </a:r>
                      <a:r>
                        <a:rPr lang="en-US" altLang="zh-TW" sz="1200" b="0" kern="1200" dirty="0" err="1">
                          <a:solidFill>
                            <a:schemeClr val="dk1"/>
                          </a:solidFill>
                          <a:effectLst/>
                          <a:latin typeface="+mn-lt"/>
                          <a:ea typeface="+mn-ea"/>
                          <a:cs typeface="+mn-cs"/>
                        </a:rPr>
                        <a:t>fw</a:t>
                      </a:r>
                      <a:r>
                        <a:rPr lang="en-US" altLang="zh-TW" sz="1200" b="0" kern="1200" dirty="0">
                          <a:solidFill>
                            <a:schemeClr val="dk1"/>
                          </a:solidFill>
                          <a:effectLst/>
                          <a:latin typeface="+mn-lt"/>
                          <a:ea typeface="+mn-ea"/>
                          <a:cs typeface="+mn-cs"/>
                        </a:rPr>
                        <a:t> </a:t>
                      </a:r>
                      <a:r>
                        <a:rPr lang="en-US" altLang="zh-TW" sz="1200" b="0" kern="1200" dirty="0" err="1">
                          <a:solidFill>
                            <a:schemeClr val="dk1"/>
                          </a:solidFill>
                          <a:effectLst/>
                          <a:latin typeface="+mn-lt"/>
                          <a:ea typeface="+mn-ea"/>
                          <a:cs typeface="+mn-cs"/>
                        </a:rPr>
                        <a:t>ver</a:t>
                      </a:r>
                      <a:endParaRPr lang="en-US" altLang="zh-TW" sz="1200" b="0" kern="1200" dirty="0">
                        <a:solidFill>
                          <a:schemeClr val="dk1"/>
                        </a:solidFill>
                        <a:effectLst/>
                        <a:latin typeface="+mn-lt"/>
                        <a:ea typeface="+mn-ea"/>
                        <a:cs typeface="+mn-cs"/>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zh-TW" altLang="en-US" sz="1100" b="0" i="0" u="none" strike="noStrike" kern="1200" dirty="0">
                          <a:solidFill>
                            <a:schemeClr val="tx1"/>
                          </a:solidFill>
                          <a:effectLst/>
                          <a:latin typeface="+mn-lt"/>
                          <a:ea typeface="+mn-ea"/>
                          <a:cs typeface="+mn-cs"/>
                        </a:rPr>
                        <a:t>讀取</a:t>
                      </a:r>
                      <a:r>
                        <a:rPr lang="zh-TW" altLang="en-US" sz="1100" b="0" kern="1200" dirty="0">
                          <a:solidFill>
                            <a:schemeClr val="tx1"/>
                          </a:solidFill>
                          <a:effectLst/>
                          <a:latin typeface="+mn-lt"/>
                          <a:ea typeface="+mn-ea"/>
                          <a:cs typeface="+mn-cs"/>
                        </a:rPr>
                        <a:t>韌體版本</a:t>
                      </a:r>
                      <a:endParaRPr lang="zh-TW" altLang="zh-TW" sz="1100" b="0" i="0" u="none" strike="noStrike" kern="1200" dirty="0">
                        <a:solidFill>
                          <a:schemeClr val="tx1"/>
                        </a:solidFill>
                        <a:effectLst/>
                        <a:latin typeface="+mn-lt"/>
                        <a:ea typeface="+mn-ea"/>
                        <a:cs typeface="+mn-cs"/>
                      </a:endParaRPr>
                    </a:p>
                  </a:txBody>
                  <a:tcPr marL="9525" marR="9525" marT="9525"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84187575"/>
                  </a:ext>
                </a:extLst>
              </a:tr>
            </a:tbl>
          </a:graphicData>
        </a:graphic>
      </p:graphicFrame>
      <p:pic>
        <p:nvPicPr>
          <p:cNvPr id="5" name="圖片 4" descr="一張含有 文字, 收據, 字型, 白色 的圖片&#10;&#10;AI 產生的內容可能不正確。">
            <a:extLst>
              <a:ext uri="{FF2B5EF4-FFF2-40B4-BE49-F238E27FC236}">
                <a16:creationId xmlns:a16="http://schemas.microsoft.com/office/drawing/2014/main" id="{09D28CBE-63EC-F3AF-1BC3-6426366078F7}"/>
              </a:ext>
            </a:extLst>
          </p:cNvPr>
          <p:cNvPicPr>
            <a:picLocks noChangeAspect="1"/>
          </p:cNvPicPr>
          <p:nvPr/>
        </p:nvPicPr>
        <p:blipFill>
          <a:blip r:embed="rId3"/>
          <a:stretch>
            <a:fillRect/>
          </a:stretch>
        </p:blipFill>
        <p:spPr>
          <a:xfrm>
            <a:off x="912011" y="3667006"/>
            <a:ext cx="6121400" cy="1320800"/>
          </a:xfrm>
          <a:prstGeom prst="rect">
            <a:avLst/>
          </a:prstGeom>
        </p:spPr>
      </p:pic>
      <p:sp>
        <p:nvSpPr>
          <p:cNvPr id="7" name="文字方塊 6">
            <a:extLst>
              <a:ext uri="{FF2B5EF4-FFF2-40B4-BE49-F238E27FC236}">
                <a16:creationId xmlns:a16="http://schemas.microsoft.com/office/drawing/2014/main" id="{1269E4DD-A71C-79C0-3D35-92402D0E5854}"/>
              </a:ext>
            </a:extLst>
          </p:cNvPr>
          <p:cNvSpPr txBox="1"/>
          <p:nvPr/>
        </p:nvSpPr>
        <p:spPr>
          <a:xfrm>
            <a:off x="1817370" y="5035292"/>
            <a:ext cx="4083169" cy="369332"/>
          </a:xfrm>
          <a:prstGeom prst="rect">
            <a:avLst/>
          </a:prstGeom>
          <a:noFill/>
        </p:spPr>
        <p:txBody>
          <a:bodyPr wrap="none" rtlCol="0">
            <a:spAutoFit/>
          </a:bodyPr>
          <a:lstStyle/>
          <a:p>
            <a:r>
              <a:rPr kumimoji="1" lang="zh-TW" altLang="en-US" dirty="0"/>
              <a:t>讀取驗證</a:t>
            </a:r>
            <a:r>
              <a:rPr kumimoji="1" lang="en-US" altLang="zh-TW" dirty="0"/>
              <a:t>FW active </a:t>
            </a:r>
            <a:r>
              <a:rPr kumimoji="1" lang="zh-TW" altLang="en-US" dirty="0"/>
              <a:t>和</a:t>
            </a:r>
            <a:r>
              <a:rPr kumimoji="1" lang="en-US" altLang="zh-TW" dirty="0"/>
              <a:t> inactive version</a:t>
            </a:r>
            <a:endParaRPr kumimoji="1" lang="zh-TW" altLang="en-US" dirty="0"/>
          </a:p>
        </p:txBody>
      </p:sp>
    </p:spTree>
    <p:extLst>
      <p:ext uri="{BB962C8B-B14F-4D97-AF65-F5344CB8AC3E}">
        <p14:creationId xmlns:p14="http://schemas.microsoft.com/office/powerpoint/2010/main" val="16380896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08FF5B-3464-6EDF-8384-BE0779805540}"/>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BE9B5256-B773-F464-44C5-586F716601F3}"/>
              </a:ext>
            </a:extLst>
          </p:cNvPr>
          <p:cNvSpPr>
            <a:spLocks noGrp="1"/>
          </p:cNvSpPr>
          <p:nvPr>
            <p:ph type="body" sz="quarter" idx="13"/>
          </p:nvPr>
        </p:nvSpPr>
        <p:spPr/>
        <p:txBody>
          <a:bodyPr/>
          <a:lstStyle/>
          <a:p>
            <a:r>
              <a:rPr lang="en-US" dirty="0"/>
              <a:t>Terminology  </a:t>
            </a:r>
          </a:p>
          <a:p>
            <a:endParaRPr lang="en-US" dirty="0"/>
          </a:p>
        </p:txBody>
      </p:sp>
      <p:sp>
        <p:nvSpPr>
          <p:cNvPr id="6" name="文字方塊 5">
            <a:extLst>
              <a:ext uri="{FF2B5EF4-FFF2-40B4-BE49-F238E27FC236}">
                <a16:creationId xmlns:a16="http://schemas.microsoft.com/office/drawing/2014/main" id="{1882F48A-8DC7-B49F-6349-BF2F2FCC9D9B}"/>
              </a:ext>
            </a:extLst>
          </p:cNvPr>
          <p:cNvSpPr txBox="1"/>
          <p:nvPr/>
        </p:nvSpPr>
        <p:spPr>
          <a:xfrm>
            <a:off x="571500" y="938449"/>
            <a:ext cx="8886825" cy="1785104"/>
          </a:xfrm>
          <a:prstGeom prst="rect">
            <a:avLst/>
          </a:prstGeom>
          <a:noFill/>
        </p:spPr>
        <p:txBody>
          <a:bodyPr wrap="square">
            <a:spAutoFit/>
          </a:bodyPr>
          <a:lstStyle/>
          <a:p>
            <a:pPr>
              <a:lnSpc>
                <a:spcPct val="150000"/>
              </a:lnSpc>
              <a:defRPr/>
            </a:pPr>
            <a:r>
              <a:rPr lang="en-US" altLang="zh-TW" sz="2000" b="1" kern="1200" dirty="0">
                <a:solidFill>
                  <a:schemeClr val="tx1"/>
                </a:solidFill>
                <a:effectLst/>
                <a:latin typeface="+mn-lt"/>
                <a:ea typeface="+mn-ea"/>
                <a:cs typeface="+mn-cs"/>
              </a:rPr>
              <a:t>BTID</a:t>
            </a:r>
            <a:r>
              <a:rPr lang="zh-TW" altLang="en-US" sz="2000" b="1" kern="1200" dirty="0">
                <a:solidFill>
                  <a:schemeClr val="tx1"/>
                </a:solidFill>
                <a:effectLst/>
                <a:latin typeface="+mn-lt"/>
                <a:ea typeface="+mn-ea"/>
                <a:cs typeface="+mn-cs"/>
              </a:rPr>
              <a:t>：</a:t>
            </a:r>
          </a:p>
          <a:p>
            <a:pPr marL="800100" lvl="1" indent="-342900">
              <a:lnSpc>
                <a:spcPct val="150000"/>
              </a:lnSpc>
              <a:buFont typeface="Arial" panose="020B0604020202020204" pitchFamily="34" charset="0"/>
              <a:buChar char="•"/>
              <a:defRPr/>
            </a:pPr>
            <a:r>
              <a:rPr lang="en-US" altLang="zh-TW" sz="2000" dirty="0"/>
              <a:t>Read and verify the BTID</a:t>
            </a:r>
          </a:p>
          <a:p>
            <a:pPr>
              <a:lnSpc>
                <a:spcPct val="150000"/>
              </a:lnSpc>
              <a:defRPr/>
            </a:pPr>
            <a:r>
              <a:rPr lang="en-US" altLang="zh-TW" sz="2000" b="1" dirty="0"/>
              <a:t>Command</a:t>
            </a:r>
            <a:r>
              <a:rPr lang="zh-TW" altLang="en-US" sz="2000" b="1" dirty="0"/>
              <a:t>：</a:t>
            </a:r>
            <a:endParaRPr lang="en-US" altLang="zh-TW" sz="2000" b="1" dirty="0"/>
          </a:p>
          <a:p>
            <a:pPr>
              <a:defRPr/>
            </a:pPr>
            <a:endParaRPr lang="en-US" altLang="zh-TW" sz="2000" dirty="0"/>
          </a:p>
        </p:txBody>
      </p:sp>
      <p:graphicFrame>
        <p:nvGraphicFramePr>
          <p:cNvPr id="2" name="表格 1">
            <a:extLst>
              <a:ext uri="{FF2B5EF4-FFF2-40B4-BE49-F238E27FC236}">
                <a16:creationId xmlns:a16="http://schemas.microsoft.com/office/drawing/2014/main" id="{2D28CB12-C2E5-EF8C-77C0-FA358C122AA7}"/>
              </a:ext>
            </a:extLst>
          </p:cNvPr>
          <p:cNvGraphicFramePr>
            <a:graphicFrameLocks noGrp="1"/>
          </p:cNvGraphicFramePr>
          <p:nvPr>
            <p:extLst>
              <p:ext uri="{D42A27DB-BD31-4B8C-83A1-F6EECF244321}">
                <p14:modId xmlns:p14="http://schemas.microsoft.com/office/powerpoint/2010/main" val="934172772"/>
              </p:ext>
            </p:extLst>
          </p:nvPr>
        </p:nvGraphicFramePr>
        <p:xfrm>
          <a:off x="912011" y="2542302"/>
          <a:ext cx="5697543" cy="1533030"/>
        </p:xfrm>
        <a:graphic>
          <a:graphicData uri="http://schemas.openxmlformats.org/drawingml/2006/table">
            <a:tbl>
              <a:tblPr>
                <a:tableStyleId>{5C22544A-7EE6-4342-B048-85BDC9FD1C3A}</a:tableStyleId>
              </a:tblPr>
              <a:tblGrid>
                <a:gridCol w="1195974">
                  <a:extLst>
                    <a:ext uri="{9D8B030D-6E8A-4147-A177-3AD203B41FA5}">
                      <a16:colId xmlns:a16="http://schemas.microsoft.com/office/drawing/2014/main" val="3315535983"/>
                    </a:ext>
                  </a:extLst>
                </a:gridCol>
                <a:gridCol w="491477">
                  <a:extLst>
                    <a:ext uri="{9D8B030D-6E8A-4147-A177-3AD203B41FA5}">
                      <a16:colId xmlns:a16="http://schemas.microsoft.com/office/drawing/2014/main" val="2960066220"/>
                    </a:ext>
                  </a:extLst>
                </a:gridCol>
                <a:gridCol w="2293562">
                  <a:extLst>
                    <a:ext uri="{9D8B030D-6E8A-4147-A177-3AD203B41FA5}">
                      <a16:colId xmlns:a16="http://schemas.microsoft.com/office/drawing/2014/main" val="3319955928"/>
                    </a:ext>
                  </a:extLst>
                </a:gridCol>
                <a:gridCol w="1716530">
                  <a:extLst>
                    <a:ext uri="{9D8B030D-6E8A-4147-A177-3AD203B41FA5}">
                      <a16:colId xmlns:a16="http://schemas.microsoft.com/office/drawing/2014/main" val="163623680"/>
                    </a:ext>
                  </a:extLst>
                </a:gridCol>
              </a:tblGrid>
              <a:tr h="295314">
                <a:tc>
                  <a:txBody>
                    <a:bodyPr/>
                    <a:lstStyle/>
                    <a:p>
                      <a:pPr algn="ctr" fontAlgn="ctr">
                        <a:buNone/>
                      </a:pPr>
                      <a:r>
                        <a:rPr lang="en-US" sz="1100" b="1" u="none" strike="noStrike" dirty="0">
                          <a:effectLst/>
                        </a:rPr>
                        <a:t>Test</a:t>
                      </a:r>
                      <a:r>
                        <a:rPr lang="en-US" sz="1100" u="none" strike="noStrike" dirty="0">
                          <a:effectLst/>
                        </a:rPr>
                        <a:t> </a:t>
                      </a:r>
                      <a:r>
                        <a:rPr lang="en-US" sz="1100" b="1" u="none" strike="noStrike" dirty="0">
                          <a:effectLst/>
                        </a:rPr>
                        <a:t>item</a:t>
                      </a:r>
                      <a:endParaRPr lang="en-US" sz="1100" b="1"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ctr" fontAlgn="ctr">
                        <a:buNone/>
                      </a:pPr>
                      <a:r>
                        <a:rPr lang="zh-TW" altLang="en-US" sz="1100" u="none" strike="noStrike" dirty="0">
                          <a:effectLst/>
                        </a:rPr>
                        <a:t>　</a:t>
                      </a: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ctr" fontAlgn="ctr">
                        <a:buNone/>
                      </a:pPr>
                      <a:r>
                        <a:rPr lang="en-US" sz="1100" b="1" u="none" strike="noStrike" dirty="0">
                          <a:effectLst/>
                        </a:rPr>
                        <a:t>DUT</a:t>
                      </a:r>
                      <a:r>
                        <a:rPr lang="en-US" sz="1100" u="none" strike="noStrike" dirty="0">
                          <a:effectLst/>
                        </a:rPr>
                        <a:t>  </a:t>
                      </a:r>
                      <a:r>
                        <a:rPr lang="en-US" sz="1100" b="1" u="none" strike="noStrike" dirty="0">
                          <a:effectLst/>
                        </a:rPr>
                        <a:t>command</a:t>
                      </a:r>
                      <a:endParaRPr lang="en-US" sz="1100" b="1" i="0" u="none" strike="noStrike" dirty="0">
                        <a:solidFill>
                          <a:srgbClr val="FF0000"/>
                        </a:solidFill>
                        <a:effectLst/>
                        <a:latin typeface="新細明體" panose="02020500000000000000" pitchFamily="18" charset="-120"/>
                        <a:ea typeface="新細明體" panose="02020500000000000000" pitchFamily="18" charset="-120"/>
                      </a:endParaRPr>
                    </a:p>
                  </a:txBody>
                  <a:tcPr marL="9525" marR="9525" marT="9525" marB="0"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l" fontAlgn="ctr">
                        <a:buNone/>
                      </a:pPr>
                      <a:r>
                        <a:rPr lang="en-US" altLang="zh-TW" sz="1100" b="1" kern="1200" dirty="0">
                          <a:solidFill>
                            <a:schemeClr val="tx1"/>
                          </a:solidFill>
                          <a:effectLst/>
                          <a:latin typeface="+mn-lt"/>
                          <a:ea typeface="+mn-ea"/>
                          <a:cs typeface="+mn-cs"/>
                        </a:rPr>
                        <a:t>Description</a:t>
                      </a: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6">
                        <a:lumMod val="40000"/>
                        <a:lumOff val="60000"/>
                      </a:schemeClr>
                    </a:solidFill>
                  </a:tcPr>
                </a:tc>
                <a:extLst>
                  <a:ext uri="{0D108BD9-81ED-4DB2-BD59-A6C34878D82A}">
                    <a16:rowId xmlns:a16="http://schemas.microsoft.com/office/drawing/2014/main" val="3824094486"/>
                  </a:ext>
                </a:extLst>
              </a:tr>
              <a:tr h="412572">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400" b="1" kern="1200" dirty="0">
                          <a:solidFill>
                            <a:schemeClr val="tx1"/>
                          </a:solidFill>
                          <a:effectLst/>
                          <a:latin typeface="+mn-lt"/>
                          <a:ea typeface="+mn-ea"/>
                          <a:cs typeface="+mn-cs"/>
                        </a:rPr>
                        <a:t>BTID</a:t>
                      </a:r>
                      <a:endParaRPr lang="en-US" altLang="zh-TW" sz="1200" b="0" i="0" u="none" strike="noStrike" dirty="0">
                        <a:solidFill>
                          <a:srgbClr val="000000"/>
                        </a:solidFill>
                        <a:effectLst/>
                        <a:latin typeface="新細明體" panose="02020500000000000000" pitchFamily="18" charset="-120"/>
                        <a:ea typeface="新細明體" panose="02020500000000000000" pitchFamily="18" charset="-120"/>
                      </a:endParaRP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fontAlgn="ctr">
                        <a:buNone/>
                      </a:pPr>
                      <a:r>
                        <a:rPr lang="en-US" altLang="zh-TW" sz="1100" b="0" i="0" u="none" strike="noStrike" dirty="0">
                          <a:solidFill>
                            <a:srgbClr val="000000"/>
                          </a:solidFill>
                          <a:effectLst/>
                          <a:latin typeface="+mn-lt"/>
                          <a:ea typeface="新細明體" panose="02020500000000000000" pitchFamily="18" charset="-120"/>
                        </a:rPr>
                        <a:t>1</a:t>
                      </a:r>
                    </a:p>
                  </a:txBody>
                  <a:tcPr marL="9525" marR="9525" marT="9525" marB="0" anchor="ctr"/>
                </a:tc>
                <a:tc>
                  <a:txBody>
                    <a:bodyPr/>
                    <a:lstStyle/>
                    <a:p>
                      <a:r>
                        <a:rPr lang="en-US" altLang="zh-TW" sz="1200" b="0" kern="1200" dirty="0">
                          <a:solidFill>
                            <a:schemeClr val="dk1"/>
                          </a:solidFill>
                          <a:effectLst/>
                          <a:latin typeface="+mn-lt"/>
                          <a:ea typeface="+mn-ea"/>
                          <a:cs typeface="+mn-cs"/>
                        </a:rPr>
                        <a:t>ft </a:t>
                      </a:r>
                      <a:r>
                        <a:rPr lang="en-US" altLang="zh-TW" sz="1200" b="0" kern="1200" dirty="0" err="1">
                          <a:solidFill>
                            <a:schemeClr val="dk1"/>
                          </a:solidFill>
                          <a:effectLst/>
                          <a:latin typeface="+mn-lt"/>
                          <a:ea typeface="+mn-ea"/>
                          <a:cs typeface="+mn-cs"/>
                        </a:rPr>
                        <a:t>btid</a:t>
                      </a:r>
                      <a:r>
                        <a:rPr lang="en-US" altLang="zh-TW" sz="1200" b="0" kern="1200" dirty="0">
                          <a:solidFill>
                            <a:schemeClr val="dk1"/>
                          </a:solidFill>
                          <a:effectLst/>
                          <a:latin typeface="+mn-lt"/>
                          <a:ea typeface="+mn-ea"/>
                          <a:cs typeface="+mn-cs"/>
                        </a:rPr>
                        <a:t> read</a:t>
                      </a:r>
                    </a:p>
                  </a:txBody>
                  <a:tcPr marL="9525" marR="9525" marT="9525" marB="0" anchor="ct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zh-TW" altLang="en-US" sz="1100" b="0" i="0" u="none" strike="noStrike" kern="1200" dirty="0">
                          <a:solidFill>
                            <a:schemeClr val="tx1"/>
                          </a:solidFill>
                          <a:effectLst/>
                          <a:latin typeface="+mn-lt"/>
                          <a:ea typeface="+mn-ea"/>
                          <a:cs typeface="+mn-cs"/>
                        </a:rPr>
                        <a:t>讀取</a:t>
                      </a:r>
                      <a:r>
                        <a:rPr lang="en-US" altLang="zh-TW" sz="1100" b="0" i="0" u="none" strike="noStrike" kern="1200" dirty="0" err="1">
                          <a:solidFill>
                            <a:schemeClr val="tx1"/>
                          </a:solidFill>
                          <a:effectLst/>
                          <a:latin typeface="+mn-lt"/>
                          <a:ea typeface="+mn-ea"/>
                          <a:cs typeface="+mn-cs"/>
                        </a:rPr>
                        <a:t>bitd</a:t>
                      </a:r>
                      <a:endParaRPr lang="zh-TW" altLang="zh-TW" sz="1100" b="0" i="0" u="none" strike="noStrike" kern="1200" dirty="0">
                        <a:solidFill>
                          <a:schemeClr val="tx1"/>
                        </a:solidFill>
                        <a:effectLst/>
                        <a:latin typeface="+mn-lt"/>
                        <a:ea typeface="+mn-ea"/>
                        <a:cs typeface="+mn-cs"/>
                      </a:endParaRPr>
                    </a:p>
                  </a:txBody>
                  <a:tcPr marL="9525" marR="9525" marT="9525"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884187575"/>
                  </a:ext>
                </a:extLst>
              </a:tr>
              <a:tr h="412572">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TW" sz="1200" b="0" i="0" u="none" strike="noStrike" dirty="0">
                        <a:solidFill>
                          <a:srgbClr val="000000"/>
                        </a:solidFill>
                        <a:effectLst/>
                        <a:latin typeface="新細明體" panose="02020500000000000000" pitchFamily="18" charset="-120"/>
                        <a:ea typeface="新細明體" panose="02020500000000000000" pitchFamily="18" charset="-120"/>
                      </a:endParaRP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fontAlgn="ctr">
                        <a:buNone/>
                      </a:pPr>
                      <a:r>
                        <a:rPr lang="en-US" altLang="zh-TW" sz="1100" b="0" i="0" u="none" strike="noStrike" dirty="0">
                          <a:solidFill>
                            <a:srgbClr val="000000"/>
                          </a:solidFill>
                          <a:effectLst/>
                          <a:latin typeface="+mn-lt"/>
                          <a:ea typeface="新細明體" panose="02020500000000000000" pitchFamily="18" charset="-120"/>
                        </a:rPr>
                        <a:t>2</a:t>
                      </a:r>
                    </a:p>
                  </a:txBody>
                  <a:tcPr marL="9525" marR="9525" marT="9525"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zh-TW" sz="1100" b="0" i="0" u="none" strike="noStrike" kern="1200" dirty="0">
                          <a:solidFill>
                            <a:srgbClr val="000000"/>
                          </a:solidFill>
                          <a:effectLst/>
                          <a:latin typeface="+mn-lt"/>
                          <a:ea typeface="新細明體" panose="02020500000000000000" pitchFamily="18" charset="-120"/>
                          <a:cs typeface="+mn-cs"/>
                        </a:rPr>
                        <a:t>ft </a:t>
                      </a:r>
                      <a:r>
                        <a:rPr lang="en-US" altLang="zh-TW" sz="1100" b="0" i="0" u="none" strike="noStrike" kern="1200" dirty="0" err="1">
                          <a:solidFill>
                            <a:srgbClr val="000000"/>
                          </a:solidFill>
                          <a:effectLst/>
                          <a:latin typeface="+mn-lt"/>
                          <a:ea typeface="新細明體" panose="02020500000000000000" pitchFamily="18" charset="-120"/>
                          <a:cs typeface="+mn-cs"/>
                        </a:rPr>
                        <a:t>btid</a:t>
                      </a:r>
                      <a:r>
                        <a:rPr lang="en-US" altLang="zh-TW" sz="1100" b="0" i="0" u="none" strike="noStrike" kern="1200" dirty="0">
                          <a:solidFill>
                            <a:srgbClr val="000000"/>
                          </a:solidFill>
                          <a:effectLst/>
                          <a:latin typeface="+mn-lt"/>
                          <a:ea typeface="新細明體" panose="02020500000000000000" pitchFamily="18" charset="-120"/>
                          <a:cs typeface="+mn-cs"/>
                        </a:rPr>
                        <a:t> write 1</a:t>
                      </a:r>
                    </a:p>
                  </a:txBody>
                  <a:tcPr marL="9525" marR="9525" marT="9525" marB="0" anchor="ct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zh-TW" altLang="en-US" sz="1100" b="0" i="0" u="none" strike="noStrike" kern="1200" dirty="0">
                          <a:solidFill>
                            <a:srgbClr val="FF0000"/>
                          </a:solidFill>
                          <a:effectLst/>
                          <a:latin typeface="+mn-lt"/>
                          <a:ea typeface="+mn-ea"/>
                          <a:cs typeface="+mn-cs"/>
                        </a:rPr>
                        <a:t>若沒讀取到</a:t>
                      </a:r>
                      <a:r>
                        <a:rPr lang="en-US" altLang="zh-TW" sz="1100" b="0" i="0" u="none" strike="noStrike" kern="1200" dirty="0" err="1">
                          <a:solidFill>
                            <a:srgbClr val="FF0000"/>
                          </a:solidFill>
                          <a:effectLst/>
                          <a:latin typeface="+mn-lt"/>
                          <a:ea typeface="+mn-ea"/>
                          <a:cs typeface="+mn-cs"/>
                        </a:rPr>
                        <a:t>btid</a:t>
                      </a:r>
                      <a:r>
                        <a:rPr lang="zh-TW" altLang="en-US" sz="1100" b="0" i="0" u="none" strike="noStrike" kern="1200" dirty="0">
                          <a:solidFill>
                            <a:srgbClr val="FF0000"/>
                          </a:solidFill>
                          <a:effectLst/>
                          <a:latin typeface="+mn-lt"/>
                          <a:ea typeface="+mn-ea"/>
                          <a:cs typeface="+mn-cs"/>
                        </a:rPr>
                        <a:t>才寫入</a:t>
                      </a:r>
                      <a:endParaRPr lang="zh-TW" altLang="zh-TW" sz="1100" b="0" i="0" u="none" strike="noStrike" kern="1200" dirty="0">
                        <a:solidFill>
                          <a:srgbClr val="FF0000"/>
                        </a:solidFill>
                        <a:effectLst/>
                        <a:latin typeface="+mn-lt"/>
                        <a:ea typeface="+mn-ea"/>
                        <a:cs typeface="+mn-cs"/>
                      </a:endParaRPr>
                    </a:p>
                  </a:txBody>
                  <a:tcPr marL="9525" marR="9525" marT="9525"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877789875"/>
                  </a:ext>
                </a:extLst>
              </a:tr>
              <a:tr h="412572">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TW" sz="1200" b="0" i="0" u="none" strike="noStrike" dirty="0">
                        <a:solidFill>
                          <a:srgbClr val="000000"/>
                        </a:solidFill>
                        <a:effectLst/>
                        <a:latin typeface="新細明體" panose="02020500000000000000" pitchFamily="18" charset="-120"/>
                        <a:ea typeface="新細明體" panose="02020500000000000000" pitchFamily="18" charset="-120"/>
                      </a:endParaRP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fontAlgn="ctr">
                        <a:buNone/>
                      </a:pPr>
                      <a:r>
                        <a:rPr lang="en-US" altLang="zh-TW" sz="1100" b="0" i="0" u="none" strike="noStrike" dirty="0">
                          <a:solidFill>
                            <a:srgbClr val="000000"/>
                          </a:solidFill>
                          <a:effectLst/>
                          <a:latin typeface="+mn-lt"/>
                          <a:ea typeface="新細明體" panose="02020500000000000000" pitchFamily="18" charset="-120"/>
                        </a:rPr>
                        <a:t>3</a:t>
                      </a:r>
                    </a:p>
                  </a:txBody>
                  <a:tcPr marL="9525" marR="9525" marT="9525" marB="0" anchor="ctr">
                    <a:lnB w="12700" cap="flat" cmpd="sng" algn="ctr">
                      <a:solidFill>
                        <a:schemeClr val="tx1"/>
                      </a:solidFill>
                      <a:prstDash val="solid"/>
                      <a:round/>
                      <a:headEnd type="none" w="med" len="med"/>
                      <a:tailEnd type="none" w="med" len="med"/>
                    </a:lnB>
                  </a:tcPr>
                </a:tc>
                <a:tc>
                  <a:txBody>
                    <a:bodyPr/>
                    <a:lstStyle/>
                    <a:p>
                      <a:r>
                        <a:rPr lang="en-US" altLang="zh-TW" sz="1200" b="0" kern="1200" dirty="0">
                          <a:solidFill>
                            <a:schemeClr val="dk1"/>
                          </a:solidFill>
                          <a:effectLst/>
                          <a:latin typeface="+mn-lt"/>
                          <a:ea typeface="+mn-ea"/>
                          <a:cs typeface="+mn-cs"/>
                        </a:rPr>
                        <a:t>ft </a:t>
                      </a:r>
                      <a:r>
                        <a:rPr lang="en-US" altLang="zh-TW" sz="1200" b="0" kern="1200" dirty="0" err="1">
                          <a:solidFill>
                            <a:schemeClr val="dk1"/>
                          </a:solidFill>
                          <a:effectLst/>
                          <a:latin typeface="+mn-lt"/>
                          <a:ea typeface="+mn-ea"/>
                          <a:cs typeface="+mn-cs"/>
                        </a:rPr>
                        <a:t>btid</a:t>
                      </a:r>
                      <a:r>
                        <a:rPr lang="en-US" altLang="zh-TW" sz="1200" b="0" kern="1200" dirty="0">
                          <a:solidFill>
                            <a:schemeClr val="dk1"/>
                          </a:solidFill>
                          <a:effectLst/>
                          <a:latin typeface="+mn-lt"/>
                          <a:ea typeface="+mn-ea"/>
                          <a:cs typeface="+mn-cs"/>
                        </a:rPr>
                        <a:t> read</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zh-TW" altLang="en-US" sz="1100" b="0" i="0" u="none" strike="noStrike" kern="1200" dirty="0">
                          <a:solidFill>
                            <a:schemeClr val="tx1"/>
                          </a:solidFill>
                          <a:effectLst/>
                          <a:latin typeface="+mn-lt"/>
                          <a:ea typeface="+mn-ea"/>
                          <a:cs typeface="+mn-cs"/>
                        </a:rPr>
                        <a:t>驗證</a:t>
                      </a:r>
                      <a:r>
                        <a:rPr lang="en-US" altLang="zh-TW" sz="1100" b="0" i="0" u="none" strike="noStrike" kern="1200" dirty="0" err="1">
                          <a:solidFill>
                            <a:schemeClr val="tx1"/>
                          </a:solidFill>
                          <a:effectLst/>
                          <a:latin typeface="+mn-lt"/>
                          <a:ea typeface="+mn-ea"/>
                          <a:cs typeface="+mn-cs"/>
                        </a:rPr>
                        <a:t>bitd</a:t>
                      </a:r>
                      <a:endParaRPr lang="zh-TW" altLang="zh-TW" sz="1100" b="0" i="0" u="none" strike="noStrike" kern="1200" dirty="0">
                        <a:solidFill>
                          <a:schemeClr val="tx1"/>
                        </a:solidFill>
                        <a:effectLst/>
                        <a:latin typeface="+mn-lt"/>
                        <a:ea typeface="+mn-ea"/>
                        <a:cs typeface="+mn-cs"/>
                      </a:endParaRPr>
                    </a:p>
                  </a:txBody>
                  <a:tcPr marL="9525" marR="9525" marT="9525"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8252019"/>
                  </a:ext>
                </a:extLst>
              </a:tr>
            </a:tbl>
          </a:graphicData>
        </a:graphic>
      </p:graphicFrame>
    </p:spTree>
    <p:extLst>
      <p:ext uri="{BB962C8B-B14F-4D97-AF65-F5344CB8AC3E}">
        <p14:creationId xmlns:p14="http://schemas.microsoft.com/office/powerpoint/2010/main" val="17956067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8AC730-DA1F-D6B8-9D48-4DD24C6339AE}"/>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152A72CE-E4D7-3B35-8374-158DBA93A1D9}"/>
              </a:ext>
            </a:extLst>
          </p:cNvPr>
          <p:cNvSpPr>
            <a:spLocks noGrp="1"/>
          </p:cNvSpPr>
          <p:nvPr>
            <p:ph type="body" sz="quarter" idx="13"/>
          </p:nvPr>
        </p:nvSpPr>
        <p:spPr/>
        <p:txBody>
          <a:bodyPr/>
          <a:lstStyle/>
          <a:p>
            <a:r>
              <a:rPr lang="en-US" dirty="0"/>
              <a:t>Terminology  </a:t>
            </a:r>
          </a:p>
          <a:p>
            <a:endParaRPr lang="en-US" dirty="0"/>
          </a:p>
        </p:txBody>
      </p:sp>
      <p:sp>
        <p:nvSpPr>
          <p:cNvPr id="6" name="文字方塊 5">
            <a:extLst>
              <a:ext uri="{FF2B5EF4-FFF2-40B4-BE49-F238E27FC236}">
                <a16:creationId xmlns:a16="http://schemas.microsoft.com/office/drawing/2014/main" id="{6E6B3863-1318-3C0F-6023-B57CD886273D}"/>
              </a:ext>
            </a:extLst>
          </p:cNvPr>
          <p:cNvSpPr txBox="1"/>
          <p:nvPr/>
        </p:nvSpPr>
        <p:spPr>
          <a:xfrm>
            <a:off x="571500" y="938449"/>
            <a:ext cx="8886825" cy="1785104"/>
          </a:xfrm>
          <a:prstGeom prst="rect">
            <a:avLst/>
          </a:prstGeom>
          <a:noFill/>
        </p:spPr>
        <p:txBody>
          <a:bodyPr wrap="square">
            <a:spAutoFit/>
          </a:bodyPr>
          <a:lstStyle/>
          <a:p>
            <a:pPr>
              <a:lnSpc>
                <a:spcPct val="150000"/>
              </a:lnSpc>
              <a:defRPr/>
            </a:pPr>
            <a:r>
              <a:rPr lang="en-US" altLang="zh-TW" sz="2000" b="1" dirty="0"/>
              <a:t>USB</a:t>
            </a:r>
            <a:r>
              <a:rPr lang="zh-TW" altLang="en-US" sz="2000" b="1" kern="1200" dirty="0">
                <a:solidFill>
                  <a:schemeClr val="tx1"/>
                </a:solidFill>
                <a:effectLst/>
                <a:latin typeface="+mn-lt"/>
                <a:ea typeface="+mn-ea"/>
                <a:cs typeface="+mn-cs"/>
              </a:rPr>
              <a:t>：</a:t>
            </a:r>
          </a:p>
          <a:p>
            <a:pPr marL="800100" lvl="1" indent="-342900">
              <a:lnSpc>
                <a:spcPct val="150000"/>
              </a:lnSpc>
              <a:buFont typeface="Arial" panose="020B0604020202020204" pitchFamily="34" charset="0"/>
              <a:buChar char="•"/>
              <a:defRPr/>
            </a:pPr>
            <a:r>
              <a:rPr lang="en-US" altLang="zh-TW" sz="2000" dirty="0"/>
              <a:t>Get the USB information (Product / Vendor ID)</a:t>
            </a:r>
          </a:p>
          <a:p>
            <a:pPr>
              <a:lnSpc>
                <a:spcPct val="150000"/>
              </a:lnSpc>
              <a:defRPr/>
            </a:pPr>
            <a:r>
              <a:rPr lang="en-US" altLang="zh-TW" sz="2000" b="1" dirty="0"/>
              <a:t>Command</a:t>
            </a:r>
            <a:r>
              <a:rPr lang="zh-TW" altLang="en-US" sz="2000" b="1" dirty="0"/>
              <a:t>：</a:t>
            </a:r>
            <a:endParaRPr lang="en-US" altLang="zh-TW" sz="2000" b="1" dirty="0"/>
          </a:p>
          <a:p>
            <a:pPr>
              <a:defRPr/>
            </a:pPr>
            <a:endParaRPr lang="en-US" altLang="zh-TW" sz="2000" dirty="0"/>
          </a:p>
        </p:txBody>
      </p:sp>
      <p:graphicFrame>
        <p:nvGraphicFramePr>
          <p:cNvPr id="2" name="表格 1">
            <a:extLst>
              <a:ext uri="{FF2B5EF4-FFF2-40B4-BE49-F238E27FC236}">
                <a16:creationId xmlns:a16="http://schemas.microsoft.com/office/drawing/2014/main" id="{8ED0167F-3B32-2A55-2C85-6297BB595D5D}"/>
              </a:ext>
            </a:extLst>
          </p:cNvPr>
          <p:cNvGraphicFramePr>
            <a:graphicFrameLocks noGrp="1"/>
          </p:cNvGraphicFramePr>
          <p:nvPr>
            <p:extLst>
              <p:ext uri="{D42A27DB-BD31-4B8C-83A1-F6EECF244321}">
                <p14:modId xmlns:p14="http://schemas.microsoft.com/office/powerpoint/2010/main" val="1935793099"/>
              </p:ext>
            </p:extLst>
          </p:nvPr>
        </p:nvGraphicFramePr>
        <p:xfrm>
          <a:off x="912011" y="2542302"/>
          <a:ext cx="5705412" cy="707886"/>
        </p:xfrm>
        <a:graphic>
          <a:graphicData uri="http://schemas.openxmlformats.org/drawingml/2006/table">
            <a:tbl>
              <a:tblPr>
                <a:tableStyleId>{5C22544A-7EE6-4342-B048-85BDC9FD1C3A}</a:tableStyleId>
              </a:tblPr>
              <a:tblGrid>
                <a:gridCol w="1195974">
                  <a:extLst>
                    <a:ext uri="{9D8B030D-6E8A-4147-A177-3AD203B41FA5}">
                      <a16:colId xmlns:a16="http://schemas.microsoft.com/office/drawing/2014/main" val="3315535983"/>
                    </a:ext>
                  </a:extLst>
                </a:gridCol>
                <a:gridCol w="491477">
                  <a:extLst>
                    <a:ext uri="{9D8B030D-6E8A-4147-A177-3AD203B41FA5}">
                      <a16:colId xmlns:a16="http://schemas.microsoft.com/office/drawing/2014/main" val="2960066220"/>
                    </a:ext>
                  </a:extLst>
                </a:gridCol>
                <a:gridCol w="2301431">
                  <a:extLst>
                    <a:ext uri="{9D8B030D-6E8A-4147-A177-3AD203B41FA5}">
                      <a16:colId xmlns:a16="http://schemas.microsoft.com/office/drawing/2014/main" val="3319955928"/>
                    </a:ext>
                  </a:extLst>
                </a:gridCol>
                <a:gridCol w="1716530">
                  <a:extLst>
                    <a:ext uri="{9D8B030D-6E8A-4147-A177-3AD203B41FA5}">
                      <a16:colId xmlns:a16="http://schemas.microsoft.com/office/drawing/2014/main" val="163623680"/>
                    </a:ext>
                  </a:extLst>
                </a:gridCol>
              </a:tblGrid>
              <a:tr h="295314">
                <a:tc>
                  <a:txBody>
                    <a:bodyPr/>
                    <a:lstStyle/>
                    <a:p>
                      <a:pPr algn="ctr" fontAlgn="ctr">
                        <a:buNone/>
                      </a:pPr>
                      <a:r>
                        <a:rPr lang="en-US" sz="1100" b="1" u="none" strike="noStrike" dirty="0">
                          <a:effectLst/>
                        </a:rPr>
                        <a:t>Test</a:t>
                      </a:r>
                      <a:r>
                        <a:rPr lang="en-US" sz="1100" u="none" strike="noStrike" dirty="0">
                          <a:effectLst/>
                        </a:rPr>
                        <a:t> </a:t>
                      </a:r>
                      <a:r>
                        <a:rPr lang="en-US" sz="1100" b="1" u="none" strike="noStrike" dirty="0">
                          <a:effectLst/>
                        </a:rPr>
                        <a:t>item</a:t>
                      </a:r>
                      <a:endParaRPr lang="en-US" sz="1100" b="1"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ctr" fontAlgn="ctr">
                        <a:buNone/>
                      </a:pPr>
                      <a:r>
                        <a:rPr lang="zh-TW" altLang="en-US" sz="1100" u="none" strike="noStrike" dirty="0">
                          <a:effectLst/>
                        </a:rPr>
                        <a:t>　</a:t>
                      </a: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ctr" fontAlgn="ctr">
                        <a:buNone/>
                      </a:pPr>
                      <a:r>
                        <a:rPr lang="en-US" sz="1100" b="1" u="none" strike="noStrike" dirty="0">
                          <a:effectLst/>
                        </a:rPr>
                        <a:t>shell  command</a:t>
                      </a:r>
                      <a:endParaRPr lang="en-US" sz="1100" b="1" i="0" u="none" strike="noStrike" dirty="0">
                        <a:solidFill>
                          <a:srgbClr val="FF0000"/>
                        </a:solidFill>
                        <a:effectLst/>
                        <a:latin typeface="新細明體" panose="02020500000000000000" pitchFamily="18" charset="-120"/>
                        <a:ea typeface="新細明體" panose="02020500000000000000" pitchFamily="18" charset="-120"/>
                      </a:endParaRPr>
                    </a:p>
                  </a:txBody>
                  <a:tcPr marL="9525" marR="9525" marT="9525" marB="0"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l" fontAlgn="ctr">
                        <a:buNone/>
                      </a:pPr>
                      <a:r>
                        <a:rPr lang="en-US" altLang="zh-TW" sz="1100" b="1" kern="1200" dirty="0">
                          <a:solidFill>
                            <a:schemeClr val="tx1"/>
                          </a:solidFill>
                          <a:effectLst/>
                          <a:latin typeface="+mn-lt"/>
                          <a:ea typeface="+mn-ea"/>
                          <a:cs typeface="+mn-cs"/>
                        </a:rPr>
                        <a:t>Description</a:t>
                      </a: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6">
                        <a:lumMod val="40000"/>
                        <a:lumOff val="60000"/>
                      </a:schemeClr>
                    </a:solidFill>
                  </a:tcPr>
                </a:tc>
                <a:extLst>
                  <a:ext uri="{0D108BD9-81ED-4DB2-BD59-A6C34878D82A}">
                    <a16:rowId xmlns:a16="http://schemas.microsoft.com/office/drawing/2014/main" val="3824094486"/>
                  </a:ext>
                </a:extLst>
              </a:tr>
              <a:tr h="41257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400" b="1" dirty="0"/>
                        <a:t>USB</a:t>
                      </a:r>
                      <a:endParaRPr lang="en-US" altLang="zh-TW" sz="1200" b="0" i="0" u="none" strike="noStrike" dirty="0">
                        <a:solidFill>
                          <a:srgbClr val="000000"/>
                        </a:solidFill>
                        <a:effectLst/>
                        <a:latin typeface="新細明體" panose="02020500000000000000" pitchFamily="18" charset="-120"/>
                        <a:ea typeface="新細明體" panose="02020500000000000000" pitchFamily="18" charset="-120"/>
                      </a:endParaRP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fontAlgn="ctr">
                        <a:buNone/>
                      </a:pPr>
                      <a:r>
                        <a:rPr lang="en-US" altLang="zh-TW" sz="1100" b="0" i="0" u="none" strike="noStrike" dirty="0">
                          <a:solidFill>
                            <a:srgbClr val="000000"/>
                          </a:solidFill>
                          <a:effectLst/>
                          <a:latin typeface="+mn-lt"/>
                          <a:ea typeface="新細明體" panose="02020500000000000000" pitchFamily="18" charset="-120"/>
                        </a:rPr>
                        <a:t>1</a:t>
                      </a:r>
                    </a:p>
                  </a:txBody>
                  <a:tcPr marL="9525" marR="9525" marT="9525" marB="0" anchor="ctr">
                    <a:lnB w="12700" cap="flat" cmpd="sng" algn="ctr">
                      <a:solidFill>
                        <a:schemeClr val="tx1"/>
                      </a:solidFill>
                      <a:prstDash val="solid"/>
                      <a:round/>
                      <a:headEnd type="none" w="med" len="med"/>
                      <a:tailEnd type="none" w="med" len="med"/>
                    </a:lnB>
                  </a:tcPr>
                </a:tc>
                <a:tc>
                  <a:txBody>
                    <a:bodyPr/>
                    <a:lstStyle/>
                    <a:p>
                      <a:r>
                        <a:rPr lang="en-US" altLang="zh-TW" sz="1200" b="0" kern="1200" dirty="0" err="1">
                          <a:solidFill>
                            <a:schemeClr val="dk1"/>
                          </a:solidFill>
                          <a:effectLst/>
                          <a:latin typeface="+mn-lt"/>
                          <a:ea typeface="+mn-ea"/>
                          <a:cs typeface="+mn-cs"/>
                        </a:rPr>
                        <a:t>system_profiler</a:t>
                      </a:r>
                      <a:r>
                        <a:rPr lang="en-US" altLang="zh-TW" sz="1200" b="0" kern="1200" dirty="0">
                          <a:solidFill>
                            <a:schemeClr val="dk1"/>
                          </a:solidFill>
                          <a:effectLst/>
                          <a:latin typeface="+mn-lt"/>
                          <a:ea typeface="+mn-ea"/>
                          <a:cs typeface="+mn-cs"/>
                        </a:rPr>
                        <a:t> </a:t>
                      </a:r>
                      <a:r>
                        <a:rPr lang="en-US" altLang="zh-TW" sz="1200" b="0" kern="1200" dirty="0" err="1">
                          <a:solidFill>
                            <a:schemeClr val="dk1"/>
                          </a:solidFill>
                          <a:effectLst/>
                          <a:latin typeface="+mn-lt"/>
                          <a:ea typeface="+mn-ea"/>
                          <a:cs typeface="+mn-cs"/>
                        </a:rPr>
                        <a:t>SPUSBDataType</a:t>
                      </a:r>
                      <a:endParaRPr lang="en-US" altLang="zh-TW" sz="1200" b="0" kern="1200" dirty="0">
                        <a:solidFill>
                          <a:schemeClr val="dk1"/>
                        </a:solidFill>
                        <a:effectLst/>
                        <a:latin typeface="+mn-lt"/>
                        <a:ea typeface="+mn-ea"/>
                        <a:cs typeface="+mn-cs"/>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altLang="zh-TW" sz="1100" b="0" i="0" u="none" strike="noStrike" kern="1200" dirty="0">
                          <a:solidFill>
                            <a:schemeClr val="tx1"/>
                          </a:solidFill>
                          <a:effectLst/>
                          <a:latin typeface="+mn-lt"/>
                          <a:ea typeface="+mn-ea"/>
                          <a:cs typeface="+mn-cs"/>
                        </a:rPr>
                        <a:t> </a:t>
                      </a:r>
                      <a:r>
                        <a:rPr lang="zh-TW" altLang="en-US" sz="1100" b="0" i="0" u="none" strike="noStrike" kern="1200" dirty="0">
                          <a:solidFill>
                            <a:schemeClr val="tx1"/>
                          </a:solidFill>
                          <a:effectLst/>
                          <a:latin typeface="+mn-lt"/>
                          <a:ea typeface="+mn-ea"/>
                          <a:cs typeface="+mn-cs"/>
                        </a:rPr>
                        <a:t>取得</a:t>
                      </a:r>
                      <a:r>
                        <a:rPr lang="en-US" altLang="zh-TW" sz="1100" b="0" i="0" u="none" strike="noStrike" kern="1200" dirty="0">
                          <a:solidFill>
                            <a:schemeClr val="tx1"/>
                          </a:solidFill>
                          <a:effectLst/>
                          <a:latin typeface="+mn-lt"/>
                          <a:ea typeface="+mn-ea"/>
                          <a:cs typeface="+mn-cs"/>
                        </a:rPr>
                        <a:t>USB </a:t>
                      </a:r>
                      <a:r>
                        <a:rPr lang="zh-TW" altLang="en-US" sz="1100" b="0" i="0" u="none" strike="noStrike" kern="1200" dirty="0">
                          <a:solidFill>
                            <a:schemeClr val="tx1"/>
                          </a:solidFill>
                          <a:effectLst/>
                          <a:latin typeface="+mn-lt"/>
                          <a:ea typeface="+mn-ea"/>
                          <a:cs typeface="+mn-cs"/>
                        </a:rPr>
                        <a:t>裝置的詳細資訊</a:t>
                      </a:r>
                      <a:endParaRPr lang="zh-TW" altLang="zh-TW" sz="1100" b="0" i="0" u="none" strike="noStrike" kern="1200" dirty="0">
                        <a:solidFill>
                          <a:schemeClr val="tx1"/>
                        </a:solidFill>
                        <a:effectLst/>
                        <a:latin typeface="+mn-lt"/>
                        <a:ea typeface="+mn-ea"/>
                        <a:cs typeface="+mn-cs"/>
                      </a:endParaRPr>
                    </a:p>
                  </a:txBody>
                  <a:tcPr marL="9525" marR="9525" marT="9525"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84187575"/>
                  </a:ext>
                </a:extLst>
              </a:tr>
            </a:tbl>
          </a:graphicData>
        </a:graphic>
      </p:graphicFrame>
      <p:pic>
        <p:nvPicPr>
          <p:cNvPr id="5" name="圖片 4" descr="一張含有 文字, 字型, 螢幕擷取畫面, 白色 的圖片&#10;&#10;AI 產生的內容可能不正確。">
            <a:extLst>
              <a:ext uri="{FF2B5EF4-FFF2-40B4-BE49-F238E27FC236}">
                <a16:creationId xmlns:a16="http://schemas.microsoft.com/office/drawing/2014/main" id="{2E6A8125-FD38-1B24-13F8-9E9045EB59FA}"/>
              </a:ext>
            </a:extLst>
          </p:cNvPr>
          <p:cNvPicPr>
            <a:picLocks noChangeAspect="1"/>
          </p:cNvPicPr>
          <p:nvPr/>
        </p:nvPicPr>
        <p:blipFill>
          <a:blip r:embed="rId3"/>
          <a:stretch>
            <a:fillRect/>
          </a:stretch>
        </p:blipFill>
        <p:spPr>
          <a:xfrm>
            <a:off x="912011" y="3691991"/>
            <a:ext cx="5067300" cy="2324100"/>
          </a:xfrm>
          <a:prstGeom prst="rect">
            <a:avLst/>
          </a:prstGeom>
        </p:spPr>
      </p:pic>
      <p:sp>
        <p:nvSpPr>
          <p:cNvPr id="7" name="矩形 6">
            <a:extLst>
              <a:ext uri="{FF2B5EF4-FFF2-40B4-BE49-F238E27FC236}">
                <a16:creationId xmlns:a16="http://schemas.microsoft.com/office/drawing/2014/main" id="{E46B0861-EC93-7971-6049-0F65D2B99277}"/>
              </a:ext>
            </a:extLst>
          </p:cNvPr>
          <p:cNvSpPr/>
          <p:nvPr/>
        </p:nvSpPr>
        <p:spPr>
          <a:xfrm>
            <a:off x="1112520" y="4023360"/>
            <a:ext cx="1767840" cy="41920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0" name="文字方塊 9">
            <a:extLst>
              <a:ext uri="{FF2B5EF4-FFF2-40B4-BE49-F238E27FC236}">
                <a16:creationId xmlns:a16="http://schemas.microsoft.com/office/drawing/2014/main" id="{CBBADADC-FA65-98A4-B077-6FB93C7F9615}"/>
              </a:ext>
            </a:extLst>
          </p:cNvPr>
          <p:cNvSpPr txBox="1"/>
          <p:nvPr/>
        </p:nvSpPr>
        <p:spPr>
          <a:xfrm>
            <a:off x="2930359" y="4048294"/>
            <a:ext cx="6097904" cy="369332"/>
          </a:xfrm>
          <a:prstGeom prst="rect">
            <a:avLst/>
          </a:prstGeom>
          <a:noFill/>
        </p:spPr>
        <p:txBody>
          <a:bodyPr wrap="square">
            <a:spAutoFit/>
          </a:bodyPr>
          <a:lstStyle/>
          <a:p>
            <a:r>
              <a:rPr lang="zh-TW" altLang="en-US" dirty="0">
                <a:solidFill>
                  <a:srgbClr val="FF0000"/>
                </a:solidFill>
              </a:rPr>
              <a:t>讀取</a:t>
            </a:r>
            <a:r>
              <a:rPr lang="zh-TW" altLang="en-US" sz="1800" b="0" kern="1200" dirty="0">
                <a:solidFill>
                  <a:srgbClr val="FF0000"/>
                </a:solidFill>
                <a:effectLst/>
                <a:latin typeface="+mn-lt"/>
                <a:ea typeface="+mn-ea"/>
                <a:cs typeface="+mn-cs"/>
              </a:rPr>
              <a:t>驗證</a:t>
            </a:r>
            <a:r>
              <a:rPr lang="en-US" altLang="zh-TW" sz="1800" b="0" kern="1200" dirty="0">
                <a:solidFill>
                  <a:srgbClr val="FF0000"/>
                </a:solidFill>
                <a:effectLst/>
                <a:latin typeface="+mn-lt"/>
                <a:ea typeface="+mn-ea"/>
                <a:cs typeface="+mn-cs"/>
              </a:rPr>
              <a:t>Product / Vendor ID</a:t>
            </a:r>
            <a:endParaRPr lang="zh-TW" altLang="en-US" dirty="0">
              <a:solidFill>
                <a:srgbClr val="FF0000"/>
              </a:solidFill>
            </a:endParaRPr>
          </a:p>
        </p:txBody>
      </p:sp>
    </p:spTree>
    <p:extLst>
      <p:ext uri="{BB962C8B-B14F-4D97-AF65-F5344CB8AC3E}">
        <p14:creationId xmlns:p14="http://schemas.microsoft.com/office/powerpoint/2010/main" val="38182990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298FA2-51C8-5B5D-91AB-1A853B2A6CF6}"/>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21F8D340-DFE8-C23F-38E8-4D657DB82780}"/>
              </a:ext>
            </a:extLst>
          </p:cNvPr>
          <p:cNvSpPr>
            <a:spLocks noGrp="1"/>
          </p:cNvSpPr>
          <p:nvPr>
            <p:ph type="body" sz="quarter" idx="13"/>
          </p:nvPr>
        </p:nvSpPr>
        <p:spPr/>
        <p:txBody>
          <a:bodyPr/>
          <a:lstStyle/>
          <a:p>
            <a:r>
              <a:rPr lang="en-US" dirty="0"/>
              <a:t>Terminology  </a:t>
            </a:r>
          </a:p>
          <a:p>
            <a:endParaRPr lang="en-US" dirty="0"/>
          </a:p>
        </p:txBody>
      </p:sp>
      <p:sp>
        <p:nvSpPr>
          <p:cNvPr id="6" name="文字方塊 5">
            <a:extLst>
              <a:ext uri="{FF2B5EF4-FFF2-40B4-BE49-F238E27FC236}">
                <a16:creationId xmlns:a16="http://schemas.microsoft.com/office/drawing/2014/main" id="{C3755C70-6B05-B1DE-4C8A-67693FCB6057}"/>
              </a:ext>
            </a:extLst>
          </p:cNvPr>
          <p:cNvSpPr txBox="1"/>
          <p:nvPr/>
        </p:nvSpPr>
        <p:spPr>
          <a:xfrm>
            <a:off x="571500" y="938449"/>
            <a:ext cx="8886825" cy="1785104"/>
          </a:xfrm>
          <a:prstGeom prst="rect">
            <a:avLst/>
          </a:prstGeom>
          <a:noFill/>
        </p:spPr>
        <p:txBody>
          <a:bodyPr wrap="square">
            <a:spAutoFit/>
          </a:bodyPr>
          <a:lstStyle/>
          <a:p>
            <a:pPr lvl="0">
              <a:lnSpc>
                <a:spcPct val="150000"/>
              </a:lnSpc>
              <a:defRPr/>
            </a:pPr>
            <a:r>
              <a:rPr lang="en-US" altLang="zh-TW" sz="2000" b="1" dirty="0" err="1"/>
              <a:t>PowerMux</a:t>
            </a:r>
            <a:r>
              <a:rPr lang="zh-TW" altLang="en-US" sz="2000" b="1" kern="1200" dirty="0">
                <a:solidFill>
                  <a:schemeClr val="tx1"/>
                </a:solidFill>
                <a:effectLst/>
                <a:latin typeface="+mn-lt"/>
                <a:ea typeface="+mn-ea"/>
                <a:cs typeface="+mn-cs"/>
              </a:rPr>
              <a:t>：</a:t>
            </a:r>
          </a:p>
          <a:p>
            <a:pPr marL="800100" lvl="1" indent="-342900">
              <a:lnSpc>
                <a:spcPct val="150000"/>
              </a:lnSpc>
              <a:buFont typeface="Arial" panose="020B0604020202020204" pitchFamily="34" charset="0"/>
              <a:buChar char="•"/>
              <a:defRPr/>
            </a:pPr>
            <a:r>
              <a:rPr lang="en-US" altLang="zh-TW" sz="2000" dirty="0"/>
              <a:t>Read GPIO data</a:t>
            </a:r>
          </a:p>
          <a:p>
            <a:pPr>
              <a:lnSpc>
                <a:spcPct val="150000"/>
              </a:lnSpc>
              <a:defRPr/>
            </a:pPr>
            <a:r>
              <a:rPr lang="en-US" altLang="zh-TW" sz="2000" b="1" dirty="0"/>
              <a:t>Command</a:t>
            </a:r>
            <a:r>
              <a:rPr lang="zh-TW" altLang="en-US" sz="2000" b="1" dirty="0"/>
              <a:t>：</a:t>
            </a:r>
            <a:endParaRPr lang="en-US" altLang="zh-TW" sz="2000" b="1" dirty="0"/>
          </a:p>
          <a:p>
            <a:pPr>
              <a:defRPr/>
            </a:pPr>
            <a:endParaRPr lang="en-US" altLang="zh-TW" sz="2000" dirty="0"/>
          </a:p>
        </p:txBody>
      </p:sp>
      <p:graphicFrame>
        <p:nvGraphicFramePr>
          <p:cNvPr id="2" name="表格 1">
            <a:extLst>
              <a:ext uri="{FF2B5EF4-FFF2-40B4-BE49-F238E27FC236}">
                <a16:creationId xmlns:a16="http://schemas.microsoft.com/office/drawing/2014/main" id="{E3E53815-9239-C6F6-FD41-26E1AECAFC8C}"/>
              </a:ext>
            </a:extLst>
          </p:cNvPr>
          <p:cNvGraphicFramePr>
            <a:graphicFrameLocks noGrp="1"/>
          </p:cNvGraphicFramePr>
          <p:nvPr/>
        </p:nvGraphicFramePr>
        <p:xfrm>
          <a:off x="912011" y="2542302"/>
          <a:ext cx="5697543" cy="707886"/>
        </p:xfrm>
        <a:graphic>
          <a:graphicData uri="http://schemas.openxmlformats.org/drawingml/2006/table">
            <a:tbl>
              <a:tblPr>
                <a:tableStyleId>{5C22544A-7EE6-4342-B048-85BDC9FD1C3A}</a:tableStyleId>
              </a:tblPr>
              <a:tblGrid>
                <a:gridCol w="1195974">
                  <a:extLst>
                    <a:ext uri="{9D8B030D-6E8A-4147-A177-3AD203B41FA5}">
                      <a16:colId xmlns:a16="http://schemas.microsoft.com/office/drawing/2014/main" val="3315535983"/>
                    </a:ext>
                  </a:extLst>
                </a:gridCol>
                <a:gridCol w="491477">
                  <a:extLst>
                    <a:ext uri="{9D8B030D-6E8A-4147-A177-3AD203B41FA5}">
                      <a16:colId xmlns:a16="http://schemas.microsoft.com/office/drawing/2014/main" val="2960066220"/>
                    </a:ext>
                  </a:extLst>
                </a:gridCol>
                <a:gridCol w="2293562">
                  <a:extLst>
                    <a:ext uri="{9D8B030D-6E8A-4147-A177-3AD203B41FA5}">
                      <a16:colId xmlns:a16="http://schemas.microsoft.com/office/drawing/2014/main" val="3319955928"/>
                    </a:ext>
                  </a:extLst>
                </a:gridCol>
                <a:gridCol w="1716530">
                  <a:extLst>
                    <a:ext uri="{9D8B030D-6E8A-4147-A177-3AD203B41FA5}">
                      <a16:colId xmlns:a16="http://schemas.microsoft.com/office/drawing/2014/main" val="163623680"/>
                    </a:ext>
                  </a:extLst>
                </a:gridCol>
              </a:tblGrid>
              <a:tr h="295314">
                <a:tc>
                  <a:txBody>
                    <a:bodyPr/>
                    <a:lstStyle/>
                    <a:p>
                      <a:pPr algn="ctr" fontAlgn="ctr">
                        <a:buNone/>
                      </a:pPr>
                      <a:r>
                        <a:rPr lang="en-US" sz="1100" b="1" u="none" strike="noStrike" dirty="0">
                          <a:effectLst/>
                        </a:rPr>
                        <a:t>Test</a:t>
                      </a:r>
                      <a:r>
                        <a:rPr lang="en-US" sz="1100" u="none" strike="noStrike" dirty="0">
                          <a:effectLst/>
                        </a:rPr>
                        <a:t> </a:t>
                      </a:r>
                      <a:r>
                        <a:rPr lang="en-US" sz="1100" b="1" u="none" strike="noStrike" dirty="0">
                          <a:effectLst/>
                        </a:rPr>
                        <a:t>item</a:t>
                      </a:r>
                      <a:endParaRPr lang="en-US" sz="1100" b="1"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ctr" fontAlgn="ctr">
                        <a:buNone/>
                      </a:pPr>
                      <a:r>
                        <a:rPr lang="zh-TW" altLang="en-US" sz="1100" u="none" strike="noStrike" dirty="0">
                          <a:effectLst/>
                        </a:rPr>
                        <a:t>　</a:t>
                      </a: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ctr" fontAlgn="ctr">
                        <a:buNone/>
                      </a:pPr>
                      <a:r>
                        <a:rPr lang="en-US" sz="1100" b="1" u="none" strike="noStrike" dirty="0">
                          <a:effectLst/>
                        </a:rPr>
                        <a:t>DUT</a:t>
                      </a:r>
                      <a:r>
                        <a:rPr lang="en-US" sz="1100" u="none" strike="noStrike" dirty="0">
                          <a:effectLst/>
                        </a:rPr>
                        <a:t>  </a:t>
                      </a:r>
                      <a:r>
                        <a:rPr lang="en-US" sz="1100" b="1" u="none" strike="noStrike" dirty="0">
                          <a:effectLst/>
                        </a:rPr>
                        <a:t>command</a:t>
                      </a:r>
                      <a:endParaRPr lang="en-US" sz="1100" b="1" i="0" u="none" strike="noStrike" dirty="0">
                        <a:solidFill>
                          <a:srgbClr val="FF0000"/>
                        </a:solidFill>
                        <a:effectLst/>
                        <a:latin typeface="新細明體" panose="02020500000000000000" pitchFamily="18" charset="-120"/>
                        <a:ea typeface="新細明體" panose="02020500000000000000" pitchFamily="18" charset="-120"/>
                      </a:endParaRPr>
                    </a:p>
                  </a:txBody>
                  <a:tcPr marL="9525" marR="9525" marT="9525" marB="0"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l" fontAlgn="ctr">
                        <a:buNone/>
                      </a:pPr>
                      <a:r>
                        <a:rPr lang="en-US" altLang="zh-TW" sz="1100" b="1" kern="1200" dirty="0">
                          <a:solidFill>
                            <a:schemeClr val="tx1"/>
                          </a:solidFill>
                          <a:effectLst/>
                          <a:latin typeface="+mn-lt"/>
                          <a:ea typeface="+mn-ea"/>
                          <a:cs typeface="+mn-cs"/>
                        </a:rPr>
                        <a:t>Description</a:t>
                      </a: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6">
                        <a:lumMod val="40000"/>
                        <a:lumOff val="60000"/>
                      </a:schemeClr>
                    </a:solidFill>
                  </a:tcPr>
                </a:tc>
                <a:extLst>
                  <a:ext uri="{0D108BD9-81ED-4DB2-BD59-A6C34878D82A}">
                    <a16:rowId xmlns:a16="http://schemas.microsoft.com/office/drawing/2014/main" val="3824094486"/>
                  </a:ext>
                </a:extLst>
              </a:tr>
              <a:tr h="41257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400" b="1" dirty="0" err="1"/>
                        <a:t>PowerMux</a:t>
                      </a:r>
                      <a:endParaRPr lang="en-US" altLang="zh-TW" sz="1200" b="0" i="0" u="none" strike="noStrike" dirty="0">
                        <a:solidFill>
                          <a:srgbClr val="000000"/>
                        </a:solidFill>
                        <a:effectLst/>
                        <a:latin typeface="新細明體" panose="02020500000000000000" pitchFamily="18" charset="-120"/>
                        <a:ea typeface="新細明體" panose="02020500000000000000" pitchFamily="18" charset="-120"/>
                      </a:endParaRP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fontAlgn="ctr">
                        <a:buNone/>
                      </a:pPr>
                      <a:r>
                        <a:rPr lang="en-US" altLang="zh-TW" sz="1100" b="0" i="0" u="none" strike="noStrike" dirty="0">
                          <a:solidFill>
                            <a:srgbClr val="000000"/>
                          </a:solidFill>
                          <a:effectLst/>
                          <a:latin typeface="+mn-lt"/>
                          <a:ea typeface="新細明體" panose="02020500000000000000" pitchFamily="18" charset="-120"/>
                        </a:rPr>
                        <a:t>1</a:t>
                      </a:r>
                    </a:p>
                  </a:txBody>
                  <a:tcPr marL="9525" marR="9525" marT="9525" marB="0" anchor="ctr">
                    <a:lnB w="12700" cap="flat" cmpd="sng" algn="ctr">
                      <a:solidFill>
                        <a:schemeClr val="tx1"/>
                      </a:solidFill>
                      <a:prstDash val="solid"/>
                      <a:round/>
                      <a:headEnd type="none" w="med" len="med"/>
                      <a:tailEnd type="none" w="med" len="med"/>
                    </a:lnB>
                  </a:tcPr>
                </a:tc>
                <a:tc>
                  <a:txBody>
                    <a:bodyPr/>
                    <a:lstStyle/>
                    <a:p>
                      <a:r>
                        <a:rPr lang="en-US" altLang="zh-TW" sz="1200" b="0" kern="1200" dirty="0" err="1">
                          <a:solidFill>
                            <a:schemeClr val="dk1"/>
                          </a:solidFill>
                          <a:effectLst/>
                          <a:latin typeface="+mn-lt"/>
                          <a:ea typeface="+mn-ea"/>
                          <a:cs typeface="+mn-cs"/>
                        </a:rPr>
                        <a:t>gpio</a:t>
                      </a:r>
                      <a:r>
                        <a:rPr lang="en-US" altLang="zh-TW" sz="1200" b="0" kern="1200" dirty="0">
                          <a:solidFill>
                            <a:schemeClr val="dk1"/>
                          </a:solidFill>
                          <a:effectLst/>
                          <a:latin typeface="+mn-lt"/>
                          <a:ea typeface="+mn-ea"/>
                          <a:cs typeface="+mn-cs"/>
                        </a:rPr>
                        <a:t> get A 9</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zh-TW" altLang="en-US" sz="1100" b="0" i="0" u="none" strike="noStrike" kern="1200" dirty="0">
                          <a:solidFill>
                            <a:schemeClr val="tx1"/>
                          </a:solidFill>
                          <a:effectLst/>
                          <a:latin typeface="+mn-lt"/>
                          <a:ea typeface="+mn-ea"/>
                          <a:cs typeface="+mn-cs"/>
                        </a:rPr>
                        <a:t>讀取</a:t>
                      </a:r>
                      <a:r>
                        <a:rPr lang="en-US" altLang="zh-TW" sz="1100" b="0" kern="1200" dirty="0">
                          <a:solidFill>
                            <a:schemeClr val="tx1"/>
                          </a:solidFill>
                          <a:effectLst/>
                          <a:latin typeface="+mn-lt"/>
                          <a:ea typeface="+mn-ea"/>
                          <a:cs typeface="+mn-cs"/>
                        </a:rPr>
                        <a:t>GPIO</a:t>
                      </a:r>
                      <a:r>
                        <a:rPr lang="zh-TW" altLang="en-US" sz="1100" b="0" kern="1200" dirty="0">
                          <a:solidFill>
                            <a:schemeClr val="tx1"/>
                          </a:solidFill>
                          <a:effectLst/>
                          <a:latin typeface="+mn-lt"/>
                          <a:ea typeface="+mn-ea"/>
                          <a:cs typeface="+mn-cs"/>
                        </a:rPr>
                        <a:t> 晶片資料</a:t>
                      </a:r>
                      <a:endParaRPr lang="zh-TW" altLang="zh-TW" sz="1100" b="0" i="0" u="none" strike="noStrike" kern="1200" dirty="0">
                        <a:solidFill>
                          <a:schemeClr val="tx1"/>
                        </a:solidFill>
                        <a:effectLst/>
                        <a:latin typeface="+mn-lt"/>
                        <a:ea typeface="+mn-ea"/>
                        <a:cs typeface="+mn-cs"/>
                      </a:endParaRPr>
                    </a:p>
                  </a:txBody>
                  <a:tcPr marL="9525" marR="9525" marT="9525"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84187575"/>
                  </a:ext>
                </a:extLst>
              </a:tr>
            </a:tbl>
          </a:graphicData>
        </a:graphic>
      </p:graphicFrame>
    </p:spTree>
    <p:extLst>
      <p:ext uri="{BB962C8B-B14F-4D97-AF65-F5344CB8AC3E}">
        <p14:creationId xmlns:p14="http://schemas.microsoft.com/office/powerpoint/2010/main" val="39882535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4FA87D-8827-F804-56B1-9CBBBACC2C14}"/>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76355583-0FC8-F1AA-AA05-0C7F58450521}"/>
              </a:ext>
            </a:extLst>
          </p:cNvPr>
          <p:cNvSpPr>
            <a:spLocks noGrp="1"/>
          </p:cNvSpPr>
          <p:nvPr>
            <p:ph type="body" sz="quarter" idx="13"/>
          </p:nvPr>
        </p:nvSpPr>
        <p:spPr/>
        <p:txBody>
          <a:bodyPr/>
          <a:lstStyle/>
          <a:p>
            <a:r>
              <a:rPr lang="en-US" dirty="0"/>
              <a:t>Terminology  </a:t>
            </a:r>
          </a:p>
          <a:p>
            <a:endParaRPr lang="en-US" dirty="0"/>
          </a:p>
        </p:txBody>
      </p:sp>
      <p:sp>
        <p:nvSpPr>
          <p:cNvPr id="6" name="文字方塊 5">
            <a:extLst>
              <a:ext uri="{FF2B5EF4-FFF2-40B4-BE49-F238E27FC236}">
                <a16:creationId xmlns:a16="http://schemas.microsoft.com/office/drawing/2014/main" id="{56A1698A-2A1D-464B-126D-3E8C1ACC002C}"/>
              </a:ext>
            </a:extLst>
          </p:cNvPr>
          <p:cNvSpPr txBox="1"/>
          <p:nvPr/>
        </p:nvSpPr>
        <p:spPr>
          <a:xfrm>
            <a:off x="571500" y="938449"/>
            <a:ext cx="10390149" cy="1785104"/>
          </a:xfrm>
          <a:prstGeom prst="rect">
            <a:avLst/>
          </a:prstGeom>
          <a:noFill/>
        </p:spPr>
        <p:txBody>
          <a:bodyPr wrap="square">
            <a:spAutoFit/>
          </a:bodyPr>
          <a:lstStyle/>
          <a:p>
            <a:pPr lvl="0">
              <a:lnSpc>
                <a:spcPct val="150000"/>
              </a:lnSpc>
              <a:defRPr/>
            </a:pPr>
            <a:r>
              <a:rPr lang="en-US" altLang="zh-TW" sz="2000" b="1" dirty="0"/>
              <a:t>Battery( </a:t>
            </a:r>
            <a:r>
              <a:rPr lang="en-US" altLang="zh-TW" sz="2000" b="1" dirty="0" err="1"/>
              <a:t>DisCharge</a:t>
            </a:r>
            <a:r>
              <a:rPr lang="en-US" altLang="zh-TW" sz="2000" b="1" dirty="0"/>
              <a:t> / Charge )Status</a:t>
            </a:r>
            <a:r>
              <a:rPr lang="zh-TW" altLang="en-US" sz="2000" b="1" kern="1200" dirty="0">
                <a:solidFill>
                  <a:schemeClr val="tx1"/>
                </a:solidFill>
                <a:effectLst/>
                <a:latin typeface="+mn-lt"/>
                <a:ea typeface="+mn-ea"/>
                <a:cs typeface="+mn-cs"/>
              </a:rPr>
              <a:t>：</a:t>
            </a:r>
            <a:endParaRPr lang="en-US" altLang="zh-TW" sz="2000" b="1" kern="1200" dirty="0">
              <a:solidFill>
                <a:schemeClr val="tx1"/>
              </a:solidFill>
              <a:effectLst/>
              <a:latin typeface="+mn-lt"/>
              <a:ea typeface="+mn-ea"/>
              <a:cs typeface="+mn-cs"/>
            </a:endParaRPr>
          </a:p>
          <a:p>
            <a:pPr marL="800100" lvl="1" indent="-342900">
              <a:lnSpc>
                <a:spcPct val="150000"/>
              </a:lnSpc>
              <a:buFont typeface="Arial" panose="020B0604020202020204" pitchFamily="34" charset="0"/>
              <a:buChar char="•"/>
              <a:defRPr/>
            </a:pPr>
            <a:r>
              <a:rPr lang="en-US" altLang="zh-TW" sz="2000" dirty="0"/>
              <a:t>Verify voltage, current, SOC, and temp when the case charger</a:t>
            </a:r>
            <a:r>
              <a:rPr lang="zh-TW" altLang="en-US" sz="2000" dirty="0"/>
              <a:t> </a:t>
            </a:r>
            <a:r>
              <a:rPr lang="en-US" altLang="zh-TW" sz="2000" dirty="0"/>
              <a:t>( disable / enable )</a:t>
            </a:r>
          </a:p>
          <a:p>
            <a:pPr>
              <a:lnSpc>
                <a:spcPct val="150000"/>
              </a:lnSpc>
              <a:defRPr/>
            </a:pPr>
            <a:r>
              <a:rPr lang="en-US" altLang="zh-TW" sz="2000" b="1" dirty="0"/>
              <a:t>Command</a:t>
            </a:r>
            <a:r>
              <a:rPr lang="zh-TW" altLang="en-US" sz="2000" b="1" dirty="0"/>
              <a:t>：</a:t>
            </a:r>
            <a:endParaRPr lang="en-US" altLang="zh-TW" sz="2000" b="1" dirty="0"/>
          </a:p>
          <a:p>
            <a:pPr lvl="1">
              <a:defRPr/>
            </a:pPr>
            <a:endParaRPr lang="en-US" altLang="zh-TW" sz="2000" b="1" kern="1200" dirty="0">
              <a:solidFill>
                <a:schemeClr val="tx1"/>
              </a:solidFill>
              <a:effectLst/>
              <a:latin typeface="+mn-lt"/>
              <a:ea typeface="+mn-ea"/>
              <a:cs typeface="+mn-cs"/>
            </a:endParaRPr>
          </a:p>
        </p:txBody>
      </p:sp>
      <p:graphicFrame>
        <p:nvGraphicFramePr>
          <p:cNvPr id="2" name="表格 1">
            <a:extLst>
              <a:ext uri="{FF2B5EF4-FFF2-40B4-BE49-F238E27FC236}">
                <a16:creationId xmlns:a16="http://schemas.microsoft.com/office/drawing/2014/main" id="{7D78113B-8BED-C281-7D51-5EAF43531852}"/>
              </a:ext>
            </a:extLst>
          </p:cNvPr>
          <p:cNvGraphicFramePr>
            <a:graphicFrameLocks noGrp="1"/>
          </p:cNvGraphicFramePr>
          <p:nvPr>
            <p:extLst>
              <p:ext uri="{D42A27DB-BD31-4B8C-83A1-F6EECF244321}">
                <p14:modId xmlns:p14="http://schemas.microsoft.com/office/powerpoint/2010/main" val="3113499684"/>
              </p:ext>
            </p:extLst>
          </p:nvPr>
        </p:nvGraphicFramePr>
        <p:xfrm>
          <a:off x="686995" y="2396766"/>
          <a:ext cx="9568908" cy="3940153"/>
        </p:xfrm>
        <a:graphic>
          <a:graphicData uri="http://schemas.openxmlformats.org/drawingml/2006/table">
            <a:tbl>
              <a:tblPr>
                <a:tableStyleId>{5C22544A-7EE6-4342-B048-85BDC9FD1C3A}</a:tableStyleId>
              </a:tblPr>
              <a:tblGrid>
                <a:gridCol w="2638743">
                  <a:extLst>
                    <a:ext uri="{9D8B030D-6E8A-4147-A177-3AD203B41FA5}">
                      <a16:colId xmlns:a16="http://schemas.microsoft.com/office/drawing/2014/main" val="3315535983"/>
                    </a:ext>
                  </a:extLst>
                </a:gridCol>
                <a:gridCol w="367574">
                  <a:extLst>
                    <a:ext uri="{9D8B030D-6E8A-4147-A177-3AD203B41FA5}">
                      <a16:colId xmlns:a16="http://schemas.microsoft.com/office/drawing/2014/main" val="2960066220"/>
                    </a:ext>
                  </a:extLst>
                </a:gridCol>
                <a:gridCol w="1597470">
                  <a:extLst>
                    <a:ext uri="{9D8B030D-6E8A-4147-A177-3AD203B41FA5}">
                      <a16:colId xmlns:a16="http://schemas.microsoft.com/office/drawing/2014/main" val="3319955928"/>
                    </a:ext>
                  </a:extLst>
                </a:gridCol>
                <a:gridCol w="1544638">
                  <a:extLst>
                    <a:ext uri="{9D8B030D-6E8A-4147-A177-3AD203B41FA5}">
                      <a16:colId xmlns:a16="http://schemas.microsoft.com/office/drawing/2014/main" val="163623680"/>
                    </a:ext>
                  </a:extLst>
                </a:gridCol>
                <a:gridCol w="1343025">
                  <a:extLst>
                    <a:ext uri="{9D8B030D-6E8A-4147-A177-3AD203B41FA5}">
                      <a16:colId xmlns:a16="http://schemas.microsoft.com/office/drawing/2014/main" val="97452426"/>
                    </a:ext>
                  </a:extLst>
                </a:gridCol>
                <a:gridCol w="2077458">
                  <a:extLst>
                    <a:ext uri="{9D8B030D-6E8A-4147-A177-3AD203B41FA5}">
                      <a16:colId xmlns:a16="http://schemas.microsoft.com/office/drawing/2014/main" val="1095481995"/>
                    </a:ext>
                  </a:extLst>
                </a:gridCol>
              </a:tblGrid>
              <a:tr h="255970">
                <a:tc>
                  <a:txBody>
                    <a:bodyPr/>
                    <a:lstStyle/>
                    <a:p>
                      <a:pPr algn="ctr" fontAlgn="ctr">
                        <a:buNone/>
                      </a:pPr>
                      <a:r>
                        <a:rPr lang="en-US" sz="1100" b="1" u="none" strike="noStrike" dirty="0">
                          <a:effectLst/>
                        </a:rPr>
                        <a:t>Test</a:t>
                      </a:r>
                      <a:r>
                        <a:rPr lang="en-US" sz="1100" u="none" strike="noStrike" dirty="0">
                          <a:effectLst/>
                        </a:rPr>
                        <a:t> </a:t>
                      </a:r>
                      <a:r>
                        <a:rPr lang="en-US" sz="1100" b="1" u="none" strike="noStrike" dirty="0">
                          <a:effectLst/>
                        </a:rPr>
                        <a:t>item</a:t>
                      </a:r>
                      <a:endParaRPr lang="en-US" sz="1100" b="1"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40000"/>
                        <a:lumOff val="60000"/>
                      </a:schemeClr>
                    </a:solidFill>
                  </a:tcPr>
                </a:tc>
                <a:tc>
                  <a:txBody>
                    <a:bodyPr/>
                    <a:lstStyle/>
                    <a:p>
                      <a:pPr algn="ctr" fontAlgn="ctr">
                        <a:buNone/>
                      </a:pPr>
                      <a:r>
                        <a:rPr lang="zh-TW" altLang="en-US" sz="1100" u="none" strike="noStrike" dirty="0">
                          <a:effectLst/>
                        </a:rPr>
                        <a:t>　</a:t>
                      </a: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40000"/>
                        <a:lumOff val="60000"/>
                      </a:schemeClr>
                    </a:solidFill>
                  </a:tcPr>
                </a:tc>
                <a:tc>
                  <a:txBody>
                    <a:bodyPr/>
                    <a:lstStyle/>
                    <a:p>
                      <a:pPr algn="ctr" fontAlgn="ctr">
                        <a:buNone/>
                      </a:pPr>
                      <a:r>
                        <a:rPr lang="en-US" sz="1100" b="1" u="none" strike="noStrike" dirty="0">
                          <a:effectLst/>
                        </a:rPr>
                        <a:t>DUT</a:t>
                      </a:r>
                      <a:r>
                        <a:rPr lang="en-US" sz="1100" u="none" strike="noStrike" dirty="0">
                          <a:effectLst/>
                        </a:rPr>
                        <a:t>  </a:t>
                      </a:r>
                      <a:r>
                        <a:rPr lang="en-US" sz="1100" b="1" u="none" strike="noStrike" dirty="0">
                          <a:effectLst/>
                        </a:rPr>
                        <a:t>command</a:t>
                      </a:r>
                      <a:endParaRPr lang="en-US" sz="1100" b="1" i="0" u="none" strike="noStrike" dirty="0">
                        <a:solidFill>
                          <a:srgbClr val="FF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40000"/>
                        <a:lumOff val="60000"/>
                      </a:schemeClr>
                    </a:solidFill>
                  </a:tcPr>
                </a:tc>
                <a:tc>
                  <a:txBody>
                    <a:bodyPr/>
                    <a:lstStyle/>
                    <a:p>
                      <a:pPr algn="l" fontAlgn="ctr">
                        <a:buNone/>
                      </a:pPr>
                      <a:r>
                        <a:rPr lang="en-US" altLang="zh-TW" sz="1100" b="1" kern="1200" dirty="0">
                          <a:solidFill>
                            <a:schemeClr val="tx1"/>
                          </a:solidFill>
                          <a:effectLst/>
                          <a:latin typeface="+mn-lt"/>
                          <a:ea typeface="+mn-ea"/>
                          <a:cs typeface="+mn-cs"/>
                        </a:rPr>
                        <a:t>Description</a:t>
                      </a: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TW" sz="1100" b="1" u="none" strike="noStrike" dirty="0">
                          <a:effectLst/>
                        </a:rPr>
                        <a:t> Type-C</a:t>
                      </a:r>
                      <a:r>
                        <a:rPr lang="en-US" altLang="zh-TW" sz="1100" u="none" strike="noStrike" dirty="0">
                          <a:effectLst/>
                        </a:rPr>
                        <a:t>  </a:t>
                      </a:r>
                      <a:r>
                        <a:rPr lang="en-US" altLang="zh-TW" sz="1100" b="1" u="none" strike="noStrike" dirty="0">
                          <a:effectLst/>
                        </a:rPr>
                        <a:t>command </a:t>
                      </a:r>
                      <a:endParaRPr lang="en-US" altLang="zh-TW" sz="1100" b="1" i="0" u="none" strike="noStrike" dirty="0">
                        <a:solidFill>
                          <a:srgbClr val="FF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40000"/>
                        <a:lumOff val="60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zh-TW" sz="1100" b="1" kern="1200" dirty="0">
                          <a:solidFill>
                            <a:schemeClr val="tx1"/>
                          </a:solidFill>
                          <a:effectLst/>
                          <a:latin typeface="+mn-lt"/>
                          <a:ea typeface="+mn-ea"/>
                          <a:cs typeface="+mn-cs"/>
                        </a:rPr>
                        <a:t>Description</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3824094486"/>
                  </a:ext>
                </a:extLst>
              </a:tr>
              <a:tr h="20796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1" dirty="0" err="1"/>
                        <a:t>BatteryDisChargeStatus</a:t>
                      </a:r>
                      <a:endParaRPr lang="en-US" altLang="zh-TW" sz="1200" b="1" i="0" u="none" strike="noStrike" dirty="0">
                        <a:solidFill>
                          <a:srgbClr val="000000"/>
                        </a:solidFill>
                        <a:effectLst/>
                        <a:latin typeface="新細明體" panose="02020500000000000000" pitchFamily="18" charset="-120"/>
                        <a:ea typeface="新細明體" panose="02020500000000000000" pitchFamily="18" charset="-120"/>
                      </a:endParaRP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ctr">
                        <a:buNone/>
                      </a:pPr>
                      <a:r>
                        <a:rPr lang="en-US" altLang="zh-TW" sz="1100" b="0" i="0" u="none" strike="noStrike" dirty="0">
                          <a:solidFill>
                            <a:srgbClr val="000000"/>
                          </a:solidFill>
                          <a:effectLst/>
                          <a:latin typeface="+mn-lt"/>
                          <a:ea typeface="新細明體" panose="02020500000000000000" pitchFamily="18" charset="-120"/>
                        </a:rPr>
                        <a:t>1</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r>
                        <a:rPr lang="en-US" altLang="zh-TW" sz="1200" b="0" kern="1200" dirty="0">
                          <a:solidFill>
                            <a:schemeClr val="dk1"/>
                          </a:solidFill>
                          <a:effectLst/>
                          <a:latin typeface="+mn-lt"/>
                          <a:ea typeface="+mn-ea"/>
                          <a:cs typeface="+mn-cs"/>
                        </a:rPr>
                        <a:t>charger disable</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algn="l" defTabSz="914400" rtl="0" eaLnBrk="1" fontAlgn="ctr" latinLnBrk="0" hangingPunct="1">
                        <a:buNone/>
                      </a:pPr>
                      <a:r>
                        <a:rPr lang="zh-TW" altLang="en-US" sz="1100" u="none" strike="noStrike" kern="1200" dirty="0">
                          <a:solidFill>
                            <a:schemeClr val="dk1"/>
                          </a:solidFill>
                          <a:effectLst/>
                          <a:latin typeface="+mn-lt"/>
                          <a:ea typeface="+mn-ea"/>
                          <a:cs typeface="+mn-cs"/>
                        </a:rPr>
                        <a:t>關閉充電功能</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gridSpan="2">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884187575"/>
                  </a:ext>
                </a:extLst>
              </a:tr>
              <a:tr h="207964">
                <a:tc gridSpan="6">
                  <a:txBody>
                    <a:bodyPr/>
                    <a:lstStyle/>
                    <a:p>
                      <a:pPr algn="ctr" fontAlgn="ctr">
                        <a:buNone/>
                      </a:pPr>
                      <a:r>
                        <a:rPr lang="zh-TW" altLang="en-US" sz="1100" u="none" strike="noStrike" dirty="0">
                          <a:effectLst/>
                        </a:rPr>
                        <a:t>　</a:t>
                      </a:r>
                      <a:endParaRPr lang="zh-TW" altLang="en-US" sz="1100" b="0" i="0" u="none" strike="noStrike" dirty="0">
                        <a:solidFill>
                          <a:srgbClr val="9BBB59"/>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40000"/>
                        <a:lumOff val="60000"/>
                      </a:schemeClr>
                    </a:solidFill>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lnL w="12700" cap="flat" cmpd="sng" algn="ctr">
                      <a:solidFill>
                        <a:schemeClr val="tx1"/>
                      </a:solidFill>
                      <a:prstDash val="solid"/>
                      <a:round/>
                      <a:headEnd type="none" w="med" len="med"/>
                      <a:tailEnd type="none" w="med" len="med"/>
                    </a:lnL>
                  </a:tcPr>
                </a:tc>
                <a:tc hMerge="1">
                  <a:txBody>
                    <a:bodyPr/>
                    <a:lstStyle/>
                    <a:p>
                      <a:pPr algn="ctr" fontAlgn="ctr">
                        <a:buNone/>
                      </a:pPr>
                      <a:endParaRPr lang="zh-TW" altLang="en-US" sz="1100" b="0" i="0" u="none" strike="noStrike" dirty="0">
                        <a:solidFill>
                          <a:srgbClr val="9BBB59"/>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6">
                        <a:lumMod val="40000"/>
                        <a:lumOff val="60000"/>
                      </a:schemeClr>
                    </a:solidFill>
                  </a:tcPr>
                </a:tc>
                <a:tc hMerge="1">
                  <a:txBody>
                    <a:bodyPr/>
                    <a:lstStyle/>
                    <a:p>
                      <a:pPr algn="ctr" fontAlgn="ctr">
                        <a:buNone/>
                      </a:pPr>
                      <a:endParaRPr lang="zh-TW" altLang="en-US" sz="1100" b="0" i="0" u="none" strike="noStrike" dirty="0">
                        <a:solidFill>
                          <a:srgbClr val="9BBB59"/>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accent6">
                        <a:lumMod val="40000"/>
                        <a:lumOff val="60000"/>
                      </a:schemeClr>
                    </a:solidFill>
                  </a:tcPr>
                </a:tc>
                <a:extLst>
                  <a:ext uri="{0D108BD9-81ED-4DB2-BD59-A6C34878D82A}">
                    <a16:rowId xmlns:a16="http://schemas.microsoft.com/office/drawing/2014/main" val="2734648277"/>
                  </a:ext>
                </a:extLst>
              </a:tr>
              <a:tr h="20796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1" dirty="0" err="1"/>
                        <a:t>BatteryChargeStatus</a:t>
                      </a:r>
                      <a:endParaRPr lang="en-US" altLang="zh-TW" sz="1200" b="1" i="0" u="none" strike="noStrike" dirty="0">
                        <a:solidFill>
                          <a:srgbClr val="000000"/>
                        </a:solidFill>
                        <a:effectLst/>
                        <a:latin typeface="新細明體" panose="02020500000000000000" pitchFamily="18" charset="-120"/>
                        <a:ea typeface="新細明體" panose="02020500000000000000" pitchFamily="18" charset="-120"/>
                      </a:endParaRP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ctr">
                        <a:buNone/>
                      </a:pPr>
                      <a:r>
                        <a:rPr lang="en-US" altLang="zh-TW" sz="1100" b="0" i="0" u="none" strike="noStrike" dirty="0">
                          <a:solidFill>
                            <a:srgbClr val="000000"/>
                          </a:solidFill>
                          <a:effectLst/>
                          <a:latin typeface="+mn-lt"/>
                          <a:ea typeface="新細明體" panose="02020500000000000000" pitchFamily="18" charset="-120"/>
                        </a:rPr>
                        <a:t>1</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r>
                        <a:rPr lang="en-US" altLang="zh-TW" sz="1200" b="0" kern="1200" dirty="0">
                          <a:solidFill>
                            <a:schemeClr val="dk1"/>
                          </a:solidFill>
                          <a:effectLst/>
                          <a:latin typeface="+mn-lt"/>
                          <a:ea typeface="+mn-ea"/>
                          <a:cs typeface="+mn-cs"/>
                        </a:rPr>
                        <a:t>charger enable</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fontAlgn="ctr">
                        <a:buNone/>
                      </a:pPr>
                      <a:r>
                        <a:rPr lang="zh-TW" altLang="en-US" sz="1100" u="none" strike="noStrike" kern="1200" dirty="0">
                          <a:solidFill>
                            <a:schemeClr val="dk1"/>
                          </a:solidFill>
                          <a:effectLst/>
                          <a:latin typeface="+mn-lt"/>
                          <a:ea typeface="+mn-ea"/>
                          <a:cs typeface="+mn-cs"/>
                        </a:rPr>
                        <a:t>開啟充電功能</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gridSpan="2">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680325677"/>
                  </a:ext>
                </a:extLst>
              </a:tr>
              <a:tr h="0">
                <a:tc gridSpan="6">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TW" sz="1200" b="1" i="0" u="none" strike="noStrike" dirty="0">
                        <a:ln>
                          <a:solidFill>
                            <a:schemeClr val="bg1">
                              <a:lumMod val="95000"/>
                            </a:schemeClr>
                          </a:solidFill>
                        </a:ln>
                        <a:solidFill>
                          <a:srgbClr val="000000"/>
                        </a:solidFill>
                        <a:effectLst/>
                        <a:latin typeface="新細明體" panose="02020500000000000000" pitchFamily="18" charset="-120"/>
                        <a:ea typeface="新細明體" panose="02020500000000000000" pitchFamily="18" charset="-12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hMerge="1">
                  <a:txBody>
                    <a:bodyPr/>
                    <a:lstStyle/>
                    <a:p>
                      <a:pPr algn="ctr" fontAlgn="ctr">
                        <a:buNone/>
                      </a:pPr>
                      <a:endParaRPr lang="en-US" altLang="zh-TW" sz="1100" b="0" i="0" u="none" strike="noStrike" dirty="0">
                        <a:solidFill>
                          <a:srgbClr val="000000"/>
                        </a:solidFill>
                        <a:effectLst/>
                        <a:latin typeface="+mn-lt"/>
                        <a:ea typeface="新細明體" panose="02020500000000000000" pitchFamily="18" charset="-120"/>
                      </a:endParaRPr>
                    </a:p>
                  </a:txBody>
                  <a:tcPr marL="9525" marR="9525" marT="9525" marB="0" anchor="ctr"/>
                </a:tc>
                <a:tc hMerge="1">
                  <a:txBody>
                    <a:bodyPr/>
                    <a:lstStyle/>
                    <a:p>
                      <a:endParaRPr lang="en-US" altLang="zh-TW" sz="1200" b="0" kern="1200" dirty="0">
                        <a:solidFill>
                          <a:schemeClr val="dk1"/>
                        </a:solidFill>
                        <a:effectLst/>
                        <a:latin typeface="+mn-lt"/>
                        <a:ea typeface="+mn-ea"/>
                        <a:cs typeface="+mn-cs"/>
                      </a:endParaRPr>
                    </a:p>
                  </a:txBody>
                  <a:tcPr marL="9525" marR="9525" marT="9525" marB="0" anchor="ctr"/>
                </a:tc>
                <a:tc hMerge="1">
                  <a:txBody>
                    <a:bodyPr/>
                    <a:lstStyle/>
                    <a:p>
                      <a:pPr algn="l" fontAlgn="ctr">
                        <a:buNone/>
                      </a:pPr>
                      <a:endParaRPr lang="zh-TW" altLang="en-US" sz="1100" b="0" i="0" u="none" strike="noStrike">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tx1"/>
                      </a:solidFill>
                      <a:prstDash val="solid"/>
                      <a:round/>
                      <a:headEnd type="none" w="med" len="med"/>
                      <a:tailEnd type="none" w="med" len="med"/>
                    </a:ln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TW" sz="1200" b="1" i="0" u="none" strike="noStrike" dirty="0">
                        <a:solidFill>
                          <a:srgbClr val="000000"/>
                        </a:solidFill>
                        <a:effectLst/>
                        <a:latin typeface="新細明體" panose="02020500000000000000" pitchFamily="18" charset="-120"/>
                        <a:ea typeface="新細明體" panose="02020500000000000000" pitchFamily="18" charset="-12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accent6">
                        <a:lumMod val="40000"/>
                        <a:lumOff val="60000"/>
                      </a:schemeClr>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TW" sz="1200" b="1" i="0" u="none" strike="noStrike" dirty="0">
                        <a:solidFill>
                          <a:srgbClr val="000000"/>
                        </a:solidFill>
                        <a:effectLst/>
                        <a:latin typeface="新細明體" panose="02020500000000000000" pitchFamily="18" charset="-120"/>
                        <a:ea typeface="新細明體" panose="02020500000000000000" pitchFamily="18" charset="-120"/>
                      </a:endParaRP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accent6">
                        <a:lumMod val="40000"/>
                        <a:lumOff val="60000"/>
                      </a:schemeClr>
                    </a:solidFill>
                  </a:tcPr>
                </a:tc>
                <a:extLst>
                  <a:ext uri="{0D108BD9-81ED-4DB2-BD59-A6C34878D82A}">
                    <a16:rowId xmlns:a16="http://schemas.microsoft.com/office/drawing/2014/main" val="550200144"/>
                  </a:ext>
                </a:extLst>
              </a:tr>
              <a:tr h="0">
                <a:tc rowSpan="1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1" dirty="0"/>
                        <a:t>Battery(</a:t>
                      </a:r>
                      <a:r>
                        <a:rPr lang="en-US" altLang="zh-TW" sz="1200" b="1" dirty="0" err="1"/>
                        <a:t>DisCharge</a:t>
                      </a:r>
                      <a:r>
                        <a:rPr lang="en-US" altLang="zh-TW" sz="1200" b="1" dirty="0"/>
                        <a:t>/Charge)Status</a:t>
                      </a:r>
                      <a:endParaRPr lang="en-US" altLang="zh-TW" sz="1200" b="1" i="0" u="none" strike="noStrike" dirty="0">
                        <a:solidFill>
                          <a:srgbClr val="000000"/>
                        </a:solidFill>
                        <a:effectLst/>
                        <a:latin typeface="新細明體" panose="02020500000000000000" pitchFamily="18" charset="-120"/>
                        <a:ea typeface="新細明體" panose="02020500000000000000" pitchFamily="18"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b="1" i="0" u="none" strike="noStrike" dirty="0">
                        <a:solidFill>
                          <a:srgbClr val="000000"/>
                        </a:solidFill>
                        <a:effectLst/>
                        <a:latin typeface="新細明體" panose="02020500000000000000" pitchFamily="18" charset="-120"/>
                        <a:ea typeface="新細明體" panose="02020500000000000000" pitchFamily="18" charset="-120"/>
                      </a:endParaRP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altLang="zh-TW" sz="1100" b="0" i="0" u="none" strike="noStrike" dirty="0">
                          <a:solidFill>
                            <a:srgbClr val="000000"/>
                          </a:solidFill>
                          <a:effectLst/>
                          <a:latin typeface="+mn-lt"/>
                          <a:ea typeface="新細明體" panose="02020500000000000000" pitchFamily="18" charset="-120"/>
                        </a:rPr>
                        <a:t>2</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kern="1200" dirty="0">
                          <a:solidFill>
                            <a:schemeClr val="dk1"/>
                          </a:solidFill>
                          <a:effectLst/>
                          <a:latin typeface="+mn-lt"/>
                          <a:ea typeface="+mn-ea"/>
                          <a:cs typeface="+mn-cs"/>
                        </a:rPr>
                        <a:t>charger</a:t>
                      </a:r>
                      <a:r>
                        <a:rPr lang="en-US" altLang="zh-TW" sz="1800" b="0" kern="1200" dirty="0">
                          <a:solidFill>
                            <a:schemeClr val="dk1"/>
                          </a:solidFill>
                          <a:effectLst/>
                          <a:latin typeface="+mn-lt"/>
                          <a:ea typeface="+mn-ea"/>
                          <a:cs typeface="+mn-cs"/>
                        </a:rPr>
                        <a:t> </a:t>
                      </a:r>
                      <a:r>
                        <a:rPr lang="en-US" altLang="zh-TW" sz="1200" b="0" kern="1200" dirty="0" err="1">
                          <a:solidFill>
                            <a:schemeClr val="dk1"/>
                          </a:solidFill>
                          <a:effectLst/>
                          <a:latin typeface="+mn-lt"/>
                          <a:ea typeface="+mn-ea"/>
                          <a:cs typeface="+mn-cs"/>
                        </a:rPr>
                        <a:t>regdump</a:t>
                      </a:r>
                      <a:endParaRPr lang="en-US" altLang="zh-TW" sz="1200" b="0" kern="1200" dirty="0">
                        <a:solidFill>
                          <a:schemeClr val="dk1"/>
                        </a:solidFill>
                        <a:effectLst/>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fontAlgn="ctr">
                        <a:buNone/>
                      </a:pPr>
                      <a:r>
                        <a:rPr lang="zh-TW" altLang="en-US" sz="1100" u="none" strike="noStrike" kern="1200" dirty="0">
                          <a:solidFill>
                            <a:schemeClr val="dk1"/>
                          </a:solidFill>
                          <a:effectLst/>
                          <a:latin typeface="+mn-lt"/>
                          <a:ea typeface="+mn-ea"/>
                          <a:cs typeface="+mn-cs"/>
                        </a:rPr>
                        <a:t>讀取充電晶片暫存器值</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rowSpan="2" gridSpan="2">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rowSpan="2" hMerge="1">
                  <a:txBody>
                    <a:bodyPr/>
                    <a:lstStyle/>
                    <a:p>
                      <a:pPr algn="l" fontAlgn="ctr">
                        <a:buNone/>
                      </a:pPr>
                      <a:endParaRPr lang="zh-TW" altLang="en-US" sz="1100" b="0" i="0" u="none" strike="noStrike">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886505774"/>
                  </a:ext>
                </a:extLst>
              </a:tr>
              <a:tr h="207964">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b="1" i="0" u="none" strike="noStrike" dirty="0">
                        <a:solidFill>
                          <a:srgbClr val="000000"/>
                        </a:solidFill>
                        <a:effectLst/>
                        <a:latin typeface="新細明體" panose="02020500000000000000" pitchFamily="18" charset="-120"/>
                        <a:ea typeface="新細明體" panose="02020500000000000000" pitchFamily="18" charset="-120"/>
                      </a:endParaRPr>
                    </a:p>
                  </a:txBody>
                  <a:tcPr anchor="ctr">
                    <a:lnL w="12700" cap="flat" cmpd="sng" algn="ctr">
                      <a:solidFill>
                        <a:schemeClr val="tx1"/>
                      </a:solidFill>
                      <a:prstDash val="solid"/>
                      <a:round/>
                      <a:headEnd type="none" w="med" len="med"/>
                      <a:tailEnd type="none" w="med" len="med"/>
                    </a:lnL>
                  </a:tcPr>
                </a:tc>
                <a:tc>
                  <a:txBody>
                    <a:bodyPr/>
                    <a:lstStyle/>
                    <a:p>
                      <a:pPr algn="ctr" fontAlgn="ctr">
                        <a:buNone/>
                      </a:pPr>
                      <a:r>
                        <a:rPr lang="en-US" altLang="zh-TW" sz="1100" b="0" i="0" u="none" strike="noStrike" dirty="0">
                          <a:solidFill>
                            <a:srgbClr val="000000"/>
                          </a:solidFill>
                          <a:effectLst/>
                          <a:latin typeface="+mn-lt"/>
                          <a:ea typeface="新細明體" panose="02020500000000000000" pitchFamily="18" charset="-120"/>
                        </a:rPr>
                        <a:t>3</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kern="1200" dirty="0">
                          <a:solidFill>
                            <a:schemeClr val="dk1"/>
                          </a:solidFill>
                          <a:effectLst/>
                          <a:latin typeface="+mn-lt"/>
                          <a:ea typeface="+mn-ea"/>
                          <a:cs typeface="+mn-cs"/>
                        </a:rPr>
                        <a:t>gg</a:t>
                      </a:r>
                      <a:r>
                        <a:rPr lang="en-US" altLang="zh-TW" sz="1800" b="0" kern="1200" dirty="0">
                          <a:solidFill>
                            <a:schemeClr val="dk1"/>
                          </a:solidFill>
                          <a:effectLst/>
                          <a:latin typeface="+mn-lt"/>
                          <a:ea typeface="+mn-ea"/>
                          <a:cs typeface="+mn-cs"/>
                        </a:rPr>
                        <a:t> </a:t>
                      </a:r>
                      <a:r>
                        <a:rPr lang="en-US" altLang="zh-TW" sz="1200" b="0" kern="1200" dirty="0">
                          <a:solidFill>
                            <a:schemeClr val="dk1"/>
                          </a:solidFill>
                          <a:effectLst/>
                          <a:latin typeface="+mn-lt"/>
                          <a:ea typeface="+mn-ea"/>
                          <a:cs typeface="+mn-cs"/>
                        </a:rPr>
                        <a:t>info</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fontAlgn="ctr">
                        <a:buNone/>
                      </a:pPr>
                      <a:r>
                        <a:rPr lang="zh-TW" altLang="en-US" sz="1100" u="none" strike="noStrike" kern="1200" dirty="0">
                          <a:solidFill>
                            <a:schemeClr val="dk1"/>
                          </a:solidFill>
                          <a:effectLst/>
                          <a:latin typeface="+mn-lt"/>
                          <a:ea typeface="+mn-ea"/>
                          <a:cs typeface="+mn-cs"/>
                        </a:rPr>
                        <a:t>確認電池各項資訊</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gridSpan="2" v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v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252770946"/>
                  </a:ext>
                </a:extLst>
              </a:tr>
              <a:tr h="207964">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b="1" i="0" u="none" strike="noStrike" dirty="0">
                        <a:solidFill>
                          <a:srgbClr val="000000"/>
                        </a:solidFill>
                        <a:effectLst/>
                        <a:latin typeface="新細明體" panose="02020500000000000000" pitchFamily="18" charset="-120"/>
                        <a:ea typeface="新細明體" panose="02020500000000000000" pitchFamily="18" charset="-120"/>
                      </a:endParaRPr>
                    </a:p>
                  </a:txBody>
                  <a:tcPr anchor="ctr">
                    <a:lnL w="12700" cap="flat" cmpd="sng" algn="ctr">
                      <a:solidFill>
                        <a:schemeClr val="tx1"/>
                      </a:solidFill>
                      <a:prstDash val="solid"/>
                      <a:round/>
                      <a:headEnd type="none" w="med" len="med"/>
                      <a:tailEnd type="none" w="med" len="med"/>
                    </a:lnL>
                  </a:tcPr>
                </a:tc>
                <a:tc>
                  <a:txBody>
                    <a:bodyPr/>
                    <a:lstStyle/>
                    <a:p>
                      <a:pPr algn="ctr" fontAlgn="ctr">
                        <a:buNone/>
                      </a:pPr>
                      <a:r>
                        <a:rPr lang="en-US" altLang="zh-TW" sz="1100" b="0" i="0" u="none" strike="noStrike" dirty="0">
                          <a:solidFill>
                            <a:srgbClr val="000000"/>
                          </a:solidFill>
                          <a:effectLst/>
                          <a:latin typeface="+mn-lt"/>
                          <a:ea typeface="新細明體" panose="02020500000000000000" pitchFamily="18" charset="-120"/>
                        </a:rPr>
                        <a:t>4</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rowSpan="2" gridSpan="2">
                  <a:txBody>
                    <a:bodyPr/>
                    <a:lstStyle/>
                    <a:p>
                      <a:endParaRPr lang="en-US" altLang="zh-TW" sz="1200" b="0" kern="1200" dirty="0">
                        <a:solidFill>
                          <a:schemeClr val="dk1"/>
                        </a:solidFill>
                        <a:effectLst/>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rowSpan="2" hMerge="1">
                  <a:txBody>
                    <a:bodyPr/>
                    <a:lstStyle/>
                    <a:p>
                      <a:pPr algn="l" fontAlgn="ctr">
                        <a:buNone/>
                      </a:pPr>
                      <a:endParaRPr lang="zh-TW" altLang="en-US" sz="1100" b="0" i="0" u="none" strike="noStrike">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zh-TW" sz="1200" b="0" kern="1200" dirty="0" err="1">
                          <a:solidFill>
                            <a:schemeClr val="dk1"/>
                          </a:solidFill>
                          <a:effectLst/>
                          <a:latin typeface="+mn-lt"/>
                          <a:ea typeface="+mn-ea"/>
                          <a:cs typeface="+mn-cs"/>
                        </a:rPr>
                        <a:t>getvoltage</a:t>
                      </a:r>
                      <a:endParaRPr lang="en-US" altLang="zh-TW" sz="1200" b="0" kern="1200" dirty="0">
                        <a:solidFill>
                          <a:schemeClr val="dk1"/>
                        </a:solidFill>
                        <a:effectLst/>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fontAlgn="ctr">
                        <a:buNone/>
                      </a:pPr>
                      <a:r>
                        <a:rPr lang="zh-TW" altLang="en-US" sz="1100" u="none" strike="noStrike" kern="1200" dirty="0">
                          <a:solidFill>
                            <a:schemeClr val="dk1"/>
                          </a:solidFill>
                          <a:effectLst/>
                          <a:latin typeface="+mn-lt"/>
                          <a:ea typeface="+mn-ea"/>
                          <a:cs typeface="+mn-cs"/>
                        </a:rPr>
                        <a:t>獲取電壓</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455634850"/>
                  </a:ext>
                </a:extLst>
              </a:tr>
              <a:tr h="207964">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b="1" i="0" u="none" strike="noStrike" dirty="0">
                        <a:solidFill>
                          <a:srgbClr val="000000"/>
                        </a:solidFill>
                        <a:effectLst/>
                        <a:latin typeface="新細明體" panose="02020500000000000000" pitchFamily="18" charset="-120"/>
                        <a:ea typeface="新細明體" panose="02020500000000000000" pitchFamily="18" charset="-120"/>
                      </a:endParaRPr>
                    </a:p>
                  </a:txBody>
                  <a:tcPr anchor="ctr">
                    <a:lnL w="12700" cap="flat" cmpd="sng" algn="ctr">
                      <a:solidFill>
                        <a:schemeClr val="tx1"/>
                      </a:solidFill>
                      <a:prstDash val="solid"/>
                      <a:round/>
                      <a:headEnd type="none" w="med" len="med"/>
                      <a:tailEnd type="none" w="med" len="med"/>
                    </a:lnL>
                  </a:tcPr>
                </a:tc>
                <a:tc>
                  <a:txBody>
                    <a:bodyPr/>
                    <a:lstStyle/>
                    <a:p>
                      <a:pPr algn="ctr" fontAlgn="ctr">
                        <a:buNone/>
                      </a:pPr>
                      <a:r>
                        <a:rPr lang="en-US" altLang="zh-TW" sz="1100" b="0" i="0" u="none" strike="noStrike" dirty="0">
                          <a:solidFill>
                            <a:srgbClr val="000000"/>
                          </a:solidFill>
                          <a:effectLst/>
                          <a:latin typeface="+mn-lt"/>
                          <a:ea typeface="新細明體" panose="02020500000000000000" pitchFamily="18" charset="-120"/>
                        </a:rPr>
                        <a:t>5</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gridSpan="2" vMerge="1">
                  <a:txBody>
                    <a:bodyPr/>
                    <a:lstStyle/>
                    <a:p>
                      <a:endParaRPr lang="en-US" altLang="zh-TW" sz="1200" b="0" kern="1200" dirty="0">
                        <a:solidFill>
                          <a:schemeClr val="dk1"/>
                        </a:solidFill>
                        <a:effectLst/>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v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fontAlgn="ctr">
                        <a:buNone/>
                      </a:pPr>
                      <a:r>
                        <a:rPr lang="en-US" altLang="zh-TW" sz="1200" b="0" kern="1200" dirty="0" err="1">
                          <a:solidFill>
                            <a:schemeClr val="dk1"/>
                          </a:solidFill>
                          <a:effectLst/>
                          <a:latin typeface="+mn-lt"/>
                          <a:ea typeface="+mn-ea"/>
                          <a:cs typeface="+mn-cs"/>
                        </a:rPr>
                        <a:t>getcurrent</a:t>
                      </a:r>
                      <a:endParaRPr lang="zh-TW" altLang="en-US" sz="1200" b="0" kern="1200" dirty="0">
                        <a:solidFill>
                          <a:schemeClr val="dk1"/>
                        </a:solidFill>
                        <a:effectLst/>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fontAlgn="ctr">
                        <a:buNone/>
                      </a:pPr>
                      <a:r>
                        <a:rPr lang="zh-TW" altLang="en-US" sz="1100" u="none" strike="noStrike" kern="1200" dirty="0">
                          <a:solidFill>
                            <a:schemeClr val="dk1"/>
                          </a:solidFill>
                          <a:effectLst/>
                          <a:latin typeface="+mn-lt"/>
                          <a:ea typeface="+mn-ea"/>
                          <a:cs typeface="+mn-cs"/>
                        </a:rPr>
                        <a:t>獲取電流</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865724265"/>
                  </a:ext>
                </a:extLst>
              </a:tr>
              <a:tr h="207964">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b="1" i="0" u="none" strike="noStrike" dirty="0">
                        <a:solidFill>
                          <a:srgbClr val="000000"/>
                        </a:solidFill>
                        <a:effectLst/>
                        <a:latin typeface="新細明體" panose="02020500000000000000" pitchFamily="18" charset="-120"/>
                        <a:ea typeface="新細明體" panose="02020500000000000000" pitchFamily="18" charset="-120"/>
                      </a:endParaRPr>
                    </a:p>
                  </a:txBody>
                  <a:tcPr anchor="ctr">
                    <a:lnL w="12700" cap="flat" cmpd="sng" algn="ctr">
                      <a:solidFill>
                        <a:schemeClr val="tx1"/>
                      </a:solidFill>
                      <a:prstDash val="solid"/>
                      <a:round/>
                      <a:headEnd type="none" w="med" len="med"/>
                      <a:tailEnd type="none" w="med" len="med"/>
                    </a:lnL>
                  </a:tcPr>
                </a:tc>
                <a:tc>
                  <a:txBody>
                    <a:bodyPr/>
                    <a:lstStyle/>
                    <a:p>
                      <a:pPr algn="ctr" fontAlgn="ctr">
                        <a:buNone/>
                      </a:pPr>
                      <a:r>
                        <a:rPr lang="en-US" altLang="zh-TW" sz="1100" b="0" i="0" u="none" strike="noStrike" dirty="0">
                          <a:solidFill>
                            <a:srgbClr val="000000"/>
                          </a:solidFill>
                          <a:effectLst/>
                          <a:latin typeface="+mn-lt"/>
                          <a:ea typeface="新細明體" panose="02020500000000000000" pitchFamily="18" charset="-120"/>
                        </a:rPr>
                        <a:t>6</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kern="1200" dirty="0">
                          <a:solidFill>
                            <a:schemeClr val="dk1"/>
                          </a:solidFill>
                          <a:effectLst/>
                          <a:latin typeface="+mn-lt"/>
                          <a:ea typeface="+mn-ea"/>
                          <a:cs typeface="+mn-cs"/>
                        </a:rPr>
                        <a:t>charger</a:t>
                      </a:r>
                      <a:r>
                        <a:rPr lang="en-US" altLang="zh-TW" sz="1800" b="0" kern="1200" dirty="0">
                          <a:solidFill>
                            <a:schemeClr val="dk1"/>
                          </a:solidFill>
                          <a:effectLst/>
                          <a:latin typeface="+mn-lt"/>
                          <a:ea typeface="+mn-ea"/>
                          <a:cs typeface="+mn-cs"/>
                        </a:rPr>
                        <a:t> </a:t>
                      </a:r>
                      <a:r>
                        <a:rPr lang="en-US" altLang="zh-TW" sz="1200" b="0" kern="1200" dirty="0" err="1">
                          <a:solidFill>
                            <a:schemeClr val="dk1"/>
                          </a:solidFill>
                          <a:effectLst/>
                          <a:latin typeface="+mn-lt"/>
                          <a:ea typeface="+mn-ea"/>
                          <a:cs typeface="+mn-cs"/>
                        </a:rPr>
                        <a:t>vbus</a:t>
                      </a:r>
                      <a:r>
                        <a:rPr lang="en-US" altLang="zh-TW" sz="1800" b="0" kern="1200" dirty="0">
                          <a:solidFill>
                            <a:schemeClr val="dk1"/>
                          </a:solidFill>
                          <a:effectLst/>
                          <a:latin typeface="+mn-lt"/>
                          <a:ea typeface="+mn-ea"/>
                          <a:cs typeface="+mn-cs"/>
                        </a:rPr>
                        <a:t> </a:t>
                      </a:r>
                      <a:r>
                        <a:rPr lang="en-US" altLang="zh-TW" sz="1200" b="0" kern="1200" dirty="0">
                          <a:solidFill>
                            <a:schemeClr val="dk1"/>
                          </a:solidFill>
                          <a:effectLst/>
                          <a:latin typeface="+mn-lt"/>
                          <a:ea typeface="+mn-ea"/>
                          <a:cs typeface="+mn-cs"/>
                        </a:rPr>
                        <a:t>status</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fontAlgn="ctr">
                        <a:buNone/>
                      </a:pPr>
                      <a:r>
                        <a:rPr lang="zh-TW" altLang="en-US" sz="1100" u="none" strike="noStrike" kern="1200" dirty="0">
                          <a:solidFill>
                            <a:schemeClr val="dk1"/>
                          </a:solidFill>
                          <a:effectLst/>
                          <a:latin typeface="+mn-lt"/>
                          <a:ea typeface="+mn-ea"/>
                          <a:cs typeface="+mn-cs"/>
                        </a:rPr>
                        <a:t>確認</a:t>
                      </a:r>
                      <a:r>
                        <a:rPr lang="en-US" altLang="zh-TW" sz="1100" u="none" strike="noStrike" kern="1200" dirty="0" err="1">
                          <a:solidFill>
                            <a:schemeClr val="dk1"/>
                          </a:solidFill>
                          <a:effectLst/>
                          <a:latin typeface="+mn-lt"/>
                          <a:ea typeface="+mn-ea"/>
                          <a:cs typeface="+mn-cs"/>
                        </a:rPr>
                        <a:t>vbus</a:t>
                      </a:r>
                      <a:r>
                        <a:rPr lang="zh-TW" altLang="en-US" sz="1100" u="none" strike="noStrike" kern="1200" dirty="0">
                          <a:solidFill>
                            <a:schemeClr val="dk1"/>
                          </a:solidFill>
                          <a:effectLst/>
                          <a:latin typeface="+mn-lt"/>
                          <a:ea typeface="+mn-ea"/>
                          <a:cs typeface="+mn-cs"/>
                        </a:rPr>
                        <a:t>狀態</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rowSpan="7" gridSpan="2">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7" hMerge="1">
                  <a:txBody>
                    <a:bodyPr/>
                    <a:lstStyle/>
                    <a:p>
                      <a:pPr algn="l" fontAlgn="ctr">
                        <a:buNone/>
                      </a:pPr>
                      <a:endParaRPr lang="zh-TW" altLang="en-US" sz="1100" b="0" i="0" u="none" strike="noStrike">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643818552"/>
                  </a:ext>
                </a:extLst>
              </a:tr>
              <a:tr h="207964">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b="1" i="0" u="none" strike="noStrike" dirty="0">
                        <a:solidFill>
                          <a:srgbClr val="000000"/>
                        </a:solidFill>
                        <a:effectLst/>
                        <a:latin typeface="新細明體" panose="02020500000000000000" pitchFamily="18" charset="-120"/>
                        <a:ea typeface="新細明體" panose="02020500000000000000" pitchFamily="18"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ctr">
                        <a:buNone/>
                      </a:pPr>
                      <a:r>
                        <a:rPr lang="en-US" altLang="zh-TW" sz="1100" b="0" i="0" u="none" strike="noStrike" dirty="0">
                          <a:solidFill>
                            <a:srgbClr val="000000"/>
                          </a:solidFill>
                          <a:effectLst/>
                          <a:latin typeface="+mn-lt"/>
                          <a:ea typeface="新細明體" panose="02020500000000000000" pitchFamily="18" charset="-120"/>
                        </a:rPr>
                        <a:t>7</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kern="1200" dirty="0">
                          <a:solidFill>
                            <a:schemeClr val="dk1"/>
                          </a:solidFill>
                          <a:effectLst/>
                          <a:latin typeface="+mn-lt"/>
                          <a:ea typeface="+mn-ea"/>
                          <a:cs typeface="+mn-cs"/>
                        </a:rPr>
                        <a:t>charger </a:t>
                      </a:r>
                      <a:r>
                        <a:rPr lang="en-US" altLang="zh-TW" sz="1200" b="0" kern="1200" dirty="0" err="1">
                          <a:solidFill>
                            <a:schemeClr val="dk1"/>
                          </a:solidFill>
                          <a:effectLst/>
                          <a:latin typeface="+mn-lt"/>
                          <a:ea typeface="+mn-ea"/>
                          <a:cs typeface="+mn-cs"/>
                        </a:rPr>
                        <a:t>adc</a:t>
                      </a:r>
                      <a:r>
                        <a:rPr lang="en-US" altLang="zh-TW" sz="1200" b="0" kern="1200" dirty="0">
                          <a:solidFill>
                            <a:schemeClr val="dk1"/>
                          </a:solidFill>
                          <a:effectLst/>
                          <a:latin typeface="+mn-lt"/>
                          <a:ea typeface="+mn-ea"/>
                          <a:cs typeface="+mn-cs"/>
                        </a:rPr>
                        <a:t> read </a:t>
                      </a:r>
                      <a:r>
                        <a:rPr lang="en-US" altLang="zh-TW" sz="1200" b="0" kern="1200" dirty="0" err="1">
                          <a:solidFill>
                            <a:schemeClr val="dk1"/>
                          </a:solidFill>
                          <a:effectLst/>
                          <a:latin typeface="+mn-lt"/>
                          <a:ea typeface="+mn-ea"/>
                          <a:cs typeface="+mn-cs"/>
                        </a:rPr>
                        <a:t>vbus</a:t>
                      </a:r>
                      <a:endParaRPr lang="en-US" altLang="zh-TW" sz="1200" b="0" kern="1200" dirty="0">
                        <a:solidFill>
                          <a:schemeClr val="dk1"/>
                        </a:solidFill>
                        <a:effectLst/>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fontAlgn="ctr">
                        <a:buNone/>
                      </a:pPr>
                      <a:r>
                        <a:rPr lang="zh-TW" altLang="en-US" sz="1100" u="none" strike="noStrike" kern="1200" dirty="0">
                          <a:solidFill>
                            <a:schemeClr val="dk1"/>
                          </a:solidFill>
                          <a:effectLst/>
                          <a:latin typeface="+mn-lt"/>
                          <a:ea typeface="+mn-ea"/>
                          <a:cs typeface="+mn-cs"/>
                        </a:rPr>
                        <a:t>讀取 </a:t>
                      </a:r>
                      <a:r>
                        <a:rPr lang="en-US" altLang="zh-TW" sz="1100" u="none" strike="noStrike" kern="1200" dirty="0">
                          <a:solidFill>
                            <a:schemeClr val="dk1"/>
                          </a:solidFill>
                          <a:effectLst/>
                          <a:latin typeface="+mn-lt"/>
                          <a:ea typeface="+mn-ea"/>
                          <a:cs typeface="+mn-cs"/>
                        </a:rPr>
                        <a:t>VBUS </a:t>
                      </a:r>
                      <a:r>
                        <a:rPr lang="zh-TW" altLang="en-US" sz="1100" u="none" strike="noStrike" kern="1200" dirty="0">
                          <a:solidFill>
                            <a:schemeClr val="dk1"/>
                          </a:solidFill>
                          <a:effectLst/>
                          <a:latin typeface="+mn-lt"/>
                          <a:ea typeface="+mn-ea"/>
                          <a:cs typeface="+mn-cs"/>
                        </a:rPr>
                        <a:t>電壓</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gridSpan="2" v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v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556903449"/>
                  </a:ext>
                </a:extLst>
              </a:tr>
              <a:tr h="207964">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b="1" i="0" u="none" strike="noStrike" dirty="0">
                        <a:solidFill>
                          <a:srgbClr val="000000"/>
                        </a:solidFill>
                        <a:effectLst/>
                        <a:latin typeface="新細明體" panose="02020500000000000000" pitchFamily="18" charset="-120"/>
                        <a:ea typeface="新細明體" panose="02020500000000000000" pitchFamily="18"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ctr">
                        <a:buNone/>
                      </a:pPr>
                      <a:r>
                        <a:rPr lang="en-US" altLang="zh-TW" sz="1100" b="0" i="0" u="none" strike="noStrike" dirty="0">
                          <a:solidFill>
                            <a:srgbClr val="000000"/>
                          </a:solidFill>
                          <a:effectLst/>
                          <a:latin typeface="+mn-lt"/>
                          <a:ea typeface="新細明體" panose="02020500000000000000" pitchFamily="18" charset="-120"/>
                        </a:rPr>
                        <a:t>8</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kern="1200" dirty="0">
                          <a:solidFill>
                            <a:schemeClr val="dk1"/>
                          </a:solidFill>
                          <a:effectLst/>
                          <a:latin typeface="+mn-lt"/>
                          <a:ea typeface="+mn-ea"/>
                          <a:cs typeface="+mn-cs"/>
                        </a:rPr>
                        <a:t>charger </a:t>
                      </a:r>
                      <a:r>
                        <a:rPr lang="en-US" altLang="zh-TW" sz="1200" b="0" kern="1200" dirty="0" err="1">
                          <a:solidFill>
                            <a:schemeClr val="dk1"/>
                          </a:solidFill>
                          <a:effectLst/>
                          <a:latin typeface="+mn-lt"/>
                          <a:ea typeface="+mn-ea"/>
                          <a:cs typeface="+mn-cs"/>
                        </a:rPr>
                        <a:t>adc</a:t>
                      </a:r>
                      <a:r>
                        <a:rPr lang="en-US" altLang="zh-TW" sz="1200" b="0" kern="1200" dirty="0">
                          <a:solidFill>
                            <a:schemeClr val="dk1"/>
                          </a:solidFill>
                          <a:effectLst/>
                          <a:latin typeface="+mn-lt"/>
                          <a:ea typeface="+mn-ea"/>
                          <a:cs typeface="+mn-cs"/>
                        </a:rPr>
                        <a:t> read </a:t>
                      </a:r>
                      <a:r>
                        <a:rPr lang="en-US" altLang="zh-TW" sz="1200" b="0" kern="1200" dirty="0" err="1">
                          <a:solidFill>
                            <a:schemeClr val="dk1"/>
                          </a:solidFill>
                          <a:effectLst/>
                          <a:latin typeface="+mn-lt"/>
                          <a:ea typeface="+mn-ea"/>
                          <a:cs typeface="+mn-cs"/>
                        </a:rPr>
                        <a:t>ibus</a:t>
                      </a:r>
                      <a:endParaRPr lang="en-US" altLang="zh-TW" sz="1200" b="0" kern="1200" dirty="0">
                        <a:solidFill>
                          <a:schemeClr val="dk1"/>
                        </a:solidFill>
                        <a:effectLst/>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fontAlgn="ctr">
                        <a:buNone/>
                      </a:pPr>
                      <a:r>
                        <a:rPr lang="zh-TW" altLang="en-US" sz="1100" u="none" strike="noStrike" kern="1200" dirty="0">
                          <a:solidFill>
                            <a:schemeClr val="dk1"/>
                          </a:solidFill>
                          <a:effectLst/>
                          <a:latin typeface="+mn-lt"/>
                          <a:ea typeface="+mn-ea"/>
                          <a:cs typeface="+mn-cs"/>
                        </a:rPr>
                        <a:t>讀取 </a:t>
                      </a:r>
                      <a:r>
                        <a:rPr lang="en-US" altLang="zh-TW" sz="1100" u="none" strike="noStrike" kern="1200" dirty="0">
                          <a:solidFill>
                            <a:schemeClr val="dk1"/>
                          </a:solidFill>
                          <a:effectLst/>
                          <a:latin typeface="+mn-lt"/>
                          <a:ea typeface="+mn-ea"/>
                          <a:cs typeface="+mn-cs"/>
                        </a:rPr>
                        <a:t>VBUS</a:t>
                      </a:r>
                      <a:r>
                        <a:rPr lang="zh-TW" altLang="en-US" sz="1100" u="none" strike="noStrike" kern="1200" dirty="0">
                          <a:solidFill>
                            <a:schemeClr val="dk1"/>
                          </a:solidFill>
                          <a:effectLst/>
                          <a:latin typeface="+mn-lt"/>
                          <a:ea typeface="+mn-ea"/>
                          <a:cs typeface="+mn-cs"/>
                        </a:rPr>
                        <a:t> 電流</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gridSpan="2" v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v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548702820"/>
                  </a:ext>
                </a:extLst>
              </a:tr>
              <a:tr h="207964">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b="0" kern="1200" dirty="0">
                        <a:solidFill>
                          <a:schemeClr val="dk1"/>
                        </a:solidFill>
                        <a:effectLst/>
                        <a:latin typeface="+mn-lt"/>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ctr">
                        <a:buNone/>
                      </a:pPr>
                      <a:r>
                        <a:rPr lang="en-US" altLang="zh-TW" sz="1200" b="0" kern="1200" dirty="0">
                          <a:solidFill>
                            <a:schemeClr val="dk1"/>
                          </a:solidFill>
                          <a:effectLst/>
                          <a:latin typeface="+mn-lt"/>
                          <a:ea typeface="+mn-ea"/>
                          <a:cs typeface="+mn-cs"/>
                        </a:rPr>
                        <a:t>9</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kern="1200" dirty="0">
                          <a:solidFill>
                            <a:schemeClr val="dk1"/>
                          </a:solidFill>
                          <a:effectLst/>
                          <a:latin typeface="+mn-lt"/>
                          <a:ea typeface="+mn-ea"/>
                          <a:cs typeface="+mn-cs"/>
                        </a:rPr>
                        <a:t>charger </a:t>
                      </a:r>
                      <a:r>
                        <a:rPr lang="en-US" altLang="zh-TW" sz="1200" b="0" kern="1200" dirty="0" err="1">
                          <a:solidFill>
                            <a:schemeClr val="dk1"/>
                          </a:solidFill>
                          <a:effectLst/>
                          <a:latin typeface="+mn-lt"/>
                          <a:ea typeface="+mn-ea"/>
                          <a:cs typeface="+mn-cs"/>
                        </a:rPr>
                        <a:t>adc</a:t>
                      </a:r>
                      <a:r>
                        <a:rPr lang="en-US" altLang="zh-TW" sz="1200" b="0" kern="1200" dirty="0">
                          <a:solidFill>
                            <a:schemeClr val="dk1"/>
                          </a:solidFill>
                          <a:effectLst/>
                          <a:latin typeface="+mn-lt"/>
                          <a:ea typeface="+mn-ea"/>
                          <a:cs typeface="+mn-cs"/>
                        </a:rPr>
                        <a:t> read </a:t>
                      </a:r>
                      <a:r>
                        <a:rPr lang="en-US" altLang="zh-TW" sz="1200" b="0" kern="1200" dirty="0" err="1">
                          <a:solidFill>
                            <a:schemeClr val="dk1"/>
                          </a:solidFill>
                          <a:effectLst/>
                          <a:latin typeface="+mn-lt"/>
                          <a:ea typeface="+mn-ea"/>
                          <a:cs typeface="+mn-cs"/>
                        </a:rPr>
                        <a:t>vbat</a:t>
                      </a:r>
                      <a:endParaRPr lang="en-US" altLang="zh-TW" sz="1200" b="0" kern="1200" dirty="0">
                        <a:solidFill>
                          <a:schemeClr val="dk1"/>
                        </a:solidFill>
                        <a:effectLst/>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fontAlgn="ctr">
                        <a:buNone/>
                      </a:pPr>
                      <a:r>
                        <a:rPr lang="zh-TW" altLang="en-US" sz="1100" u="none" strike="noStrike" kern="1200" dirty="0">
                          <a:solidFill>
                            <a:schemeClr val="dk1"/>
                          </a:solidFill>
                          <a:effectLst/>
                          <a:latin typeface="+mn-lt"/>
                          <a:ea typeface="+mn-ea"/>
                          <a:cs typeface="+mn-cs"/>
                        </a:rPr>
                        <a:t>讀取 充電盒電池端電壓</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gridSpan="2" v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v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905077583"/>
                  </a:ext>
                </a:extLst>
              </a:tr>
              <a:tr h="207964">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b="1" i="0" u="none" strike="noStrike" dirty="0">
                        <a:solidFill>
                          <a:srgbClr val="000000"/>
                        </a:solidFill>
                        <a:effectLst/>
                        <a:latin typeface="新細明體" panose="02020500000000000000" pitchFamily="18" charset="-120"/>
                        <a:ea typeface="新細明體" panose="02020500000000000000" pitchFamily="18"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ctr">
                        <a:buNone/>
                      </a:pPr>
                      <a:r>
                        <a:rPr lang="en-US" altLang="zh-TW" sz="1100" b="0" i="0" u="none" strike="noStrike" dirty="0">
                          <a:solidFill>
                            <a:srgbClr val="000000"/>
                          </a:solidFill>
                          <a:effectLst/>
                          <a:latin typeface="+mn-lt"/>
                          <a:ea typeface="新細明體" panose="02020500000000000000" pitchFamily="18" charset="-120"/>
                        </a:rPr>
                        <a:t>10</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kern="1200" dirty="0">
                          <a:solidFill>
                            <a:schemeClr val="dk1"/>
                          </a:solidFill>
                          <a:effectLst/>
                          <a:latin typeface="+mn-lt"/>
                          <a:ea typeface="+mn-ea"/>
                          <a:cs typeface="+mn-cs"/>
                        </a:rPr>
                        <a:t>charger </a:t>
                      </a:r>
                      <a:r>
                        <a:rPr lang="en-US" altLang="zh-TW" sz="1200" b="0" kern="1200" dirty="0" err="1">
                          <a:solidFill>
                            <a:schemeClr val="dk1"/>
                          </a:solidFill>
                          <a:effectLst/>
                          <a:latin typeface="+mn-lt"/>
                          <a:ea typeface="+mn-ea"/>
                          <a:cs typeface="+mn-cs"/>
                        </a:rPr>
                        <a:t>adc</a:t>
                      </a:r>
                      <a:r>
                        <a:rPr lang="en-US" altLang="zh-TW" sz="1200" b="0" kern="1200" dirty="0">
                          <a:solidFill>
                            <a:schemeClr val="dk1"/>
                          </a:solidFill>
                          <a:effectLst/>
                          <a:latin typeface="+mn-lt"/>
                          <a:ea typeface="+mn-ea"/>
                          <a:cs typeface="+mn-cs"/>
                        </a:rPr>
                        <a:t> read </a:t>
                      </a:r>
                      <a:r>
                        <a:rPr lang="en-US" altLang="zh-TW" sz="1200" b="0" kern="1200" dirty="0" err="1">
                          <a:solidFill>
                            <a:schemeClr val="dk1"/>
                          </a:solidFill>
                          <a:effectLst/>
                          <a:latin typeface="+mn-lt"/>
                          <a:ea typeface="+mn-ea"/>
                          <a:cs typeface="+mn-cs"/>
                        </a:rPr>
                        <a:t>ibat</a:t>
                      </a:r>
                      <a:endParaRPr lang="en-US" altLang="zh-TW" sz="1200" b="0" kern="1200" dirty="0">
                        <a:solidFill>
                          <a:schemeClr val="dk1"/>
                        </a:solidFill>
                        <a:effectLst/>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fontAlgn="ctr">
                        <a:buNone/>
                      </a:pPr>
                      <a:r>
                        <a:rPr lang="zh-TW" altLang="en-US" sz="1100" u="none" strike="noStrike" kern="1200" dirty="0">
                          <a:solidFill>
                            <a:schemeClr val="dk1"/>
                          </a:solidFill>
                          <a:effectLst/>
                          <a:latin typeface="+mn-lt"/>
                          <a:ea typeface="+mn-ea"/>
                          <a:cs typeface="+mn-cs"/>
                        </a:rPr>
                        <a:t>讀取 充電盒電池充放電電流</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gridSpan="2" v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v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4218561278"/>
                  </a:ext>
                </a:extLst>
              </a:tr>
              <a:tr h="207964">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b="1" i="0" u="none" strike="noStrike" dirty="0">
                        <a:solidFill>
                          <a:srgbClr val="000000"/>
                        </a:solidFill>
                        <a:effectLst/>
                        <a:latin typeface="新細明體" panose="02020500000000000000" pitchFamily="18" charset="-120"/>
                        <a:ea typeface="新細明體" panose="02020500000000000000" pitchFamily="18"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ctr">
                        <a:buNone/>
                      </a:pPr>
                      <a:r>
                        <a:rPr lang="en-US" altLang="zh-TW" sz="1200" b="0" kern="1200" dirty="0">
                          <a:solidFill>
                            <a:schemeClr val="dk1"/>
                          </a:solidFill>
                          <a:effectLst/>
                          <a:latin typeface="+mn-lt"/>
                          <a:ea typeface="+mn-ea"/>
                          <a:cs typeface="+mn-cs"/>
                        </a:rPr>
                        <a:t>11</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kern="1200" dirty="0">
                          <a:solidFill>
                            <a:schemeClr val="dk1"/>
                          </a:solidFill>
                          <a:effectLst/>
                          <a:latin typeface="+mn-lt"/>
                          <a:ea typeface="+mn-ea"/>
                          <a:cs typeface="+mn-cs"/>
                        </a:rPr>
                        <a:t>ft temperature get</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fontAlgn="ctr">
                        <a:buNone/>
                      </a:pPr>
                      <a:r>
                        <a:rPr lang="zh-TW" altLang="en-US" sz="1100" u="none" strike="noStrike" kern="1200" dirty="0">
                          <a:solidFill>
                            <a:schemeClr val="dk1"/>
                          </a:solidFill>
                          <a:effectLst/>
                          <a:latin typeface="+mn-lt"/>
                          <a:ea typeface="+mn-ea"/>
                          <a:cs typeface="+mn-cs"/>
                        </a:rPr>
                        <a:t>檢查</a:t>
                      </a:r>
                      <a:r>
                        <a:rPr lang="en-US" altLang="zh-TW" sz="1100" u="none" strike="noStrike" kern="1200" dirty="0">
                          <a:solidFill>
                            <a:schemeClr val="dk1"/>
                          </a:solidFill>
                          <a:effectLst/>
                          <a:latin typeface="+mn-lt"/>
                          <a:ea typeface="+mn-ea"/>
                          <a:cs typeface="+mn-cs"/>
                        </a:rPr>
                        <a:t>MCU</a:t>
                      </a:r>
                      <a:r>
                        <a:rPr lang="zh-TW" altLang="en-US" sz="1100" u="none" strike="noStrike" kern="1200" dirty="0">
                          <a:solidFill>
                            <a:schemeClr val="dk1"/>
                          </a:solidFill>
                          <a:effectLst/>
                          <a:latin typeface="+mn-lt"/>
                          <a:ea typeface="+mn-ea"/>
                          <a:cs typeface="+mn-cs"/>
                        </a:rPr>
                        <a:t>溫度</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gridSpan="2" v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v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348183154"/>
                  </a:ext>
                </a:extLst>
              </a:tr>
              <a:tr h="209135">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b="1" i="0" u="none" strike="noStrike" dirty="0">
                        <a:solidFill>
                          <a:srgbClr val="000000"/>
                        </a:solidFill>
                        <a:effectLst/>
                        <a:latin typeface="新細明體" panose="02020500000000000000" pitchFamily="18" charset="-120"/>
                        <a:ea typeface="新細明體" panose="02020500000000000000" pitchFamily="18"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ctr">
                        <a:buNone/>
                      </a:pPr>
                      <a:r>
                        <a:rPr lang="en-US" altLang="zh-TW" sz="1100" b="0" i="0" u="none" strike="noStrike" dirty="0">
                          <a:solidFill>
                            <a:srgbClr val="000000"/>
                          </a:solidFill>
                          <a:effectLst/>
                          <a:latin typeface="+mn-lt"/>
                          <a:ea typeface="新細明體" panose="02020500000000000000" pitchFamily="18" charset="-120"/>
                        </a:rPr>
                        <a:t>12</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kern="1200" dirty="0">
                          <a:solidFill>
                            <a:schemeClr val="dk1"/>
                          </a:solidFill>
                          <a:effectLst/>
                          <a:latin typeface="+mn-lt"/>
                          <a:ea typeface="+mn-ea"/>
                          <a:cs typeface="+mn-cs"/>
                        </a:rPr>
                        <a:t>charger </a:t>
                      </a:r>
                      <a:r>
                        <a:rPr lang="en-US" altLang="zh-TW" sz="1200" b="0" kern="1200" dirty="0" err="1">
                          <a:solidFill>
                            <a:schemeClr val="dk1"/>
                          </a:solidFill>
                          <a:effectLst/>
                          <a:latin typeface="+mn-lt"/>
                          <a:ea typeface="+mn-ea"/>
                          <a:cs typeface="+mn-cs"/>
                        </a:rPr>
                        <a:t>adc</a:t>
                      </a:r>
                      <a:r>
                        <a:rPr lang="en-US" altLang="zh-TW" sz="1200" b="0" kern="1200" dirty="0">
                          <a:solidFill>
                            <a:schemeClr val="dk1"/>
                          </a:solidFill>
                          <a:effectLst/>
                          <a:latin typeface="+mn-lt"/>
                          <a:ea typeface="+mn-ea"/>
                          <a:cs typeface="+mn-cs"/>
                        </a:rPr>
                        <a:t> read TDIE</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zh-TW" altLang="en-US" sz="1100" u="none" strike="noStrike" kern="1200" dirty="0">
                          <a:solidFill>
                            <a:schemeClr val="dk1"/>
                          </a:solidFill>
                          <a:effectLst/>
                          <a:latin typeface="+mn-lt"/>
                          <a:ea typeface="+mn-ea"/>
                          <a:cs typeface="+mn-cs"/>
                        </a:rPr>
                        <a:t>檢查電池溫度</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v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v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47827742"/>
                  </a:ext>
                </a:extLst>
              </a:tr>
            </a:tbl>
          </a:graphicData>
        </a:graphic>
      </p:graphicFrame>
    </p:spTree>
    <p:extLst>
      <p:ext uri="{BB962C8B-B14F-4D97-AF65-F5344CB8AC3E}">
        <p14:creationId xmlns:p14="http://schemas.microsoft.com/office/powerpoint/2010/main" val="2425059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94A55-AD17-6AFC-6A08-2E87DFD9714E}"/>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9627F460-7DD8-13B6-3447-677B1114EED6}"/>
              </a:ext>
            </a:extLst>
          </p:cNvPr>
          <p:cNvSpPr>
            <a:spLocks noGrp="1"/>
          </p:cNvSpPr>
          <p:nvPr>
            <p:ph type="body" sz="quarter" idx="13"/>
          </p:nvPr>
        </p:nvSpPr>
        <p:spPr/>
        <p:txBody>
          <a:bodyPr/>
          <a:lstStyle/>
          <a:p>
            <a:r>
              <a:rPr lang="en-US" dirty="0"/>
              <a:t>Terminology  </a:t>
            </a:r>
          </a:p>
          <a:p>
            <a:endParaRPr lang="en-US" dirty="0"/>
          </a:p>
        </p:txBody>
      </p:sp>
      <p:sp>
        <p:nvSpPr>
          <p:cNvPr id="6" name="文字方塊 5">
            <a:extLst>
              <a:ext uri="{FF2B5EF4-FFF2-40B4-BE49-F238E27FC236}">
                <a16:creationId xmlns:a16="http://schemas.microsoft.com/office/drawing/2014/main" id="{1D77178A-F629-255F-6B15-76D4E6EA9BFA}"/>
              </a:ext>
            </a:extLst>
          </p:cNvPr>
          <p:cNvSpPr txBox="1"/>
          <p:nvPr/>
        </p:nvSpPr>
        <p:spPr>
          <a:xfrm>
            <a:off x="571500" y="938449"/>
            <a:ext cx="8886825" cy="1785104"/>
          </a:xfrm>
          <a:prstGeom prst="rect">
            <a:avLst/>
          </a:prstGeom>
          <a:noFill/>
        </p:spPr>
        <p:txBody>
          <a:bodyPr wrap="square">
            <a:spAutoFit/>
          </a:bodyPr>
          <a:lstStyle/>
          <a:p>
            <a:pPr lvl="0">
              <a:lnSpc>
                <a:spcPct val="150000"/>
              </a:lnSpc>
              <a:defRPr/>
            </a:pPr>
            <a:r>
              <a:rPr lang="en-US" altLang="zh-TW" sz="2000" b="1" dirty="0"/>
              <a:t>Info</a:t>
            </a:r>
            <a:r>
              <a:rPr lang="zh-TW" altLang="en-US" sz="2000" b="1" kern="1200" dirty="0">
                <a:solidFill>
                  <a:schemeClr val="tx1"/>
                </a:solidFill>
                <a:effectLst/>
                <a:latin typeface="+mn-lt"/>
                <a:ea typeface="+mn-ea"/>
                <a:cs typeface="+mn-cs"/>
              </a:rPr>
              <a:t>：</a:t>
            </a:r>
            <a:endParaRPr lang="en-US" altLang="zh-TW" sz="2000" b="1" kern="1200" dirty="0">
              <a:solidFill>
                <a:schemeClr val="tx1"/>
              </a:solidFill>
              <a:effectLst/>
              <a:latin typeface="+mn-lt"/>
              <a:ea typeface="+mn-ea"/>
              <a:cs typeface="+mn-cs"/>
            </a:endParaRPr>
          </a:p>
          <a:p>
            <a:pPr marL="800100" lvl="1" indent="-342900">
              <a:lnSpc>
                <a:spcPct val="150000"/>
              </a:lnSpc>
              <a:buFont typeface="Arial" panose="020B0604020202020204" pitchFamily="34" charset="0"/>
              <a:buChar char="•"/>
              <a:defRPr/>
            </a:pPr>
            <a:r>
              <a:rPr lang="en-US" altLang="zh-TW" sz="2000" dirty="0"/>
              <a:t>Check battery and fuel gauge calibration information</a:t>
            </a:r>
          </a:p>
          <a:p>
            <a:pPr>
              <a:lnSpc>
                <a:spcPct val="150000"/>
              </a:lnSpc>
              <a:defRPr/>
            </a:pPr>
            <a:r>
              <a:rPr lang="en-US" altLang="zh-TW" sz="2000" b="1" dirty="0"/>
              <a:t>Command</a:t>
            </a:r>
            <a:r>
              <a:rPr lang="zh-TW" altLang="en-US" sz="2000" b="1" dirty="0"/>
              <a:t>：</a:t>
            </a:r>
            <a:endParaRPr lang="en-US" altLang="zh-TW" sz="2000" b="1" dirty="0"/>
          </a:p>
          <a:p>
            <a:pPr lvl="1">
              <a:defRPr/>
            </a:pPr>
            <a:endParaRPr lang="en-US" altLang="zh-TW" sz="2000" dirty="0"/>
          </a:p>
        </p:txBody>
      </p:sp>
      <p:graphicFrame>
        <p:nvGraphicFramePr>
          <p:cNvPr id="2" name="表格 1">
            <a:extLst>
              <a:ext uri="{FF2B5EF4-FFF2-40B4-BE49-F238E27FC236}">
                <a16:creationId xmlns:a16="http://schemas.microsoft.com/office/drawing/2014/main" id="{15372BE7-8470-234B-5DA9-058CB07B2847}"/>
              </a:ext>
            </a:extLst>
          </p:cNvPr>
          <p:cNvGraphicFramePr>
            <a:graphicFrameLocks noGrp="1"/>
          </p:cNvGraphicFramePr>
          <p:nvPr>
            <p:extLst>
              <p:ext uri="{D42A27DB-BD31-4B8C-83A1-F6EECF244321}">
                <p14:modId xmlns:p14="http://schemas.microsoft.com/office/powerpoint/2010/main" val="3018136261"/>
              </p:ext>
            </p:extLst>
          </p:nvPr>
        </p:nvGraphicFramePr>
        <p:xfrm>
          <a:off x="1090431" y="2504487"/>
          <a:ext cx="6615062" cy="2223631"/>
        </p:xfrm>
        <a:graphic>
          <a:graphicData uri="http://schemas.openxmlformats.org/drawingml/2006/table">
            <a:tbl>
              <a:tblPr>
                <a:tableStyleId>{5C22544A-7EE6-4342-B048-85BDC9FD1C3A}</a:tableStyleId>
              </a:tblPr>
              <a:tblGrid>
                <a:gridCol w="1388571">
                  <a:extLst>
                    <a:ext uri="{9D8B030D-6E8A-4147-A177-3AD203B41FA5}">
                      <a16:colId xmlns:a16="http://schemas.microsoft.com/office/drawing/2014/main" val="3315535983"/>
                    </a:ext>
                  </a:extLst>
                </a:gridCol>
                <a:gridCol w="570623">
                  <a:extLst>
                    <a:ext uri="{9D8B030D-6E8A-4147-A177-3AD203B41FA5}">
                      <a16:colId xmlns:a16="http://schemas.microsoft.com/office/drawing/2014/main" val="2960066220"/>
                    </a:ext>
                  </a:extLst>
                </a:gridCol>
                <a:gridCol w="2662912">
                  <a:extLst>
                    <a:ext uri="{9D8B030D-6E8A-4147-A177-3AD203B41FA5}">
                      <a16:colId xmlns:a16="http://schemas.microsoft.com/office/drawing/2014/main" val="3319955928"/>
                    </a:ext>
                  </a:extLst>
                </a:gridCol>
                <a:gridCol w="1992956">
                  <a:extLst>
                    <a:ext uri="{9D8B030D-6E8A-4147-A177-3AD203B41FA5}">
                      <a16:colId xmlns:a16="http://schemas.microsoft.com/office/drawing/2014/main" val="163623680"/>
                    </a:ext>
                  </a:extLst>
                </a:gridCol>
              </a:tblGrid>
              <a:tr h="369715">
                <a:tc>
                  <a:txBody>
                    <a:bodyPr/>
                    <a:lstStyle/>
                    <a:p>
                      <a:pPr algn="ctr" fontAlgn="ctr">
                        <a:buNone/>
                      </a:pPr>
                      <a:r>
                        <a:rPr lang="en-US" sz="1100" b="1" u="none" strike="noStrike" dirty="0">
                          <a:effectLst/>
                        </a:rPr>
                        <a:t>Test</a:t>
                      </a:r>
                      <a:r>
                        <a:rPr lang="en-US" sz="1100" u="none" strike="noStrike" dirty="0">
                          <a:effectLst/>
                        </a:rPr>
                        <a:t> </a:t>
                      </a:r>
                      <a:r>
                        <a:rPr lang="en-US" sz="1100" b="1" u="none" strike="noStrike" dirty="0">
                          <a:effectLst/>
                        </a:rPr>
                        <a:t>item</a:t>
                      </a:r>
                      <a:endParaRPr lang="en-US" sz="1100" b="1"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ctr" fontAlgn="ctr">
                        <a:buNone/>
                      </a:pPr>
                      <a:r>
                        <a:rPr lang="zh-TW" altLang="en-US" sz="1100" u="none" strike="noStrike" dirty="0">
                          <a:effectLst/>
                        </a:rPr>
                        <a:t>　</a:t>
                      </a: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ctr" fontAlgn="ctr">
                        <a:buNone/>
                      </a:pPr>
                      <a:r>
                        <a:rPr lang="en-US" sz="1100" b="1" u="none" strike="noStrike" dirty="0">
                          <a:effectLst/>
                        </a:rPr>
                        <a:t>DUT</a:t>
                      </a:r>
                      <a:r>
                        <a:rPr lang="en-US" sz="1100" u="none" strike="noStrike" dirty="0">
                          <a:effectLst/>
                        </a:rPr>
                        <a:t>  </a:t>
                      </a:r>
                      <a:r>
                        <a:rPr lang="en-US" sz="1100" b="1" u="none" strike="noStrike" dirty="0">
                          <a:effectLst/>
                        </a:rPr>
                        <a:t>command</a:t>
                      </a:r>
                      <a:endParaRPr lang="en-US" sz="1100" b="1" i="0" u="none" strike="noStrike" dirty="0">
                        <a:solidFill>
                          <a:srgbClr val="FF0000"/>
                        </a:solidFill>
                        <a:effectLst/>
                        <a:latin typeface="新細明體" panose="02020500000000000000" pitchFamily="18" charset="-120"/>
                        <a:ea typeface="新細明體" panose="02020500000000000000" pitchFamily="18" charset="-120"/>
                      </a:endParaRPr>
                    </a:p>
                  </a:txBody>
                  <a:tcPr marL="9525" marR="9525" marT="9525" marB="0"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l" fontAlgn="ctr">
                        <a:buNone/>
                      </a:pPr>
                      <a:r>
                        <a:rPr lang="en-US" altLang="zh-TW" sz="1100" b="1" kern="1200" dirty="0">
                          <a:solidFill>
                            <a:schemeClr val="tx1"/>
                          </a:solidFill>
                          <a:effectLst/>
                          <a:latin typeface="+mn-lt"/>
                          <a:ea typeface="+mn-ea"/>
                          <a:cs typeface="+mn-cs"/>
                        </a:rPr>
                        <a:t>Description</a:t>
                      </a: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6">
                        <a:lumMod val="40000"/>
                        <a:lumOff val="60000"/>
                      </a:schemeClr>
                    </a:solidFill>
                  </a:tcPr>
                </a:tc>
                <a:extLst>
                  <a:ext uri="{0D108BD9-81ED-4DB2-BD59-A6C34878D82A}">
                    <a16:rowId xmlns:a16="http://schemas.microsoft.com/office/drawing/2014/main" val="3824094486"/>
                  </a:ext>
                </a:extLst>
              </a:tr>
              <a:tr h="308986">
                <a:tc rowSpan="6">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400" b="1" dirty="0"/>
                        <a:t>Info</a:t>
                      </a:r>
                      <a:endParaRPr lang="en-US" altLang="zh-TW" sz="1400" b="0" i="0" u="none" strike="noStrike" dirty="0">
                        <a:solidFill>
                          <a:srgbClr val="000000"/>
                        </a:solidFill>
                        <a:effectLst/>
                        <a:latin typeface="新細明體" panose="02020500000000000000" pitchFamily="18" charset="-120"/>
                        <a:ea typeface="新細明體" panose="02020500000000000000" pitchFamily="18" charset="-120"/>
                      </a:endParaRP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fontAlgn="ctr">
                        <a:buNone/>
                      </a:pPr>
                      <a:r>
                        <a:rPr lang="en-US" altLang="zh-TW" sz="1100" b="0" i="0" u="none" strike="noStrike" dirty="0">
                          <a:solidFill>
                            <a:srgbClr val="000000"/>
                          </a:solidFill>
                          <a:effectLst/>
                          <a:latin typeface="+mn-lt"/>
                          <a:ea typeface="新細明體" panose="02020500000000000000" pitchFamily="18" charset="-120"/>
                        </a:rPr>
                        <a:t>1</a:t>
                      </a:r>
                    </a:p>
                  </a:txBody>
                  <a:tcPr marL="9525" marR="9525" marT="9525" marB="0" anchor="ctr"/>
                </a:tc>
                <a:tc>
                  <a:txBody>
                    <a:bodyPr/>
                    <a:lstStyle/>
                    <a:p>
                      <a:pPr marL="0" algn="l" defTabSz="914400" rtl="0" eaLnBrk="1" latinLnBrk="0" hangingPunct="1"/>
                      <a:r>
                        <a:rPr lang="en-US" altLang="zh-TW" sz="1200" b="0" kern="1200" dirty="0">
                          <a:solidFill>
                            <a:schemeClr val="dk1"/>
                          </a:solidFill>
                          <a:effectLst/>
                          <a:latin typeface="+mn-lt"/>
                          <a:ea typeface="+mn-ea"/>
                          <a:cs typeface="+mn-cs"/>
                        </a:rPr>
                        <a:t>gg unseal</a:t>
                      </a:r>
                    </a:p>
                  </a:txBody>
                  <a:tcPr marL="9525" marR="9525" marT="9525" marB="0" anchor="ct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zh-TW" altLang="en-US" sz="1100" b="0" i="0" u="none" strike="noStrike" kern="1200" dirty="0">
                          <a:solidFill>
                            <a:schemeClr val="tx1"/>
                          </a:solidFill>
                          <a:effectLst/>
                          <a:latin typeface="+mn-lt"/>
                          <a:ea typeface="+mn-ea"/>
                          <a:cs typeface="+mn-cs"/>
                        </a:rPr>
                        <a:t>解除</a:t>
                      </a:r>
                      <a:r>
                        <a:rPr lang="en-US" altLang="zh-TW" sz="1100" dirty="0"/>
                        <a:t>fuel gauge</a:t>
                      </a:r>
                      <a:r>
                        <a:rPr lang="zh-TW" altLang="en-US" sz="1100" dirty="0"/>
                        <a:t>校正值鎖定</a:t>
                      </a:r>
                      <a:endParaRPr lang="zh-TW" altLang="zh-TW" sz="1100" b="0" i="0" u="none" strike="noStrike" kern="1200" dirty="0">
                        <a:solidFill>
                          <a:schemeClr val="tx1"/>
                        </a:solidFill>
                        <a:effectLst/>
                        <a:latin typeface="+mn-lt"/>
                        <a:ea typeface="+mn-ea"/>
                        <a:cs typeface="+mn-cs"/>
                      </a:endParaRPr>
                    </a:p>
                  </a:txBody>
                  <a:tcPr marL="9525" marR="9525" marT="9525"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884187575"/>
                  </a:ext>
                </a:extLst>
              </a:tr>
              <a:tr h="308986">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TW" sz="1200" b="0" i="0" u="none" strike="noStrike" dirty="0">
                        <a:solidFill>
                          <a:srgbClr val="000000"/>
                        </a:solidFill>
                        <a:effectLst/>
                        <a:latin typeface="新細明體" panose="02020500000000000000" pitchFamily="18" charset="-120"/>
                        <a:ea typeface="新細明體" panose="02020500000000000000" pitchFamily="18" charset="-120"/>
                      </a:endParaRPr>
                    </a:p>
                  </a:txBody>
                  <a:tcPr anchor="ctr">
                    <a:lnL w="12700" cap="flat" cmpd="sng" algn="ctr">
                      <a:solidFill>
                        <a:schemeClr val="tx1"/>
                      </a:solidFill>
                      <a:prstDash val="solid"/>
                      <a:round/>
                      <a:headEnd type="none" w="med" len="med"/>
                      <a:tailEnd type="none" w="med" len="med"/>
                    </a:lnL>
                  </a:tcPr>
                </a:tc>
                <a:tc>
                  <a:txBody>
                    <a:bodyPr/>
                    <a:lstStyle/>
                    <a:p>
                      <a:pPr algn="ctr" fontAlgn="ctr">
                        <a:buNone/>
                      </a:pPr>
                      <a:r>
                        <a:rPr lang="en-US" altLang="zh-TW" sz="1100" b="0" i="0" u="none" strike="noStrike" dirty="0">
                          <a:solidFill>
                            <a:srgbClr val="000000"/>
                          </a:solidFill>
                          <a:effectLst/>
                          <a:latin typeface="+mn-lt"/>
                          <a:ea typeface="新細明體" panose="02020500000000000000" pitchFamily="18" charset="-120"/>
                        </a:rPr>
                        <a:t>2</a:t>
                      </a:r>
                    </a:p>
                  </a:txBody>
                  <a:tcPr marL="9525" marR="9525" marT="9525"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kern="1200" dirty="0">
                          <a:solidFill>
                            <a:schemeClr val="dk1"/>
                          </a:solidFill>
                          <a:effectLst/>
                          <a:latin typeface="+mn-lt"/>
                          <a:ea typeface="+mn-ea"/>
                          <a:cs typeface="+mn-cs"/>
                        </a:rPr>
                        <a:t>gg </a:t>
                      </a:r>
                      <a:r>
                        <a:rPr lang="en-US" altLang="zh-TW" sz="1200" b="0" kern="1200" dirty="0" err="1">
                          <a:solidFill>
                            <a:schemeClr val="dk1"/>
                          </a:solidFill>
                          <a:effectLst/>
                          <a:latin typeface="+mn-lt"/>
                          <a:ea typeface="+mn-ea"/>
                          <a:cs typeface="+mn-cs"/>
                        </a:rPr>
                        <a:t>cal</a:t>
                      </a:r>
                      <a:r>
                        <a:rPr lang="en-US" altLang="zh-TW" sz="1200" b="0" kern="1200" dirty="0">
                          <a:solidFill>
                            <a:schemeClr val="dk1"/>
                          </a:solidFill>
                          <a:effectLst/>
                          <a:latin typeface="+mn-lt"/>
                          <a:ea typeface="+mn-ea"/>
                          <a:cs typeface="+mn-cs"/>
                        </a:rPr>
                        <a:t> info</a:t>
                      </a:r>
                    </a:p>
                  </a:txBody>
                  <a:tcPr marL="9525" marR="9525" marT="9525" marB="0" anchor="ct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zh-TW" altLang="en-US" sz="1100" b="0" i="0" u="none" strike="noStrike" kern="1200" dirty="0">
                          <a:solidFill>
                            <a:schemeClr val="tx1"/>
                          </a:solidFill>
                          <a:effectLst/>
                          <a:latin typeface="+mn-lt"/>
                          <a:ea typeface="+mn-ea"/>
                          <a:cs typeface="+mn-cs"/>
                        </a:rPr>
                        <a:t>取得</a:t>
                      </a:r>
                      <a:r>
                        <a:rPr lang="en-US" altLang="zh-TW" sz="1100" dirty="0"/>
                        <a:t>fuel gauge</a:t>
                      </a:r>
                      <a:r>
                        <a:rPr lang="zh-TW" altLang="en-US" sz="1100" dirty="0"/>
                        <a:t>校正值資訊</a:t>
                      </a:r>
                      <a:endParaRPr lang="zh-TW" altLang="zh-TW" sz="1100" b="0" i="0" u="none" strike="noStrike" kern="1200" dirty="0">
                        <a:solidFill>
                          <a:schemeClr val="tx1"/>
                        </a:solidFill>
                        <a:effectLst/>
                        <a:latin typeface="+mn-lt"/>
                        <a:ea typeface="+mn-ea"/>
                        <a:cs typeface="+mn-cs"/>
                      </a:endParaRPr>
                    </a:p>
                  </a:txBody>
                  <a:tcPr marL="9525" marR="9525" marT="9525"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131482063"/>
                  </a:ext>
                </a:extLst>
              </a:tr>
              <a:tr h="308986">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TW" sz="1200" b="0" i="0" u="none" strike="noStrike" dirty="0">
                        <a:solidFill>
                          <a:srgbClr val="000000"/>
                        </a:solidFill>
                        <a:effectLst/>
                        <a:latin typeface="新細明體" panose="02020500000000000000" pitchFamily="18" charset="-120"/>
                        <a:ea typeface="新細明體" panose="02020500000000000000" pitchFamily="18" charset="-120"/>
                      </a:endParaRPr>
                    </a:p>
                  </a:txBody>
                  <a:tcPr anchor="ctr">
                    <a:lnL w="12700" cap="flat" cmpd="sng" algn="ctr">
                      <a:solidFill>
                        <a:schemeClr val="tx1"/>
                      </a:solidFill>
                      <a:prstDash val="solid"/>
                      <a:round/>
                      <a:headEnd type="none" w="med" len="med"/>
                      <a:tailEnd type="none" w="med" len="med"/>
                    </a:lnL>
                  </a:tcPr>
                </a:tc>
                <a:tc>
                  <a:txBody>
                    <a:bodyPr/>
                    <a:lstStyle/>
                    <a:p>
                      <a:pPr algn="ctr" fontAlgn="ctr">
                        <a:buNone/>
                      </a:pPr>
                      <a:r>
                        <a:rPr lang="en-US" altLang="zh-TW" sz="1100" b="0" i="0" u="none" strike="noStrike" dirty="0">
                          <a:solidFill>
                            <a:srgbClr val="000000"/>
                          </a:solidFill>
                          <a:effectLst/>
                          <a:latin typeface="+mn-lt"/>
                          <a:ea typeface="新細明體" panose="02020500000000000000" pitchFamily="18" charset="-120"/>
                        </a:rPr>
                        <a:t>3</a:t>
                      </a:r>
                    </a:p>
                  </a:txBody>
                  <a:tcPr marL="9525" marR="9525" marT="9525"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kern="1200" dirty="0">
                          <a:solidFill>
                            <a:schemeClr val="dk1"/>
                          </a:solidFill>
                          <a:effectLst/>
                          <a:latin typeface="+mn-lt"/>
                          <a:ea typeface="+mn-ea"/>
                          <a:cs typeface="+mn-cs"/>
                        </a:rPr>
                        <a:t>gg info</a:t>
                      </a:r>
                    </a:p>
                  </a:txBody>
                  <a:tcPr marL="9525" marR="9525" marT="9525" marB="0" anchor="ct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zh-TW" altLang="en-US" sz="1100" b="0" i="0" u="none" strike="noStrike" kern="1200" dirty="0">
                          <a:solidFill>
                            <a:schemeClr val="tx1"/>
                          </a:solidFill>
                          <a:effectLst/>
                          <a:latin typeface="+mn-lt"/>
                          <a:ea typeface="+mn-ea"/>
                          <a:cs typeface="+mn-cs"/>
                        </a:rPr>
                        <a:t>確認電池各項資訊</a:t>
                      </a:r>
                      <a:endParaRPr lang="zh-TW" altLang="zh-TW" sz="1100" b="0" i="0" u="none" strike="noStrike" kern="1200" dirty="0">
                        <a:solidFill>
                          <a:schemeClr val="tx1"/>
                        </a:solidFill>
                        <a:effectLst/>
                        <a:latin typeface="+mn-lt"/>
                        <a:ea typeface="+mn-ea"/>
                        <a:cs typeface="+mn-cs"/>
                      </a:endParaRPr>
                    </a:p>
                  </a:txBody>
                  <a:tcPr marL="9525" marR="9525" marT="9525"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4277190936"/>
                  </a:ext>
                </a:extLst>
              </a:tr>
              <a:tr h="308986">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TW" sz="1200" b="0" i="0" u="none" strike="noStrike" dirty="0">
                        <a:solidFill>
                          <a:srgbClr val="000000"/>
                        </a:solidFill>
                        <a:effectLst/>
                        <a:latin typeface="新細明體" panose="02020500000000000000" pitchFamily="18" charset="-120"/>
                        <a:ea typeface="新細明體" panose="02020500000000000000" pitchFamily="18" charset="-120"/>
                      </a:endParaRPr>
                    </a:p>
                  </a:txBody>
                  <a:tcPr anchor="ctr">
                    <a:lnL w="12700" cap="flat" cmpd="sng" algn="ctr">
                      <a:solidFill>
                        <a:schemeClr val="tx1"/>
                      </a:solidFill>
                      <a:prstDash val="solid"/>
                      <a:round/>
                      <a:headEnd type="none" w="med" len="med"/>
                      <a:tailEnd type="none" w="med" len="med"/>
                    </a:lnL>
                  </a:tcPr>
                </a:tc>
                <a:tc>
                  <a:txBody>
                    <a:bodyPr/>
                    <a:lstStyle/>
                    <a:p>
                      <a:pPr algn="ctr" fontAlgn="ctr">
                        <a:buNone/>
                      </a:pPr>
                      <a:r>
                        <a:rPr lang="en-US" altLang="zh-TW" sz="1100" b="0" i="0" u="none" strike="noStrike" dirty="0">
                          <a:solidFill>
                            <a:srgbClr val="000000"/>
                          </a:solidFill>
                          <a:effectLst/>
                          <a:latin typeface="+mn-lt"/>
                          <a:ea typeface="新細明體" panose="02020500000000000000" pitchFamily="18" charset="-120"/>
                        </a:rPr>
                        <a:t>4</a:t>
                      </a:r>
                    </a:p>
                  </a:txBody>
                  <a:tcPr marL="9525" marR="9525" marT="9525"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kern="1200" dirty="0">
                          <a:solidFill>
                            <a:schemeClr val="dk1"/>
                          </a:solidFill>
                          <a:effectLst/>
                          <a:latin typeface="+mn-lt"/>
                          <a:ea typeface="+mn-ea"/>
                          <a:cs typeface="+mn-cs"/>
                        </a:rPr>
                        <a:t>gg </a:t>
                      </a:r>
                      <a:r>
                        <a:rPr lang="en-US" altLang="zh-TW" sz="1200" b="0" kern="1200" dirty="0" err="1">
                          <a:solidFill>
                            <a:schemeClr val="dk1"/>
                          </a:solidFill>
                          <a:effectLst/>
                          <a:latin typeface="+mn-lt"/>
                          <a:ea typeface="+mn-ea"/>
                          <a:cs typeface="+mn-cs"/>
                        </a:rPr>
                        <a:t>cc_offset_cal</a:t>
                      </a:r>
                      <a:endParaRPr lang="en-US" altLang="zh-TW" sz="1200" b="0" kern="1200" dirty="0">
                        <a:solidFill>
                          <a:schemeClr val="dk1"/>
                        </a:solidFill>
                        <a:effectLst/>
                        <a:latin typeface="+mn-lt"/>
                        <a:ea typeface="+mn-ea"/>
                        <a:cs typeface="+mn-cs"/>
                      </a:endParaRPr>
                    </a:p>
                  </a:txBody>
                  <a:tcPr marL="9525" marR="9525" marT="9525" marB="0" anchor="ct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zh-TW" altLang="en-US" sz="1100" b="0" i="0" u="none" strike="noStrike" kern="1200" dirty="0">
                          <a:solidFill>
                            <a:schemeClr val="tx1"/>
                          </a:solidFill>
                          <a:effectLst/>
                          <a:latin typeface="+mn-lt"/>
                          <a:ea typeface="+mn-ea"/>
                          <a:cs typeface="+mn-cs"/>
                        </a:rPr>
                        <a:t>設定</a:t>
                      </a:r>
                      <a:r>
                        <a:rPr lang="en-US" altLang="zh-TW" sz="1100" dirty="0"/>
                        <a:t>fuel gauge</a:t>
                      </a:r>
                      <a:r>
                        <a:rPr lang="zh-TW" altLang="en-US" sz="1100" dirty="0"/>
                        <a:t>校正值</a:t>
                      </a:r>
                      <a:endParaRPr lang="zh-TW" altLang="zh-TW" sz="1100" b="0" i="0" u="none" strike="noStrike" kern="1200" dirty="0">
                        <a:solidFill>
                          <a:schemeClr val="tx1"/>
                        </a:solidFill>
                        <a:effectLst/>
                        <a:latin typeface="+mn-lt"/>
                        <a:ea typeface="+mn-ea"/>
                        <a:cs typeface="+mn-cs"/>
                      </a:endParaRPr>
                    </a:p>
                  </a:txBody>
                  <a:tcPr marL="9525" marR="9525" marT="9525"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222796966"/>
                  </a:ext>
                </a:extLst>
              </a:tr>
              <a:tr h="308986">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TW" sz="1200" b="0" i="0" u="none" strike="noStrike" dirty="0">
                        <a:solidFill>
                          <a:srgbClr val="000000"/>
                        </a:solidFill>
                        <a:effectLst/>
                        <a:latin typeface="新細明體" panose="02020500000000000000" pitchFamily="18" charset="-120"/>
                        <a:ea typeface="新細明體" panose="02020500000000000000" pitchFamily="18" charset="-120"/>
                      </a:endParaRPr>
                    </a:p>
                  </a:txBody>
                  <a:tcPr anchor="ctr">
                    <a:lnL w="12700" cap="flat" cmpd="sng" algn="ctr">
                      <a:solidFill>
                        <a:schemeClr val="tx1"/>
                      </a:solidFill>
                      <a:prstDash val="solid"/>
                      <a:round/>
                      <a:headEnd type="none" w="med" len="med"/>
                      <a:tailEnd type="none" w="med" len="med"/>
                    </a:lnL>
                  </a:tcPr>
                </a:tc>
                <a:tc>
                  <a:txBody>
                    <a:bodyPr/>
                    <a:lstStyle/>
                    <a:p>
                      <a:pPr algn="ctr" fontAlgn="ctr">
                        <a:buNone/>
                      </a:pPr>
                      <a:r>
                        <a:rPr lang="en-US" altLang="zh-TW" sz="1100" b="0" i="0" u="none" strike="noStrike" dirty="0">
                          <a:solidFill>
                            <a:srgbClr val="000000"/>
                          </a:solidFill>
                          <a:effectLst/>
                          <a:latin typeface="+mn-lt"/>
                          <a:ea typeface="新細明體" panose="02020500000000000000" pitchFamily="18" charset="-120"/>
                        </a:rPr>
                        <a:t>5</a:t>
                      </a:r>
                    </a:p>
                  </a:txBody>
                  <a:tcPr marL="9525" marR="9525" marT="9525"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kern="1200" dirty="0">
                          <a:solidFill>
                            <a:schemeClr val="dk1"/>
                          </a:solidFill>
                          <a:effectLst/>
                          <a:latin typeface="+mn-lt"/>
                          <a:ea typeface="+mn-ea"/>
                          <a:cs typeface="+mn-cs"/>
                        </a:rPr>
                        <a:t>gg seal</a:t>
                      </a:r>
                    </a:p>
                  </a:txBody>
                  <a:tcPr marL="9525" marR="9525" marT="9525" marB="0" anchor="ct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zh-TW" altLang="en-US" sz="1100" dirty="0"/>
                        <a:t>鎖定</a:t>
                      </a:r>
                      <a:r>
                        <a:rPr lang="en-US" altLang="zh-TW" sz="1100" dirty="0"/>
                        <a:t>fuel gauge</a:t>
                      </a:r>
                      <a:r>
                        <a:rPr lang="zh-TW" altLang="en-US" sz="1100" dirty="0"/>
                        <a:t>校正值</a:t>
                      </a:r>
                      <a:endParaRPr lang="zh-TW" altLang="zh-TW" sz="1100" b="0" i="0" u="none" strike="noStrike" kern="1200" dirty="0">
                        <a:solidFill>
                          <a:schemeClr val="tx1"/>
                        </a:solidFill>
                        <a:effectLst/>
                        <a:latin typeface="+mn-lt"/>
                        <a:ea typeface="+mn-ea"/>
                        <a:cs typeface="+mn-cs"/>
                      </a:endParaRPr>
                    </a:p>
                  </a:txBody>
                  <a:tcPr marL="9525" marR="9525" marT="9525"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888339198"/>
                  </a:ext>
                </a:extLst>
              </a:tr>
              <a:tr h="308986">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TW" sz="1200" b="0" i="0" u="none" strike="noStrike" dirty="0">
                        <a:solidFill>
                          <a:srgbClr val="000000"/>
                        </a:solidFill>
                        <a:effectLst/>
                        <a:latin typeface="新細明體" panose="02020500000000000000" pitchFamily="18" charset="-120"/>
                        <a:ea typeface="新細明體" panose="02020500000000000000" pitchFamily="18" charset="-120"/>
                      </a:endParaRP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fontAlgn="ctr">
                        <a:buNone/>
                      </a:pPr>
                      <a:r>
                        <a:rPr lang="en-US" altLang="zh-TW" sz="1100" b="0" i="0" u="none" strike="noStrike" dirty="0">
                          <a:solidFill>
                            <a:srgbClr val="000000"/>
                          </a:solidFill>
                          <a:effectLst/>
                          <a:latin typeface="+mn-lt"/>
                          <a:ea typeface="新細明體" panose="02020500000000000000" pitchFamily="18" charset="-120"/>
                        </a:rPr>
                        <a:t>6</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kern="1200" dirty="0">
                          <a:solidFill>
                            <a:schemeClr val="dk1"/>
                          </a:solidFill>
                          <a:effectLst/>
                          <a:latin typeface="+mn-lt"/>
                          <a:ea typeface="+mn-ea"/>
                          <a:cs typeface="+mn-cs"/>
                        </a:rPr>
                        <a:t>gg reset</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altLang="zh-TW" sz="1100" b="0" i="0" u="none" strike="noStrike" kern="1200" dirty="0">
                          <a:solidFill>
                            <a:schemeClr val="tx1"/>
                          </a:solidFill>
                          <a:effectLst/>
                          <a:latin typeface="+mn-lt"/>
                          <a:ea typeface="+mn-ea"/>
                          <a:cs typeface="+mn-cs"/>
                        </a:rPr>
                        <a:t>reset</a:t>
                      </a:r>
                      <a:endParaRPr lang="zh-TW" altLang="zh-TW" sz="1100" b="0" i="0" u="none" strike="noStrike" kern="1200" dirty="0">
                        <a:solidFill>
                          <a:schemeClr val="tx1"/>
                        </a:solidFill>
                        <a:effectLst/>
                        <a:latin typeface="+mn-lt"/>
                        <a:ea typeface="+mn-ea"/>
                        <a:cs typeface="+mn-cs"/>
                      </a:endParaRPr>
                    </a:p>
                  </a:txBody>
                  <a:tcPr marL="9525" marR="9525" marT="9525"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70335244"/>
                  </a:ext>
                </a:extLst>
              </a:tr>
            </a:tbl>
          </a:graphicData>
        </a:graphic>
      </p:graphicFrame>
      <p:pic>
        <p:nvPicPr>
          <p:cNvPr id="5" name="圖片 4" descr="一張含有 文字, 字型, 白色, 螢幕擷取畫面 的圖片&#10;&#10;AI 產生的內容可能不正確。">
            <a:extLst>
              <a:ext uri="{FF2B5EF4-FFF2-40B4-BE49-F238E27FC236}">
                <a16:creationId xmlns:a16="http://schemas.microsoft.com/office/drawing/2014/main" id="{D5EF8718-A39D-F000-158F-AD32B03908BB}"/>
              </a:ext>
            </a:extLst>
          </p:cNvPr>
          <p:cNvPicPr>
            <a:picLocks noChangeAspect="1"/>
          </p:cNvPicPr>
          <p:nvPr/>
        </p:nvPicPr>
        <p:blipFill>
          <a:blip r:embed="rId3"/>
          <a:stretch>
            <a:fillRect/>
          </a:stretch>
        </p:blipFill>
        <p:spPr>
          <a:xfrm>
            <a:off x="8311242" y="2519335"/>
            <a:ext cx="2958207" cy="1615113"/>
          </a:xfrm>
          <a:prstGeom prst="rect">
            <a:avLst/>
          </a:prstGeom>
        </p:spPr>
      </p:pic>
      <p:sp>
        <p:nvSpPr>
          <p:cNvPr id="8" name="文字方塊 7">
            <a:extLst>
              <a:ext uri="{FF2B5EF4-FFF2-40B4-BE49-F238E27FC236}">
                <a16:creationId xmlns:a16="http://schemas.microsoft.com/office/drawing/2014/main" id="{9C732681-487F-0944-B77E-23E87AC64040}"/>
              </a:ext>
            </a:extLst>
          </p:cNvPr>
          <p:cNvSpPr txBox="1"/>
          <p:nvPr/>
        </p:nvSpPr>
        <p:spPr>
          <a:xfrm>
            <a:off x="9458325" y="4119773"/>
            <a:ext cx="1088571"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b="0" kern="1200" dirty="0">
                <a:solidFill>
                  <a:schemeClr val="dk1"/>
                </a:solidFill>
                <a:effectLst/>
                <a:latin typeface="+mn-lt"/>
                <a:ea typeface="+mn-ea"/>
                <a:cs typeface="+mn-cs"/>
              </a:rPr>
              <a:t>gg info</a:t>
            </a:r>
          </a:p>
        </p:txBody>
      </p:sp>
    </p:spTree>
    <p:extLst>
      <p:ext uri="{BB962C8B-B14F-4D97-AF65-F5344CB8AC3E}">
        <p14:creationId xmlns:p14="http://schemas.microsoft.com/office/powerpoint/2010/main" val="7091600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5D3ACE-6F02-4575-9B0C-B393976EDAB0}"/>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CD39D579-1519-D4AA-AD4F-B1C600FA5773}"/>
              </a:ext>
            </a:extLst>
          </p:cNvPr>
          <p:cNvSpPr>
            <a:spLocks noGrp="1"/>
          </p:cNvSpPr>
          <p:nvPr>
            <p:ph type="body" sz="quarter" idx="13"/>
          </p:nvPr>
        </p:nvSpPr>
        <p:spPr>
          <a:xfrm>
            <a:off x="400050" y="457201"/>
            <a:ext cx="4762499" cy="366948"/>
          </a:xfrm>
        </p:spPr>
        <p:txBody>
          <a:bodyPr/>
          <a:lstStyle/>
          <a:p>
            <a:r>
              <a:rPr lang="en-US" dirty="0"/>
              <a:t>Terminology  </a:t>
            </a:r>
          </a:p>
          <a:p>
            <a:endParaRPr lang="en-US" dirty="0"/>
          </a:p>
        </p:txBody>
      </p:sp>
      <p:sp>
        <p:nvSpPr>
          <p:cNvPr id="6" name="文字方塊 5">
            <a:extLst>
              <a:ext uri="{FF2B5EF4-FFF2-40B4-BE49-F238E27FC236}">
                <a16:creationId xmlns:a16="http://schemas.microsoft.com/office/drawing/2014/main" id="{EAEF0535-0AD0-FFD3-4F14-AF11DF584D20}"/>
              </a:ext>
            </a:extLst>
          </p:cNvPr>
          <p:cNvSpPr txBox="1"/>
          <p:nvPr/>
        </p:nvSpPr>
        <p:spPr>
          <a:xfrm>
            <a:off x="571500" y="713062"/>
            <a:ext cx="9921798" cy="1785104"/>
          </a:xfrm>
          <a:prstGeom prst="rect">
            <a:avLst/>
          </a:prstGeom>
          <a:noFill/>
        </p:spPr>
        <p:txBody>
          <a:bodyPr wrap="square">
            <a:spAutoFit/>
          </a:bodyPr>
          <a:lstStyle/>
          <a:p>
            <a:pPr>
              <a:lnSpc>
                <a:spcPct val="150000"/>
              </a:lnSpc>
              <a:defRPr/>
            </a:pPr>
            <a:r>
              <a:rPr lang="en-US" altLang="zh-TW" sz="2000" b="1" dirty="0"/>
              <a:t>Brightness</a:t>
            </a:r>
            <a:r>
              <a:rPr lang="zh-TW" altLang="en-US" sz="2000" b="1" kern="1200" dirty="0">
                <a:solidFill>
                  <a:schemeClr val="tx1"/>
                </a:solidFill>
                <a:effectLst/>
                <a:latin typeface="+mn-lt"/>
                <a:ea typeface="+mn-ea"/>
                <a:cs typeface="+mn-cs"/>
              </a:rPr>
              <a:t>：</a:t>
            </a:r>
            <a:endParaRPr lang="en-US" altLang="zh-TW" sz="2000" b="1" kern="1200" dirty="0">
              <a:solidFill>
                <a:schemeClr val="tx1"/>
              </a:solidFill>
              <a:effectLst/>
              <a:latin typeface="+mn-lt"/>
              <a:ea typeface="+mn-ea"/>
              <a:cs typeface="+mn-cs"/>
            </a:endParaRPr>
          </a:p>
          <a:p>
            <a:pPr marL="800100" lvl="1" indent="-342900">
              <a:lnSpc>
                <a:spcPct val="150000"/>
              </a:lnSpc>
              <a:buFont typeface="Arial" panose="020B0604020202020204" pitchFamily="34" charset="0"/>
              <a:buChar char="•"/>
              <a:defRPr/>
            </a:pPr>
            <a:r>
              <a:rPr lang="en-US" altLang="zh-TW" sz="2000" dirty="0"/>
              <a:t>Measure the case LED parameters under red and white light conditions</a:t>
            </a:r>
          </a:p>
          <a:p>
            <a:pPr>
              <a:lnSpc>
                <a:spcPct val="150000"/>
              </a:lnSpc>
              <a:defRPr/>
            </a:pPr>
            <a:r>
              <a:rPr lang="en-US" altLang="zh-TW" sz="2000" b="1" dirty="0"/>
              <a:t>Command</a:t>
            </a:r>
            <a:r>
              <a:rPr lang="zh-TW" altLang="en-US" sz="2000" b="1" dirty="0"/>
              <a:t>：</a:t>
            </a:r>
            <a:endParaRPr lang="en-US" altLang="zh-TW" sz="2000" b="1" dirty="0"/>
          </a:p>
          <a:p>
            <a:pPr marL="800100" lvl="1" indent="-342900">
              <a:buFont typeface="Arial" panose="020B0604020202020204" pitchFamily="34" charset="0"/>
              <a:buChar char="•"/>
              <a:defRPr/>
            </a:pPr>
            <a:endParaRPr lang="en-US" altLang="zh-TW" sz="2000" dirty="0"/>
          </a:p>
        </p:txBody>
      </p:sp>
      <p:graphicFrame>
        <p:nvGraphicFramePr>
          <p:cNvPr id="2" name="表格 1">
            <a:extLst>
              <a:ext uri="{FF2B5EF4-FFF2-40B4-BE49-F238E27FC236}">
                <a16:creationId xmlns:a16="http://schemas.microsoft.com/office/drawing/2014/main" id="{3651DDBA-46E4-ED1B-42DE-A473BE08980A}"/>
              </a:ext>
            </a:extLst>
          </p:cNvPr>
          <p:cNvGraphicFramePr>
            <a:graphicFrameLocks noGrp="1"/>
          </p:cNvGraphicFramePr>
          <p:nvPr>
            <p:extLst>
              <p:ext uri="{D42A27DB-BD31-4B8C-83A1-F6EECF244321}">
                <p14:modId xmlns:p14="http://schemas.microsoft.com/office/powerpoint/2010/main" val="4048662614"/>
              </p:ext>
            </p:extLst>
          </p:nvPr>
        </p:nvGraphicFramePr>
        <p:xfrm>
          <a:off x="400050" y="2224082"/>
          <a:ext cx="11220450" cy="4269240"/>
        </p:xfrm>
        <a:graphic>
          <a:graphicData uri="http://schemas.openxmlformats.org/drawingml/2006/table">
            <a:tbl>
              <a:tblPr>
                <a:tableStyleId>{5C22544A-7EE6-4342-B048-85BDC9FD1C3A}</a:tableStyleId>
              </a:tblPr>
              <a:tblGrid>
                <a:gridCol w="1105852">
                  <a:extLst>
                    <a:ext uri="{9D8B030D-6E8A-4147-A177-3AD203B41FA5}">
                      <a16:colId xmlns:a16="http://schemas.microsoft.com/office/drawing/2014/main" val="549460067"/>
                    </a:ext>
                  </a:extLst>
                </a:gridCol>
                <a:gridCol w="482918">
                  <a:extLst>
                    <a:ext uri="{9D8B030D-6E8A-4147-A177-3AD203B41FA5}">
                      <a16:colId xmlns:a16="http://schemas.microsoft.com/office/drawing/2014/main" val="2327150729"/>
                    </a:ext>
                  </a:extLst>
                </a:gridCol>
                <a:gridCol w="1728786">
                  <a:extLst>
                    <a:ext uri="{9D8B030D-6E8A-4147-A177-3AD203B41FA5}">
                      <a16:colId xmlns:a16="http://schemas.microsoft.com/office/drawing/2014/main" val="3642965757"/>
                    </a:ext>
                  </a:extLst>
                </a:gridCol>
                <a:gridCol w="1379104">
                  <a:extLst>
                    <a:ext uri="{9D8B030D-6E8A-4147-A177-3AD203B41FA5}">
                      <a16:colId xmlns:a16="http://schemas.microsoft.com/office/drawing/2014/main" val="2229921703"/>
                    </a:ext>
                  </a:extLst>
                </a:gridCol>
                <a:gridCol w="2061377">
                  <a:extLst>
                    <a:ext uri="{9D8B030D-6E8A-4147-A177-3AD203B41FA5}">
                      <a16:colId xmlns:a16="http://schemas.microsoft.com/office/drawing/2014/main" val="486039291"/>
                    </a:ext>
                  </a:extLst>
                </a:gridCol>
                <a:gridCol w="1576740">
                  <a:extLst>
                    <a:ext uri="{9D8B030D-6E8A-4147-A177-3AD203B41FA5}">
                      <a16:colId xmlns:a16="http://schemas.microsoft.com/office/drawing/2014/main" val="461219874"/>
                    </a:ext>
                  </a:extLst>
                </a:gridCol>
                <a:gridCol w="1336806">
                  <a:extLst>
                    <a:ext uri="{9D8B030D-6E8A-4147-A177-3AD203B41FA5}">
                      <a16:colId xmlns:a16="http://schemas.microsoft.com/office/drawing/2014/main" val="4158610562"/>
                    </a:ext>
                  </a:extLst>
                </a:gridCol>
                <a:gridCol w="1548867">
                  <a:extLst>
                    <a:ext uri="{9D8B030D-6E8A-4147-A177-3AD203B41FA5}">
                      <a16:colId xmlns:a16="http://schemas.microsoft.com/office/drawing/2014/main" val="3383006961"/>
                    </a:ext>
                  </a:extLst>
                </a:gridCol>
              </a:tblGrid>
              <a:tr h="237180">
                <a:tc>
                  <a:txBody>
                    <a:bodyPr/>
                    <a:lstStyle/>
                    <a:p>
                      <a:pPr algn="ctr" fontAlgn="ctr">
                        <a:buNone/>
                      </a:pPr>
                      <a:r>
                        <a:rPr lang="en-US" sz="1100" b="1" u="none" strike="noStrike" dirty="0">
                          <a:effectLst/>
                        </a:rPr>
                        <a:t>Test item</a:t>
                      </a:r>
                      <a:endParaRPr lang="en-US" sz="1100" b="1"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ctr" fontAlgn="ctr">
                        <a:buNone/>
                      </a:pPr>
                      <a:r>
                        <a:rPr lang="zh-TW" altLang="en-US" sz="1100" u="none" strike="noStrike">
                          <a:effectLst/>
                        </a:rPr>
                        <a:t>　</a:t>
                      </a:r>
                      <a:endParaRPr lang="zh-TW" altLang="en-US" sz="11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ctr" fontAlgn="ctr">
                        <a:buNone/>
                      </a:pPr>
                      <a:r>
                        <a:rPr lang="en-US" sz="1100" b="1" u="none" strike="noStrike" dirty="0">
                          <a:effectLst/>
                        </a:rPr>
                        <a:t>DUT  command</a:t>
                      </a:r>
                      <a:endParaRPr lang="en-US" sz="1100" b="1" i="0" u="none" strike="noStrike" dirty="0">
                        <a:solidFill>
                          <a:srgbClr val="FF0000"/>
                        </a:solidFill>
                        <a:effectLst/>
                        <a:latin typeface="新細明體" panose="02020500000000000000" pitchFamily="18" charset="-120"/>
                        <a:ea typeface="新細明體" panose="02020500000000000000" pitchFamily="18" charset="-120"/>
                      </a:endParaRPr>
                    </a:p>
                  </a:txBody>
                  <a:tcPr marL="9411" marR="9411" marT="9411" marB="0"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l" fontAlgn="ctr">
                        <a:buNone/>
                      </a:pPr>
                      <a:r>
                        <a:rPr lang="en-US" altLang="zh-TW" sz="1100" b="1" kern="1200" dirty="0">
                          <a:solidFill>
                            <a:schemeClr val="tx1"/>
                          </a:solidFill>
                          <a:effectLst/>
                          <a:latin typeface="+mn-lt"/>
                          <a:ea typeface="+mn-ea"/>
                          <a:cs typeface="+mn-cs"/>
                        </a:rPr>
                        <a:t>Description</a:t>
                      </a: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ctr" fontAlgn="ctr">
                        <a:buNone/>
                      </a:pPr>
                      <a:r>
                        <a:rPr lang="en-US" sz="1100" b="1" u="none" strike="noStrike" dirty="0">
                          <a:effectLst/>
                        </a:rPr>
                        <a:t>LED command</a:t>
                      </a:r>
                      <a:endParaRPr lang="en-US" sz="1100" b="1" i="0" u="none" strike="noStrike" dirty="0">
                        <a:solidFill>
                          <a:srgbClr val="FF0000"/>
                        </a:solidFill>
                        <a:effectLst/>
                        <a:latin typeface="新細明體" panose="02020500000000000000" pitchFamily="18" charset="-120"/>
                        <a:ea typeface="新細明體" panose="02020500000000000000" pitchFamily="18" charset="-120"/>
                      </a:endParaRPr>
                    </a:p>
                  </a:txBody>
                  <a:tcPr marL="9411" marR="9411" marT="9411" marB="0"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ctr" fontAlgn="ctr">
                        <a:buNone/>
                      </a:pPr>
                      <a:r>
                        <a:rPr lang="en-US" altLang="zh-TW" sz="1100" b="1" kern="1200">
                          <a:solidFill>
                            <a:schemeClr val="tx1"/>
                          </a:solidFill>
                          <a:effectLst/>
                          <a:latin typeface="+mn-lt"/>
                          <a:ea typeface="+mn-ea"/>
                          <a:cs typeface="+mn-cs"/>
                        </a:rPr>
                        <a:t>Description</a:t>
                      </a:r>
                      <a:endParaRPr lang="en-US" sz="1100" b="1" i="0" u="none" strike="noStrike" dirty="0">
                        <a:solidFill>
                          <a:srgbClr val="FF0000"/>
                        </a:solidFill>
                        <a:effectLst/>
                        <a:latin typeface="新細明體" panose="02020500000000000000" pitchFamily="18" charset="-120"/>
                        <a:ea typeface="新細明體" panose="02020500000000000000" pitchFamily="18" charset="-120"/>
                      </a:endParaRPr>
                    </a:p>
                  </a:txBody>
                  <a:tcPr marL="9411" marR="9411" marT="9411" marB="0"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TW" sz="1100" b="1" u="none" strike="noStrike" dirty="0">
                          <a:effectLst/>
                        </a:rPr>
                        <a:t> Type-C</a:t>
                      </a:r>
                      <a:r>
                        <a:rPr lang="en-US" altLang="zh-TW" sz="1100" u="none" strike="noStrike" dirty="0">
                          <a:effectLst/>
                        </a:rPr>
                        <a:t>  </a:t>
                      </a:r>
                      <a:r>
                        <a:rPr lang="en-US" altLang="zh-TW" sz="1100" b="1" u="none" strike="noStrike" dirty="0">
                          <a:effectLst/>
                        </a:rPr>
                        <a:t>command </a:t>
                      </a:r>
                      <a:endParaRPr lang="en-US" altLang="zh-TW" sz="1100" b="1" i="0" u="none" strike="noStrike" dirty="0">
                        <a:solidFill>
                          <a:srgbClr val="FF0000"/>
                        </a:solidFill>
                        <a:effectLst/>
                        <a:latin typeface="新細明體" panose="02020500000000000000" pitchFamily="18" charset="-120"/>
                        <a:ea typeface="新細明體" panose="02020500000000000000" pitchFamily="18" charset="-120"/>
                      </a:endParaRPr>
                    </a:p>
                  </a:txBody>
                  <a:tcPr marL="9525" marR="9525" marT="9525" marB="0"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zh-TW" sz="1100" b="1" kern="1200" dirty="0">
                          <a:solidFill>
                            <a:schemeClr val="tx1"/>
                          </a:solidFill>
                          <a:effectLst/>
                          <a:latin typeface="+mn-lt"/>
                          <a:ea typeface="+mn-ea"/>
                          <a:cs typeface="+mn-cs"/>
                        </a:rPr>
                        <a:t>Description</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6">
                        <a:lumMod val="40000"/>
                        <a:lumOff val="60000"/>
                      </a:schemeClr>
                    </a:solidFill>
                  </a:tcPr>
                </a:tc>
                <a:extLst>
                  <a:ext uri="{0D108BD9-81ED-4DB2-BD59-A6C34878D82A}">
                    <a16:rowId xmlns:a16="http://schemas.microsoft.com/office/drawing/2014/main" val="3535358712"/>
                  </a:ext>
                </a:extLst>
              </a:tr>
              <a:tr h="237180">
                <a:tc rowSpan="17">
                  <a:txBody>
                    <a:bodyPr/>
                    <a:lstStyle/>
                    <a:p>
                      <a:pPr algn="ctr" fontAlgn="ctr">
                        <a:buNone/>
                      </a:pPr>
                      <a:r>
                        <a:rPr lang="en-US" altLang="zh-TW" sz="1100" b="1" dirty="0"/>
                        <a:t>Brightness</a:t>
                      </a: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fontAlgn="ctr">
                        <a:buNone/>
                      </a:pPr>
                      <a:r>
                        <a:rPr lang="en-US" altLang="zh-TW" sz="1100" u="none" strike="noStrike" kern="1200" dirty="0">
                          <a:solidFill>
                            <a:schemeClr val="dk1"/>
                          </a:solidFill>
                          <a:effectLst/>
                          <a:latin typeface="+mn-lt"/>
                          <a:ea typeface="+mn-ea"/>
                          <a:cs typeface="+mn-cs"/>
                        </a:rPr>
                        <a:t>1</a:t>
                      </a:r>
                    </a:p>
                  </a:txBody>
                  <a:tcPr marL="9411" marR="9411" marT="9411"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zh-TW" sz="1100" u="none" strike="noStrike" kern="1200" dirty="0">
                          <a:solidFill>
                            <a:schemeClr val="dk1"/>
                          </a:solidFill>
                          <a:effectLst/>
                          <a:latin typeface="+mn-lt"/>
                          <a:ea typeface="+mn-ea"/>
                          <a:cs typeface="+mn-cs"/>
                        </a:rPr>
                        <a:t>dev </a:t>
                      </a:r>
                      <a:r>
                        <a:rPr lang="en-US" altLang="zh-TW" sz="1100" u="none" strike="noStrike" kern="1200" dirty="0" err="1">
                          <a:solidFill>
                            <a:schemeClr val="dk1"/>
                          </a:solidFill>
                          <a:effectLst/>
                          <a:latin typeface="+mn-lt"/>
                          <a:ea typeface="+mn-ea"/>
                          <a:cs typeface="+mn-cs"/>
                        </a:rPr>
                        <a:t>vbus</a:t>
                      </a:r>
                      <a:r>
                        <a:rPr lang="en-US" altLang="zh-TW" sz="1100" u="none" strike="noStrike" kern="1200" dirty="0">
                          <a:solidFill>
                            <a:schemeClr val="dk1"/>
                          </a:solidFill>
                          <a:effectLst/>
                          <a:latin typeface="+mn-lt"/>
                          <a:ea typeface="+mn-ea"/>
                          <a:cs typeface="+mn-cs"/>
                        </a:rPr>
                        <a:t> enable</a:t>
                      </a:r>
                    </a:p>
                  </a:txBody>
                  <a:tcPr marL="9411" marR="9411" marT="9411" marB="0" anchor="ctr"/>
                </a:tc>
                <a:tc>
                  <a:txBody>
                    <a:bodyPr/>
                    <a:lstStyle/>
                    <a:p>
                      <a:pPr algn="l" fontAlgn="ctr">
                        <a:buNone/>
                      </a:pPr>
                      <a:r>
                        <a:rPr lang="zh-TW" altLang="en-US" sz="1100" u="none" strike="noStrike" kern="1200" dirty="0">
                          <a:solidFill>
                            <a:schemeClr val="dk1"/>
                          </a:solidFill>
                          <a:effectLst/>
                          <a:latin typeface="+mn-lt"/>
                          <a:ea typeface="+mn-ea"/>
                          <a:cs typeface="+mn-cs"/>
                        </a:rPr>
                        <a:t>開啟</a:t>
                      </a:r>
                      <a:r>
                        <a:rPr lang="en-US" altLang="zh-TW" sz="1100" u="none" strike="noStrike" kern="1200" dirty="0" err="1">
                          <a:solidFill>
                            <a:schemeClr val="dk1"/>
                          </a:solidFill>
                          <a:effectLst/>
                          <a:latin typeface="+mn-lt"/>
                          <a:ea typeface="+mn-ea"/>
                          <a:cs typeface="+mn-cs"/>
                        </a:rPr>
                        <a:t>vbus</a:t>
                      </a:r>
                      <a:r>
                        <a:rPr lang="zh-TW" altLang="en-US" sz="1100" u="none" strike="noStrike" kern="1200" dirty="0">
                          <a:solidFill>
                            <a:schemeClr val="dk1"/>
                          </a:solidFill>
                          <a:effectLst/>
                          <a:latin typeface="+mn-lt"/>
                          <a:ea typeface="+mn-ea"/>
                          <a:cs typeface="+mn-cs"/>
                        </a:rPr>
                        <a:t>供電</a:t>
                      </a:r>
                    </a:p>
                  </a:txBody>
                  <a:tcPr marL="9411" marR="9411" marT="9411" marB="0" anchor="ctr"/>
                </a:tc>
                <a:tc rowSpan="3" gridSpan="4">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lnR w="12700" cap="flat" cmpd="sng" algn="ctr">
                      <a:solidFill>
                        <a:schemeClr val="tx1"/>
                      </a:solidFill>
                      <a:prstDash val="solid"/>
                      <a:round/>
                      <a:headEnd type="none" w="med" len="med"/>
                      <a:tailEnd type="none" w="med" len="med"/>
                    </a:lnR>
                  </a:tcPr>
                </a:tc>
                <a:tc rowSpan="3" h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rowSpan="3" hMerge="1">
                  <a:txBody>
                    <a:bodyPr/>
                    <a:lstStyle/>
                    <a:p>
                      <a:endParaRPr lang="zh-TW" altLang="en-US"/>
                    </a:p>
                  </a:txBody>
                  <a:tcPr marL="9411" marR="9411" marT="941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rowSpan="3" hMerge="1">
                  <a:txBody>
                    <a:bodyPr/>
                    <a:lstStyle/>
                    <a:p>
                      <a:endParaRPr lang="zh-TW" altLang="en-US"/>
                    </a:p>
                  </a:txBody>
                  <a:tcPr marL="9411" marR="9411" marT="9411"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583347436"/>
                  </a:ext>
                </a:extLst>
              </a:tr>
              <a:tr h="237180">
                <a:tc vMerge="1">
                  <a:txBody>
                    <a:bodyPr/>
                    <a:lstStyle/>
                    <a:p>
                      <a:pPr algn="ctr"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lnL w="12700" cap="flat" cmpd="sng" algn="ctr">
                      <a:solidFill>
                        <a:schemeClr val="tx1"/>
                      </a:solidFill>
                      <a:prstDash val="solid"/>
                      <a:round/>
                      <a:headEnd type="none" w="med" len="med"/>
                      <a:tailEnd type="none" w="med" len="med"/>
                    </a:lnL>
                  </a:tcPr>
                </a:tc>
                <a:tc>
                  <a:txBody>
                    <a:bodyPr/>
                    <a:lstStyle/>
                    <a:p>
                      <a:pPr algn="ctr" fontAlgn="ctr">
                        <a:buNone/>
                      </a:pPr>
                      <a:r>
                        <a:rPr lang="en-US" altLang="zh-TW" sz="1100" u="none" strike="noStrike" kern="1200" dirty="0">
                          <a:solidFill>
                            <a:schemeClr val="dk1"/>
                          </a:solidFill>
                          <a:effectLst/>
                          <a:latin typeface="+mn-lt"/>
                          <a:ea typeface="+mn-ea"/>
                          <a:cs typeface="+mn-cs"/>
                        </a:rPr>
                        <a:t>2</a:t>
                      </a:r>
                    </a:p>
                  </a:txBody>
                  <a:tcPr marL="9411" marR="9411" marT="9411"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zh-TW" sz="1100" u="none" strike="noStrike" kern="1200" dirty="0">
                          <a:solidFill>
                            <a:schemeClr val="dk1"/>
                          </a:solidFill>
                          <a:effectLst/>
                          <a:latin typeface="+mn-lt"/>
                          <a:ea typeface="+mn-ea"/>
                          <a:cs typeface="+mn-cs"/>
                        </a:rPr>
                        <a:t>charger disable</a:t>
                      </a:r>
                    </a:p>
                  </a:txBody>
                  <a:tcPr marL="9411" marR="9411" marT="9411" marB="0" anchor="ctr"/>
                </a:tc>
                <a:tc>
                  <a:txBody>
                    <a:bodyPr/>
                    <a:lstStyle/>
                    <a:p>
                      <a:pPr algn="l" fontAlgn="ctr">
                        <a:buNone/>
                      </a:pPr>
                      <a:r>
                        <a:rPr lang="zh-TW" altLang="en-US" sz="1100" u="none" strike="noStrike" kern="1200" dirty="0">
                          <a:solidFill>
                            <a:schemeClr val="dk1"/>
                          </a:solidFill>
                          <a:effectLst/>
                          <a:latin typeface="+mn-lt"/>
                          <a:ea typeface="+mn-ea"/>
                          <a:cs typeface="+mn-cs"/>
                        </a:rPr>
                        <a:t>關閉充電功能</a:t>
                      </a:r>
                    </a:p>
                  </a:txBody>
                  <a:tcPr marL="9411" marR="9411" marT="9411" marB="0" anchor="ctr"/>
                </a:tc>
                <a:tc gridSpan="4" v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lnR w="12700" cap="flat" cmpd="sng" algn="ctr">
                      <a:solidFill>
                        <a:schemeClr val="bg1"/>
                      </a:solidFill>
                      <a:prstDash val="solid"/>
                      <a:round/>
                      <a:headEnd type="none" w="med" len="med"/>
                      <a:tailEnd type="none" w="med" len="med"/>
                    </a:lnR>
                  </a:tcPr>
                </a:tc>
                <a:tc hMerge="1" v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hMerge="1" vMerge="1">
                  <a:txBody>
                    <a:bodyPr/>
                    <a:lstStyle/>
                    <a:p>
                      <a:endParaRPr lang="zh-TW" altLang="en-US" dirty="0"/>
                    </a:p>
                  </a:txBody>
                  <a:tcPr marL="9411" marR="9411" marT="941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hMerge="1" vMerge="1">
                  <a:txBody>
                    <a:bodyPr/>
                    <a:lstStyle/>
                    <a:p>
                      <a:endParaRPr lang="zh-TW" altLang="en-US" dirty="0"/>
                    </a:p>
                  </a:txBody>
                  <a:tcPr marL="9411" marR="9411" marT="9411"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904316350"/>
                  </a:ext>
                </a:extLst>
              </a:tr>
              <a:tr h="237180">
                <a:tc vMerge="1">
                  <a:txBody>
                    <a:bodyPr/>
                    <a:lstStyle/>
                    <a:p>
                      <a:pPr algn="ctr"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lnL w="12700" cap="flat" cmpd="sng" algn="ctr">
                      <a:solidFill>
                        <a:schemeClr val="tx1"/>
                      </a:solidFill>
                      <a:prstDash val="solid"/>
                      <a:round/>
                      <a:headEnd type="none" w="med" len="med"/>
                      <a:tailEnd type="none" w="med" len="med"/>
                    </a:lnL>
                  </a:tcPr>
                </a:tc>
                <a:tc>
                  <a:txBody>
                    <a:bodyPr/>
                    <a:lstStyle/>
                    <a:p>
                      <a:pPr algn="ctr" fontAlgn="ctr">
                        <a:buNone/>
                      </a:pPr>
                      <a:r>
                        <a:rPr lang="en-US" altLang="zh-TW" sz="1100" u="none" strike="noStrike" kern="1200" dirty="0">
                          <a:solidFill>
                            <a:schemeClr val="dk1"/>
                          </a:solidFill>
                          <a:effectLst/>
                          <a:latin typeface="+mn-lt"/>
                          <a:ea typeface="+mn-ea"/>
                          <a:cs typeface="+mn-cs"/>
                        </a:rPr>
                        <a:t>3</a:t>
                      </a:r>
                    </a:p>
                  </a:txBody>
                  <a:tcPr marL="9411" marR="9411" marT="9411" marB="0" anchor="ctr"/>
                </a:tc>
                <a:tc>
                  <a:txBody>
                    <a:bodyPr/>
                    <a:lstStyle/>
                    <a:p>
                      <a:pPr algn="l" fontAlgn="ctr">
                        <a:buNone/>
                      </a:pPr>
                      <a:r>
                        <a:rPr lang="en-US" sz="1100" u="none" strike="noStrike" dirty="0" err="1">
                          <a:effectLst/>
                        </a:rPr>
                        <a:t>pwm</a:t>
                      </a:r>
                      <a:r>
                        <a:rPr lang="en-US" sz="1100" u="none" strike="noStrike" dirty="0">
                          <a:effectLst/>
                        </a:rPr>
                        <a:t> unset</a:t>
                      </a: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l" fontAlgn="ctr">
                        <a:buNone/>
                      </a:pPr>
                      <a:r>
                        <a:rPr lang="zh-TW" altLang="en-US" sz="1100" u="none" strike="noStrike" dirty="0">
                          <a:effectLst/>
                        </a:rPr>
                        <a:t>關閉盒子燈</a:t>
                      </a: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gridSpan="4" v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lnR w="12700" cap="flat" cmpd="sng" algn="ctr">
                      <a:solidFill>
                        <a:schemeClr val="bg1"/>
                      </a:solidFill>
                      <a:prstDash val="solid"/>
                      <a:round/>
                      <a:headEnd type="none" w="med" len="med"/>
                      <a:tailEnd type="none" w="med" len="med"/>
                    </a:lnR>
                  </a:tcPr>
                </a:tc>
                <a:tc hMerge="1" v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hMerge="1" vMerge="1">
                  <a:txBody>
                    <a:bodyPr/>
                    <a:lstStyle/>
                    <a:p>
                      <a:endParaRPr lang="zh-TW" altLang="en-US" dirty="0"/>
                    </a:p>
                  </a:txBody>
                  <a:tcPr marL="9411" marR="9411" marT="941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hMerge="1" vMerge="1">
                  <a:txBody>
                    <a:bodyPr/>
                    <a:lstStyle/>
                    <a:p>
                      <a:endParaRPr lang="zh-TW" altLang="en-US" dirty="0"/>
                    </a:p>
                  </a:txBody>
                  <a:tcPr marL="9411" marR="9411" marT="9411"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057417473"/>
                  </a:ext>
                </a:extLst>
              </a:tr>
              <a:tr h="237180">
                <a:tc vMerge="1">
                  <a:txBody>
                    <a:bodyPr/>
                    <a:lstStyle/>
                    <a:p>
                      <a:pPr algn="ctr"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lnL w="12700" cap="flat" cmpd="sng" algn="ctr">
                      <a:solidFill>
                        <a:schemeClr val="tx1"/>
                      </a:solidFill>
                      <a:prstDash val="solid"/>
                      <a:round/>
                      <a:headEnd type="none" w="med" len="med"/>
                      <a:tailEnd type="none" w="med" len="med"/>
                    </a:lnL>
                  </a:tcPr>
                </a:tc>
                <a:tc>
                  <a:txBody>
                    <a:bodyPr/>
                    <a:lstStyle/>
                    <a:p>
                      <a:pPr algn="ctr" fontAlgn="ctr">
                        <a:buNone/>
                      </a:pPr>
                      <a:r>
                        <a:rPr lang="en-US" altLang="zh-TW" sz="1100" u="none" strike="noStrike" kern="1200" dirty="0">
                          <a:solidFill>
                            <a:schemeClr val="dk1"/>
                          </a:solidFill>
                          <a:effectLst/>
                          <a:latin typeface="+mn-lt"/>
                          <a:ea typeface="+mn-ea"/>
                          <a:cs typeface="+mn-cs"/>
                        </a:rPr>
                        <a:t>4</a:t>
                      </a:r>
                    </a:p>
                  </a:txBody>
                  <a:tcPr marL="9411" marR="9411" marT="9411" marB="0" anchor="ctr"/>
                </a:tc>
                <a:tc gridSpan="4">
                  <a:txBody>
                    <a:bodyPr/>
                    <a:lstStyle/>
                    <a:p>
                      <a:pPr algn="l" fontAlgn="ctr">
                        <a:buNone/>
                      </a:pP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lnR w="12700" cap="flat" cmpd="sng" algn="ctr">
                      <a:solidFill>
                        <a:schemeClr val="bg1"/>
                      </a:solidFill>
                      <a:prstDash val="solid"/>
                      <a:round/>
                      <a:headEnd type="none" w="med" len="med"/>
                      <a:tailEnd type="none" w="med" len="med"/>
                    </a:lnR>
                  </a:tcPr>
                </a:tc>
                <a:tc h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h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lnR w="12700" cap="flat" cmpd="sng" algn="ctr">
                      <a:solidFill>
                        <a:schemeClr val="bg1"/>
                      </a:solidFill>
                      <a:prstDash val="solid"/>
                      <a:round/>
                      <a:headEnd type="none" w="med" len="med"/>
                      <a:tailEnd type="none" w="med" len="med"/>
                    </a:lnR>
                  </a:tcPr>
                </a:tc>
                <a:tc h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zh-TW" sz="1100" b="0" kern="1200" dirty="0" err="1">
                          <a:solidFill>
                            <a:schemeClr val="dk1"/>
                          </a:solidFill>
                          <a:effectLst/>
                          <a:latin typeface="+mn-lt"/>
                          <a:ea typeface="+mn-ea"/>
                          <a:cs typeface="+mn-cs"/>
                        </a:rPr>
                        <a:t>getcurrent</a:t>
                      </a:r>
                      <a:endParaRPr lang="en-US" altLang="zh-TW" sz="1100" b="0" kern="1200" dirty="0">
                        <a:solidFill>
                          <a:schemeClr val="dk1"/>
                        </a:solidFill>
                        <a:effectLst/>
                        <a:latin typeface="+mn-lt"/>
                        <a:ea typeface="+mn-ea"/>
                        <a:cs typeface="+mn-cs"/>
                      </a:endParaRPr>
                    </a:p>
                  </a:txBody>
                  <a:tcPr marL="9411" marR="9411" marT="941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zh-TW" altLang="en-US" sz="1100" b="0" kern="1200" dirty="0">
                          <a:solidFill>
                            <a:schemeClr val="dk1"/>
                          </a:solidFill>
                          <a:effectLst/>
                          <a:latin typeface="+mn-lt"/>
                          <a:ea typeface="+mn-ea"/>
                          <a:cs typeface="+mn-cs"/>
                        </a:rPr>
                        <a:t>獲取</a:t>
                      </a:r>
                      <a:r>
                        <a:rPr lang="en-US" altLang="zh-TW" sz="1100" b="0" kern="1200" dirty="0">
                          <a:solidFill>
                            <a:schemeClr val="dk1"/>
                          </a:solidFill>
                          <a:effectLst/>
                          <a:latin typeface="+mn-lt"/>
                          <a:ea typeface="+mn-ea"/>
                          <a:cs typeface="+mn-cs"/>
                        </a:rPr>
                        <a:t>LED</a:t>
                      </a:r>
                      <a:r>
                        <a:rPr lang="zh-TW" altLang="en-US" sz="1100" b="0" kern="1200" dirty="0">
                          <a:solidFill>
                            <a:schemeClr val="dk1"/>
                          </a:solidFill>
                          <a:effectLst/>
                          <a:latin typeface="+mn-lt"/>
                          <a:ea typeface="+mn-ea"/>
                          <a:cs typeface="+mn-cs"/>
                        </a:rPr>
                        <a:t>無光</a:t>
                      </a:r>
                      <a:r>
                        <a:rPr lang="en-US" altLang="zh-TW" sz="1100" b="0" kern="1200" dirty="0" err="1">
                          <a:solidFill>
                            <a:schemeClr val="dk1"/>
                          </a:solidFill>
                          <a:effectLst/>
                          <a:latin typeface="+mn-lt"/>
                          <a:ea typeface="+mn-ea"/>
                          <a:cs typeface="+mn-cs"/>
                        </a:rPr>
                        <a:t>vbus</a:t>
                      </a:r>
                      <a:r>
                        <a:rPr lang="zh-TW" altLang="en-US" sz="1100" b="0" kern="1200" dirty="0">
                          <a:solidFill>
                            <a:schemeClr val="dk1"/>
                          </a:solidFill>
                          <a:effectLst/>
                          <a:latin typeface="+mn-lt"/>
                          <a:ea typeface="+mn-ea"/>
                          <a:cs typeface="+mn-cs"/>
                        </a:rPr>
                        <a:t>電流</a:t>
                      </a:r>
                    </a:p>
                  </a:txBody>
                  <a:tcPr marL="9411" marR="9411" marT="9411"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769450546"/>
                  </a:ext>
                </a:extLst>
              </a:tr>
              <a:tr h="237180">
                <a:tc vMerge="1">
                  <a:txBody>
                    <a:bodyPr/>
                    <a:lstStyle/>
                    <a:p>
                      <a:endParaRPr/>
                    </a:p>
                  </a:txBody>
                  <a:tcPr marL="9411" marR="9411" marT="9411" marB="0" anchor="ctr">
                    <a:lnL w="12700" cap="flat" cmpd="sng" algn="ctr">
                      <a:solidFill>
                        <a:schemeClr val="tx1"/>
                      </a:solidFill>
                      <a:prstDash val="solid"/>
                      <a:round/>
                      <a:headEnd type="none" w="med" len="med"/>
                      <a:tailEnd type="none" w="med" len="med"/>
                    </a:lnL>
                  </a:tcPr>
                </a:tc>
                <a:tc>
                  <a:txBody>
                    <a:bodyPr/>
                    <a:lstStyle/>
                    <a:p>
                      <a:pPr algn="ctr" fontAlgn="ctr">
                        <a:buNone/>
                      </a:pPr>
                      <a:r>
                        <a:rPr lang="en-US" altLang="zh-TW" sz="1100" u="none" strike="noStrike" kern="1200" dirty="0">
                          <a:solidFill>
                            <a:schemeClr val="dk1"/>
                          </a:solidFill>
                          <a:effectLst/>
                          <a:latin typeface="+mn-lt"/>
                          <a:ea typeface="+mn-ea"/>
                          <a:cs typeface="+mn-cs"/>
                        </a:rPr>
                        <a:t>5</a:t>
                      </a:r>
                    </a:p>
                  </a:txBody>
                  <a:tcPr marL="9411" marR="9411" marT="9411" marB="0" anchor="ctr"/>
                </a:tc>
                <a:tc rowSpan="3" gridSpan="2">
                  <a:txBody>
                    <a:bodyPr/>
                    <a:lstStyle/>
                    <a:p>
                      <a:pPr algn="l" fontAlgn="ctr">
                        <a:buNone/>
                      </a:pP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rowSpan="3" h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l" fontAlgn="ctr">
                        <a:buNone/>
                      </a:pPr>
                      <a:r>
                        <a:rPr lang="en-US" sz="1100" u="none" strike="noStrike" dirty="0">
                          <a:effectLst/>
                        </a:rPr>
                        <a:t>:001w_target_type01-01=0</a:t>
                      </a: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l" fontAlgn="ctr">
                        <a:buNone/>
                      </a:pPr>
                      <a:r>
                        <a:rPr lang="zh-TW" altLang="en-US" sz="1100" u="none" strike="noStrike">
                          <a:effectLst/>
                        </a:rPr>
                        <a:t>設定</a:t>
                      </a:r>
                      <a:r>
                        <a:rPr lang="en-US" sz="1100" u="none" strike="noStrike">
                          <a:effectLst/>
                        </a:rPr>
                        <a:t>LED</a:t>
                      </a:r>
                      <a:r>
                        <a:rPr lang="zh-TW" altLang="en-US" sz="1100" u="none" strike="noStrike">
                          <a:effectLst/>
                        </a:rPr>
                        <a:t>分析儀測白光</a:t>
                      </a: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rowSpan="3" gridSpan="2">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lnR w="12700" cap="flat" cmpd="sng" algn="ctr">
                      <a:solidFill>
                        <a:schemeClr val="tx1"/>
                      </a:solidFill>
                      <a:prstDash val="solid"/>
                      <a:round/>
                      <a:headEnd type="none" w="med" len="med"/>
                      <a:tailEnd type="none" w="med" len="med"/>
                    </a:lnR>
                  </a:tcPr>
                </a:tc>
                <a:tc rowSpan="3" h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794060309"/>
                  </a:ext>
                </a:extLst>
              </a:tr>
              <a:tr h="237180">
                <a:tc vMerge="1">
                  <a:txBody>
                    <a:bodyPr/>
                    <a:lstStyle/>
                    <a:p>
                      <a:endParaRPr lang="zh-TW" altLang="en-US"/>
                    </a:p>
                  </a:txBody>
                  <a:tcPr/>
                </a:tc>
                <a:tc>
                  <a:txBody>
                    <a:bodyPr/>
                    <a:lstStyle/>
                    <a:p>
                      <a:pPr algn="ctr" fontAlgn="ctr">
                        <a:buNone/>
                      </a:pPr>
                      <a:r>
                        <a:rPr lang="en-US" altLang="zh-TW" sz="1100" u="none" strike="noStrike" kern="1200" dirty="0">
                          <a:solidFill>
                            <a:schemeClr val="dk1"/>
                          </a:solidFill>
                          <a:effectLst/>
                          <a:latin typeface="+mn-lt"/>
                          <a:ea typeface="+mn-ea"/>
                          <a:cs typeface="+mn-cs"/>
                        </a:rPr>
                        <a:t>6</a:t>
                      </a:r>
                    </a:p>
                  </a:txBody>
                  <a:tcPr marL="9411" marR="9411" marT="9411" marB="0" anchor="ctr"/>
                </a:tc>
                <a:tc gridSpan="2" vMerge="1">
                  <a:txBody>
                    <a:bodyPr/>
                    <a:lstStyle/>
                    <a:p>
                      <a:pPr algn="l" fontAlgn="ctr">
                        <a:buNone/>
                      </a:pP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hMerge="1" v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l" fontAlgn="ctr">
                        <a:buNone/>
                      </a:pPr>
                      <a:r>
                        <a:rPr lang="en-US" sz="1100" u="none" strike="noStrike" dirty="0">
                          <a:effectLst/>
                        </a:rPr>
                        <a:t>:001w_offset_en01-01=1</a:t>
                      </a: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l" fontAlgn="ctr">
                        <a:buNone/>
                      </a:pPr>
                      <a:r>
                        <a:rPr lang="zh-TW" altLang="en-US" sz="1100" u="none" strike="noStrike" dirty="0">
                          <a:effectLst/>
                        </a:rPr>
                        <a:t>設定白光校正補償</a:t>
                      </a: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gridSpan="2" vMerge="1">
                  <a:txBody>
                    <a:bodyPr/>
                    <a:lstStyle/>
                    <a:p>
                      <a:endParaRPr lang="zh-TW" altLang="en-US"/>
                    </a:p>
                  </a:txBody>
                  <a:tcPr/>
                </a:tc>
                <a:tc hMerge="1" vMerge="1">
                  <a:txBody>
                    <a:bodyPr/>
                    <a:lstStyle/>
                    <a:p>
                      <a:endParaRPr lang="zh-TW" altLang="en-US"/>
                    </a:p>
                  </a:txBody>
                  <a:tcPr/>
                </a:tc>
                <a:extLst>
                  <a:ext uri="{0D108BD9-81ED-4DB2-BD59-A6C34878D82A}">
                    <a16:rowId xmlns:a16="http://schemas.microsoft.com/office/drawing/2014/main" val="223809301"/>
                  </a:ext>
                </a:extLst>
              </a:tr>
              <a:tr h="237180">
                <a:tc vMerge="1">
                  <a:txBody>
                    <a:bodyPr/>
                    <a:lstStyle/>
                    <a:p>
                      <a:endParaRPr lang="zh-TW" altLang="en-US"/>
                    </a:p>
                  </a:txBody>
                  <a:tcPr/>
                </a:tc>
                <a:tc>
                  <a:txBody>
                    <a:bodyPr/>
                    <a:lstStyle/>
                    <a:p>
                      <a:pPr algn="ctr" fontAlgn="ctr">
                        <a:buNone/>
                      </a:pPr>
                      <a:r>
                        <a:rPr lang="en-US" altLang="zh-TW" sz="1100" u="none" strike="noStrike" kern="1200" dirty="0">
                          <a:solidFill>
                            <a:schemeClr val="dk1"/>
                          </a:solidFill>
                          <a:effectLst/>
                          <a:latin typeface="+mn-lt"/>
                          <a:ea typeface="+mn-ea"/>
                          <a:cs typeface="+mn-cs"/>
                        </a:rPr>
                        <a:t>7</a:t>
                      </a:r>
                    </a:p>
                  </a:txBody>
                  <a:tcPr marL="9411" marR="9411" marT="9411" marB="0" anchor="ctr"/>
                </a:tc>
                <a:tc gridSpan="2" vMerge="1">
                  <a:txBody>
                    <a:bodyPr/>
                    <a:lstStyle/>
                    <a:p>
                      <a:pPr algn="l" fontAlgn="ctr">
                        <a:buNone/>
                      </a:pP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hMerge="1" v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l" fontAlgn="ctr">
                        <a:buNone/>
                      </a:pPr>
                      <a:r>
                        <a:rPr lang="en-US" sz="1100" u="none" strike="noStrike" dirty="0">
                          <a:effectLst/>
                        </a:rPr>
                        <a:t>:001r_chroma01-01</a:t>
                      </a: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l" fontAlgn="ctr">
                        <a:buNone/>
                      </a:pPr>
                      <a:r>
                        <a:rPr lang="zh-TW" altLang="en-US" sz="1100" u="none" strike="noStrike" dirty="0">
                          <a:effectLst/>
                        </a:rPr>
                        <a:t>讀取數值（無光）</a:t>
                      </a: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gridSpan="2" v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hMerge="1" v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377377747"/>
                  </a:ext>
                </a:extLst>
              </a:tr>
              <a:tr h="237180">
                <a:tc vMerge="1">
                  <a:txBody>
                    <a:bodyPr/>
                    <a:lstStyle/>
                    <a:p>
                      <a:endParaRPr lang="zh-TW" altLang="en-US"/>
                    </a:p>
                  </a:txBody>
                  <a:tcPr/>
                </a:tc>
                <a:tc>
                  <a:txBody>
                    <a:bodyPr/>
                    <a:lstStyle/>
                    <a:p>
                      <a:pPr algn="ctr" fontAlgn="ctr">
                        <a:buNone/>
                      </a:pPr>
                      <a:r>
                        <a:rPr lang="en-US" altLang="zh-TW" sz="1100" u="none" strike="noStrike" kern="1200" dirty="0">
                          <a:solidFill>
                            <a:schemeClr val="dk1"/>
                          </a:solidFill>
                          <a:effectLst/>
                          <a:latin typeface="+mn-lt"/>
                          <a:ea typeface="+mn-ea"/>
                          <a:cs typeface="+mn-cs"/>
                        </a:rPr>
                        <a:t>8</a:t>
                      </a:r>
                    </a:p>
                  </a:txBody>
                  <a:tcPr marL="9411" marR="9411" marT="9411" marB="0" anchor="ctr"/>
                </a:tc>
                <a:tc>
                  <a:txBody>
                    <a:bodyPr/>
                    <a:lstStyle/>
                    <a:p>
                      <a:pPr algn="l" fontAlgn="ctr">
                        <a:buNone/>
                      </a:pPr>
                      <a:r>
                        <a:rPr lang="en-US" sz="1100" u="none" strike="noStrike" dirty="0">
                          <a:effectLst/>
                        </a:rPr>
                        <a:t>PWM set white 1000</a:t>
                      </a: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l" fontAlgn="ctr">
                        <a:buNone/>
                      </a:pPr>
                      <a:r>
                        <a:rPr lang="zh-TW" altLang="en-US" sz="1100" u="none" strike="noStrike" dirty="0">
                          <a:effectLst/>
                        </a:rPr>
                        <a:t>設定盒子白光</a:t>
                      </a: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gridSpan="4">
                  <a:txBody>
                    <a:bodyPr/>
                    <a:lstStyle/>
                    <a:p>
                      <a:pPr algn="l" fontAlgn="ctr">
                        <a:buNone/>
                      </a:pP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lnR w="12700" cap="flat" cmpd="sng" algn="ctr">
                      <a:solidFill>
                        <a:schemeClr val="tx1"/>
                      </a:solidFill>
                      <a:prstDash val="solid"/>
                      <a:round/>
                      <a:headEnd type="none" w="med" len="med"/>
                      <a:tailEnd type="none" w="med" len="med"/>
                    </a:lnR>
                  </a:tcPr>
                </a:tc>
                <a:tc hMerge="1">
                  <a:txBody>
                    <a:bodyPr/>
                    <a:lstStyle/>
                    <a:p>
                      <a:pPr algn="l" fontAlgn="ctr">
                        <a:buNone/>
                      </a:pP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h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h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4216981536"/>
                  </a:ext>
                </a:extLst>
              </a:tr>
              <a:tr h="237180">
                <a:tc vMerge="1">
                  <a:txBody>
                    <a:bodyPr/>
                    <a:lstStyle/>
                    <a:p>
                      <a:endParaRPr lang="zh-TW" altLang="en-US"/>
                    </a:p>
                  </a:txBody>
                  <a:tcPr/>
                </a:tc>
                <a:tc>
                  <a:txBody>
                    <a:bodyPr/>
                    <a:lstStyle/>
                    <a:p>
                      <a:pPr algn="ctr" fontAlgn="ctr">
                        <a:buNone/>
                      </a:pPr>
                      <a:r>
                        <a:rPr lang="en-US" altLang="zh-TW" sz="1100" u="none" strike="noStrike" kern="1200" dirty="0">
                          <a:solidFill>
                            <a:schemeClr val="dk1"/>
                          </a:solidFill>
                          <a:effectLst/>
                          <a:latin typeface="+mn-lt"/>
                          <a:ea typeface="+mn-ea"/>
                          <a:cs typeface="+mn-cs"/>
                        </a:rPr>
                        <a:t>9</a:t>
                      </a:r>
                    </a:p>
                  </a:txBody>
                  <a:tcPr marL="9411" marR="9411" marT="9411" marB="0" anchor="ctr"/>
                </a:tc>
                <a:tc gridSpan="4">
                  <a:txBody>
                    <a:bodyPr/>
                    <a:lstStyle/>
                    <a:p>
                      <a:pPr algn="l" fontAlgn="ctr">
                        <a:buNone/>
                      </a:pP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h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hMerge="1">
                  <a:txBody>
                    <a:bodyPr/>
                    <a:lstStyle/>
                    <a:p>
                      <a:pPr algn="l" fontAlgn="ctr">
                        <a:buNone/>
                      </a:pP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hMerge="1">
                  <a:txBody>
                    <a:bodyPr/>
                    <a:lstStyle/>
                    <a:p>
                      <a:pPr algn="l" fontAlgn="ctr">
                        <a:buNone/>
                      </a:pP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l" fontAlgn="ctr">
                        <a:buNone/>
                      </a:pPr>
                      <a:r>
                        <a:rPr lang="en-US" altLang="zh-TW" sz="1100" b="0" kern="1200" dirty="0" err="1">
                          <a:solidFill>
                            <a:schemeClr val="dk1"/>
                          </a:solidFill>
                          <a:effectLst/>
                          <a:latin typeface="+mn-lt"/>
                          <a:ea typeface="+mn-ea"/>
                          <a:cs typeface="+mn-cs"/>
                        </a:rPr>
                        <a:t>getcurrent</a:t>
                      </a: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zh-TW" altLang="en-US" sz="1100" dirty="0"/>
                        <a:t>獲取</a:t>
                      </a:r>
                      <a:r>
                        <a:rPr lang="en-US" altLang="zh-TW" sz="1100" dirty="0"/>
                        <a:t>LED</a:t>
                      </a:r>
                      <a:r>
                        <a:rPr lang="zh-TW" altLang="en-US" sz="1100" dirty="0"/>
                        <a:t>白光</a:t>
                      </a:r>
                      <a:r>
                        <a:rPr lang="en-US" altLang="zh-TW" sz="1100" dirty="0" err="1"/>
                        <a:t>vbus</a:t>
                      </a:r>
                      <a:r>
                        <a:rPr lang="zh-TW" altLang="en-US" sz="1100" dirty="0"/>
                        <a:t>電流</a:t>
                      </a:r>
                    </a:p>
                  </a:txBody>
                  <a:tcPr marL="9411" marR="9411" marT="9411"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943898151"/>
                  </a:ext>
                </a:extLst>
              </a:tr>
              <a:tr h="237180">
                <a:tc vMerge="1">
                  <a:txBody>
                    <a:bodyPr/>
                    <a:lstStyle/>
                    <a:p>
                      <a:pPr algn="ctr"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lnL w="12700" cap="flat" cmpd="sng" algn="ctr">
                      <a:solidFill>
                        <a:schemeClr val="tx1"/>
                      </a:solidFill>
                      <a:prstDash val="solid"/>
                      <a:round/>
                      <a:headEnd type="none" w="med" len="med"/>
                      <a:tailEnd type="none" w="med" len="med"/>
                    </a:lnL>
                  </a:tcPr>
                </a:tc>
                <a:tc>
                  <a:txBody>
                    <a:bodyPr/>
                    <a:lstStyle/>
                    <a:p>
                      <a:pPr algn="ctr" fontAlgn="ctr">
                        <a:buNone/>
                      </a:pPr>
                      <a:r>
                        <a:rPr lang="en-US" altLang="zh-TW" sz="1100" u="none" strike="noStrike" kern="1200" dirty="0">
                          <a:solidFill>
                            <a:schemeClr val="dk1"/>
                          </a:solidFill>
                          <a:effectLst/>
                          <a:latin typeface="+mn-lt"/>
                          <a:ea typeface="+mn-ea"/>
                          <a:cs typeface="+mn-cs"/>
                        </a:rPr>
                        <a:t>10</a:t>
                      </a:r>
                    </a:p>
                  </a:txBody>
                  <a:tcPr marL="9411" marR="9411" marT="9411" marB="0" anchor="ctr"/>
                </a:tc>
                <a:tc gridSpan="2">
                  <a:txBody>
                    <a:bodyPr/>
                    <a:lstStyle/>
                    <a:p>
                      <a:pPr algn="l" fontAlgn="ctr">
                        <a:buNone/>
                      </a:pP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h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l" fontAlgn="ctr">
                        <a:buNone/>
                      </a:pPr>
                      <a:r>
                        <a:rPr lang="en-US" sz="1100" u="none" strike="noStrike" dirty="0">
                          <a:effectLst/>
                        </a:rPr>
                        <a:t>:001r_chroma01-01</a:t>
                      </a: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l" fontAlgn="ctr">
                        <a:buNone/>
                      </a:pPr>
                      <a:r>
                        <a:rPr lang="zh-TW" altLang="en-US" sz="1100" u="none" strike="noStrike" dirty="0">
                          <a:effectLst/>
                        </a:rPr>
                        <a:t>讀取數值（白光）</a:t>
                      </a: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gridSpan="2">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lnR w="12700" cap="flat" cmpd="sng" algn="ctr">
                      <a:solidFill>
                        <a:schemeClr val="tx1"/>
                      </a:solidFill>
                      <a:prstDash val="solid"/>
                      <a:round/>
                      <a:headEnd type="none" w="med" len="med"/>
                      <a:tailEnd type="none" w="med" len="med"/>
                    </a:lnR>
                  </a:tcPr>
                </a:tc>
                <a:tc h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591898530"/>
                  </a:ext>
                </a:extLst>
              </a:tr>
              <a:tr h="237180">
                <a:tc vMerge="1">
                  <a:txBody>
                    <a:bodyPr/>
                    <a:lstStyle/>
                    <a:p>
                      <a:pPr algn="ctr"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lnL w="12700" cap="flat" cmpd="sng" algn="ctr">
                      <a:solidFill>
                        <a:schemeClr val="tx1"/>
                      </a:solidFill>
                      <a:prstDash val="solid"/>
                      <a:round/>
                      <a:headEnd type="none" w="med" len="med"/>
                      <a:tailEnd type="none" w="med" len="med"/>
                    </a:lnL>
                  </a:tcPr>
                </a:tc>
                <a:tc>
                  <a:txBody>
                    <a:bodyPr/>
                    <a:lstStyle/>
                    <a:p>
                      <a:pPr marL="0" algn="ctr" defTabSz="914400" rtl="0" eaLnBrk="1" fontAlgn="ctr" latinLnBrk="0" hangingPunct="1">
                        <a:buNone/>
                      </a:pPr>
                      <a:r>
                        <a:rPr lang="en-US" altLang="zh-TW" sz="1100" u="none" strike="noStrike" kern="1200" dirty="0">
                          <a:solidFill>
                            <a:schemeClr val="dk1"/>
                          </a:solidFill>
                          <a:effectLst/>
                          <a:latin typeface="+mn-lt"/>
                          <a:ea typeface="+mn-ea"/>
                          <a:cs typeface="+mn-cs"/>
                        </a:rPr>
                        <a:t>11</a:t>
                      </a:r>
                    </a:p>
                  </a:txBody>
                  <a:tcPr marL="9411" marR="9411" marT="9411" marB="0" anchor="ctr"/>
                </a:tc>
                <a:tc>
                  <a:txBody>
                    <a:bodyPr/>
                    <a:lstStyle/>
                    <a:p>
                      <a:pPr algn="l" fontAlgn="ctr">
                        <a:buNone/>
                      </a:pPr>
                      <a:r>
                        <a:rPr lang="en-US" sz="1100" u="none" strike="noStrike">
                          <a:effectLst/>
                        </a:rPr>
                        <a:t>pwm unset</a:t>
                      </a:r>
                      <a:endParaRPr lang="en-US" sz="11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l" fontAlgn="ctr">
                        <a:buNone/>
                      </a:pPr>
                      <a:r>
                        <a:rPr lang="zh-TW" altLang="en-US" sz="1100" u="none" strike="noStrike" dirty="0">
                          <a:effectLst/>
                        </a:rPr>
                        <a:t>關閉盒子燈</a:t>
                      </a: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rowSpan="2" gridSpan="4">
                  <a:txBody>
                    <a:bodyPr/>
                    <a:lstStyle/>
                    <a:p>
                      <a:pPr algn="l" fontAlgn="ctr">
                        <a:buNone/>
                      </a:pPr>
                      <a:r>
                        <a:rPr lang="zh-TW" altLang="en-US" sz="1100" u="none" strike="noStrike" dirty="0">
                          <a:effectLst/>
                        </a:rPr>
                        <a:t> </a:t>
                      </a: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lnR w="12700" cap="flat" cmpd="sng" algn="ctr">
                      <a:solidFill>
                        <a:schemeClr val="tx1"/>
                      </a:solidFill>
                      <a:prstDash val="solid"/>
                      <a:round/>
                      <a:headEnd type="none" w="med" len="med"/>
                      <a:tailEnd type="none" w="med" len="med"/>
                    </a:lnR>
                  </a:tcPr>
                </a:tc>
                <a:tc rowSpan="2" hMerge="1">
                  <a:txBody>
                    <a:bodyPr/>
                    <a:lstStyle/>
                    <a:p>
                      <a:endParaRPr lang="zh-TW" altLang="en-US"/>
                    </a:p>
                  </a:txBody>
                  <a:tcPr/>
                </a:tc>
                <a:tc rowSpan="2" h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rowSpan="2" h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728507967"/>
                  </a:ext>
                </a:extLst>
              </a:tr>
              <a:tr h="237180">
                <a:tc vMerge="1">
                  <a:txBody>
                    <a:bodyPr/>
                    <a:lstStyle/>
                    <a:p>
                      <a:endParaRPr lang="zh-TW" altLang="en-US"/>
                    </a:p>
                  </a:txBody>
                  <a:tcPr/>
                </a:tc>
                <a:tc>
                  <a:txBody>
                    <a:bodyPr/>
                    <a:lstStyle/>
                    <a:p>
                      <a:pPr marL="0" algn="ctr" defTabSz="914400" rtl="0" eaLnBrk="1" fontAlgn="ctr" latinLnBrk="0" hangingPunct="1">
                        <a:buNone/>
                      </a:pPr>
                      <a:r>
                        <a:rPr lang="en-US" altLang="zh-TW" sz="1100" u="none" strike="noStrike" kern="1200" dirty="0">
                          <a:solidFill>
                            <a:schemeClr val="dk1"/>
                          </a:solidFill>
                          <a:effectLst/>
                          <a:latin typeface="+mn-lt"/>
                          <a:ea typeface="+mn-ea"/>
                          <a:cs typeface="+mn-cs"/>
                        </a:rPr>
                        <a:t>12</a:t>
                      </a:r>
                    </a:p>
                  </a:txBody>
                  <a:tcPr marL="9411" marR="9411" marT="9411" marB="0" anchor="ctr"/>
                </a:tc>
                <a:tc>
                  <a:txBody>
                    <a:bodyPr/>
                    <a:lstStyle/>
                    <a:p>
                      <a:pPr algn="l" fontAlgn="ctr">
                        <a:buNone/>
                      </a:pPr>
                      <a:r>
                        <a:rPr lang="en-US" sz="1100" u="none" strike="noStrike" dirty="0">
                          <a:effectLst/>
                        </a:rPr>
                        <a:t>PWM set red 1000</a:t>
                      </a: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l" fontAlgn="ctr">
                        <a:buNone/>
                      </a:pPr>
                      <a:r>
                        <a:rPr lang="zh-TW" altLang="en-US" sz="1100" u="none" strike="noStrike" dirty="0">
                          <a:effectLst/>
                        </a:rPr>
                        <a:t>設定盒子紅光</a:t>
                      </a: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gridSpan="4" vMerge="1">
                  <a:txBody>
                    <a:bodyPr/>
                    <a:lstStyle/>
                    <a:p>
                      <a:endParaRPr lang="zh-TW" altLang="en-US"/>
                    </a:p>
                  </a:txBody>
                  <a:tcPr/>
                </a:tc>
                <a:tc hMerge="1" vMerge="1">
                  <a:txBody>
                    <a:bodyPr/>
                    <a:lstStyle/>
                    <a:p>
                      <a:endParaRPr lang="zh-TW" altLang="en-US"/>
                    </a:p>
                  </a:txBody>
                  <a:tcPr/>
                </a:tc>
                <a:tc hMerge="1" vMerge="1">
                  <a:txBody>
                    <a:bodyPr/>
                    <a:lstStyle/>
                    <a:p>
                      <a:endParaRPr lang="zh-TW" altLang="en-US"/>
                    </a:p>
                  </a:txBody>
                  <a:tcPr/>
                </a:tc>
                <a:tc hMerge="1" vMerge="1">
                  <a:txBody>
                    <a:bodyPr/>
                    <a:lstStyle/>
                    <a:p>
                      <a:endParaRPr lang="zh-TW" altLang="en-US"/>
                    </a:p>
                  </a:txBody>
                  <a:tcPr/>
                </a:tc>
                <a:extLst>
                  <a:ext uri="{0D108BD9-81ED-4DB2-BD59-A6C34878D82A}">
                    <a16:rowId xmlns:a16="http://schemas.microsoft.com/office/drawing/2014/main" val="428791286"/>
                  </a:ext>
                </a:extLst>
              </a:tr>
              <a:tr h="237180">
                <a:tc vMerge="1">
                  <a:txBody>
                    <a:bodyPr/>
                    <a:lstStyle/>
                    <a:p>
                      <a:endParaRPr lang="zh-TW" altLang="en-US"/>
                    </a:p>
                  </a:txBody>
                  <a:tcPr/>
                </a:tc>
                <a:tc>
                  <a:txBody>
                    <a:bodyPr/>
                    <a:lstStyle/>
                    <a:p>
                      <a:pPr marL="0" algn="ctr" defTabSz="914400" rtl="0" eaLnBrk="1" fontAlgn="ctr" latinLnBrk="0" hangingPunct="1">
                        <a:buNone/>
                      </a:pPr>
                      <a:r>
                        <a:rPr lang="en-US" altLang="zh-TW" sz="1100" u="none" strike="noStrike" kern="1200" dirty="0">
                          <a:solidFill>
                            <a:schemeClr val="dk1"/>
                          </a:solidFill>
                          <a:effectLst/>
                          <a:latin typeface="+mn-lt"/>
                          <a:ea typeface="+mn-ea"/>
                          <a:cs typeface="+mn-cs"/>
                        </a:rPr>
                        <a:t>13</a:t>
                      </a:r>
                    </a:p>
                  </a:txBody>
                  <a:tcPr marL="9411" marR="9411" marT="9411" marB="0" anchor="ctr"/>
                </a:tc>
                <a:tc rowSpan="2" gridSpan="2">
                  <a:txBody>
                    <a:bodyPr/>
                    <a:lstStyle/>
                    <a:p>
                      <a:pPr algn="l" fontAlgn="ctr">
                        <a:buNone/>
                      </a:pPr>
                      <a:r>
                        <a:rPr lang="zh-TW" altLang="en-US" sz="1100" u="none" strike="noStrike" dirty="0">
                          <a:effectLst/>
                        </a:rPr>
                        <a:t>　</a:t>
                      </a: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rowSpan="2" hMerge="1">
                  <a:txBody>
                    <a:bodyPr/>
                    <a:lstStyle/>
                    <a:p>
                      <a:endParaRPr lang="zh-TW" altLang="en-US"/>
                    </a:p>
                  </a:txBody>
                  <a:tcPr/>
                </a:tc>
                <a:tc>
                  <a:txBody>
                    <a:bodyPr/>
                    <a:lstStyle/>
                    <a:p>
                      <a:pPr algn="l" fontAlgn="ctr">
                        <a:buNone/>
                      </a:pPr>
                      <a:r>
                        <a:rPr lang="en-US" sz="1100" u="none" strike="noStrike" dirty="0">
                          <a:effectLst/>
                        </a:rPr>
                        <a:t>:001w_target_type01-01=11</a:t>
                      </a: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l" fontAlgn="ctr">
                        <a:buNone/>
                      </a:pPr>
                      <a:r>
                        <a:rPr lang="zh-TW" altLang="en-US" sz="1100" u="none" strike="noStrike" dirty="0">
                          <a:effectLst/>
                        </a:rPr>
                        <a:t>設定</a:t>
                      </a:r>
                      <a:r>
                        <a:rPr lang="en-US" sz="1100" u="none" strike="noStrike" dirty="0">
                          <a:effectLst/>
                        </a:rPr>
                        <a:t>LED</a:t>
                      </a:r>
                      <a:r>
                        <a:rPr lang="zh-TW" altLang="en-US" sz="1100" u="none" strike="noStrike" dirty="0">
                          <a:effectLst/>
                        </a:rPr>
                        <a:t>分析儀測紅光</a:t>
                      </a: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rowSpan="2" gridSpan="2">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lnR w="12700" cap="flat" cmpd="sng" algn="ctr">
                      <a:solidFill>
                        <a:schemeClr val="tx1"/>
                      </a:solidFill>
                      <a:prstDash val="solid"/>
                      <a:round/>
                      <a:headEnd type="none" w="med" len="med"/>
                      <a:tailEnd type="none" w="med" len="med"/>
                    </a:lnR>
                  </a:tcPr>
                </a:tc>
                <a:tc rowSpan="2" h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337049364"/>
                  </a:ext>
                </a:extLst>
              </a:tr>
              <a:tr h="237180">
                <a:tc vMerge="1">
                  <a:txBody>
                    <a:bodyPr/>
                    <a:lstStyle/>
                    <a:p>
                      <a:endParaRPr lang="zh-TW" altLang="en-US"/>
                    </a:p>
                  </a:txBody>
                  <a:tcPr/>
                </a:tc>
                <a:tc>
                  <a:txBody>
                    <a:bodyPr/>
                    <a:lstStyle/>
                    <a:p>
                      <a:pPr marL="0" algn="ctr" defTabSz="914400" rtl="0" eaLnBrk="1" fontAlgn="ctr" latinLnBrk="0" hangingPunct="1">
                        <a:buNone/>
                      </a:pPr>
                      <a:r>
                        <a:rPr lang="en-US" altLang="zh-TW" sz="1100" u="none" strike="noStrike" kern="1200" dirty="0">
                          <a:solidFill>
                            <a:schemeClr val="dk1"/>
                          </a:solidFill>
                          <a:effectLst/>
                          <a:latin typeface="+mn-lt"/>
                          <a:ea typeface="+mn-ea"/>
                          <a:cs typeface="+mn-cs"/>
                        </a:rPr>
                        <a:t>14</a:t>
                      </a:r>
                    </a:p>
                  </a:txBody>
                  <a:tcPr marL="9411" marR="9411" marT="9411" marB="0" anchor="ctr"/>
                </a:tc>
                <a:tc gridSpan="2" vMerge="1">
                  <a:txBody>
                    <a:bodyPr/>
                    <a:lstStyle/>
                    <a:p>
                      <a:endParaRPr lang="zh-TW" altLang="en-US"/>
                    </a:p>
                  </a:txBody>
                  <a:tcPr/>
                </a:tc>
                <a:tc hMerge="1" vMerge="1">
                  <a:txBody>
                    <a:bodyPr/>
                    <a:lstStyle/>
                    <a:p>
                      <a:endParaRPr lang="zh-TW" altLang="en-US"/>
                    </a:p>
                  </a:txBody>
                  <a:tcPr/>
                </a:tc>
                <a:tc>
                  <a:txBody>
                    <a:bodyPr/>
                    <a:lstStyle/>
                    <a:p>
                      <a:pPr algn="l" fontAlgn="ctr">
                        <a:buNone/>
                      </a:pPr>
                      <a:r>
                        <a:rPr lang="en-US" sz="1100" u="none" strike="noStrike" dirty="0">
                          <a:effectLst/>
                        </a:rPr>
                        <a:t>:001w_offset_en01-01=2</a:t>
                      </a: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l" fontAlgn="ctr">
                        <a:buNone/>
                      </a:pPr>
                      <a:r>
                        <a:rPr lang="zh-TW" altLang="en-US" sz="1100" u="none" strike="noStrike" dirty="0">
                          <a:effectLst/>
                        </a:rPr>
                        <a:t>設定紅光校正補償</a:t>
                      </a: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gridSpan="2" v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hMerge="1" v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95600603"/>
                  </a:ext>
                </a:extLst>
              </a:tr>
              <a:tr h="237180">
                <a:tc vMerge="1">
                  <a:txBody>
                    <a:bodyPr/>
                    <a:lstStyle/>
                    <a:p>
                      <a:pPr algn="ctr"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lnL w="12700" cap="flat" cmpd="sng" algn="ctr">
                      <a:solidFill>
                        <a:schemeClr val="tx1"/>
                      </a:solidFill>
                      <a:prstDash val="solid"/>
                      <a:round/>
                      <a:headEnd type="none" w="med" len="med"/>
                      <a:tailEnd type="none" w="med" len="med"/>
                    </a:lnL>
                  </a:tcPr>
                </a:tc>
                <a:tc>
                  <a:txBody>
                    <a:bodyPr/>
                    <a:lstStyle/>
                    <a:p>
                      <a:pPr marL="0" algn="ctr" defTabSz="914400" rtl="0" eaLnBrk="1" fontAlgn="ctr" latinLnBrk="0" hangingPunct="1">
                        <a:buNone/>
                      </a:pPr>
                      <a:r>
                        <a:rPr lang="en-US" altLang="zh-TW" sz="1100" u="none" strike="noStrike" kern="1200" dirty="0">
                          <a:solidFill>
                            <a:schemeClr val="dk1"/>
                          </a:solidFill>
                          <a:effectLst/>
                          <a:latin typeface="+mn-lt"/>
                          <a:ea typeface="+mn-ea"/>
                          <a:cs typeface="+mn-cs"/>
                        </a:rPr>
                        <a:t>15</a:t>
                      </a:r>
                    </a:p>
                  </a:txBody>
                  <a:tcPr marL="9411" marR="9411" marT="9411" marB="0" anchor="ctr"/>
                </a:tc>
                <a:tc gridSpan="4">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hMerge="1">
                  <a:txBody>
                    <a:bodyPr/>
                    <a:lstStyle/>
                    <a:p>
                      <a:endParaRPr lang="zh-TW" altLang="en-US"/>
                    </a:p>
                  </a:txBody>
                  <a:tcPr/>
                </a:tc>
                <a:tc hMerge="1">
                  <a:txBody>
                    <a:bodyPr/>
                    <a:lstStyle/>
                    <a:p>
                      <a:pPr algn="l" fontAlgn="ctr">
                        <a:buNone/>
                      </a:pP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hMerge="1">
                  <a:txBody>
                    <a:bodyPr/>
                    <a:lstStyle/>
                    <a:p>
                      <a:pPr algn="l" fontAlgn="ctr">
                        <a:buNone/>
                      </a:pP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l" fontAlgn="ctr">
                        <a:buNone/>
                      </a:pPr>
                      <a:r>
                        <a:rPr lang="en-US" altLang="zh-TW" sz="1100" b="0" kern="1200" dirty="0" err="1">
                          <a:solidFill>
                            <a:schemeClr val="dk1"/>
                          </a:solidFill>
                          <a:effectLst/>
                          <a:latin typeface="+mn-lt"/>
                          <a:ea typeface="+mn-ea"/>
                          <a:cs typeface="+mn-cs"/>
                        </a:rPr>
                        <a:t>getcurrent</a:t>
                      </a: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zh-TW" altLang="en-US" sz="1100" dirty="0"/>
                        <a:t>獲取</a:t>
                      </a:r>
                      <a:r>
                        <a:rPr lang="en-US" altLang="zh-TW" sz="1100" dirty="0"/>
                        <a:t>LED</a:t>
                      </a:r>
                      <a:r>
                        <a:rPr lang="zh-TW" altLang="en-US" sz="1100" dirty="0"/>
                        <a:t>紅光</a:t>
                      </a:r>
                      <a:r>
                        <a:rPr lang="en-US" altLang="zh-TW" sz="1100" dirty="0" err="1"/>
                        <a:t>vbus</a:t>
                      </a:r>
                      <a:r>
                        <a:rPr lang="zh-TW" altLang="en-US" sz="1100" dirty="0"/>
                        <a:t>電流</a:t>
                      </a:r>
                    </a:p>
                  </a:txBody>
                  <a:tcPr marL="9411" marR="9411" marT="9411"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4119264190"/>
                  </a:ext>
                </a:extLst>
              </a:tr>
              <a:tr h="237180">
                <a:tc vMerge="1">
                  <a:txBody>
                    <a:bodyPr/>
                    <a:lstStyle/>
                    <a:p>
                      <a:pPr algn="ctr" fontAlgn="ctr">
                        <a:buNone/>
                      </a:pP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lnL w="12700" cap="flat" cmpd="sng" algn="ctr">
                      <a:solidFill>
                        <a:schemeClr val="tx1"/>
                      </a:solidFill>
                      <a:prstDash val="solid"/>
                      <a:round/>
                      <a:headEnd type="none" w="med" len="med"/>
                      <a:tailEnd type="none" w="med" len="med"/>
                    </a:lnL>
                  </a:tcPr>
                </a:tc>
                <a:tc>
                  <a:txBody>
                    <a:bodyPr/>
                    <a:lstStyle/>
                    <a:p>
                      <a:pPr marL="0" algn="ctr" defTabSz="914400" rtl="0" eaLnBrk="1" fontAlgn="ctr" latinLnBrk="0" hangingPunct="1">
                        <a:buNone/>
                      </a:pPr>
                      <a:r>
                        <a:rPr lang="en-US" altLang="zh-TW" sz="1100" u="none" strike="noStrike" kern="1200" dirty="0">
                          <a:solidFill>
                            <a:schemeClr val="dk1"/>
                          </a:solidFill>
                          <a:effectLst/>
                          <a:latin typeface="+mn-lt"/>
                          <a:ea typeface="+mn-ea"/>
                          <a:cs typeface="+mn-cs"/>
                        </a:rPr>
                        <a:t>16</a:t>
                      </a:r>
                    </a:p>
                  </a:txBody>
                  <a:tcPr marL="9411" marR="9411" marT="9411" marB="0" anchor="ctr"/>
                </a:tc>
                <a:tc gridSpan="2">
                  <a:txBody>
                    <a:bodyPr/>
                    <a:lstStyle/>
                    <a:p>
                      <a:pPr algn="ctr" fontAlgn="ctr">
                        <a:buNone/>
                      </a:pPr>
                      <a:r>
                        <a:rPr lang="zh-TW" altLang="en-US" sz="1100" u="none" strike="noStrike" dirty="0">
                          <a:effectLst/>
                        </a:rPr>
                        <a:t>　</a:t>
                      </a: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hMerge="1">
                  <a:txBody>
                    <a:bodyPr/>
                    <a:lstStyle/>
                    <a:p>
                      <a:endParaRPr lang="zh-TW" altLang="en-US"/>
                    </a:p>
                  </a:txBody>
                  <a:tcPr/>
                </a:tc>
                <a:tc>
                  <a:txBody>
                    <a:bodyPr/>
                    <a:lstStyle/>
                    <a:p>
                      <a:pPr algn="l" fontAlgn="ctr">
                        <a:buNone/>
                      </a:pPr>
                      <a:r>
                        <a:rPr lang="en-US" sz="1100" u="none" strike="noStrike" dirty="0">
                          <a:effectLst/>
                        </a:rPr>
                        <a:t>:001r_chroma01-01</a:t>
                      </a: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algn="l" fontAlgn="ctr">
                        <a:buNone/>
                      </a:pPr>
                      <a:r>
                        <a:rPr lang="zh-TW" altLang="en-US" sz="1100" u="none" strike="noStrike" dirty="0">
                          <a:effectLst/>
                        </a:rPr>
                        <a:t> 讀取數值（紅光）</a:t>
                      </a: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gridSpan="2">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lnR w="12700" cap="flat" cmpd="sng" algn="ctr">
                      <a:solidFill>
                        <a:schemeClr val="tx1"/>
                      </a:solidFill>
                      <a:prstDash val="solid"/>
                      <a:round/>
                      <a:headEnd type="none" w="med" len="med"/>
                      <a:tailEnd type="none" w="med" len="med"/>
                    </a:lnR>
                  </a:tcPr>
                </a:tc>
                <a:tc h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743777878"/>
                  </a:ext>
                </a:extLst>
              </a:tr>
              <a:tr h="237180">
                <a:tc vMerge="1">
                  <a:txBody>
                    <a:bodyPr/>
                    <a:lstStyle/>
                    <a:p>
                      <a:pPr algn="ctr" fontAlgn="ctr">
                        <a:buNone/>
                      </a:pP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marL="0" algn="ctr" defTabSz="914400" rtl="0" eaLnBrk="1" fontAlgn="ctr" latinLnBrk="0" hangingPunct="1">
                        <a:buNone/>
                      </a:pPr>
                      <a:r>
                        <a:rPr lang="en-US" altLang="zh-TW" sz="1100" u="none" strike="noStrike" kern="1200" dirty="0">
                          <a:solidFill>
                            <a:schemeClr val="dk1"/>
                          </a:solidFill>
                          <a:effectLst/>
                          <a:latin typeface="+mn-lt"/>
                          <a:ea typeface="+mn-ea"/>
                          <a:cs typeface="+mn-cs"/>
                        </a:rPr>
                        <a:t>17</a:t>
                      </a:r>
                    </a:p>
                  </a:txBody>
                  <a:tcPr marL="9411" marR="9411" marT="9411" marB="0" anchor="ctr">
                    <a:lnB w="12700" cap="flat" cmpd="sng" algn="ctr">
                      <a:solidFill>
                        <a:schemeClr val="tx1"/>
                      </a:solidFill>
                      <a:prstDash val="solid"/>
                      <a:round/>
                      <a:headEnd type="none" w="med" len="med"/>
                      <a:tailEnd type="none" w="med" len="med"/>
                    </a:lnB>
                  </a:tcPr>
                </a:tc>
                <a:tc>
                  <a:txBody>
                    <a:bodyPr/>
                    <a:lstStyle/>
                    <a:p>
                      <a:pPr algn="l" fontAlgn="ctr">
                        <a:buNone/>
                      </a:pPr>
                      <a:r>
                        <a:rPr lang="en-US" sz="1100" u="none" strike="noStrike" dirty="0" err="1">
                          <a:effectLst/>
                        </a:rPr>
                        <a:t>pwm</a:t>
                      </a:r>
                      <a:r>
                        <a:rPr lang="en-US" sz="1100" u="none" strike="noStrike" dirty="0">
                          <a:effectLst/>
                        </a:rPr>
                        <a:t> unset</a:t>
                      </a: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lnB w="12700" cap="flat" cmpd="sng" algn="ctr">
                      <a:solidFill>
                        <a:schemeClr val="tx1"/>
                      </a:solidFill>
                      <a:prstDash val="solid"/>
                      <a:round/>
                      <a:headEnd type="none" w="med" len="med"/>
                      <a:tailEnd type="none" w="med" len="med"/>
                    </a:lnB>
                  </a:tcPr>
                </a:tc>
                <a:tc>
                  <a:txBody>
                    <a:bodyPr/>
                    <a:lstStyle/>
                    <a:p>
                      <a:pPr algn="l" fontAlgn="ctr">
                        <a:buNone/>
                      </a:pPr>
                      <a:r>
                        <a:rPr lang="zh-TW" altLang="en-US" sz="1100" u="none" strike="noStrike" dirty="0">
                          <a:effectLst/>
                        </a:rPr>
                        <a:t>關閉盒子燈</a:t>
                      </a: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lnB w="12700" cap="flat" cmpd="sng" algn="ctr">
                      <a:solidFill>
                        <a:schemeClr val="tx1"/>
                      </a:solidFill>
                      <a:prstDash val="solid"/>
                      <a:round/>
                      <a:headEnd type="none" w="med" len="med"/>
                      <a:tailEnd type="none" w="med" len="med"/>
                    </a:lnB>
                  </a:tcPr>
                </a:tc>
                <a:tc gridSpan="4">
                  <a:txBody>
                    <a:bodyPr/>
                    <a:lstStyle/>
                    <a:p>
                      <a:pPr algn="l" fontAlgn="ctr">
                        <a:buNone/>
                      </a:pP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hMerge="1">
                  <a:txBody>
                    <a:bodyPr/>
                    <a:lstStyle/>
                    <a:p>
                      <a:pPr algn="l" fontAlgn="ctr">
                        <a:buNone/>
                      </a:pP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lnB w="12700" cap="flat" cmpd="sng" algn="ctr">
                      <a:solidFill>
                        <a:schemeClr val="tx1"/>
                      </a:solidFill>
                      <a:prstDash val="solid"/>
                      <a:round/>
                      <a:headEnd type="none" w="med" len="med"/>
                      <a:tailEnd type="none" w="med" len="med"/>
                    </a:lnB>
                  </a:tcPr>
                </a:tc>
                <a:tc h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lnB w="12700" cap="flat" cmpd="sng" algn="ctr">
                      <a:solidFill>
                        <a:schemeClr val="tx1"/>
                      </a:solidFill>
                      <a:prstDash val="solid"/>
                      <a:round/>
                      <a:headEnd type="none" w="med" len="med"/>
                      <a:tailEnd type="none" w="med" len="med"/>
                    </a:lnB>
                  </a:tcPr>
                </a:tc>
                <a:tc h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9234780"/>
                  </a:ext>
                </a:extLst>
              </a:tr>
            </a:tbl>
          </a:graphicData>
        </a:graphic>
      </p:graphicFrame>
    </p:spTree>
    <p:extLst>
      <p:ext uri="{BB962C8B-B14F-4D97-AF65-F5344CB8AC3E}">
        <p14:creationId xmlns:p14="http://schemas.microsoft.com/office/powerpoint/2010/main" val="15446889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F6C545-3F19-8F2E-D913-219F5A0D5306}"/>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527BF9E0-F9CE-20DB-64DA-3D1C5788DEEA}"/>
              </a:ext>
            </a:extLst>
          </p:cNvPr>
          <p:cNvSpPr>
            <a:spLocks noGrp="1"/>
          </p:cNvSpPr>
          <p:nvPr>
            <p:ph type="body" sz="quarter" idx="13"/>
          </p:nvPr>
        </p:nvSpPr>
        <p:spPr/>
        <p:txBody>
          <a:bodyPr/>
          <a:lstStyle/>
          <a:p>
            <a:r>
              <a:rPr lang="en-US" dirty="0"/>
              <a:t>Terminology  </a:t>
            </a:r>
          </a:p>
          <a:p>
            <a:endParaRPr lang="en-US" dirty="0"/>
          </a:p>
        </p:txBody>
      </p:sp>
      <p:sp>
        <p:nvSpPr>
          <p:cNvPr id="6" name="文字方塊 5">
            <a:extLst>
              <a:ext uri="{FF2B5EF4-FFF2-40B4-BE49-F238E27FC236}">
                <a16:creationId xmlns:a16="http://schemas.microsoft.com/office/drawing/2014/main" id="{82D1D52A-1461-4458-5941-CCB42009649D}"/>
              </a:ext>
            </a:extLst>
          </p:cNvPr>
          <p:cNvSpPr txBox="1"/>
          <p:nvPr/>
        </p:nvSpPr>
        <p:spPr>
          <a:xfrm>
            <a:off x="571500" y="938449"/>
            <a:ext cx="9776832" cy="1785104"/>
          </a:xfrm>
          <a:prstGeom prst="rect">
            <a:avLst/>
          </a:prstGeom>
          <a:noFill/>
        </p:spPr>
        <p:txBody>
          <a:bodyPr wrap="square">
            <a:spAutoFit/>
          </a:bodyPr>
          <a:lstStyle/>
          <a:p>
            <a:pPr>
              <a:lnSpc>
                <a:spcPct val="150000"/>
              </a:lnSpc>
              <a:defRPr/>
            </a:pPr>
            <a:r>
              <a:rPr lang="en-US" altLang="zh-TW" sz="2000" b="1" dirty="0" err="1"/>
              <a:t>GPIOCheck_Button</a:t>
            </a:r>
            <a:r>
              <a:rPr lang="en-US" altLang="zh-TW" sz="2000" b="1" dirty="0"/>
              <a:t>_(</a:t>
            </a:r>
            <a:r>
              <a:rPr lang="en-US" altLang="zh-TW" b="1" dirty="0"/>
              <a:t>Initial / Pressed / Released</a:t>
            </a:r>
            <a:r>
              <a:rPr lang="en-US" altLang="zh-TW" sz="2000" b="1" dirty="0"/>
              <a:t>)</a:t>
            </a:r>
            <a:r>
              <a:rPr lang="zh-TW" altLang="en-US" sz="2000" b="1" kern="1200" dirty="0">
                <a:solidFill>
                  <a:schemeClr val="tx1"/>
                </a:solidFill>
                <a:effectLst/>
                <a:latin typeface="+mn-lt"/>
                <a:ea typeface="+mn-ea"/>
                <a:cs typeface="+mn-cs"/>
              </a:rPr>
              <a:t>：</a:t>
            </a:r>
            <a:endParaRPr lang="en-US" altLang="zh-TW" sz="2000" b="1" kern="1200" dirty="0">
              <a:solidFill>
                <a:schemeClr val="tx1"/>
              </a:solidFill>
              <a:effectLst/>
              <a:latin typeface="+mn-lt"/>
              <a:ea typeface="+mn-ea"/>
              <a:cs typeface="+mn-cs"/>
            </a:endParaRPr>
          </a:p>
          <a:p>
            <a:pPr marL="800100" lvl="1" indent="-342900">
              <a:lnSpc>
                <a:spcPct val="150000"/>
              </a:lnSpc>
              <a:buFont typeface="Arial" panose="020B0604020202020204" pitchFamily="34" charset="0"/>
              <a:buChar char="•"/>
              <a:defRPr/>
            </a:pPr>
            <a:r>
              <a:rPr lang="en-US" altLang="zh-TW" sz="2000" dirty="0"/>
              <a:t>Verify the status of the button under the state of pressing and releasing</a:t>
            </a:r>
          </a:p>
          <a:p>
            <a:pPr>
              <a:lnSpc>
                <a:spcPct val="150000"/>
              </a:lnSpc>
              <a:defRPr/>
            </a:pPr>
            <a:r>
              <a:rPr lang="en-US" altLang="zh-TW" sz="2000" b="1" dirty="0"/>
              <a:t>Command</a:t>
            </a:r>
            <a:r>
              <a:rPr lang="zh-TW" altLang="en-US" sz="2000" b="1" dirty="0"/>
              <a:t>：</a:t>
            </a:r>
            <a:endParaRPr lang="en-US" altLang="zh-TW" sz="2000" b="1" dirty="0"/>
          </a:p>
          <a:p>
            <a:pPr lvl="1">
              <a:defRPr/>
            </a:pPr>
            <a:endParaRPr lang="en-US" altLang="zh-TW" sz="2000" b="1" kern="1200" dirty="0">
              <a:solidFill>
                <a:schemeClr val="tx1"/>
              </a:solidFill>
              <a:effectLst/>
              <a:latin typeface="+mn-lt"/>
              <a:ea typeface="+mn-ea"/>
              <a:cs typeface="+mn-cs"/>
            </a:endParaRPr>
          </a:p>
        </p:txBody>
      </p:sp>
      <p:graphicFrame>
        <p:nvGraphicFramePr>
          <p:cNvPr id="2" name="表格 1">
            <a:extLst>
              <a:ext uri="{FF2B5EF4-FFF2-40B4-BE49-F238E27FC236}">
                <a16:creationId xmlns:a16="http://schemas.microsoft.com/office/drawing/2014/main" id="{213DC5F1-6204-C3B8-9F49-49F66575ACBA}"/>
              </a:ext>
            </a:extLst>
          </p:cNvPr>
          <p:cNvGraphicFramePr>
            <a:graphicFrameLocks noGrp="1"/>
          </p:cNvGraphicFramePr>
          <p:nvPr>
            <p:extLst>
              <p:ext uri="{D42A27DB-BD31-4B8C-83A1-F6EECF244321}">
                <p14:modId xmlns:p14="http://schemas.microsoft.com/office/powerpoint/2010/main" val="3122558439"/>
              </p:ext>
            </p:extLst>
          </p:nvPr>
        </p:nvGraphicFramePr>
        <p:xfrm>
          <a:off x="794351" y="2589738"/>
          <a:ext cx="10380273" cy="2149327"/>
        </p:xfrm>
        <a:graphic>
          <a:graphicData uri="http://schemas.openxmlformats.org/drawingml/2006/table">
            <a:tbl>
              <a:tblPr>
                <a:tableStyleId>{5C22544A-7EE6-4342-B048-85BDC9FD1C3A}</a:tableStyleId>
              </a:tblPr>
              <a:tblGrid>
                <a:gridCol w="2044472">
                  <a:extLst>
                    <a:ext uri="{9D8B030D-6E8A-4147-A177-3AD203B41FA5}">
                      <a16:colId xmlns:a16="http://schemas.microsoft.com/office/drawing/2014/main" val="549460067"/>
                    </a:ext>
                  </a:extLst>
                </a:gridCol>
                <a:gridCol w="523324">
                  <a:extLst>
                    <a:ext uri="{9D8B030D-6E8A-4147-A177-3AD203B41FA5}">
                      <a16:colId xmlns:a16="http://schemas.microsoft.com/office/drawing/2014/main" val="2327150729"/>
                    </a:ext>
                  </a:extLst>
                </a:gridCol>
                <a:gridCol w="1869014">
                  <a:extLst>
                    <a:ext uri="{9D8B030D-6E8A-4147-A177-3AD203B41FA5}">
                      <a16:colId xmlns:a16="http://schemas.microsoft.com/office/drawing/2014/main" val="3642965757"/>
                    </a:ext>
                  </a:extLst>
                </a:gridCol>
                <a:gridCol w="1513902">
                  <a:extLst>
                    <a:ext uri="{9D8B030D-6E8A-4147-A177-3AD203B41FA5}">
                      <a16:colId xmlns:a16="http://schemas.microsoft.com/office/drawing/2014/main" val="2229921703"/>
                    </a:ext>
                  </a:extLst>
                </a:gridCol>
                <a:gridCol w="2467097">
                  <a:extLst>
                    <a:ext uri="{9D8B030D-6E8A-4147-A177-3AD203B41FA5}">
                      <a16:colId xmlns:a16="http://schemas.microsoft.com/office/drawing/2014/main" val="486039291"/>
                    </a:ext>
                  </a:extLst>
                </a:gridCol>
                <a:gridCol w="1962464">
                  <a:extLst>
                    <a:ext uri="{9D8B030D-6E8A-4147-A177-3AD203B41FA5}">
                      <a16:colId xmlns:a16="http://schemas.microsoft.com/office/drawing/2014/main" val="2143126558"/>
                    </a:ext>
                  </a:extLst>
                </a:gridCol>
              </a:tblGrid>
              <a:tr h="257109">
                <a:tc>
                  <a:txBody>
                    <a:bodyPr/>
                    <a:lstStyle/>
                    <a:p>
                      <a:pPr algn="ctr" fontAlgn="ctr">
                        <a:buNone/>
                      </a:pPr>
                      <a:r>
                        <a:rPr lang="en-US" sz="1100" b="1" u="none" strike="noStrike" dirty="0">
                          <a:effectLst/>
                        </a:rPr>
                        <a:t>Test item</a:t>
                      </a:r>
                      <a:endParaRPr lang="en-US" sz="1100" b="1"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ctr" fontAlgn="ctr">
                        <a:buNone/>
                      </a:pPr>
                      <a:r>
                        <a:rPr lang="zh-TW" altLang="en-US" sz="1100" u="none" strike="noStrike">
                          <a:effectLst/>
                        </a:rPr>
                        <a:t>　</a:t>
                      </a:r>
                      <a:endParaRPr lang="zh-TW" altLang="en-US" sz="11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ctr" fontAlgn="ctr">
                        <a:buNone/>
                      </a:pPr>
                      <a:r>
                        <a:rPr lang="en-US" sz="1100" b="1" u="none" strike="noStrike" dirty="0">
                          <a:effectLst/>
                        </a:rPr>
                        <a:t>DUT  command</a:t>
                      </a:r>
                      <a:endParaRPr lang="en-US" sz="1100" b="1" i="0" u="none" strike="noStrike" dirty="0">
                        <a:solidFill>
                          <a:srgbClr val="FF0000"/>
                        </a:solidFill>
                        <a:effectLst/>
                        <a:latin typeface="新細明體" panose="02020500000000000000" pitchFamily="18" charset="-120"/>
                        <a:ea typeface="新細明體" panose="02020500000000000000" pitchFamily="18" charset="-120"/>
                      </a:endParaRPr>
                    </a:p>
                  </a:txBody>
                  <a:tcPr marL="9411" marR="9411" marT="9411" marB="0"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l" fontAlgn="ctr">
                        <a:buNone/>
                      </a:pPr>
                      <a:r>
                        <a:rPr lang="en-US" altLang="zh-TW" sz="1100" b="1" kern="1200" dirty="0">
                          <a:solidFill>
                            <a:schemeClr val="tx1"/>
                          </a:solidFill>
                          <a:effectLst/>
                          <a:latin typeface="+mn-lt"/>
                          <a:ea typeface="+mn-ea"/>
                          <a:cs typeface="+mn-cs"/>
                        </a:rPr>
                        <a:t>Description</a:t>
                      </a: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ctr" fontAlgn="ctr">
                        <a:buNone/>
                      </a:pPr>
                      <a:r>
                        <a:rPr lang="en-US" sz="1100" b="1" u="none" strike="noStrike" dirty="0">
                          <a:effectLst/>
                        </a:rPr>
                        <a:t>cylinder command</a:t>
                      </a:r>
                      <a:endParaRPr lang="en-US" sz="1100" b="1" i="0" u="none" strike="noStrike" dirty="0">
                        <a:solidFill>
                          <a:srgbClr val="FF0000"/>
                        </a:solidFill>
                        <a:effectLst/>
                        <a:latin typeface="新細明體" panose="02020500000000000000" pitchFamily="18" charset="-120"/>
                        <a:ea typeface="新細明體" panose="02020500000000000000" pitchFamily="18" charset="-120"/>
                      </a:endParaRPr>
                    </a:p>
                  </a:txBody>
                  <a:tcPr marL="9411" marR="9411" marT="9411" marB="0"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l" fontAlgn="ctr">
                        <a:buNone/>
                      </a:pPr>
                      <a:r>
                        <a:rPr lang="en-US" altLang="zh-TW" sz="1100" b="1" kern="1200" dirty="0">
                          <a:solidFill>
                            <a:schemeClr val="tx1"/>
                          </a:solidFill>
                          <a:effectLst/>
                          <a:latin typeface="+mn-lt"/>
                          <a:ea typeface="+mn-ea"/>
                          <a:cs typeface="+mn-cs"/>
                        </a:rPr>
                        <a:t>Description</a:t>
                      </a: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6">
                        <a:lumMod val="40000"/>
                        <a:lumOff val="60000"/>
                      </a:schemeClr>
                    </a:solidFill>
                  </a:tcPr>
                </a:tc>
                <a:extLst>
                  <a:ext uri="{0D108BD9-81ED-4DB2-BD59-A6C34878D82A}">
                    <a16:rowId xmlns:a16="http://schemas.microsoft.com/office/drawing/2014/main" val="3535358712"/>
                  </a:ext>
                </a:extLst>
              </a:tr>
              <a:tr h="257109">
                <a:tc>
                  <a:txBody>
                    <a:bodyPr/>
                    <a:lstStyle/>
                    <a:p>
                      <a:pPr algn="ctr" fontAlgn="ctr">
                        <a:buNone/>
                      </a:pPr>
                      <a:r>
                        <a:rPr lang="en-US" altLang="zh-TW" sz="1100" b="1" dirty="0" err="1"/>
                        <a:t>GPIOCheck_Button_Initial</a:t>
                      </a: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lnL w="12700" cap="flat" cmpd="sng" algn="ctr">
                      <a:solidFill>
                        <a:schemeClr val="tx1"/>
                      </a:solidFill>
                      <a:prstDash val="solid"/>
                      <a:round/>
                      <a:headEnd type="none" w="med" len="med"/>
                      <a:tailEnd type="none" w="med" len="med"/>
                    </a:lnL>
                  </a:tcPr>
                </a:tc>
                <a:tc>
                  <a:txBody>
                    <a:bodyPr/>
                    <a:lstStyle/>
                    <a:p>
                      <a:pPr algn="ctr" fontAlgn="ctr">
                        <a:buNone/>
                      </a:pPr>
                      <a:r>
                        <a:rPr lang="en-US" altLang="zh-TW" sz="1100" u="none" strike="noStrike" dirty="0">
                          <a:effectLst/>
                        </a:rPr>
                        <a:t>1</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zh-TW" sz="1100" u="none" strike="noStrike" kern="1200" dirty="0">
                          <a:solidFill>
                            <a:schemeClr val="dk1"/>
                          </a:solidFill>
                          <a:effectLst/>
                          <a:latin typeface="+mn-lt"/>
                          <a:ea typeface="+mn-ea"/>
                          <a:cs typeface="+mn-cs"/>
                        </a:rPr>
                        <a:t>dev </a:t>
                      </a:r>
                      <a:r>
                        <a:rPr lang="en-US" altLang="zh-TW" sz="1100" u="none" strike="noStrike" kern="1200" dirty="0" err="1">
                          <a:solidFill>
                            <a:schemeClr val="dk1"/>
                          </a:solidFill>
                          <a:effectLst/>
                          <a:latin typeface="+mn-lt"/>
                          <a:ea typeface="+mn-ea"/>
                          <a:cs typeface="+mn-cs"/>
                        </a:rPr>
                        <a:t>btn</a:t>
                      </a:r>
                      <a:r>
                        <a:rPr lang="en-US" altLang="zh-TW" sz="1100" u="none" strike="noStrike" kern="1200" dirty="0">
                          <a:solidFill>
                            <a:schemeClr val="dk1"/>
                          </a:solidFill>
                          <a:effectLst/>
                          <a:latin typeface="+mn-lt"/>
                          <a:ea typeface="+mn-ea"/>
                          <a:cs typeface="+mn-cs"/>
                        </a:rPr>
                        <a:t> get</a:t>
                      </a:r>
                    </a:p>
                  </a:txBody>
                  <a:tcPr marL="9411" marR="9411" marT="9411" marB="0" anchor="ctr"/>
                </a:tc>
                <a:tc>
                  <a:txBody>
                    <a:bodyPr/>
                    <a:lstStyle/>
                    <a:p>
                      <a:pPr algn="l" fontAlgn="ctr">
                        <a:buNone/>
                      </a:pPr>
                      <a:r>
                        <a:rPr lang="zh-TW" altLang="en-US" sz="1100" b="0" i="0" u="none" strike="noStrike" kern="1200" dirty="0">
                          <a:solidFill>
                            <a:schemeClr val="tx1"/>
                          </a:solidFill>
                          <a:effectLst/>
                          <a:latin typeface="+mn-lt"/>
                          <a:ea typeface="+mn-ea"/>
                          <a:cs typeface="+mn-cs"/>
                        </a:rPr>
                        <a:t>讀取按鍵狀態（釋放）</a:t>
                      </a:r>
                    </a:p>
                  </a:txBody>
                  <a:tcPr marL="9411" marR="9411" marT="9411" marB="0" anchor="ctr"/>
                </a:tc>
                <a:tc gridSpan="2">
                  <a:txBody>
                    <a:bodyPr/>
                    <a:lstStyle/>
                    <a:p>
                      <a:pPr algn="l" fontAlgn="ctr">
                        <a:buNone/>
                      </a:pPr>
                      <a:r>
                        <a:rPr lang="zh-TW" altLang="en-US" sz="1100" u="none" strike="noStrike" dirty="0">
                          <a:effectLst/>
                        </a:rPr>
                        <a:t> </a:t>
                      </a: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lnR w="12700" cap="flat" cmpd="sng" algn="ctr">
                      <a:solidFill>
                        <a:schemeClr val="tx1"/>
                      </a:solidFill>
                      <a:prstDash val="solid"/>
                      <a:round/>
                      <a:headEnd type="none" w="med" len="med"/>
                      <a:tailEnd type="none" w="med" len="med"/>
                    </a:lnR>
                  </a:tcPr>
                </a:tc>
                <a:tc hMerge="1">
                  <a:txBody>
                    <a:bodyPr/>
                    <a:lstStyle/>
                    <a:p>
                      <a:endParaRPr lang="zh-TW" altLang="en-US" dirty="0"/>
                    </a:p>
                  </a:txBody>
                  <a:tcPr marL="9411" marR="9411" marT="9411"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794060309"/>
                  </a:ext>
                </a:extLst>
              </a:tr>
              <a:tr h="257109">
                <a:tc gridSpan="6">
                  <a:txBody>
                    <a:bodyPr/>
                    <a:lstStyle/>
                    <a:p>
                      <a:pPr algn="ctr" fontAlgn="ctr">
                        <a:buNone/>
                      </a:pPr>
                      <a:r>
                        <a:rPr lang="zh-TW" altLang="en-US" sz="1100" u="none" strike="noStrike" dirty="0">
                          <a:effectLst/>
                        </a:rPr>
                        <a:t>　</a:t>
                      </a: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accent6">
                        <a:lumMod val="40000"/>
                        <a:lumOff val="60000"/>
                      </a:schemeClr>
                    </a:solidFill>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lnL w="12700" cap="flat" cmpd="sng" algn="ctr">
                      <a:solidFill>
                        <a:schemeClr val="tx1"/>
                      </a:solidFill>
                      <a:prstDash val="solid"/>
                      <a:round/>
                      <a:headEnd type="none" w="med" len="med"/>
                      <a:tailEnd type="none" w="med" len="med"/>
                    </a:lnL>
                  </a:tcPr>
                </a:tc>
                <a:tc hMerge="1">
                  <a:txBody>
                    <a:bodyPr/>
                    <a:lstStyle/>
                    <a:p>
                      <a:endParaRPr lang="zh-TW" altLang="en-US"/>
                    </a:p>
                  </a:txBody>
                  <a:tcPr>
                    <a:lnL w="12700" cap="flat" cmpd="sng" algn="ctr">
                      <a:solidFill>
                        <a:schemeClr val="tx1"/>
                      </a:solidFill>
                      <a:prstDash val="solid"/>
                      <a:round/>
                      <a:headEnd type="none" w="med" len="med"/>
                      <a:tailEnd type="none" w="med" len="med"/>
                    </a:lnL>
                  </a:tcPr>
                </a:tc>
                <a:tc hMerge="1">
                  <a:txBody>
                    <a:bodyPr/>
                    <a:lstStyle/>
                    <a:p>
                      <a:endParaRPr lang="zh-TW" altLang="en-US"/>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267147612"/>
                  </a:ext>
                </a:extLst>
              </a:tr>
              <a:tr h="257109">
                <a:tc row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TW" sz="1100" b="1" dirty="0" err="1"/>
                        <a:t>GPIOCheck_Button_Pressed</a:t>
                      </a: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p>
                      <a:pPr algn="ctr"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b">
                    <a:lnL w="12700" cap="flat" cmpd="sng" algn="ctr">
                      <a:solidFill>
                        <a:schemeClr val="tx1"/>
                      </a:solidFill>
                      <a:prstDash val="solid"/>
                      <a:round/>
                      <a:headEnd type="none" w="med" len="med"/>
                      <a:tailEnd type="none" w="med" len="med"/>
                    </a:lnL>
                  </a:tcPr>
                </a:tc>
                <a:tc>
                  <a:txBody>
                    <a:bodyPr/>
                    <a:lstStyle/>
                    <a:p>
                      <a:pPr algn="ctr" fontAlgn="ctr">
                        <a:buNone/>
                      </a:pPr>
                      <a:r>
                        <a:rPr lang="en-US" altLang="zh-TW" sz="1100" u="none" strike="noStrike" dirty="0">
                          <a:effectLst/>
                        </a:rPr>
                        <a:t>1</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gridSpan="2">
                  <a:txBody>
                    <a:bodyPr/>
                    <a:lstStyle/>
                    <a:p>
                      <a:pPr algn="l" fontAlgn="ctr">
                        <a:buNone/>
                      </a:pP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lnR w="12700" cap="flat" cmpd="sng" algn="ctr">
                      <a:solidFill>
                        <a:schemeClr val="bg1"/>
                      </a:solidFill>
                      <a:prstDash val="solid"/>
                      <a:round/>
                      <a:headEnd type="none" w="med" len="med"/>
                      <a:tailEnd type="none" w="med" len="med"/>
                    </a:lnR>
                  </a:tcPr>
                </a:tc>
                <a:tc h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lnR w="12700" cap="flat" cmpd="sng" algn="ctr">
                      <a:solidFill>
                        <a:schemeClr val="bg1"/>
                      </a:solidFill>
                      <a:prstDash val="solid"/>
                      <a:round/>
                      <a:headEnd type="none" w="med" len="med"/>
                      <a:tailEnd type="none" w="med" len="med"/>
                    </a:lnR>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zh-TW" altLang="en-US" sz="1100" u="none" strike="noStrike" kern="1200" dirty="0">
                          <a:solidFill>
                            <a:schemeClr val="dk1"/>
                          </a:solidFill>
                          <a:effectLst/>
                          <a:latin typeface="+mn-lt"/>
                          <a:ea typeface="+mn-ea"/>
                          <a:cs typeface="+mn-cs"/>
                        </a:rPr>
                        <a:t> </a:t>
                      </a:r>
                      <a:r>
                        <a:rPr lang="en-US" altLang="zh-TW" sz="1100" u="none" strike="noStrike" kern="1200" dirty="0">
                          <a:solidFill>
                            <a:schemeClr val="dk1"/>
                          </a:solidFill>
                          <a:effectLst/>
                          <a:latin typeface="+mn-lt"/>
                          <a:ea typeface="+mn-ea"/>
                          <a:cs typeface="+mn-cs"/>
                        </a:rPr>
                        <a:t>cylinder5 front</a:t>
                      </a:r>
                    </a:p>
                  </a:txBody>
                  <a:tcPr marL="9411" marR="9411" marT="941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tcPr>
                </a:tc>
                <a:tc>
                  <a:txBody>
                    <a:bodyPr/>
                    <a:lstStyle/>
                    <a:p>
                      <a:pPr marL="0" algn="l" defTabSz="914400" rtl="0" eaLnBrk="1" fontAlgn="ctr" latinLnBrk="0" hangingPunct="1">
                        <a:buNone/>
                      </a:pPr>
                      <a:r>
                        <a:rPr lang="zh-TW" altLang="en-US" sz="1100" b="0" i="0" u="none" strike="noStrike" kern="1200" dirty="0">
                          <a:solidFill>
                            <a:schemeClr val="tx1"/>
                          </a:solidFill>
                          <a:effectLst/>
                          <a:latin typeface="+mn-lt"/>
                          <a:ea typeface="+mn-ea"/>
                          <a:cs typeface="+mn-cs"/>
                        </a:rPr>
                        <a:t>按鍵汽缸往前按壓</a:t>
                      </a:r>
                    </a:p>
                  </a:txBody>
                  <a:tcPr marL="9411" marR="9411" marT="9411"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728507967"/>
                  </a:ext>
                </a:extLst>
              </a:tr>
              <a:tr h="287782">
                <a:tc vMerge="1">
                  <a:txBody>
                    <a:bodyPr/>
                    <a:lstStyle/>
                    <a:p>
                      <a:endParaRPr lang="zh-TW" altLang="en-US"/>
                    </a:p>
                  </a:txBody>
                  <a:tcPr/>
                </a:tc>
                <a:tc>
                  <a:txBody>
                    <a:bodyPr/>
                    <a:lstStyle/>
                    <a:p>
                      <a:pPr algn="ctr" fontAlgn="ctr">
                        <a:buNone/>
                      </a:pPr>
                      <a:r>
                        <a:rPr lang="en-US" altLang="zh-TW" sz="1100" u="none" strike="noStrike">
                          <a:effectLst/>
                        </a:rPr>
                        <a:t>2</a:t>
                      </a:r>
                      <a:endParaRPr lang="en-US" altLang="zh-TW" sz="11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zh-TW" sz="1100" u="none" strike="noStrike" kern="1200" dirty="0">
                          <a:solidFill>
                            <a:schemeClr val="dk1"/>
                          </a:solidFill>
                          <a:effectLst/>
                          <a:latin typeface="+mn-lt"/>
                          <a:ea typeface="+mn-ea"/>
                          <a:cs typeface="+mn-cs"/>
                        </a:rPr>
                        <a:t>dev </a:t>
                      </a:r>
                      <a:r>
                        <a:rPr lang="en-US" altLang="zh-TW" sz="1100" u="none" strike="noStrike" kern="1200" dirty="0" err="1">
                          <a:solidFill>
                            <a:schemeClr val="dk1"/>
                          </a:solidFill>
                          <a:effectLst/>
                          <a:latin typeface="+mn-lt"/>
                          <a:ea typeface="+mn-ea"/>
                          <a:cs typeface="+mn-cs"/>
                        </a:rPr>
                        <a:t>btn</a:t>
                      </a:r>
                      <a:r>
                        <a:rPr lang="en-US" altLang="zh-TW" sz="1100" u="none" strike="noStrike" kern="1200" dirty="0">
                          <a:solidFill>
                            <a:schemeClr val="dk1"/>
                          </a:solidFill>
                          <a:effectLst/>
                          <a:latin typeface="+mn-lt"/>
                          <a:ea typeface="+mn-ea"/>
                          <a:cs typeface="+mn-cs"/>
                        </a:rPr>
                        <a:t> get</a:t>
                      </a:r>
                    </a:p>
                  </a:txBody>
                  <a:tcPr marL="9411" marR="9411" marT="9411" marB="0" anchor="ctr"/>
                </a:tc>
                <a:tc>
                  <a:txBody>
                    <a:bodyPr/>
                    <a:lstStyle/>
                    <a:p>
                      <a:pPr marL="0" algn="l" defTabSz="914400" rtl="0" eaLnBrk="1" fontAlgn="ctr" latinLnBrk="0" hangingPunct="1">
                        <a:buNone/>
                      </a:pPr>
                      <a:r>
                        <a:rPr lang="zh-TW" altLang="en-US" sz="1100" b="0" i="0" u="none" strike="noStrike" kern="1200" dirty="0">
                          <a:solidFill>
                            <a:schemeClr val="tx1"/>
                          </a:solidFill>
                          <a:effectLst/>
                          <a:latin typeface="+mn-lt"/>
                          <a:ea typeface="+mn-ea"/>
                          <a:cs typeface="+mn-cs"/>
                        </a:rPr>
                        <a:t>讀取按鍵狀態（按壓）</a:t>
                      </a:r>
                    </a:p>
                  </a:txBody>
                  <a:tcPr marL="9411" marR="9411" marT="9411" marB="0" anchor="ctr">
                    <a:lnR w="12700" cap="flat" cmpd="sng" algn="ctr">
                      <a:solidFill>
                        <a:schemeClr val="bg1"/>
                      </a:solidFill>
                      <a:prstDash val="solid"/>
                      <a:round/>
                      <a:headEnd type="none" w="med" len="med"/>
                      <a:tailEnd type="none" w="med" len="med"/>
                    </a:lnR>
                  </a:tcPr>
                </a:tc>
                <a:tc gridSpan="2">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endParaRPr lang="zh-TW" altLang="en-US" dirty="0"/>
                    </a:p>
                  </a:txBody>
                  <a:tcPr marL="9411" marR="9411" marT="9411"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428791286"/>
                  </a:ext>
                </a:extLst>
              </a:tr>
              <a:tr h="257109">
                <a:tc gridSpan="6">
                  <a:txBody>
                    <a:bodyPr/>
                    <a:lstStyle/>
                    <a:p>
                      <a:pPr algn="ctr" fontAlgn="ctr">
                        <a:buNone/>
                      </a:pPr>
                      <a:r>
                        <a:rPr lang="zh-TW" altLang="en-US" sz="1100" u="none" strike="noStrike" dirty="0">
                          <a:effectLst/>
                        </a:rPr>
                        <a:t>　</a:t>
                      </a: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accent6">
                        <a:lumMod val="40000"/>
                        <a:lumOff val="60000"/>
                      </a:schemeClr>
                    </a:solidFill>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lnL w="12700" cap="flat" cmpd="sng" algn="ctr">
                      <a:solidFill>
                        <a:schemeClr val="tx1"/>
                      </a:solidFill>
                      <a:prstDash val="solid"/>
                      <a:round/>
                      <a:headEnd type="none" w="med" len="med"/>
                      <a:tailEnd type="none" w="med" len="med"/>
                    </a:lnL>
                  </a:tcPr>
                </a:tc>
                <a:tc hMerge="1">
                  <a:txBody>
                    <a:bodyPr/>
                    <a:lstStyle/>
                    <a:p>
                      <a:endParaRPr lang="zh-TW" altLang="en-US"/>
                    </a:p>
                  </a:txBody>
                  <a:tcPr>
                    <a:lnL w="12700" cap="flat" cmpd="sng" algn="ctr">
                      <a:solidFill>
                        <a:schemeClr val="tx1"/>
                      </a:solidFill>
                      <a:prstDash val="solid"/>
                      <a:round/>
                      <a:headEnd type="none" w="med" len="med"/>
                      <a:tailEnd type="none" w="med" len="med"/>
                    </a:lnL>
                    <a:lnT w="12700" cap="flat" cmpd="sng" algn="ctr">
                      <a:solidFill>
                        <a:schemeClr val="bg1"/>
                      </a:solidFill>
                      <a:prstDash val="solid"/>
                      <a:round/>
                      <a:headEnd type="none" w="med" len="med"/>
                      <a:tailEnd type="none" w="med" len="med"/>
                    </a:lnT>
                  </a:tcPr>
                </a:tc>
                <a:tc hMerge="1">
                  <a:txBody>
                    <a:bodyPr/>
                    <a:lstStyle/>
                    <a:p>
                      <a:endParaRPr lang="zh-TW" altLang="en-US"/>
                    </a:p>
                  </a:txBody>
                  <a:tcPr>
                    <a:lnL w="12700" cap="flat" cmpd="sng" algn="ctr">
                      <a:solidFill>
                        <a:schemeClr val="tx1"/>
                      </a:solidFill>
                      <a:prstDash val="solid"/>
                      <a:round/>
                      <a:headEnd type="none" w="med" len="med"/>
                      <a:tailEnd type="none" w="med" len="med"/>
                    </a:lnL>
                    <a:lnT w="12700" cap="flat" cmpd="sng" algn="ctr">
                      <a:solidFill>
                        <a:schemeClr val="bg1"/>
                      </a:solidFill>
                      <a:prstDash val="solid"/>
                      <a:round/>
                      <a:headEnd type="none" w="med" len="med"/>
                      <a:tailEnd type="none" w="med" len="med"/>
                    </a:lnT>
                  </a:tcPr>
                </a:tc>
                <a:extLst>
                  <a:ext uri="{0D108BD9-81ED-4DB2-BD59-A6C34878D82A}">
                    <a16:rowId xmlns:a16="http://schemas.microsoft.com/office/drawing/2014/main" val="1601298849"/>
                  </a:ext>
                </a:extLst>
              </a:tr>
              <a:tr h="252000">
                <a:tc rowSpan="2">
                  <a:txBody>
                    <a:bodyPr/>
                    <a:lstStyle/>
                    <a:p>
                      <a:pPr algn="ctr" fontAlgn="ctr">
                        <a:buNone/>
                      </a:pPr>
                      <a:r>
                        <a:rPr lang="en-US" altLang="zh-TW" sz="1100" b="1" dirty="0" err="1"/>
                        <a:t>GPIOCheck_Button_Released</a:t>
                      </a: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marL="0" algn="ctr" defTabSz="914400" rtl="0" eaLnBrk="1" fontAlgn="ctr" latinLnBrk="0" hangingPunct="1">
                        <a:buNone/>
                      </a:pPr>
                      <a:r>
                        <a:rPr lang="en-US" altLang="zh-TW" sz="1100" u="none" strike="noStrike" kern="1200" dirty="0">
                          <a:solidFill>
                            <a:schemeClr val="dk1"/>
                          </a:solidFill>
                          <a:effectLst/>
                          <a:latin typeface="+mn-lt"/>
                          <a:ea typeface="+mn-ea"/>
                          <a:cs typeface="+mn-cs"/>
                        </a:rPr>
                        <a:t>1</a:t>
                      </a:r>
                    </a:p>
                  </a:txBody>
                  <a:tcPr marL="9411" marR="9411" marT="9411" marB="0" anchor="ctr"/>
                </a:tc>
                <a:tc gridSpan="2">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zh-TW" altLang="en-US" sz="1100" u="none" strike="noStrike" kern="1200" dirty="0">
                        <a:solidFill>
                          <a:schemeClr val="dk1"/>
                        </a:solidFill>
                        <a:effectLst/>
                        <a:latin typeface="+mn-lt"/>
                        <a:ea typeface="+mn-ea"/>
                        <a:cs typeface="+mn-cs"/>
                      </a:endParaRPr>
                    </a:p>
                  </a:txBody>
                  <a:tcPr marL="9411" marR="9411" marT="9411" marB="0" anchor="ctr"/>
                </a:tc>
                <a:tc hMerge="1">
                  <a:txBody>
                    <a:bodyPr/>
                    <a:lstStyle/>
                    <a:p>
                      <a:endParaRPr lang="zh-TW" altLang="en-US" dirty="0"/>
                    </a:p>
                  </a:txBody>
                  <a:tcPr marL="9411" marR="9411" marT="9411"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zh-TW" sz="1100" u="none" strike="noStrike" kern="1200" dirty="0">
                          <a:solidFill>
                            <a:schemeClr val="dk1"/>
                          </a:solidFill>
                          <a:effectLst/>
                          <a:latin typeface="+mn-lt"/>
                          <a:ea typeface="+mn-ea"/>
                          <a:cs typeface="+mn-cs"/>
                        </a:rPr>
                        <a:t>cylinder5 back</a:t>
                      </a:r>
                    </a:p>
                  </a:txBody>
                  <a:tcPr marL="9411" marR="9411" marT="9411"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zh-TW" altLang="en-US" sz="1100" b="0" i="0" u="none" strike="noStrike" kern="1200" dirty="0">
                          <a:solidFill>
                            <a:schemeClr val="tx1"/>
                          </a:solidFill>
                          <a:effectLst/>
                          <a:latin typeface="+mn-lt"/>
                          <a:ea typeface="+mn-ea"/>
                          <a:cs typeface="+mn-cs"/>
                        </a:rPr>
                        <a:t>按鍵汽缸往後鬆開</a:t>
                      </a:r>
                    </a:p>
                  </a:txBody>
                  <a:tcPr marL="9411" marR="9411" marT="9411"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95869694"/>
                  </a:ext>
                </a:extLst>
              </a:tr>
              <a:tr h="324000">
                <a:tc vMerge="1">
                  <a:txBody>
                    <a:bodyPr/>
                    <a:lstStyle/>
                    <a:p>
                      <a:pPr algn="ctr" fontAlgn="ctr">
                        <a:buNone/>
                      </a:pP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marL="0" algn="ctr" defTabSz="914400" rtl="0" eaLnBrk="1" fontAlgn="ctr" latinLnBrk="0" hangingPunct="1">
                        <a:buNone/>
                      </a:pPr>
                      <a:r>
                        <a:rPr lang="en-US" altLang="zh-TW" sz="1100" u="none" strike="noStrike" kern="1200" dirty="0">
                          <a:solidFill>
                            <a:schemeClr val="dk1"/>
                          </a:solidFill>
                          <a:effectLst/>
                          <a:latin typeface="+mn-lt"/>
                          <a:ea typeface="+mn-ea"/>
                          <a:cs typeface="+mn-cs"/>
                        </a:rPr>
                        <a:t>2</a:t>
                      </a:r>
                    </a:p>
                  </a:txBody>
                  <a:tcPr marL="9411" marR="9411" marT="9411" marB="0" anchor="ctr">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zh-TW" sz="1100" u="none" strike="noStrike" kern="1200" dirty="0">
                          <a:solidFill>
                            <a:schemeClr val="dk1"/>
                          </a:solidFill>
                          <a:effectLst/>
                          <a:latin typeface="+mn-lt"/>
                          <a:ea typeface="+mn-ea"/>
                          <a:cs typeface="+mn-cs"/>
                        </a:rPr>
                        <a:t>dev </a:t>
                      </a:r>
                      <a:r>
                        <a:rPr lang="en-US" altLang="zh-TW" sz="1100" u="none" strike="noStrike" kern="1200" dirty="0" err="1">
                          <a:solidFill>
                            <a:schemeClr val="dk1"/>
                          </a:solidFill>
                          <a:effectLst/>
                          <a:latin typeface="+mn-lt"/>
                          <a:ea typeface="+mn-ea"/>
                          <a:cs typeface="+mn-cs"/>
                        </a:rPr>
                        <a:t>btn</a:t>
                      </a:r>
                      <a:r>
                        <a:rPr lang="en-US" altLang="zh-TW" sz="1100" u="none" strike="noStrike" kern="1200" dirty="0">
                          <a:solidFill>
                            <a:schemeClr val="dk1"/>
                          </a:solidFill>
                          <a:effectLst/>
                          <a:latin typeface="+mn-lt"/>
                          <a:ea typeface="+mn-ea"/>
                          <a:cs typeface="+mn-cs"/>
                        </a:rPr>
                        <a:t> get</a:t>
                      </a:r>
                    </a:p>
                  </a:txBody>
                  <a:tcPr marL="9411" marR="9411" marT="9411" marB="0" anchor="ctr">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zh-TW" altLang="en-US" sz="1100" b="0" i="0" u="none" strike="noStrike" kern="1200" dirty="0">
                          <a:solidFill>
                            <a:schemeClr val="tx1"/>
                          </a:solidFill>
                          <a:effectLst/>
                          <a:latin typeface="+mn-lt"/>
                          <a:ea typeface="+mn-ea"/>
                          <a:cs typeface="+mn-cs"/>
                        </a:rPr>
                        <a:t>讀取按鍵狀態（釋放）</a:t>
                      </a:r>
                    </a:p>
                  </a:txBody>
                  <a:tcPr marL="9411" marR="9411" marT="9411" marB="0" anchor="ctr">
                    <a:lnB w="12700" cap="flat" cmpd="sng" algn="ctr">
                      <a:solidFill>
                        <a:schemeClr val="tx1"/>
                      </a:solidFill>
                      <a:prstDash val="solid"/>
                      <a:round/>
                      <a:headEnd type="none" w="med" len="med"/>
                      <a:tailEnd type="none" w="med" len="med"/>
                    </a:lnB>
                  </a:tcPr>
                </a:tc>
                <a:tc gridSpan="2">
                  <a:txBody>
                    <a:bodyPr/>
                    <a:lstStyle/>
                    <a:p>
                      <a:pPr algn="l" fontAlgn="ctr">
                        <a:buNone/>
                      </a:pP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h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3742783"/>
                  </a:ext>
                </a:extLst>
              </a:tr>
            </a:tbl>
          </a:graphicData>
        </a:graphic>
      </p:graphicFrame>
      <p:pic>
        <p:nvPicPr>
          <p:cNvPr id="5" name="圖片 4" descr="一張含有 兒童藝術, 圖畫, 寫生, 卡通 的圖片&#10;&#10;AI 產生的內容可能不正確。">
            <a:extLst>
              <a:ext uri="{FF2B5EF4-FFF2-40B4-BE49-F238E27FC236}">
                <a16:creationId xmlns:a16="http://schemas.microsoft.com/office/drawing/2014/main" id="{85CA0821-68E5-211B-5264-0500A0DFDFA3}"/>
              </a:ext>
            </a:extLst>
          </p:cNvPr>
          <p:cNvPicPr>
            <a:picLocks noChangeAspect="1"/>
          </p:cNvPicPr>
          <p:nvPr/>
        </p:nvPicPr>
        <p:blipFill>
          <a:blip r:embed="rId3"/>
          <a:stretch>
            <a:fillRect/>
          </a:stretch>
        </p:blipFill>
        <p:spPr>
          <a:xfrm>
            <a:off x="6759903" y="4976878"/>
            <a:ext cx="1543269" cy="1597283"/>
          </a:xfrm>
          <a:prstGeom prst="rect">
            <a:avLst/>
          </a:prstGeom>
        </p:spPr>
      </p:pic>
      <p:pic>
        <p:nvPicPr>
          <p:cNvPr id="8" name="圖片 7">
            <a:extLst>
              <a:ext uri="{FF2B5EF4-FFF2-40B4-BE49-F238E27FC236}">
                <a16:creationId xmlns:a16="http://schemas.microsoft.com/office/drawing/2014/main" id="{692D86C9-FDB5-9F25-7B6B-AC6446A43182}"/>
              </a:ext>
            </a:extLst>
          </p:cNvPr>
          <p:cNvPicPr>
            <a:picLocks noChangeAspect="1"/>
          </p:cNvPicPr>
          <p:nvPr/>
        </p:nvPicPr>
        <p:blipFill>
          <a:blip r:embed="rId4"/>
          <a:stretch>
            <a:fillRect/>
          </a:stretch>
        </p:blipFill>
        <p:spPr>
          <a:xfrm>
            <a:off x="2800378" y="4815678"/>
            <a:ext cx="1677029" cy="2042322"/>
          </a:xfrm>
          <a:prstGeom prst="rect">
            <a:avLst/>
          </a:prstGeom>
        </p:spPr>
      </p:pic>
      <p:cxnSp>
        <p:nvCxnSpPr>
          <p:cNvPr id="10" name="直線接點 9">
            <a:extLst>
              <a:ext uri="{FF2B5EF4-FFF2-40B4-BE49-F238E27FC236}">
                <a16:creationId xmlns:a16="http://schemas.microsoft.com/office/drawing/2014/main" id="{785D4685-26D5-BE5D-A86F-747A211BD9C7}"/>
              </a:ext>
            </a:extLst>
          </p:cNvPr>
          <p:cNvCxnSpPr/>
          <p:nvPr/>
        </p:nvCxnSpPr>
        <p:spPr>
          <a:xfrm flipV="1">
            <a:off x="3626069" y="5055476"/>
            <a:ext cx="3657600" cy="1093076"/>
          </a:xfrm>
          <a:prstGeom prst="line">
            <a:avLst/>
          </a:prstGeom>
          <a:ln w="19050" cap="flat" cmpd="sng" algn="ctr">
            <a:solidFill>
              <a:srgbClr val="FF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1" name="直線接點 10">
            <a:extLst>
              <a:ext uri="{FF2B5EF4-FFF2-40B4-BE49-F238E27FC236}">
                <a16:creationId xmlns:a16="http://schemas.microsoft.com/office/drawing/2014/main" id="{D340596A-94E8-87D9-4E9F-823FF37E0D7E}"/>
              </a:ext>
            </a:extLst>
          </p:cNvPr>
          <p:cNvCxnSpPr>
            <a:cxnSpLocks/>
          </p:cNvCxnSpPr>
          <p:nvPr/>
        </p:nvCxnSpPr>
        <p:spPr>
          <a:xfrm flipV="1">
            <a:off x="3638892" y="6524267"/>
            <a:ext cx="3644777" cy="49894"/>
          </a:xfrm>
          <a:prstGeom prst="line">
            <a:avLst/>
          </a:prstGeom>
          <a:ln w="19050" cap="flat" cmpd="sng" algn="ctr">
            <a:solidFill>
              <a:srgbClr val="FF0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7" name="直線箭頭接點 6">
            <a:extLst>
              <a:ext uri="{FF2B5EF4-FFF2-40B4-BE49-F238E27FC236}">
                <a16:creationId xmlns:a16="http://schemas.microsoft.com/office/drawing/2014/main" id="{F10E8C2A-6E8D-C259-320C-679914F80262}"/>
              </a:ext>
            </a:extLst>
          </p:cNvPr>
          <p:cNvCxnSpPr/>
          <p:nvPr/>
        </p:nvCxnSpPr>
        <p:spPr>
          <a:xfrm>
            <a:off x="4062714" y="4976878"/>
            <a:ext cx="0" cy="683142"/>
          </a:xfrm>
          <a:prstGeom prst="straightConnector1">
            <a:avLst/>
          </a:prstGeom>
          <a:ln>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665124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B57612-801B-71ED-4664-45A6AC4D1658}"/>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A716C19D-EC84-5049-05D6-EA4C9A91F4DE}"/>
              </a:ext>
            </a:extLst>
          </p:cNvPr>
          <p:cNvSpPr>
            <a:spLocks noGrp="1"/>
          </p:cNvSpPr>
          <p:nvPr>
            <p:ph type="body" sz="quarter" idx="13"/>
          </p:nvPr>
        </p:nvSpPr>
        <p:spPr/>
        <p:txBody>
          <a:bodyPr/>
          <a:lstStyle/>
          <a:p>
            <a:r>
              <a:rPr lang="en-US" dirty="0"/>
              <a:t>Terminology  </a:t>
            </a:r>
          </a:p>
          <a:p>
            <a:endParaRPr lang="en-US" dirty="0"/>
          </a:p>
        </p:txBody>
      </p:sp>
      <p:sp>
        <p:nvSpPr>
          <p:cNvPr id="6" name="文字方塊 5">
            <a:extLst>
              <a:ext uri="{FF2B5EF4-FFF2-40B4-BE49-F238E27FC236}">
                <a16:creationId xmlns:a16="http://schemas.microsoft.com/office/drawing/2014/main" id="{EF2AF6D0-6117-5656-37AB-B666839FAAFD}"/>
              </a:ext>
            </a:extLst>
          </p:cNvPr>
          <p:cNvSpPr txBox="1"/>
          <p:nvPr/>
        </p:nvSpPr>
        <p:spPr>
          <a:xfrm>
            <a:off x="571500" y="938449"/>
            <a:ext cx="8886825" cy="1785104"/>
          </a:xfrm>
          <a:prstGeom prst="rect">
            <a:avLst/>
          </a:prstGeom>
          <a:noFill/>
        </p:spPr>
        <p:txBody>
          <a:bodyPr wrap="square">
            <a:spAutoFit/>
          </a:bodyPr>
          <a:lstStyle/>
          <a:p>
            <a:pPr>
              <a:lnSpc>
                <a:spcPct val="150000"/>
              </a:lnSpc>
              <a:defRPr/>
            </a:pPr>
            <a:r>
              <a:rPr lang="en-US" altLang="zh-TW" sz="2000" b="1" dirty="0"/>
              <a:t>OVP (Over Voltage Protection)</a:t>
            </a:r>
            <a:r>
              <a:rPr lang="zh-TW" altLang="en-US" sz="2000" b="1" kern="1200" dirty="0">
                <a:solidFill>
                  <a:schemeClr val="tx1"/>
                </a:solidFill>
                <a:effectLst/>
                <a:latin typeface="+mn-lt"/>
                <a:ea typeface="+mn-ea"/>
                <a:cs typeface="+mn-cs"/>
              </a:rPr>
              <a:t>：</a:t>
            </a:r>
            <a:endParaRPr lang="en-US" altLang="zh-TW" sz="2000" b="1" kern="1200" dirty="0">
              <a:solidFill>
                <a:schemeClr val="tx1"/>
              </a:solidFill>
              <a:effectLst/>
              <a:latin typeface="+mn-lt"/>
              <a:ea typeface="+mn-ea"/>
              <a:cs typeface="+mn-cs"/>
            </a:endParaRPr>
          </a:p>
          <a:p>
            <a:pPr marL="800100" lvl="1" indent="-342900">
              <a:lnSpc>
                <a:spcPct val="150000"/>
              </a:lnSpc>
              <a:buFont typeface="Arial" panose="020B0604020202020204" pitchFamily="34" charset="0"/>
              <a:buChar char="•"/>
              <a:defRPr/>
            </a:pPr>
            <a:r>
              <a:rPr lang="en-US" altLang="zh-TW" sz="2000" dirty="0"/>
              <a:t>Verify that the VBUS voltage is normal when OVP is disabled</a:t>
            </a:r>
          </a:p>
          <a:p>
            <a:pPr>
              <a:lnSpc>
                <a:spcPct val="150000"/>
              </a:lnSpc>
              <a:defRPr/>
            </a:pPr>
            <a:r>
              <a:rPr lang="en-US" altLang="zh-TW" sz="2000" b="1" dirty="0"/>
              <a:t>Command</a:t>
            </a:r>
            <a:r>
              <a:rPr lang="zh-TW" altLang="en-US" sz="2000" b="1" dirty="0"/>
              <a:t>：</a:t>
            </a:r>
            <a:endParaRPr lang="en-US" altLang="zh-TW" sz="2000" b="1" dirty="0"/>
          </a:p>
          <a:p>
            <a:pPr marL="800100" lvl="1" indent="-342900">
              <a:buFont typeface="Arial" panose="020B0604020202020204" pitchFamily="34" charset="0"/>
              <a:buChar char="•"/>
              <a:defRPr/>
            </a:pPr>
            <a:endParaRPr lang="en-US" altLang="zh-TW" sz="2000" b="1" kern="1200" dirty="0">
              <a:solidFill>
                <a:schemeClr val="tx1"/>
              </a:solidFill>
              <a:effectLst/>
              <a:latin typeface="+mn-lt"/>
              <a:ea typeface="+mn-ea"/>
              <a:cs typeface="+mn-cs"/>
            </a:endParaRPr>
          </a:p>
        </p:txBody>
      </p:sp>
      <p:graphicFrame>
        <p:nvGraphicFramePr>
          <p:cNvPr id="5" name="表格 4">
            <a:extLst>
              <a:ext uri="{FF2B5EF4-FFF2-40B4-BE49-F238E27FC236}">
                <a16:creationId xmlns:a16="http://schemas.microsoft.com/office/drawing/2014/main" id="{BFCBB29C-F6D4-FF45-9297-8660E704443B}"/>
              </a:ext>
            </a:extLst>
          </p:cNvPr>
          <p:cNvGraphicFramePr>
            <a:graphicFrameLocks noGrp="1"/>
          </p:cNvGraphicFramePr>
          <p:nvPr>
            <p:extLst>
              <p:ext uri="{D42A27DB-BD31-4B8C-83A1-F6EECF244321}">
                <p14:modId xmlns:p14="http://schemas.microsoft.com/office/powerpoint/2010/main" val="2444637144"/>
              </p:ext>
            </p:extLst>
          </p:nvPr>
        </p:nvGraphicFramePr>
        <p:xfrm>
          <a:off x="1117907" y="2520001"/>
          <a:ext cx="7925732" cy="1034415"/>
        </p:xfrm>
        <a:graphic>
          <a:graphicData uri="http://schemas.openxmlformats.org/drawingml/2006/table">
            <a:tbl>
              <a:tblPr>
                <a:tableStyleId>{5C22544A-7EE6-4342-B048-85BDC9FD1C3A}</a:tableStyleId>
              </a:tblPr>
              <a:tblGrid>
                <a:gridCol w="1663693">
                  <a:extLst>
                    <a:ext uri="{9D8B030D-6E8A-4147-A177-3AD203B41FA5}">
                      <a16:colId xmlns:a16="http://schemas.microsoft.com/office/drawing/2014/main" val="3315535983"/>
                    </a:ext>
                  </a:extLst>
                </a:gridCol>
                <a:gridCol w="683682">
                  <a:extLst>
                    <a:ext uri="{9D8B030D-6E8A-4147-A177-3AD203B41FA5}">
                      <a16:colId xmlns:a16="http://schemas.microsoft.com/office/drawing/2014/main" val="2960066220"/>
                    </a:ext>
                  </a:extLst>
                </a:gridCol>
                <a:gridCol w="3190527">
                  <a:extLst>
                    <a:ext uri="{9D8B030D-6E8A-4147-A177-3AD203B41FA5}">
                      <a16:colId xmlns:a16="http://schemas.microsoft.com/office/drawing/2014/main" val="3319955928"/>
                    </a:ext>
                  </a:extLst>
                </a:gridCol>
                <a:gridCol w="2387830">
                  <a:extLst>
                    <a:ext uri="{9D8B030D-6E8A-4147-A177-3AD203B41FA5}">
                      <a16:colId xmlns:a16="http://schemas.microsoft.com/office/drawing/2014/main" val="163623680"/>
                    </a:ext>
                  </a:extLst>
                </a:gridCol>
              </a:tblGrid>
              <a:tr h="344805">
                <a:tc>
                  <a:txBody>
                    <a:bodyPr/>
                    <a:lstStyle/>
                    <a:p>
                      <a:pPr algn="ctr" fontAlgn="ctr">
                        <a:buNone/>
                      </a:pPr>
                      <a:r>
                        <a:rPr lang="en-US" sz="1100" b="1" u="none" strike="noStrike" dirty="0">
                          <a:effectLst/>
                        </a:rPr>
                        <a:t>Test</a:t>
                      </a:r>
                      <a:r>
                        <a:rPr lang="en-US" sz="1100" u="none" strike="noStrike" dirty="0">
                          <a:effectLst/>
                        </a:rPr>
                        <a:t> </a:t>
                      </a:r>
                      <a:r>
                        <a:rPr lang="en-US" sz="1100" b="1" u="none" strike="noStrike" dirty="0">
                          <a:effectLst/>
                        </a:rPr>
                        <a:t>item</a:t>
                      </a:r>
                      <a:endParaRPr lang="en-US" sz="1100" b="1"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ctr" fontAlgn="ctr">
                        <a:buNone/>
                      </a:pPr>
                      <a:r>
                        <a:rPr lang="zh-TW" altLang="en-US" sz="1100" u="none" strike="noStrike" dirty="0">
                          <a:effectLst/>
                        </a:rPr>
                        <a:t>　</a:t>
                      </a: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ctr" fontAlgn="ctr">
                        <a:buNone/>
                      </a:pPr>
                      <a:r>
                        <a:rPr lang="en-US" sz="1100" b="1" u="none" strike="noStrike" dirty="0">
                          <a:effectLst/>
                        </a:rPr>
                        <a:t>DUT</a:t>
                      </a:r>
                      <a:r>
                        <a:rPr lang="en-US" sz="1100" u="none" strike="noStrike" dirty="0">
                          <a:effectLst/>
                        </a:rPr>
                        <a:t>  </a:t>
                      </a:r>
                      <a:r>
                        <a:rPr lang="en-US" sz="1100" b="1" u="none" strike="noStrike" dirty="0">
                          <a:effectLst/>
                        </a:rPr>
                        <a:t>command</a:t>
                      </a:r>
                      <a:endParaRPr lang="en-US" sz="1100" b="1" i="0" u="none" strike="noStrike" dirty="0">
                        <a:solidFill>
                          <a:srgbClr val="FF0000"/>
                        </a:solidFill>
                        <a:effectLst/>
                        <a:latin typeface="新細明體" panose="02020500000000000000" pitchFamily="18" charset="-120"/>
                        <a:ea typeface="新細明體" panose="02020500000000000000" pitchFamily="18" charset="-120"/>
                      </a:endParaRPr>
                    </a:p>
                  </a:txBody>
                  <a:tcPr marL="9525" marR="9525" marT="9525" marB="0"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l" fontAlgn="ctr">
                        <a:buNone/>
                      </a:pPr>
                      <a:r>
                        <a:rPr lang="en-US" altLang="zh-TW" sz="1100" b="1" kern="1200" dirty="0">
                          <a:solidFill>
                            <a:schemeClr val="tx1"/>
                          </a:solidFill>
                          <a:effectLst/>
                          <a:latin typeface="+mn-lt"/>
                          <a:ea typeface="+mn-ea"/>
                          <a:cs typeface="+mn-cs"/>
                        </a:rPr>
                        <a:t>Description</a:t>
                      </a: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6">
                        <a:lumMod val="40000"/>
                        <a:lumOff val="60000"/>
                      </a:schemeClr>
                    </a:solidFill>
                  </a:tcPr>
                </a:tc>
                <a:extLst>
                  <a:ext uri="{0D108BD9-81ED-4DB2-BD59-A6C34878D82A}">
                    <a16:rowId xmlns:a16="http://schemas.microsoft.com/office/drawing/2014/main" val="3824094486"/>
                  </a:ext>
                </a:extLst>
              </a:tr>
              <a:tr h="344805">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400" b="1" dirty="0"/>
                        <a:t>OVP</a:t>
                      </a:r>
                      <a:endParaRPr lang="en-US" altLang="zh-TW" sz="1200" b="0" i="0" u="none" strike="noStrike" dirty="0">
                        <a:solidFill>
                          <a:srgbClr val="000000"/>
                        </a:solidFill>
                        <a:effectLst/>
                        <a:latin typeface="新細明體" panose="02020500000000000000" pitchFamily="18" charset="-120"/>
                        <a:ea typeface="新細明體" panose="02020500000000000000" pitchFamily="18" charset="-120"/>
                      </a:endParaRP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marL="0" algn="ctr" defTabSz="914400" rtl="0" eaLnBrk="1" fontAlgn="ctr" latinLnBrk="0" hangingPunct="1">
                        <a:buNone/>
                      </a:pPr>
                      <a:r>
                        <a:rPr lang="en-US" altLang="zh-TW" sz="1100" b="0" u="none" strike="noStrike" kern="1200" dirty="0">
                          <a:solidFill>
                            <a:schemeClr val="dk1"/>
                          </a:solidFill>
                          <a:effectLst/>
                          <a:latin typeface="+mn-lt"/>
                          <a:ea typeface="+mn-ea"/>
                          <a:cs typeface="+mn-cs"/>
                        </a:rPr>
                        <a:t>1</a:t>
                      </a:r>
                    </a:p>
                  </a:txBody>
                  <a:tcPr marL="9525" marR="9525" marT="9525" marB="0" anchor="ctr"/>
                </a:tc>
                <a:tc>
                  <a:txBody>
                    <a:bodyPr/>
                    <a:lstStyle/>
                    <a:p>
                      <a:r>
                        <a:rPr lang="en-US" altLang="zh-TW" sz="1100" b="0" u="none" strike="noStrike" kern="1200" dirty="0">
                          <a:solidFill>
                            <a:schemeClr val="dk1"/>
                          </a:solidFill>
                          <a:effectLst/>
                          <a:latin typeface="+mn-lt"/>
                          <a:ea typeface="+mn-ea"/>
                          <a:cs typeface="+mn-cs"/>
                        </a:rPr>
                        <a:t>dev </a:t>
                      </a:r>
                      <a:r>
                        <a:rPr lang="en-US" altLang="zh-TW" sz="1100" b="0" u="none" strike="noStrike" kern="1200" dirty="0" err="1">
                          <a:solidFill>
                            <a:schemeClr val="dk1"/>
                          </a:solidFill>
                          <a:effectLst/>
                          <a:latin typeface="+mn-lt"/>
                          <a:ea typeface="+mn-ea"/>
                          <a:cs typeface="+mn-cs"/>
                        </a:rPr>
                        <a:t>vbus</a:t>
                      </a:r>
                      <a:r>
                        <a:rPr lang="en-US" altLang="zh-TW" sz="1100" b="0" u="none" strike="noStrike" kern="1200" dirty="0">
                          <a:solidFill>
                            <a:schemeClr val="dk1"/>
                          </a:solidFill>
                          <a:effectLst/>
                          <a:latin typeface="+mn-lt"/>
                          <a:ea typeface="+mn-ea"/>
                          <a:cs typeface="+mn-cs"/>
                        </a:rPr>
                        <a:t> disable</a:t>
                      </a:r>
                    </a:p>
                  </a:txBody>
                  <a:tcPr marL="9525" marR="9525" marT="9525" marB="0" anchor="ctr"/>
                </a:tc>
                <a:tc>
                  <a:txBody>
                    <a:bodyPr/>
                    <a:lstStyle/>
                    <a:p>
                      <a:pPr rtl="0" eaLnBrk="1" fontAlgn="auto" latinLnBrk="0" hangingPunct="1">
                        <a:lnSpc>
                          <a:spcPct val="150000"/>
                        </a:lnSpc>
                      </a:pPr>
                      <a:r>
                        <a:rPr lang="zh-TW" altLang="en-US" sz="1100" b="0" i="0" u="none" strike="noStrike" kern="1200" dirty="0">
                          <a:solidFill>
                            <a:schemeClr val="tx1"/>
                          </a:solidFill>
                          <a:effectLst/>
                          <a:latin typeface="+mn-lt"/>
                          <a:ea typeface="+mn-ea"/>
                          <a:cs typeface="+mn-cs"/>
                        </a:rPr>
                        <a:t>關閉過壓保護</a:t>
                      </a:r>
                      <a:endParaRPr lang="zh-TW" altLang="zh-TW" sz="1100" b="0" i="0" u="none" strike="noStrike" kern="1200" dirty="0">
                        <a:solidFill>
                          <a:schemeClr val="tx1"/>
                        </a:solidFill>
                        <a:effectLst/>
                        <a:latin typeface="+mn-lt"/>
                        <a:ea typeface="+mn-ea"/>
                        <a:cs typeface="+mn-cs"/>
                      </a:endParaRPr>
                    </a:p>
                  </a:txBody>
                  <a:tcPr marL="9525" marR="9525" marT="9525"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884187575"/>
                  </a:ext>
                </a:extLst>
              </a:tr>
              <a:tr h="344805">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b="0" i="0" u="none" strike="noStrike" dirty="0">
                        <a:solidFill>
                          <a:srgbClr val="000000"/>
                        </a:solidFill>
                        <a:effectLst/>
                        <a:latin typeface="新細明體" panose="02020500000000000000" pitchFamily="18" charset="-120"/>
                        <a:ea typeface="新細明體" panose="02020500000000000000" pitchFamily="18" charset="-120"/>
                      </a:endParaRPr>
                    </a:p>
                  </a:txBody>
                  <a:tcPr>
                    <a:lnL w="12700" cap="flat" cmpd="sng" algn="ctr">
                      <a:solidFill>
                        <a:schemeClr val="tx1"/>
                      </a:solidFill>
                      <a:prstDash val="solid"/>
                      <a:round/>
                      <a:headEnd type="none" w="med" len="med"/>
                      <a:tailEnd type="none" w="med" len="med"/>
                    </a:lnL>
                  </a:tcPr>
                </a:tc>
                <a:tc>
                  <a:txBody>
                    <a:bodyPr/>
                    <a:lstStyle/>
                    <a:p>
                      <a:pPr algn="ctr" fontAlgn="ctr">
                        <a:buNone/>
                      </a:pPr>
                      <a:r>
                        <a:rPr lang="en-US" altLang="zh-TW" sz="1100" b="0" u="none" strike="noStrike" kern="1200" dirty="0">
                          <a:solidFill>
                            <a:schemeClr val="dk1"/>
                          </a:solidFill>
                          <a:effectLst/>
                          <a:latin typeface="+mn-lt"/>
                          <a:ea typeface="+mn-ea"/>
                          <a:cs typeface="+mn-cs"/>
                        </a:rPr>
                        <a:t>2</a:t>
                      </a:r>
                    </a:p>
                  </a:txBody>
                  <a:tcPr marL="9525" marR="9525" marT="9525" marB="0" anchor="ctr">
                    <a:lnB w="12700" cap="flat" cmpd="sng" algn="ctr">
                      <a:solidFill>
                        <a:schemeClr val="tx1"/>
                      </a:solidFill>
                      <a:prstDash val="solid"/>
                      <a:round/>
                      <a:headEnd type="none" w="med" len="med"/>
                      <a:tailEnd type="none" w="med" len="med"/>
                    </a:lnB>
                  </a:tcPr>
                </a:tc>
                <a:tc>
                  <a:txBody>
                    <a:bodyPr/>
                    <a:lstStyle/>
                    <a:p>
                      <a:r>
                        <a:rPr lang="en-US" altLang="zh-TW" sz="1100" b="0" u="none" strike="noStrike" kern="1200" dirty="0">
                          <a:solidFill>
                            <a:schemeClr val="dk1"/>
                          </a:solidFill>
                          <a:effectLst/>
                          <a:latin typeface="+mn-lt"/>
                          <a:ea typeface="+mn-ea"/>
                          <a:cs typeface="+mn-cs"/>
                        </a:rPr>
                        <a:t>dev </a:t>
                      </a:r>
                      <a:r>
                        <a:rPr lang="en-US" altLang="zh-TW" sz="1100" b="0" u="none" strike="noStrike" kern="1200" dirty="0" err="1">
                          <a:solidFill>
                            <a:schemeClr val="dk1"/>
                          </a:solidFill>
                          <a:effectLst/>
                          <a:latin typeface="+mn-lt"/>
                          <a:ea typeface="+mn-ea"/>
                          <a:cs typeface="+mn-cs"/>
                        </a:rPr>
                        <a:t>vbus</a:t>
                      </a:r>
                      <a:r>
                        <a:rPr lang="en-US" altLang="zh-TW" sz="1100" b="0" u="none" strike="noStrike" kern="1200" dirty="0">
                          <a:solidFill>
                            <a:schemeClr val="dk1"/>
                          </a:solidFill>
                          <a:effectLst/>
                          <a:latin typeface="+mn-lt"/>
                          <a:ea typeface="+mn-ea"/>
                          <a:cs typeface="+mn-cs"/>
                        </a:rPr>
                        <a:t> get</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rtl="0" eaLnBrk="1" fontAlgn="auto" latinLnBrk="0" hangingPunct="1">
                        <a:lnSpc>
                          <a:spcPct val="150000"/>
                        </a:lnSpc>
                      </a:pPr>
                      <a:r>
                        <a:rPr lang="zh-TW" altLang="en-US" sz="1100" b="0" i="0" u="none" strike="noStrike" kern="1200" dirty="0">
                          <a:solidFill>
                            <a:schemeClr val="tx1"/>
                          </a:solidFill>
                          <a:effectLst/>
                          <a:latin typeface="+mn-lt"/>
                          <a:ea typeface="+mn-ea"/>
                          <a:cs typeface="+mn-cs"/>
                        </a:rPr>
                        <a:t>檢查</a:t>
                      </a:r>
                      <a:r>
                        <a:rPr lang="en-US" altLang="zh-TW" sz="1100" b="0" i="0" u="none" strike="noStrike" kern="1200" dirty="0" err="1">
                          <a:solidFill>
                            <a:schemeClr val="tx1"/>
                          </a:solidFill>
                          <a:effectLst/>
                          <a:latin typeface="+mn-lt"/>
                          <a:ea typeface="+mn-ea"/>
                          <a:cs typeface="+mn-cs"/>
                        </a:rPr>
                        <a:t>vbus</a:t>
                      </a:r>
                      <a:r>
                        <a:rPr lang="zh-TW" altLang="en-US" sz="1100" b="0" i="0" u="none" strike="noStrike" kern="1200" dirty="0">
                          <a:solidFill>
                            <a:schemeClr val="tx1"/>
                          </a:solidFill>
                          <a:effectLst/>
                          <a:latin typeface="+mn-lt"/>
                          <a:ea typeface="+mn-ea"/>
                          <a:cs typeface="+mn-cs"/>
                        </a:rPr>
                        <a:t>電壓</a:t>
                      </a:r>
                      <a:endParaRPr lang="zh-TW" altLang="zh-TW" sz="1100" b="0" i="0" u="none" strike="noStrike" kern="1200" dirty="0">
                        <a:solidFill>
                          <a:schemeClr val="tx1"/>
                        </a:solidFill>
                        <a:effectLst/>
                        <a:latin typeface="+mn-lt"/>
                        <a:ea typeface="+mn-ea"/>
                        <a:cs typeface="+mn-cs"/>
                      </a:endParaRPr>
                    </a:p>
                  </a:txBody>
                  <a:tcPr marL="9525" marR="9525" marT="9525"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55834780"/>
                  </a:ext>
                </a:extLst>
              </a:tr>
            </a:tbl>
          </a:graphicData>
        </a:graphic>
      </p:graphicFrame>
    </p:spTree>
    <p:extLst>
      <p:ext uri="{BB962C8B-B14F-4D97-AF65-F5344CB8AC3E}">
        <p14:creationId xmlns:p14="http://schemas.microsoft.com/office/powerpoint/2010/main" val="40314095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C0078C-337F-C9FD-2488-A291A706A446}"/>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D0C8772-2A1B-1C43-61E4-B897105A23FD}"/>
              </a:ext>
            </a:extLst>
          </p:cNvPr>
          <p:cNvSpPr>
            <a:spLocks noGrp="1"/>
          </p:cNvSpPr>
          <p:nvPr>
            <p:ph type="body" sz="quarter" idx="13"/>
          </p:nvPr>
        </p:nvSpPr>
        <p:spPr/>
        <p:txBody>
          <a:bodyPr/>
          <a:lstStyle/>
          <a:p>
            <a:r>
              <a:rPr lang="en-US" dirty="0"/>
              <a:t>Terminology  </a:t>
            </a:r>
          </a:p>
          <a:p>
            <a:endParaRPr lang="en-US" dirty="0"/>
          </a:p>
        </p:txBody>
      </p:sp>
      <p:sp>
        <p:nvSpPr>
          <p:cNvPr id="6" name="文字方塊 5">
            <a:extLst>
              <a:ext uri="{FF2B5EF4-FFF2-40B4-BE49-F238E27FC236}">
                <a16:creationId xmlns:a16="http://schemas.microsoft.com/office/drawing/2014/main" id="{60A2FE03-3A4E-F8FB-4826-22D25A84C09A}"/>
              </a:ext>
            </a:extLst>
          </p:cNvPr>
          <p:cNvSpPr txBox="1"/>
          <p:nvPr/>
        </p:nvSpPr>
        <p:spPr>
          <a:xfrm>
            <a:off x="571500" y="938449"/>
            <a:ext cx="8886825" cy="1785104"/>
          </a:xfrm>
          <a:prstGeom prst="rect">
            <a:avLst/>
          </a:prstGeom>
          <a:noFill/>
        </p:spPr>
        <p:txBody>
          <a:bodyPr wrap="square">
            <a:spAutoFit/>
          </a:bodyPr>
          <a:lstStyle/>
          <a:p>
            <a:pPr>
              <a:lnSpc>
                <a:spcPct val="150000"/>
              </a:lnSpc>
              <a:defRPr/>
            </a:pPr>
            <a:r>
              <a:rPr lang="en-US" altLang="zh-TW" sz="2000" b="1" dirty="0"/>
              <a:t>Transition</a:t>
            </a:r>
            <a:r>
              <a:rPr lang="zh-TW" altLang="en-US" sz="2000" b="1" kern="1200" dirty="0">
                <a:solidFill>
                  <a:schemeClr val="tx1"/>
                </a:solidFill>
                <a:effectLst/>
                <a:latin typeface="+mn-lt"/>
                <a:ea typeface="+mn-ea"/>
                <a:cs typeface="+mn-cs"/>
              </a:rPr>
              <a:t>：</a:t>
            </a:r>
            <a:endParaRPr lang="en-US" altLang="zh-TW" sz="2000" b="1" kern="1200" dirty="0">
              <a:solidFill>
                <a:schemeClr val="tx1"/>
              </a:solidFill>
              <a:effectLst/>
              <a:latin typeface="+mn-lt"/>
              <a:ea typeface="+mn-ea"/>
              <a:cs typeface="+mn-cs"/>
            </a:endParaRPr>
          </a:p>
          <a:p>
            <a:pPr marL="800100" lvl="1" indent="-342900">
              <a:lnSpc>
                <a:spcPct val="150000"/>
              </a:lnSpc>
              <a:buFont typeface="Arial" panose="020B0604020202020204" pitchFamily="34" charset="0"/>
              <a:buChar char="•"/>
              <a:defRPr/>
            </a:pPr>
            <a:r>
              <a:rPr lang="en-US" altLang="zh-TW" sz="2000" dirty="0"/>
              <a:t>Test case ship mode Enter &amp; Exit</a:t>
            </a:r>
          </a:p>
          <a:p>
            <a:pPr>
              <a:lnSpc>
                <a:spcPct val="150000"/>
              </a:lnSpc>
              <a:defRPr/>
            </a:pPr>
            <a:r>
              <a:rPr lang="en-US" altLang="zh-TW" sz="2000" b="1" dirty="0"/>
              <a:t>Command</a:t>
            </a:r>
            <a:r>
              <a:rPr lang="zh-TW" altLang="en-US" sz="2000" b="1" dirty="0"/>
              <a:t>：</a:t>
            </a:r>
            <a:endParaRPr lang="en-US" altLang="zh-TW" sz="2000" b="1" dirty="0"/>
          </a:p>
          <a:p>
            <a:pPr marL="800100" lvl="1" indent="-342900">
              <a:buFont typeface="Arial" panose="020B0604020202020204" pitchFamily="34" charset="0"/>
              <a:buChar char="•"/>
              <a:defRPr/>
            </a:pPr>
            <a:endParaRPr lang="en-US" altLang="zh-TW" sz="2000" dirty="0"/>
          </a:p>
        </p:txBody>
      </p:sp>
      <p:graphicFrame>
        <p:nvGraphicFramePr>
          <p:cNvPr id="2" name="表格 1">
            <a:extLst>
              <a:ext uri="{FF2B5EF4-FFF2-40B4-BE49-F238E27FC236}">
                <a16:creationId xmlns:a16="http://schemas.microsoft.com/office/drawing/2014/main" id="{012FA103-6BBC-5045-B3F9-BA224B198350}"/>
              </a:ext>
            </a:extLst>
          </p:cNvPr>
          <p:cNvGraphicFramePr>
            <a:graphicFrameLocks noGrp="1"/>
          </p:cNvGraphicFramePr>
          <p:nvPr>
            <p:extLst>
              <p:ext uri="{D42A27DB-BD31-4B8C-83A1-F6EECF244321}">
                <p14:modId xmlns:p14="http://schemas.microsoft.com/office/powerpoint/2010/main" val="2983870311"/>
              </p:ext>
            </p:extLst>
          </p:nvPr>
        </p:nvGraphicFramePr>
        <p:xfrm>
          <a:off x="686995" y="2396766"/>
          <a:ext cx="10014872" cy="1436412"/>
        </p:xfrm>
        <a:graphic>
          <a:graphicData uri="http://schemas.openxmlformats.org/drawingml/2006/table">
            <a:tbl>
              <a:tblPr>
                <a:tableStyleId>{5C22544A-7EE6-4342-B048-85BDC9FD1C3A}</a:tableStyleId>
              </a:tblPr>
              <a:tblGrid>
                <a:gridCol w="2660335">
                  <a:extLst>
                    <a:ext uri="{9D8B030D-6E8A-4147-A177-3AD203B41FA5}">
                      <a16:colId xmlns:a16="http://schemas.microsoft.com/office/drawing/2014/main" val="3315535983"/>
                    </a:ext>
                  </a:extLst>
                </a:gridCol>
                <a:gridCol w="370582">
                  <a:extLst>
                    <a:ext uri="{9D8B030D-6E8A-4147-A177-3AD203B41FA5}">
                      <a16:colId xmlns:a16="http://schemas.microsoft.com/office/drawing/2014/main" val="2960066220"/>
                    </a:ext>
                  </a:extLst>
                </a:gridCol>
                <a:gridCol w="1978206">
                  <a:extLst>
                    <a:ext uri="{9D8B030D-6E8A-4147-A177-3AD203B41FA5}">
                      <a16:colId xmlns:a16="http://schemas.microsoft.com/office/drawing/2014/main" val="3319955928"/>
                    </a:ext>
                  </a:extLst>
                </a:gridCol>
                <a:gridCol w="1557277">
                  <a:extLst>
                    <a:ext uri="{9D8B030D-6E8A-4147-A177-3AD203B41FA5}">
                      <a16:colId xmlns:a16="http://schemas.microsoft.com/office/drawing/2014/main" val="163623680"/>
                    </a:ext>
                  </a:extLst>
                </a:gridCol>
                <a:gridCol w="1354015">
                  <a:extLst>
                    <a:ext uri="{9D8B030D-6E8A-4147-A177-3AD203B41FA5}">
                      <a16:colId xmlns:a16="http://schemas.microsoft.com/office/drawing/2014/main" val="97452426"/>
                    </a:ext>
                  </a:extLst>
                </a:gridCol>
                <a:gridCol w="2094457">
                  <a:extLst>
                    <a:ext uri="{9D8B030D-6E8A-4147-A177-3AD203B41FA5}">
                      <a16:colId xmlns:a16="http://schemas.microsoft.com/office/drawing/2014/main" val="1095481995"/>
                    </a:ext>
                  </a:extLst>
                </a:gridCol>
              </a:tblGrid>
              <a:tr h="255970">
                <a:tc>
                  <a:txBody>
                    <a:bodyPr/>
                    <a:lstStyle/>
                    <a:p>
                      <a:pPr algn="ctr" fontAlgn="ctr">
                        <a:buNone/>
                      </a:pPr>
                      <a:r>
                        <a:rPr lang="en-US" sz="1100" b="1" u="none" strike="noStrike" dirty="0">
                          <a:effectLst/>
                        </a:rPr>
                        <a:t>Test</a:t>
                      </a:r>
                      <a:r>
                        <a:rPr lang="en-US" sz="1100" u="none" strike="noStrike" dirty="0">
                          <a:effectLst/>
                        </a:rPr>
                        <a:t> </a:t>
                      </a:r>
                      <a:r>
                        <a:rPr lang="en-US" sz="1100" b="1" u="none" strike="noStrike" dirty="0">
                          <a:effectLst/>
                        </a:rPr>
                        <a:t>item</a:t>
                      </a:r>
                      <a:endParaRPr lang="en-US" sz="1100" b="1"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40000"/>
                        <a:lumOff val="60000"/>
                      </a:schemeClr>
                    </a:solidFill>
                  </a:tcPr>
                </a:tc>
                <a:tc>
                  <a:txBody>
                    <a:bodyPr/>
                    <a:lstStyle/>
                    <a:p>
                      <a:pPr algn="ctr" fontAlgn="ctr">
                        <a:buNone/>
                      </a:pPr>
                      <a:r>
                        <a:rPr lang="zh-TW" altLang="en-US" sz="1100" u="none" strike="noStrike" dirty="0">
                          <a:effectLst/>
                        </a:rPr>
                        <a:t>　</a:t>
                      </a: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40000"/>
                        <a:lumOff val="60000"/>
                      </a:schemeClr>
                    </a:solidFill>
                  </a:tcPr>
                </a:tc>
                <a:tc>
                  <a:txBody>
                    <a:bodyPr/>
                    <a:lstStyle/>
                    <a:p>
                      <a:pPr algn="ctr" fontAlgn="ctr">
                        <a:buNone/>
                      </a:pPr>
                      <a:r>
                        <a:rPr lang="en-US" sz="1100" b="1" u="none" strike="noStrike" dirty="0">
                          <a:effectLst/>
                        </a:rPr>
                        <a:t>DUT</a:t>
                      </a:r>
                      <a:r>
                        <a:rPr lang="en-US" sz="1100" u="none" strike="noStrike" dirty="0">
                          <a:effectLst/>
                        </a:rPr>
                        <a:t>  </a:t>
                      </a:r>
                      <a:r>
                        <a:rPr lang="en-US" sz="1100" b="1" u="none" strike="noStrike" dirty="0">
                          <a:effectLst/>
                        </a:rPr>
                        <a:t>command</a:t>
                      </a:r>
                      <a:endParaRPr lang="en-US" sz="1100" b="1" i="0" u="none" strike="noStrike" dirty="0">
                        <a:solidFill>
                          <a:srgbClr val="FF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40000"/>
                        <a:lumOff val="60000"/>
                      </a:schemeClr>
                    </a:solidFill>
                  </a:tcPr>
                </a:tc>
                <a:tc>
                  <a:txBody>
                    <a:bodyPr/>
                    <a:lstStyle/>
                    <a:p>
                      <a:pPr algn="l" fontAlgn="ctr">
                        <a:buNone/>
                      </a:pPr>
                      <a:r>
                        <a:rPr lang="en-US" altLang="zh-TW" sz="1100" b="1" kern="1200" dirty="0">
                          <a:solidFill>
                            <a:schemeClr val="tx1"/>
                          </a:solidFill>
                          <a:effectLst/>
                          <a:latin typeface="+mn-lt"/>
                          <a:ea typeface="+mn-ea"/>
                          <a:cs typeface="+mn-cs"/>
                        </a:rPr>
                        <a:t>Description</a:t>
                      </a: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TW" sz="1100" b="1" u="none" strike="noStrike" dirty="0">
                          <a:effectLst/>
                        </a:rPr>
                        <a:t> Type-C</a:t>
                      </a:r>
                      <a:r>
                        <a:rPr lang="en-US" altLang="zh-TW" sz="1100" u="none" strike="noStrike" dirty="0">
                          <a:effectLst/>
                        </a:rPr>
                        <a:t>  </a:t>
                      </a:r>
                      <a:r>
                        <a:rPr lang="en-US" altLang="zh-TW" sz="1100" b="1" u="none" strike="noStrike" dirty="0">
                          <a:effectLst/>
                        </a:rPr>
                        <a:t>command </a:t>
                      </a:r>
                      <a:endParaRPr lang="en-US" altLang="zh-TW" sz="1100" b="1" i="0" u="none" strike="noStrike" dirty="0">
                        <a:solidFill>
                          <a:srgbClr val="FF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40000"/>
                        <a:lumOff val="60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zh-TW" sz="1100" b="1" kern="1200" dirty="0">
                          <a:solidFill>
                            <a:schemeClr val="tx1"/>
                          </a:solidFill>
                          <a:effectLst/>
                          <a:latin typeface="+mn-lt"/>
                          <a:ea typeface="+mn-ea"/>
                          <a:cs typeface="+mn-cs"/>
                        </a:rPr>
                        <a:t>Description</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3824094486"/>
                  </a:ext>
                </a:extLst>
              </a:tr>
              <a:tr h="288000">
                <a:tc row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400" b="1" dirty="0"/>
                        <a:t>Transition</a:t>
                      </a:r>
                      <a:endParaRPr lang="en-US" altLang="zh-TW" sz="1200" b="1" i="0" u="none" strike="noStrike" dirty="0">
                        <a:solidFill>
                          <a:srgbClr val="000000"/>
                        </a:solidFill>
                        <a:effectLst/>
                        <a:latin typeface="新細明體" panose="02020500000000000000" pitchFamily="18" charset="-120"/>
                        <a:ea typeface="新細明體" panose="02020500000000000000" pitchFamily="18" charset="-120"/>
                      </a:endParaRP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altLang="zh-TW" sz="1100" b="0" i="0" u="none" strike="noStrike" dirty="0">
                          <a:solidFill>
                            <a:srgbClr val="000000"/>
                          </a:solidFill>
                          <a:effectLst/>
                          <a:latin typeface="+mn-lt"/>
                          <a:ea typeface="新細明體" panose="02020500000000000000" pitchFamily="18" charset="-120"/>
                        </a:rPr>
                        <a:t>1</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b="0" kern="1200" dirty="0">
                        <a:solidFill>
                          <a:schemeClr val="dk1"/>
                        </a:solidFill>
                        <a:effectLst/>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pPr algn="l" fontAlgn="ctr">
                        <a:buNone/>
                      </a:pPr>
                      <a:endParaRPr lang="zh-TW" altLang="en-US" sz="1200" b="0" kern="1200" dirty="0">
                        <a:solidFill>
                          <a:schemeClr val="dk1"/>
                        </a:solidFill>
                        <a:effectLst/>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fontAlgn="ctr">
                        <a:buNone/>
                      </a:pPr>
                      <a:r>
                        <a:rPr lang="en-US" altLang="zh-TW" sz="1200" b="0" kern="1200" dirty="0" err="1">
                          <a:solidFill>
                            <a:schemeClr val="dk1"/>
                          </a:solidFill>
                          <a:effectLst/>
                          <a:latin typeface="+mn-lt"/>
                          <a:ea typeface="+mn-ea"/>
                          <a:cs typeface="+mn-cs"/>
                        </a:rPr>
                        <a:t>vbus</a:t>
                      </a:r>
                      <a:r>
                        <a:rPr lang="en-US" altLang="zh-TW" sz="1200" b="0" kern="1200" dirty="0">
                          <a:solidFill>
                            <a:schemeClr val="dk1"/>
                          </a:solidFill>
                          <a:effectLst/>
                          <a:latin typeface="+mn-lt"/>
                          <a:ea typeface="+mn-ea"/>
                          <a:cs typeface="+mn-cs"/>
                        </a:rPr>
                        <a:t>[1][5]</a:t>
                      </a:r>
                      <a:endParaRPr lang="zh-TW" altLang="en-US" sz="1200" b="0" kern="1200" dirty="0">
                        <a:solidFill>
                          <a:schemeClr val="dk1"/>
                        </a:solidFill>
                        <a:effectLst/>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fontAlgn="ctr">
                        <a:buNone/>
                      </a:pPr>
                      <a:r>
                        <a:rPr lang="zh-TW" altLang="en-US" sz="1100" b="0" i="0" u="none" strike="noStrike" kern="1200" dirty="0">
                          <a:solidFill>
                            <a:schemeClr val="tx1"/>
                          </a:solidFill>
                          <a:effectLst/>
                          <a:latin typeface="+mn-lt"/>
                          <a:ea typeface="+mn-ea"/>
                          <a:cs typeface="+mn-cs"/>
                        </a:rPr>
                        <a:t>設定外接電源</a:t>
                      </a:r>
                      <a:r>
                        <a:rPr lang="en-US" altLang="zh-TW" sz="1100" b="0" i="0" u="none" strike="noStrike" kern="1200" dirty="0">
                          <a:solidFill>
                            <a:schemeClr val="tx1"/>
                          </a:solidFill>
                          <a:effectLst/>
                          <a:latin typeface="+mn-lt"/>
                          <a:ea typeface="+mn-ea"/>
                          <a:cs typeface="+mn-cs"/>
                        </a:rPr>
                        <a:t>5v</a:t>
                      </a:r>
                      <a:endParaRPr lang="zh-TW" altLang="en-US" sz="1100" b="0" i="0" u="none" strike="noStrike" kern="1200" dirty="0">
                        <a:solidFill>
                          <a:schemeClr val="tx1"/>
                        </a:solidFill>
                        <a:effectLst/>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886505774"/>
                  </a:ext>
                </a:extLst>
              </a:tr>
              <a:tr h="28800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b="1" i="0" u="none" strike="noStrike" dirty="0">
                        <a:solidFill>
                          <a:srgbClr val="000000"/>
                        </a:solidFill>
                        <a:effectLst/>
                        <a:latin typeface="新細明體" panose="02020500000000000000" pitchFamily="18" charset="-120"/>
                        <a:ea typeface="新細明體" panose="02020500000000000000" pitchFamily="18" charset="-120"/>
                      </a:endParaRPr>
                    </a:p>
                  </a:txBody>
                  <a:tcPr anchor="ctr">
                    <a:lnL w="12700" cap="flat" cmpd="sng" algn="ctr">
                      <a:solidFill>
                        <a:schemeClr val="tx1"/>
                      </a:solidFill>
                      <a:prstDash val="solid"/>
                      <a:round/>
                      <a:headEnd type="none" w="med" len="med"/>
                      <a:tailEnd type="none" w="med" len="med"/>
                    </a:lnL>
                  </a:tcPr>
                </a:tc>
                <a:tc>
                  <a:txBody>
                    <a:bodyPr/>
                    <a:lstStyle/>
                    <a:p>
                      <a:pPr algn="ctr" fontAlgn="ctr">
                        <a:buNone/>
                      </a:pPr>
                      <a:r>
                        <a:rPr lang="en-US" altLang="zh-TW" sz="1100" b="0" i="0" u="none" strike="noStrike" dirty="0">
                          <a:solidFill>
                            <a:srgbClr val="000000"/>
                          </a:solidFill>
                          <a:effectLst/>
                          <a:latin typeface="+mn-lt"/>
                          <a:ea typeface="新細明體" panose="02020500000000000000" pitchFamily="18" charset="-120"/>
                        </a:rPr>
                        <a:t>2</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kern="1200" dirty="0">
                          <a:solidFill>
                            <a:schemeClr val="dk1"/>
                          </a:solidFill>
                          <a:effectLst/>
                          <a:latin typeface="+mn-lt"/>
                          <a:ea typeface="+mn-ea"/>
                          <a:cs typeface="+mn-cs"/>
                        </a:rPr>
                        <a:t>dev </a:t>
                      </a:r>
                      <a:r>
                        <a:rPr lang="en-US" altLang="zh-TW" sz="1200" b="0" kern="1200" dirty="0" err="1">
                          <a:solidFill>
                            <a:schemeClr val="dk1"/>
                          </a:solidFill>
                          <a:effectLst/>
                          <a:latin typeface="+mn-lt"/>
                          <a:ea typeface="+mn-ea"/>
                          <a:cs typeface="+mn-cs"/>
                        </a:rPr>
                        <a:t>powermode</a:t>
                      </a:r>
                      <a:r>
                        <a:rPr lang="en-US" altLang="zh-TW" sz="1200" b="0" kern="1200" dirty="0">
                          <a:solidFill>
                            <a:schemeClr val="dk1"/>
                          </a:solidFill>
                          <a:effectLst/>
                          <a:latin typeface="+mn-lt"/>
                          <a:ea typeface="+mn-ea"/>
                          <a:cs typeface="+mn-cs"/>
                        </a:rPr>
                        <a:t> set standby</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fontAlgn="ctr">
                        <a:buNone/>
                      </a:pPr>
                      <a:r>
                        <a:rPr lang="zh-TW" altLang="en-US" sz="1100" b="0" i="0" u="none" strike="noStrike" kern="1200" dirty="0">
                          <a:solidFill>
                            <a:schemeClr val="tx1"/>
                          </a:solidFill>
                          <a:effectLst/>
                          <a:latin typeface="+mn-lt"/>
                          <a:ea typeface="+mn-ea"/>
                          <a:cs typeface="+mn-cs"/>
                        </a:rPr>
                        <a:t>設定充電盒休眠模式</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gridSpan="2">
                  <a:txBody>
                    <a:bodyPr/>
                    <a:lstStyle/>
                    <a:p>
                      <a:pPr algn="l" fontAlgn="ctr">
                        <a:buNone/>
                      </a:pPr>
                      <a:endParaRPr lang="zh-TW" altLang="en-US" sz="1100" b="0" i="0" u="none" strike="noStrike" kern="1200" dirty="0">
                        <a:solidFill>
                          <a:schemeClr val="tx1"/>
                        </a:solidFill>
                        <a:effectLst/>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252770946"/>
                  </a:ext>
                </a:extLst>
              </a:tr>
              <a:tr h="292208">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b="1" i="0" u="none" strike="noStrike" dirty="0">
                        <a:solidFill>
                          <a:srgbClr val="000000"/>
                        </a:solidFill>
                        <a:effectLst/>
                        <a:latin typeface="新細明體" panose="02020500000000000000" pitchFamily="18" charset="-120"/>
                        <a:ea typeface="新細明體" panose="02020500000000000000" pitchFamily="18" charset="-120"/>
                      </a:endParaRPr>
                    </a:p>
                  </a:txBody>
                  <a:tcPr anchor="ctr">
                    <a:lnL w="12700" cap="flat" cmpd="sng" algn="ctr">
                      <a:solidFill>
                        <a:schemeClr val="tx1"/>
                      </a:solidFill>
                      <a:prstDash val="solid"/>
                      <a:round/>
                      <a:headEnd type="none" w="med" len="med"/>
                      <a:tailEnd type="none" w="med" len="med"/>
                    </a:lnL>
                  </a:tcPr>
                </a:tc>
                <a:tc>
                  <a:txBody>
                    <a:bodyPr/>
                    <a:lstStyle/>
                    <a:p>
                      <a:pPr algn="ctr" fontAlgn="ctr">
                        <a:buNone/>
                      </a:pPr>
                      <a:r>
                        <a:rPr lang="en-US" altLang="zh-TW" sz="1100" b="0" i="0" u="none" strike="noStrike" dirty="0">
                          <a:solidFill>
                            <a:srgbClr val="000000"/>
                          </a:solidFill>
                          <a:effectLst/>
                          <a:latin typeface="+mn-lt"/>
                          <a:ea typeface="新細明體" panose="02020500000000000000" pitchFamily="18" charset="-120"/>
                        </a:rPr>
                        <a:t>3</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rowSpan="2" gridSpan="2">
                  <a:txBody>
                    <a:bodyPr/>
                    <a:lstStyle/>
                    <a:p>
                      <a:endParaRPr lang="en-US" altLang="zh-TW" sz="1200" b="0" kern="1200" dirty="0">
                        <a:solidFill>
                          <a:schemeClr val="dk1"/>
                        </a:solidFill>
                        <a:effectLst/>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hMerge="1">
                  <a:txBody>
                    <a:bodyPr/>
                    <a:lstStyle/>
                    <a:p>
                      <a:pPr algn="l" fontAlgn="ctr">
                        <a:buNone/>
                      </a:pPr>
                      <a:endParaRPr lang="zh-TW" altLang="en-US" sz="1100" b="0" i="0" u="none" strike="noStrike">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zh-TW" sz="1200" b="0" kern="1200" dirty="0" err="1">
                          <a:solidFill>
                            <a:schemeClr val="dk1"/>
                          </a:solidFill>
                          <a:effectLst/>
                          <a:latin typeface="+mn-lt"/>
                          <a:ea typeface="+mn-ea"/>
                          <a:cs typeface="+mn-cs"/>
                        </a:rPr>
                        <a:t>vbus</a:t>
                      </a:r>
                      <a:r>
                        <a:rPr lang="en-US" altLang="zh-TW" sz="1200" b="0" kern="1200" dirty="0">
                          <a:solidFill>
                            <a:schemeClr val="dk1"/>
                          </a:solidFill>
                          <a:effectLst/>
                          <a:latin typeface="+mn-lt"/>
                          <a:ea typeface="+mn-ea"/>
                          <a:cs typeface="+mn-cs"/>
                        </a:rPr>
                        <a:t>[1][0]</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zh-TW" altLang="en-US" sz="1100" b="0" i="0" u="none" strike="noStrike" kern="1200" dirty="0">
                          <a:solidFill>
                            <a:schemeClr val="tx1"/>
                          </a:solidFill>
                          <a:effectLst/>
                          <a:latin typeface="+mn-lt"/>
                          <a:ea typeface="+mn-ea"/>
                          <a:cs typeface="+mn-cs"/>
                        </a:rPr>
                        <a:t>設定外接電源</a:t>
                      </a:r>
                      <a:r>
                        <a:rPr lang="en-US" altLang="zh-TW" sz="1100" b="0" i="0" u="none" strike="noStrike" kern="1200" dirty="0">
                          <a:solidFill>
                            <a:schemeClr val="tx1"/>
                          </a:solidFill>
                          <a:effectLst/>
                          <a:latin typeface="+mn-lt"/>
                          <a:ea typeface="+mn-ea"/>
                          <a:cs typeface="+mn-cs"/>
                        </a:rPr>
                        <a:t>0v (</a:t>
                      </a:r>
                      <a:r>
                        <a:rPr lang="zh-TW" altLang="en-US" sz="1100" b="0" i="0" u="none" strike="noStrike" kern="1200" dirty="0">
                          <a:solidFill>
                            <a:schemeClr val="tx1"/>
                          </a:solidFill>
                          <a:effectLst/>
                          <a:latin typeface="+mn-lt"/>
                          <a:ea typeface="+mn-ea"/>
                          <a:cs typeface="+mn-cs"/>
                        </a:rPr>
                        <a:t>斷連</a:t>
                      </a:r>
                      <a:r>
                        <a:rPr lang="en-US" altLang="zh-TW" sz="1100" b="0" i="0" u="none" strike="noStrike" kern="1200" dirty="0">
                          <a:solidFill>
                            <a:schemeClr val="tx1"/>
                          </a:solidFill>
                          <a:effectLst/>
                          <a:latin typeface="+mn-lt"/>
                          <a:ea typeface="+mn-ea"/>
                          <a:cs typeface="+mn-cs"/>
                        </a:rPr>
                        <a:t>)</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455634850"/>
                  </a:ext>
                </a:extLst>
              </a:tr>
              <a:tr h="312234">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TW" sz="1200" b="1" i="0" u="none" strike="noStrike" dirty="0">
                        <a:solidFill>
                          <a:srgbClr val="000000"/>
                        </a:solidFill>
                        <a:effectLst/>
                        <a:latin typeface="新細明體" panose="02020500000000000000" pitchFamily="18" charset="-120"/>
                        <a:ea typeface="新細明體" panose="02020500000000000000" pitchFamily="18" charset="-120"/>
                      </a:endParaRP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altLang="zh-TW" sz="1100" b="0" i="0" u="none" strike="noStrike" dirty="0">
                          <a:solidFill>
                            <a:srgbClr val="000000"/>
                          </a:solidFill>
                          <a:effectLst/>
                          <a:latin typeface="+mn-lt"/>
                          <a:ea typeface="新細明體" panose="02020500000000000000" pitchFamily="18" charset="-120"/>
                        </a:rPr>
                        <a:t>4</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vMerge="1">
                  <a:txBody>
                    <a:bodyPr/>
                    <a:lstStyle/>
                    <a:p>
                      <a:endParaRPr lang="en-US" altLang="zh-TW" sz="1200" b="0" kern="1200" dirty="0">
                        <a:solidFill>
                          <a:schemeClr val="dk1"/>
                        </a:solidFill>
                        <a:effectLst/>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v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zh-TW" sz="1200" b="0" kern="1200" dirty="0" err="1">
                          <a:solidFill>
                            <a:schemeClr val="dk1"/>
                          </a:solidFill>
                          <a:effectLst/>
                          <a:latin typeface="+mn-lt"/>
                          <a:ea typeface="+mn-ea"/>
                          <a:cs typeface="+mn-cs"/>
                        </a:rPr>
                        <a:t>vbus</a:t>
                      </a:r>
                      <a:r>
                        <a:rPr lang="en-US" altLang="zh-TW" sz="1200" b="0" kern="1200" dirty="0">
                          <a:solidFill>
                            <a:schemeClr val="dk1"/>
                          </a:solidFill>
                          <a:effectLst/>
                          <a:latin typeface="+mn-lt"/>
                          <a:ea typeface="+mn-ea"/>
                          <a:cs typeface="+mn-cs"/>
                        </a:rPr>
                        <a:t>[1][5]</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zh-TW" altLang="en-US" sz="1100" b="0" i="0" u="none" strike="noStrike" kern="1200" dirty="0">
                          <a:solidFill>
                            <a:schemeClr val="tx1"/>
                          </a:solidFill>
                          <a:effectLst/>
                          <a:latin typeface="+mn-lt"/>
                          <a:ea typeface="+mn-ea"/>
                          <a:cs typeface="+mn-cs"/>
                        </a:rPr>
                        <a:t>設定外接電源</a:t>
                      </a:r>
                      <a:r>
                        <a:rPr lang="en-US" altLang="zh-TW" sz="1100" b="0" i="0" u="none" strike="noStrike" kern="1200" dirty="0">
                          <a:solidFill>
                            <a:schemeClr val="tx1"/>
                          </a:solidFill>
                          <a:effectLst/>
                          <a:latin typeface="+mn-lt"/>
                          <a:ea typeface="+mn-ea"/>
                          <a:cs typeface="+mn-cs"/>
                        </a:rPr>
                        <a:t>5v (</a:t>
                      </a:r>
                      <a:r>
                        <a:rPr lang="zh-TW" altLang="en-US" sz="1100" b="0" i="0" u="none" strike="noStrike" kern="1200" dirty="0">
                          <a:solidFill>
                            <a:schemeClr val="tx1"/>
                          </a:solidFill>
                          <a:effectLst/>
                          <a:latin typeface="+mn-lt"/>
                          <a:ea typeface="+mn-ea"/>
                          <a:cs typeface="+mn-cs"/>
                        </a:rPr>
                        <a:t>重連，離開休眠</a:t>
                      </a:r>
                      <a:r>
                        <a:rPr lang="en-US" altLang="zh-TW" sz="1100" b="0" i="0" u="none" strike="noStrike" kern="1200" dirty="0">
                          <a:solidFill>
                            <a:schemeClr val="tx1"/>
                          </a:solidFill>
                          <a:effectLst/>
                          <a:latin typeface="+mn-lt"/>
                          <a:ea typeface="+mn-ea"/>
                          <a:cs typeface="+mn-cs"/>
                        </a:rPr>
                        <a:t>)</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88668375"/>
                  </a:ext>
                </a:extLst>
              </a:tr>
            </a:tbl>
          </a:graphicData>
        </a:graphic>
      </p:graphicFrame>
    </p:spTree>
    <p:extLst>
      <p:ext uri="{BB962C8B-B14F-4D97-AF65-F5344CB8AC3E}">
        <p14:creationId xmlns:p14="http://schemas.microsoft.com/office/powerpoint/2010/main" val="241123998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9DACF-6FEC-9E6A-152D-0917090224F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C40EB4A-C9A4-48FA-4B96-476094AA1C1C}"/>
              </a:ext>
            </a:extLst>
          </p:cNvPr>
          <p:cNvSpPr>
            <a:spLocks noGrp="1"/>
          </p:cNvSpPr>
          <p:nvPr>
            <p:ph type="body" sz="quarter" idx="13"/>
          </p:nvPr>
        </p:nvSpPr>
        <p:spPr/>
        <p:txBody>
          <a:bodyPr/>
          <a:lstStyle/>
          <a:p>
            <a:r>
              <a:rPr lang="en-US" dirty="0"/>
              <a:t>Terminology  </a:t>
            </a:r>
          </a:p>
          <a:p>
            <a:endParaRPr lang="en-US" dirty="0"/>
          </a:p>
        </p:txBody>
      </p:sp>
      <p:sp>
        <p:nvSpPr>
          <p:cNvPr id="6" name="文字方塊 5">
            <a:extLst>
              <a:ext uri="{FF2B5EF4-FFF2-40B4-BE49-F238E27FC236}">
                <a16:creationId xmlns:a16="http://schemas.microsoft.com/office/drawing/2014/main" id="{A8D2E86D-FDBF-C174-4807-1380E4294E49}"/>
              </a:ext>
            </a:extLst>
          </p:cNvPr>
          <p:cNvSpPr txBox="1"/>
          <p:nvPr/>
        </p:nvSpPr>
        <p:spPr>
          <a:xfrm>
            <a:off x="571500" y="938449"/>
            <a:ext cx="10706100" cy="1881925"/>
          </a:xfrm>
          <a:prstGeom prst="rect">
            <a:avLst/>
          </a:prstGeom>
          <a:noFill/>
        </p:spPr>
        <p:txBody>
          <a:bodyPr wrap="square">
            <a:spAutoFit/>
          </a:bodyPr>
          <a:lstStyle/>
          <a:p>
            <a:pPr>
              <a:lnSpc>
                <a:spcPct val="150000"/>
              </a:lnSpc>
              <a:defRPr/>
            </a:pPr>
            <a:r>
              <a:rPr lang="en-US" altLang="zh-TW" sz="2000" b="1" dirty="0"/>
              <a:t>Constant</a:t>
            </a:r>
            <a:r>
              <a:rPr lang="zh-TW" altLang="en-US" sz="2000" b="1" kern="1200" dirty="0">
                <a:solidFill>
                  <a:schemeClr val="tx1"/>
                </a:solidFill>
                <a:effectLst/>
                <a:latin typeface="+mn-lt"/>
                <a:ea typeface="+mn-ea"/>
                <a:cs typeface="+mn-cs"/>
              </a:rPr>
              <a:t>：</a:t>
            </a:r>
            <a:endParaRPr lang="en-US" altLang="zh-TW" sz="2000" b="1" kern="1200" dirty="0">
              <a:solidFill>
                <a:schemeClr val="tx1"/>
              </a:solidFill>
              <a:effectLst/>
              <a:latin typeface="+mn-lt"/>
              <a:ea typeface="+mn-ea"/>
              <a:cs typeface="+mn-cs"/>
            </a:endParaRPr>
          </a:p>
          <a:p>
            <a:pPr marL="800100" lvl="1" indent="-342900">
              <a:lnSpc>
                <a:spcPct val="150000"/>
              </a:lnSpc>
              <a:buFont typeface="Arial" panose="020B0604020202020204" pitchFamily="34" charset="0"/>
              <a:buChar char="•"/>
              <a:defRPr/>
            </a:pPr>
            <a:r>
              <a:rPr lang="en-US" altLang="zh-TW" sz="2000" dirty="0"/>
              <a:t>Measure the output voltage &amp; current at the bud L/R POS under (no/ load) conditions</a:t>
            </a:r>
          </a:p>
          <a:p>
            <a:pPr>
              <a:lnSpc>
                <a:spcPct val="150000"/>
              </a:lnSpc>
              <a:defRPr/>
            </a:pPr>
            <a:r>
              <a:rPr lang="en-US" altLang="zh-TW" sz="2000" b="1" dirty="0"/>
              <a:t>Command</a:t>
            </a:r>
            <a:r>
              <a:rPr lang="zh-TW" altLang="en-US" sz="2000" b="1" dirty="0"/>
              <a:t>：</a:t>
            </a:r>
            <a:endParaRPr lang="en-US" altLang="zh-TW" sz="2000" b="1" dirty="0"/>
          </a:p>
          <a:p>
            <a:pPr lvl="1">
              <a:lnSpc>
                <a:spcPct val="150000"/>
              </a:lnSpc>
              <a:defRPr/>
            </a:pPr>
            <a:endParaRPr lang="en-US" altLang="zh-TW" sz="2000" dirty="0"/>
          </a:p>
        </p:txBody>
      </p:sp>
      <p:graphicFrame>
        <p:nvGraphicFramePr>
          <p:cNvPr id="2" name="表格 1">
            <a:extLst>
              <a:ext uri="{FF2B5EF4-FFF2-40B4-BE49-F238E27FC236}">
                <a16:creationId xmlns:a16="http://schemas.microsoft.com/office/drawing/2014/main" id="{FC02119D-6112-AE29-F19D-C0CF969AB746}"/>
              </a:ext>
            </a:extLst>
          </p:cNvPr>
          <p:cNvGraphicFramePr>
            <a:graphicFrameLocks noGrp="1"/>
          </p:cNvGraphicFramePr>
          <p:nvPr>
            <p:extLst>
              <p:ext uri="{D42A27DB-BD31-4B8C-83A1-F6EECF244321}">
                <p14:modId xmlns:p14="http://schemas.microsoft.com/office/powerpoint/2010/main" val="3257433649"/>
              </p:ext>
            </p:extLst>
          </p:nvPr>
        </p:nvGraphicFramePr>
        <p:xfrm>
          <a:off x="1137131" y="2463674"/>
          <a:ext cx="8991257" cy="4090075"/>
        </p:xfrm>
        <a:graphic>
          <a:graphicData uri="http://schemas.openxmlformats.org/drawingml/2006/table">
            <a:tbl>
              <a:tblPr>
                <a:tableStyleId>{5C22544A-7EE6-4342-B048-85BDC9FD1C3A}</a:tableStyleId>
              </a:tblPr>
              <a:tblGrid>
                <a:gridCol w="1599005">
                  <a:extLst>
                    <a:ext uri="{9D8B030D-6E8A-4147-A177-3AD203B41FA5}">
                      <a16:colId xmlns:a16="http://schemas.microsoft.com/office/drawing/2014/main" val="3315535983"/>
                    </a:ext>
                  </a:extLst>
                </a:gridCol>
                <a:gridCol w="524107">
                  <a:extLst>
                    <a:ext uri="{9D8B030D-6E8A-4147-A177-3AD203B41FA5}">
                      <a16:colId xmlns:a16="http://schemas.microsoft.com/office/drawing/2014/main" val="2960066220"/>
                    </a:ext>
                  </a:extLst>
                </a:gridCol>
                <a:gridCol w="1692275">
                  <a:extLst>
                    <a:ext uri="{9D8B030D-6E8A-4147-A177-3AD203B41FA5}">
                      <a16:colId xmlns:a16="http://schemas.microsoft.com/office/drawing/2014/main" val="3319955928"/>
                    </a:ext>
                  </a:extLst>
                </a:gridCol>
                <a:gridCol w="1717287">
                  <a:extLst>
                    <a:ext uri="{9D8B030D-6E8A-4147-A177-3AD203B41FA5}">
                      <a16:colId xmlns:a16="http://schemas.microsoft.com/office/drawing/2014/main" val="163623680"/>
                    </a:ext>
                  </a:extLst>
                </a:gridCol>
                <a:gridCol w="1381125">
                  <a:extLst>
                    <a:ext uri="{9D8B030D-6E8A-4147-A177-3AD203B41FA5}">
                      <a16:colId xmlns:a16="http://schemas.microsoft.com/office/drawing/2014/main" val="97452426"/>
                    </a:ext>
                  </a:extLst>
                </a:gridCol>
                <a:gridCol w="2077458">
                  <a:extLst>
                    <a:ext uri="{9D8B030D-6E8A-4147-A177-3AD203B41FA5}">
                      <a16:colId xmlns:a16="http://schemas.microsoft.com/office/drawing/2014/main" val="1095481995"/>
                    </a:ext>
                  </a:extLst>
                </a:gridCol>
              </a:tblGrid>
              <a:tr h="283845">
                <a:tc>
                  <a:txBody>
                    <a:bodyPr/>
                    <a:lstStyle/>
                    <a:p>
                      <a:pPr algn="ctr" fontAlgn="ctr">
                        <a:buNone/>
                      </a:pPr>
                      <a:r>
                        <a:rPr lang="en-US" sz="1100" b="1" u="none" strike="noStrike" dirty="0">
                          <a:effectLst/>
                        </a:rPr>
                        <a:t>Test</a:t>
                      </a:r>
                      <a:r>
                        <a:rPr lang="en-US" sz="1100" u="none" strike="noStrike" dirty="0">
                          <a:effectLst/>
                        </a:rPr>
                        <a:t> </a:t>
                      </a:r>
                      <a:r>
                        <a:rPr lang="en-US" sz="1100" b="1" u="none" strike="noStrike" dirty="0">
                          <a:effectLst/>
                        </a:rPr>
                        <a:t>item</a:t>
                      </a:r>
                      <a:endParaRPr lang="en-US" sz="1100" b="1"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40000"/>
                        <a:lumOff val="60000"/>
                      </a:schemeClr>
                    </a:solidFill>
                  </a:tcPr>
                </a:tc>
                <a:tc>
                  <a:txBody>
                    <a:bodyPr/>
                    <a:lstStyle/>
                    <a:p>
                      <a:pPr algn="ctr" fontAlgn="ctr">
                        <a:buNone/>
                      </a:pPr>
                      <a:r>
                        <a:rPr lang="zh-TW" altLang="en-US" sz="1100" u="none" strike="noStrike" dirty="0">
                          <a:effectLst/>
                        </a:rPr>
                        <a:t>　</a:t>
                      </a: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40000"/>
                        <a:lumOff val="60000"/>
                      </a:schemeClr>
                    </a:solidFill>
                  </a:tcPr>
                </a:tc>
                <a:tc>
                  <a:txBody>
                    <a:bodyPr/>
                    <a:lstStyle/>
                    <a:p>
                      <a:pPr algn="ctr" fontAlgn="ctr">
                        <a:buNone/>
                      </a:pPr>
                      <a:r>
                        <a:rPr lang="en-US" sz="1100" b="1" u="none" strike="noStrike" dirty="0">
                          <a:effectLst/>
                        </a:rPr>
                        <a:t>DUT</a:t>
                      </a:r>
                      <a:r>
                        <a:rPr lang="en-US" sz="1100" u="none" strike="noStrike" dirty="0">
                          <a:effectLst/>
                        </a:rPr>
                        <a:t>  </a:t>
                      </a:r>
                      <a:r>
                        <a:rPr lang="en-US" sz="1100" b="1" u="none" strike="noStrike" dirty="0">
                          <a:effectLst/>
                        </a:rPr>
                        <a:t>command</a:t>
                      </a:r>
                      <a:endParaRPr lang="en-US" sz="1100" b="1" i="0" u="none" strike="noStrike" dirty="0">
                        <a:solidFill>
                          <a:srgbClr val="FF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40000"/>
                        <a:lumOff val="60000"/>
                      </a:schemeClr>
                    </a:solidFill>
                  </a:tcPr>
                </a:tc>
                <a:tc>
                  <a:txBody>
                    <a:bodyPr/>
                    <a:lstStyle/>
                    <a:p>
                      <a:pPr algn="l" fontAlgn="ctr">
                        <a:buNone/>
                      </a:pPr>
                      <a:r>
                        <a:rPr lang="en-US" altLang="zh-TW" sz="1100" b="1" kern="1200" dirty="0">
                          <a:solidFill>
                            <a:schemeClr val="tx1"/>
                          </a:solidFill>
                          <a:effectLst/>
                          <a:latin typeface="+mn-lt"/>
                          <a:ea typeface="+mn-ea"/>
                          <a:cs typeface="+mn-cs"/>
                        </a:rPr>
                        <a:t>Description</a:t>
                      </a: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TW" sz="1100" b="1" u="none" strike="noStrike" dirty="0">
                          <a:effectLst/>
                        </a:rPr>
                        <a:t> Dummy</a:t>
                      </a:r>
                      <a:r>
                        <a:rPr lang="en-US" altLang="zh-TW" sz="1100" u="none" strike="noStrike" dirty="0">
                          <a:effectLst/>
                        </a:rPr>
                        <a:t>  </a:t>
                      </a:r>
                      <a:r>
                        <a:rPr lang="en-US" altLang="zh-TW" sz="1100" b="1" u="none" strike="noStrike" dirty="0">
                          <a:effectLst/>
                        </a:rPr>
                        <a:t>command </a:t>
                      </a:r>
                      <a:endParaRPr lang="en-US" altLang="zh-TW" sz="1100" b="1" i="0" u="none" strike="noStrike" dirty="0">
                        <a:solidFill>
                          <a:srgbClr val="FF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40000"/>
                        <a:lumOff val="60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zh-TW" sz="1100" b="1" kern="1200" dirty="0">
                          <a:solidFill>
                            <a:schemeClr val="tx1"/>
                          </a:solidFill>
                          <a:effectLst/>
                          <a:latin typeface="+mn-lt"/>
                          <a:ea typeface="+mn-ea"/>
                          <a:cs typeface="+mn-cs"/>
                        </a:rPr>
                        <a:t>Description</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3824094486"/>
                  </a:ext>
                </a:extLst>
              </a:tr>
              <a:tr h="283845">
                <a:tc rowSpan="1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400" b="1" dirty="0"/>
                        <a:t>Constant</a:t>
                      </a:r>
                      <a:endParaRPr lang="en-US" altLang="zh-TW" sz="1200" b="1" i="0" u="none" strike="noStrike" dirty="0">
                        <a:solidFill>
                          <a:srgbClr val="000000"/>
                        </a:solidFill>
                        <a:effectLst/>
                        <a:latin typeface="新細明體" panose="02020500000000000000" pitchFamily="18" charset="-120"/>
                        <a:ea typeface="新細明體" panose="02020500000000000000" pitchFamily="18" charset="-120"/>
                      </a:endParaRP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altLang="zh-TW" sz="1100" b="0" i="0" u="none" strike="noStrike" dirty="0">
                          <a:solidFill>
                            <a:srgbClr val="000000"/>
                          </a:solidFill>
                          <a:effectLst/>
                          <a:latin typeface="+mn-lt"/>
                          <a:ea typeface="新細明體" panose="02020500000000000000" pitchFamily="18" charset="-120"/>
                        </a:rPr>
                        <a:t>1</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kern="1200" dirty="0">
                          <a:solidFill>
                            <a:schemeClr val="dk1"/>
                          </a:solidFill>
                          <a:effectLst/>
                          <a:latin typeface="+mn-lt"/>
                          <a:ea typeface="+mn-ea"/>
                          <a:cs typeface="+mn-cs"/>
                        </a:rPr>
                        <a:t>charger disable</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fontAlgn="ctr">
                        <a:buNone/>
                      </a:pPr>
                      <a:r>
                        <a:rPr lang="zh-TW" altLang="en-US" sz="1100" b="0" i="0" u="none" strike="noStrike" kern="1200" dirty="0">
                          <a:solidFill>
                            <a:schemeClr val="tx1"/>
                          </a:solidFill>
                          <a:effectLst/>
                          <a:latin typeface="+mn-lt"/>
                          <a:ea typeface="+mn-ea"/>
                          <a:cs typeface="+mn-cs"/>
                        </a:rPr>
                        <a:t>關閉充電功能</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rowSpan="8" gridSpan="2">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rowSpan="8" h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586012996"/>
                  </a:ext>
                </a:extLst>
              </a:tr>
              <a:tr h="283845">
                <a:tc vMerge="1">
                  <a:txBody>
                    <a:bodyPr/>
                    <a:lstStyle/>
                    <a:p>
                      <a:endParaRPr dirty="0"/>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altLang="zh-TW" sz="1100" b="0" i="0" u="none" strike="noStrike" dirty="0">
                          <a:solidFill>
                            <a:srgbClr val="000000"/>
                          </a:solidFill>
                          <a:effectLst/>
                          <a:latin typeface="+mn-lt"/>
                          <a:ea typeface="新細明體" panose="02020500000000000000" pitchFamily="18" charset="-120"/>
                        </a:rPr>
                        <a:t>2</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kern="1200" dirty="0">
                          <a:solidFill>
                            <a:schemeClr val="dk1"/>
                          </a:solidFill>
                          <a:effectLst/>
                          <a:latin typeface="+mn-lt"/>
                          <a:ea typeface="+mn-ea"/>
                          <a:cs typeface="+mn-cs"/>
                        </a:rPr>
                        <a:t>dev </a:t>
                      </a:r>
                      <a:r>
                        <a:rPr lang="en-US" altLang="zh-TW" sz="1200" b="0" kern="1200" dirty="0" err="1">
                          <a:solidFill>
                            <a:schemeClr val="dk1"/>
                          </a:solidFill>
                          <a:effectLst/>
                          <a:latin typeface="+mn-lt"/>
                          <a:ea typeface="+mn-ea"/>
                          <a:cs typeface="+mn-cs"/>
                        </a:rPr>
                        <a:t>vbus</a:t>
                      </a:r>
                      <a:r>
                        <a:rPr lang="en-US" altLang="zh-TW" sz="1200" b="0" kern="1200" dirty="0">
                          <a:solidFill>
                            <a:schemeClr val="dk1"/>
                          </a:solidFill>
                          <a:effectLst/>
                          <a:latin typeface="+mn-lt"/>
                          <a:ea typeface="+mn-ea"/>
                          <a:cs typeface="+mn-cs"/>
                        </a:rPr>
                        <a:t> disable</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fontAlgn="ctr">
                        <a:buNone/>
                      </a:pPr>
                      <a:r>
                        <a:rPr lang="zh-TW" altLang="en-US" sz="1100" b="0" i="0" u="none" strike="noStrike" kern="1200" dirty="0">
                          <a:solidFill>
                            <a:schemeClr val="tx1"/>
                          </a:solidFill>
                          <a:effectLst/>
                          <a:latin typeface="+mn-lt"/>
                          <a:ea typeface="+mn-ea"/>
                          <a:cs typeface="+mn-cs"/>
                        </a:rPr>
                        <a:t>停用</a:t>
                      </a:r>
                      <a:r>
                        <a:rPr lang="en-US" altLang="zh-TW" sz="1100" b="0" i="0" u="none" strike="noStrike" kern="1200" dirty="0">
                          <a:solidFill>
                            <a:schemeClr val="tx1"/>
                          </a:solidFill>
                          <a:effectLst/>
                          <a:latin typeface="+mn-lt"/>
                          <a:ea typeface="+mn-ea"/>
                          <a:cs typeface="+mn-cs"/>
                        </a:rPr>
                        <a:t>5v</a:t>
                      </a:r>
                      <a:r>
                        <a:rPr lang="zh-TW" altLang="en-US" sz="1100" b="0" i="0" u="none" strike="noStrike" kern="1200" dirty="0">
                          <a:solidFill>
                            <a:schemeClr val="tx1"/>
                          </a:solidFill>
                          <a:effectLst/>
                          <a:latin typeface="+mn-lt"/>
                          <a:ea typeface="+mn-ea"/>
                          <a:cs typeface="+mn-cs"/>
                        </a:rPr>
                        <a:t>外部電源</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gridSpan="2" v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v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886505774"/>
                  </a:ext>
                </a:extLst>
              </a:tr>
              <a:tr h="283845">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b="1" i="0" u="none" strike="noStrike" dirty="0">
                        <a:solidFill>
                          <a:srgbClr val="000000"/>
                        </a:solidFill>
                        <a:effectLst/>
                        <a:latin typeface="新細明體" panose="02020500000000000000" pitchFamily="18" charset="-120"/>
                        <a:ea typeface="新細明體" panose="02020500000000000000" pitchFamily="18" charset="-120"/>
                      </a:endParaRPr>
                    </a:p>
                  </a:txBody>
                  <a:tcPr anchor="ctr">
                    <a:lnL w="12700" cap="flat" cmpd="sng" algn="ctr">
                      <a:solidFill>
                        <a:schemeClr val="tx1"/>
                      </a:solidFill>
                      <a:prstDash val="solid"/>
                      <a:round/>
                      <a:headEnd type="none" w="med" len="med"/>
                      <a:tailEnd type="none" w="med" len="med"/>
                    </a:lnL>
                  </a:tcPr>
                </a:tc>
                <a:tc>
                  <a:txBody>
                    <a:bodyPr/>
                    <a:lstStyle/>
                    <a:p>
                      <a:pPr algn="ctr" fontAlgn="ctr">
                        <a:buNone/>
                      </a:pPr>
                      <a:r>
                        <a:rPr lang="en-US" altLang="zh-TW" sz="1100" b="0" i="0" u="none" strike="noStrike" dirty="0">
                          <a:solidFill>
                            <a:srgbClr val="000000"/>
                          </a:solidFill>
                          <a:effectLst/>
                          <a:latin typeface="+mn-lt"/>
                          <a:ea typeface="新細明體" panose="02020500000000000000" pitchFamily="18" charset="-120"/>
                        </a:rPr>
                        <a:t>3</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kern="1200" dirty="0">
                          <a:solidFill>
                            <a:schemeClr val="dk1"/>
                          </a:solidFill>
                          <a:effectLst/>
                          <a:latin typeface="+mn-lt"/>
                          <a:ea typeface="+mn-ea"/>
                          <a:cs typeface="+mn-cs"/>
                        </a:rPr>
                        <a:t>dev </a:t>
                      </a:r>
                      <a:r>
                        <a:rPr lang="en-US" altLang="zh-TW" sz="1200" b="0" kern="1200" dirty="0" err="1">
                          <a:solidFill>
                            <a:schemeClr val="dk1"/>
                          </a:solidFill>
                          <a:effectLst/>
                          <a:latin typeface="+mn-lt"/>
                          <a:ea typeface="+mn-ea"/>
                          <a:cs typeface="+mn-cs"/>
                        </a:rPr>
                        <a:t>vbus</a:t>
                      </a:r>
                      <a:r>
                        <a:rPr lang="en-US" altLang="zh-TW" sz="1200" b="0" kern="1200" dirty="0">
                          <a:solidFill>
                            <a:schemeClr val="dk1"/>
                          </a:solidFill>
                          <a:effectLst/>
                          <a:latin typeface="+mn-lt"/>
                          <a:ea typeface="+mn-ea"/>
                          <a:cs typeface="+mn-cs"/>
                        </a:rPr>
                        <a:t> get</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fontAlgn="ctr">
                        <a:buNone/>
                      </a:pPr>
                      <a:r>
                        <a:rPr lang="zh-TW" altLang="en-US" sz="1100" b="0" i="0" u="none" strike="noStrike" kern="1200" dirty="0">
                          <a:solidFill>
                            <a:schemeClr val="tx1"/>
                          </a:solidFill>
                          <a:effectLst/>
                          <a:latin typeface="+mn-lt"/>
                          <a:ea typeface="+mn-ea"/>
                          <a:cs typeface="+mn-cs"/>
                        </a:rPr>
                        <a:t>確認停用</a:t>
                      </a:r>
                      <a:r>
                        <a:rPr lang="en-US" altLang="zh-TW" sz="1100" b="0" i="0" u="none" strike="noStrike" kern="1200" dirty="0" err="1">
                          <a:solidFill>
                            <a:schemeClr val="tx1"/>
                          </a:solidFill>
                          <a:effectLst/>
                          <a:latin typeface="+mn-lt"/>
                          <a:ea typeface="+mn-ea"/>
                          <a:cs typeface="+mn-cs"/>
                        </a:rPr>
                        <a:t>vbus</a:t>
                      </a:r>
                      <a:endParaRPr lang="zh-TW" altLang="en-US" sz="1100" b="0" i="0" u="none" strike="noStrike" kern="1200" dirty="0">
                        <a:solidFill>
                          <a:schemeClr val="tx1"/>
                        </a:solidFill>
                        <a:effectLst/>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gridSpan="2" v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vMerge="1">
                  <a:txBody>
                    <a:bodyPr/>
                    <a:lstStyle/>
                    <a:p>
                      <a:pPr algn="l" fontAlgn="ctr">
                        <a:buNone/>
                      </a:pPr>
                      <a:endParaRPr lang="zh-TW" altLang="en-US" sz="1100" b="0" i="0" u="none" strike="noStrike">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252770946"/>
                  </a:ext>
                </a:extLst>
              </a:tr>
              <a:tr h="283845">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b="1" i="0" u="none" strike="noStrike" dirty="0">
                        <a:solidFill>
                          <a:srgbClr val="000000"/>
                        </a:solidFill>
                        <a:effectLst/>
                        <a:latin typeface="新細明體" panose="02020500000000000000" pitchFamily="18" charset="-120"/>
                        <a:ea typeface="新細明體" panose="02020500000000000000" pitchFamily="18" charset="-120"/>
                      </a:endParaRPr>
                    </a:p>
                  </a:txBody>
                  <a:tcPr anchor="ctr">
                    <a:lnL w="12700" cap="flat" cmpd="sng" algn="ctr">
                      <a:solidFill>
                        <a:schemeClr val="tx1"/>
                      </a:solidFill>
                      <a:prstDash val="solid"/>
                      <a:round/>
                      <a:headEnd type="none" w="med" len="med"/>
                      <a:tailEnd type="none" w="med" len="med"/>
                    </a:lnL>
                  </a:tcPr>
                </a:tc>
                <a:tc>
                  <a:txBody>
                    <a:bodyPr/>
                    <a:lstStyle/>
                    <a:p>
                      <a:pPr algn="ctr" fontAlgn="ctr">
                        <a:buNone/>
                      </a:pPr>
                      <a:r>
                        <a:rPr lang="en-US" altLang="zh-TW" sz="1100" b="0" i="0" u="none" strike="noStrike" dirty="0">
                          <a:solidFill>
                            <a:srgbClr val="000000"/>
                          </a:solidFill>
                          <a:effectLst/>
                          <a:latin typeface="+mn-lt"/>
                          <a:ea typeface="新細明體" panose="02020500000000000000" pitchFamily="18" charset="-120"/>
                        </a:rPr>
                        <a:t>4</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kern="1200" dirty="0">
                          <a:solidFill>
                            <a:schemeClr val="dk1"/>
                          </a:solidFill>
                          <a:effectLst/>
                          <a:latin typeface="+mn-lt"/>
                          <a:ea typeface="+mn-ea"/>
                          <a:cs typeface="+mn-cs"/>
                        </a:rPr>
                        <a:t>charger boost enable</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fontAlgn="ctr">
                        <a:buNone/>
                      </a:pPr>
                      <a:r>
                        <a:rPr lang="zh-TW" altLang="en-US" sz="1100" b="0" i="0" u="none" strike="noStrike" kern="1200" dirty="0">
                          <a:solidFill>
                            <a:schemeClr val="tx1"/>
                          </a:solidFill>
                          <a:effectLst/>
                          <a:latin typeface="+mn-lt"/>
                          <a:ea typeface="+mn-ea"/>
                          <a:cs typeface="+mn-cs"/>
                        </a:rPr>
                        <a:t>啟用 </a:t>
                      </a:r>
                      <a:r>
                        <a:rPr lang="en-US" altLang="zh-TW" sz="1100" b="0" i="0" u="none" strike="noStrike" kern="1200" dirty="0">
                          <a:solidFill>
                            <a:schemeClr val="tx1"/>
                          </a:solidFill>
                          <a:effectLst/>
                          <a:latin typeface="+mn-lt"/>
                          <a:ea typeface="+mn-ea"/>
                          <a:cs typeface="+mn-cs"/>
                        </a:rPr>
                        <a:t>Boost Mode</a:t>
                      </a:r>
                      <a:r>
                        <a:rPr lang="zh-TW" altLang="en-US" sz="1100" b="0" i="0" u="none" strike="noStrike" kern="1200" dirty="0">
                          <a:solidFill>
                            <a:schemeClr val="tx1"/>
                          </a:solidFill>
                          <a:effectLst/>
                          <a:latin typeface="+mn-lt"/>
                          <a:ea typeface="+mn-ea"/>
                          <a:cs typeface="+mn-cs"/>
                        </a:rPr>
                        <a:t>升壓供電</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gridSpan="2" v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zh-TW" sz="1200" b="0" kern="1200" dirty="0">
                        <a:solidFill>
                          <a:schemeClr val="dk1"/>
                        </a:solidFill>
                        <a:effectLst/>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vMerge="1">
                  <a:txBody>
                    <a:bodyPr/>
                    <a:lstStyle/>
                    <a:p>
                      <a:pPr algn="l" fontAlgn="ctr">
                        <a:buNone/>
                      </a:pPr>
                      <a:endParaRPr lang="zh-TW" altLang="en-US" sz="1100" b="0" i="0" u="none" strike="noStrike">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455634850"/>
                  </a:ext>
                </a:extLst>
              </a:tr>
              <a:tr h="283845">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b="1" i="0" u="none" strike="noStrike" dirty="0">
                        <a:solidFill>
                          <a:srgbClr val="000000"/>
                        </a:solidFill>
                        <a:effectLst/>
                        <a:latin typeface="新細明體" panose="02020500000000000000" pitchFamily="18" charset="-120"/>
                        <a:ea typeface="新細明體" panose="02020500000000000000" pitchFamily="18" charset="-120"/>
                      </a:endParaRPr>
                    </a:p>
                  </a:txBody>
                  <a:tcPr anchor="ctr">
                    <a:lnL w="12700" cap="flat" cmpd="sng" algn="ctr">
                      <a:solidFill>
                        <a:schemeClr val="tx1"/>
                      </a:solidFill>
                      <a:prstDash val="solid"/>
                      <a:round/>
                      <a:headEnd type="none" w="med" len="med"/>
                      <a:tailEnd type="none" w="med" len="med"/>
                    </a:lnL>
                  </a:tcPr>
                </a:tc>
                <a:tc>
                  <a:txBody>
                    <a:bodyPr/>
                    <a:lstStyle/>
                    <a:p>
                      <a:pPr algn="ctr" fontAlgn="ctr">
                        <a:buNone/>
                      </a:pPr>
                      <a:r>
                        <a:rPr lang="en-US" altLang="zh-TW" sz="1100" b="0" i="0" u="none" strike="noStrike" dirty="0">
                          <a:solidFill>
                            <a:srgbClr val="000000"/>
                          </a:solidFill>
                          <a:effectLst/>
                          <a:latin typeface="+mn-lt"/>
                          <a:ea typeface="新細明體" panose="02020500000000000000" pitchFamily="18" charset="-120"/>
                        </a:rPr>
                        <a:t>5</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kern="1200" dirty="0">
                          <a:solidFill>
                            <a:schemeClr val="dk1"/>
                          </a:solidFill>
                          <a:effectLst/>
                          <a:latin typeface="+mn-lt"/>
                          <a:ea typeface="+mn-ea"/>
                          <a:cs typeface="+mn-cs"/>
                        </a:rPr>
                        <a:t>charger </a:t>
                      </a:r>
                      <a:r>
                        <a:rPr lang="en-US" altLang="zh-TW" sz="1200" b="0" kern="1200" dirty="0" err="1">
                          <a:solidFill>
                            <a:schemeClr val="dk1"/>
                          </a:solidFill>
                          <a:effectLst/>
                          <a:latin typeface="+mn-lt"/>
                          <a:ea typeface="+mn-ea"/>
                          <a:cs typeface="+mn-cs"/>
                        </a:rPr>
                        <a:t>boostv</a:t>
                      </a:r>
                      <a:r>
                        <a:rPr lang="en-US" altLang="zh-TW" sz="1200" b="0" kern="1200" dirty="0">
                          <a:solidFill>
                            <a:schemeClr val="dk1"/>
                          </a:solidFill>
                          <a:effectLst/>
                          <a:latin typeface="+mn-lt"/>
                          <a:ea typeface="+mn-ea"/>
                          <a:cs typeface="+mn-cs"/>
                        </a:rPr>
                        <a:t> set 5000</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fontAlgn="ctr">
                        <a:buNone/>
                      </a:pPr>
                      <a:r>
                        <a:rPr lang="zh-TW" altLang="en-US" sz="1100" b="0" i="0" u="none" strike="noStrike" kern="1200" dirty="0">
                          <a:solidFill>
                            <a:schemeClr val="tx1"/>
                          </a:solidFill>
                          <a:effectLst/>
                          <a:latin typeface="+mn-lt"/>
                          <a:ea typeface="+mn-ea"/>
                          <a:cs typeface="+mn-cs"/>
                        </a:rPr>
                        <a:t>設定</a:t>
                      </a:r>
                      <a:r>
                        <a:rPr lang="zh-TW" altLang="en-US" sz="1100" b="0" i="0" u="none" strike="noStrike" kern="1200" dirty="0">
                          <a:solidFill>
                            <a:schemeClr val="dk1"/>
                          </a:solidFill>
                          <a:effectLst/>
                          <a:latin typeface="+mn-lt"/>
                          <a:ea typeface="+mn-ea"/>
                          <a:cs typeface="+mn-cs"/>
                        </a:rPr>
                        <a:t> </a:t>
                      </a:r>
                      <a:r>
                        <a:rPr lang="en-US" altLang="zh-TW" sz="1100" b="0" i="0" u="none" strike="noStrike" kern="1200" dirty="0">
                          <a:solidFill>
                            <a:schemeClr val="tx1"/>
                          </a:solidFill>
                          <a:effectLst/>
                          <a:latin typeface="+mn-lt"/>
                          <a:ea typeface="+mn-ea"/>
                          <a:cs typeface="+mn-cs"/>
                        </a:rPr>
                        <a:t>Boost </a:t>
                      </a:r>
                      <a:r>
                        <a:rPr lang="zh-TW" altLang="en-US" sz="1100" b="0" i="0" u="none" strike="noStrike" kern="1200" dirty="0">
                          <a:solidFill>
                            <a:schemeClr val="tx1"/>
                          </a:solidFill>
                          <a:effectLst/>
                          <a:latin typeface="+mn-lt"/>
                          <a:ea typeface="+mn-ea"/>
                          <a:cs typeface="+mn-cs"/>
                        </a:rPr>
                        <a:t>輸出電壓</a:t>
                      </a:r>
                      <a:r>
                        <a:rPr lang="en-US" altLang="zh-TW" sz="1100" b="0" i="0" u="none" strike="noStrike" kern="1200" dirty="0">
                          <a:solidFill>
                            <a:schemeClr val="tx1"/>
                          </a:solidFill>
                          <a:effectLst/>
                          <a:latin typeface="+mn-lt"/>
                          <a:ea typeface="+mn-ea"/>
                          <a:cs typeface="+mn-cs"/>
                        </a:rPr>
                        <a:t>5</a:t>
                      </a:r>
                      <a:r>
                        <a:rPr lang="zh-TW" altLang="en-US" sz="1100" b="0" i="0" u="none" strike="noStrike" kern="1200" dirty="0">
                          <a:solidFill>
                            <a:schemeClr val="tx1"/>
                          </a:solidFill>
                          <a:effectLst/>
                          <a:latin typeface="+mn-lt"/>
                          <a:ea typeface="+mn-ea"/>
                          <a:cs typeface="+mn-cs"/>
                        </a:rPr>
                        <a:t>Ｖ</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gridSpan="2" vMerge="1">
                  <a:txBody>
                    <a:bodyPr/>
                    <a:lstStyle/>
                    <a:p>
                      <a:pPr algn="l" fontAlgn="ctr">
                        <a:buNone/>
                      </a:pPr>
                      <a:endParaRPr lang="zh-TW" altLang="en-US" sz="1200" b="0" kern="1200" dirty="0">
                        <a:solidFill>
                          <a:schemeClr val="dk1"/>
                        </a:solidFill>
                        <a:effectLst/>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vMerge="1">
                  <a:txBody>
                    <a:bodyPr/>
                    <a:lstStyle/>
                    <a:p>
                      <a:pPr algn="l" fontAlgn="ctr">
                        <a:buNone/>
                      </a:pPr>
                      <a:endParaRPr lang="zh-TW" altLang="en-US" sz="1100" b="0" i="0" u="none" strike="noStrike">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865724265"/>
                  </a:ext>
                </a:extLst>
              </a:tr>
              <a:tr h="283845">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b="1" i="0" u="none" strike="noStrike" dirty="0">
                        <a:solidFill>
                          <a:srgbClr val="000000"/>
                        </a:solidFill>
                        <a:effectLst/>
                        <a:latin typeface="新細明體" panose="02020500000000000000" pitchFamily="18" charset="-120"/>
                        <a:ea typeface="新細明體" panose="02020500000000000000" pitchFamily="18" charset="-120"/>
                      </a:endParaRPr>
                    </a:p>
                  </a:txBody>
                  <a:tcPr anchor="ctr">
                    <a:lnL w="12700" cap="flat" cmpd="sng" algn="ctr">
                      <a:solidFill>
                        <a:schemeClr val="tx1"/>
                      </a:solidFill>
                      <a:prstDash val="solid"/>
                      <a:round/>
                      <a:headEnd type="none" w="med" len="med"/>
                      <a:tailEnd type="none" w="med" len="med"/>
                    </a:lnL>
                  </a:tcPr>
                </a:tc>
                <a:tc>
                  <a:txBody>
                    <a:bodyPr/>
                    <a:lstStyle/>
                    <a:p>
                      <a:pPr algn="ctr" fontAlgn="ctr">
                        <a:buNone/>
                      </a:pPr>
                      <a:r>
                        <a:rPr lang="en-US" altLang="zh-TW" sz="1100" b="0" i="0" u="none" strike="noStrike" dirty="0">
                          <a:solidFill>
                            <a:srgbClr val="000000"/>
                          </a:solidFill>
                          <a:effectLst/>
                          <a:latin typeface="+mn-lt"/>
                          <a:ea typeface="新細明體" panose="02020500000000000000" pitchFamily="18" charset="-120"/>
                        </a:rPr>
                        <a:t>6</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kern="1200" dirty="0">
                          <a:solidFill>
                            <a:schemeClr val="dk1"/>
                          </a:solidFill>
                          <a:effectLst/>
                          <a:latin typeface="+mn-lt"/>
                          <a:ea typeface="+mn-ea"/>
                          <a:cs typeface="+mn-cs"/>
                        </a:rPr>
                        <a:t>bud </a:t>
                      </a:r>
                      <a:r>
                        <a:rPr lang="en-US" altLang="zh-TW" sz="1200" b="0" kern="1200" dirty="0" err="1">
                          <a:solidFill>
                            <a:schemeClr val="dk1"/>
                          </a:solidFill>
                          <a:effectLst/>
                          <a:latin typeface="+mn-lt"/>
                          <a:ea typeface="+mn-ea"/>
                          <a:cs typeface="+mn-cs"/>
                        </a:rPr>
                        <a:t>mgr</a:t>
                      </a:r>
                      <a:r>
                        <a:rPr lang="en-US" altLang="zh-TW" sz="1200" b="0" kern="1200" dirty="0">
                          <a:solidFill>
                            <a:schemeClr val="dk1"/>
                          </a:solidFill>
                          <a:effectLst/>
                          <a:latin typeface="+mn-lt"/>
                          <a:ea typeface="+mn-ea"/>
                          <a:cs typeface="+mn-cs"/>
                        </a:rPr>
                        <a:t> disable</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fontAlgn="ctr">
                        <a:buNone/>
                      </a:pPr>
                      <a:r>
                        <a:rPr lang="zh-TW" altLang="en-US" sz="1100" b="0" i="0" u="none" strike="noStrike" kern="1200" dirty="0">
                          <a:solidFill>
                            <a:schemeClr val="tx1"/>
                          </a:solidFill>
                          <a:effectLst/>
                          <a:latin typeface="+mn-lt"/>
                          <a:ea typeface="+mn-ea"/>
                          <a:cs typeface="+mn-cs"/>
                        </a:rPr>
                        <a:t>停用 </a:t>
                      </a:r>
                      <a:r>
                        <a:rPr lang="en-US" altLang="zh-TW" sz="1100" b="0" i="0" u="none" strike="noStrike" kern="1200" dirty="0">
                          <a:solidFill>
                            <a:schemeClr val="tx1"/>
                          </a:solidFill>
                          <a:effectLst/>
                          <a:latin typeface="+mn-lt"/>
                          <a:ea typeface="+mn-ea"/>
                          <a:cs typeface="+mn-cs"/>
                        </a:rPr>
                        <a:t>bud</a:t>
                      </a:r>
                      <a:r>
                        <a:rPr lang="zh-TW" altLang="en-US" sz="1100" b="0" i="0" u="none" strike="noStrike" kern="1200" dirty="0">
                          <a:solidFill>
                            <a:schemeClr val="tx1"/>
                          </a:solidFill>
                          <a:effectLst/>
                          <a:latin typeface="+mn-lt"/>
                          <a:ea typeface="+mn-ea"/>
                          <a:cs typeface="+mn-cs"/>
                        </a:rPr>
                        <a:t>的管理</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gridSpan="2" v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vMerge="1">
                  <a:txBody>
                    <a:bodyPr/>
                    <a:lstStyle/>
                    <a:p>
                      <a:pPr algn="l" fontAlgn="ctr">
                        <a:buNone/>
                      </a:pPr>
                      <a:endParaRPr lang="zh-TW" altLang="en-US" sz="1100" b="0" i="0" u="none" strike="noStrike">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643818552"/>
                  </a:ext>
                </a:extLst>
              </a:tr>
              <a:tr h="283845">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b="1" i="0" u="none" strike="noStrike" dirty="0">
                        <a:solidFill>
                          <a:srgbClr val="000000"/>
                        </a:solidFill>
                        <a:effectLst/>
                        <a:latin typeface="新細明體" panose="02020500000000000000" pitchFamily="18" charset="-120"/>
                        <a:ea typeface="新細明體" panose="02020500000000000000" pitchFamily="18"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ctr">
                        <a:buNone/>
                      </a:pPr>
                      <a:r>
                        <a:rPr lang="en-US" altLang="zh-TW" sz="1100" b="0" i="0" u="none" strike="noStrike" dirty="0">
                          <a:solidFill>
                            <a:srgbClr val="000000"/>
                          </a:solidFill>
                          <a:effectLst/>
                          <a:latin typeface="+mn-lt"/>
                          <a:ea typeface="新細明體" panose="02020500000000000000" pitchFamily="18" charset="-120"/>
                        </a:rPr>
                        <a:t>7</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kern="1200" dirty="0">
                          <a:solidFill>
                            <a:schemeClr val="dk1"/>
                          </a:solidFill>
                          <a:effectLst/>
                          <a:latin typeface="+mn-lt"/>
                          <a:ea typeface="+mn-ea"/>
                          <a:cs typeface="+mn-cs"/>
                        </a:rPr>
                        <a:t>bud </a:t>
                      </a:r>
                      <a:r>
                        <a:rPr lang="en-US" altLang="zh-TW" sz="1200" b="0" kern="1200" dirty="0" err="1">
                          <a:solidFill>
                            <a:schemeClr val="dk1"/>
                          </a:solidFill>
                          <a:effectLst/>
                          <a:latin typeface="+mn-lt"/>
                          <a:ea typeface="+mn-ea"/>
                          <a:cs typeface="+mn-cs"/>
                        </a:rPr>
                        <a:t>chg</a:t>
                      </a:r>
                      <a:r>
                        <a:rPr lang="en-US" altLang="zh-TW" sz="1200" b="0" kern="1200" dirty="0">
                          <a:solidFill>
                            <a:schemeClr val="dk1"/>
                          </a:solidFill>
                          <a:effectLst/>
                          <a:latin typeface="+mn-lt"/>
                          <a:ea typeface="+mn-ea"/>
                          <a:cs typeface="+mn-cs"/>
                        </a:rPr>
                        <a:t> set left on</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fontAlgn="ctr">
                        <a:buNone/>
                      </a:pPr>
                      <a:r>
                        <a:rPr lang="zh-TW" altLang="en-US" sz="1100" b="0" i="0" u="none" strike="noStrike" kern="1200" dirty="0">
                          <a:solidFill>
                            <a:schemeClr val="tx1"/>
                          </a:solidFill>
                          <a:effectLst/>
                          <a:latin typeface="+mn-lt"/>
                          <a:ea typeface="+mn-ea"/>
                          <a:cs typeface="+mn-cs"/>
                        </a:rPr>
                        <a:t>打開 左耳充電路徑</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gridSpan="2" v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v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556903449"/>
                  </a:ext>
                </a:extLst>
              </a:tr>
              <a:tr h="283845">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b="1" i="0" u="none" strike="noStrike" dirty="0">
                        <a:solidFill>
                          <a:srgbClr val="000000"/>
                        </a:solidFill>
                        <a:effectLst/>
                        <a:latin typeface="新細明體" panose="02020500000000000000" pitchFamily="18" charset="-120"/>
                        <a:ea typeface="新細明體" panose="02020500000000000000" pitchFamily="18"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ctr">
                        <a:buNone/>
                      </a:pPr>
                      <a:r>
                        <a:rPr lang="en-US" altLang="zh-TW" sz="1100" b="0" i="0" u="none" strike="noStrike" dirty="0">
                          <a:solidFill>
                            <a:srgbClr val="000000"/>
                          </a:solidFill>
                          <a:effectLst/>
                          <a:latin typeface="+mn-lt"/>
                          <a:ea typeface="新細明體" panose="02020500000000000000" pitchFamily="18" charset="-120"/>
                        </a:rPr>
                        <a:t>8</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kern="1200" dirty="0">
                          <a:solidFill>
                            <a:schemeClr val="dk1"/>
                          </a:solidFill>
                          <a:effectLst/>
                          <a:latin typeface="+mn-lt"/>
                          <a:ea typeface="+mn-ea"/>
                          <a:cs typeface="+mn-cs"/>
                        </a:rPr>
                        <a:t>bud </a:t>
                      </a:r>
                      <a:r>
                        <a:rPr lang="en-US" altLang="zh-TW" sz="1200" b="0" kern="1200" dirty="0" err="1">
                          <a:solidFill>
                            <a:schemeClr val="dk1"/>
                          </a:solidFill>
                          <a:effectLst/>
                          <a:latin typeface="+mn-lt"/>
                          <a:ea typeface="+mn-ea"/>
                          <a:cs typeface="+mn-cs"/>
                        </a:rPr>
                        <a:t>chg</a:t>
                      </a:r>
                      <a:r>
                        <a:rPr lang="en-US" altLang="zh-TW" sz="1200" b="0" kern="1200" dirty="0">
                          <a:solidFill>
                            <a:schemeClr val="dk1"/>
                          </a:solidFill>
                          <a:effectLst/>
                          <a:latin typeface="+mn-lt"/>
                          <a:ea typeface="+mn-ea"/>
                          <a:cs typeface="+mn-cs"/>
                        </a:rPr>
                        <a:t> set right on</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zh-TW" altLang="en-US" sz="1100" b="0" i="0" u="none" strike="noStrike" kern="1200" dirty="0">
                          <a:solidFill>
                            <a:schemeClr val="tx1"/>
                          </a:solidFill>
                          <a:effectLst/>
                          <a:latin typeface="+mn-lt"/>
                          <a:ea typeface="+mn-ea"/>
                          <a:cs typeface="+mn-cs"/>
                        </a:rPr>
                        <a:t>打開 右耳充電路徑</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gridSpan="2" v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v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548702820"/>
                  </a:ext>
                </a:extLst>
              </a:tr>
              <a:tr h="283845">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b="0" kern="1200" dirty="0">
                        <a:solidFill>
                          <a:schemeClr val="dk1"/>
                        </a:solidFill>
                        <a:effectLst/>
                        <a:latin typeface="+mn-lt"/>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ctr">
                        <a:buNone/>
                      </a:pPr>
                      <a:r>
                        <a:rPr lang="en-US" altLang="zh-TW" sz="1200" b="0" kern="1200" dirty="0">
                          <a:solidFill>
                            <a:schemeClr val="dk1"/>
                          </a:solidFill>
                          <a:effectLst/>
                          <a:latin typeface="+mn-lt"/>
                          <a:ea typeface="+mn-ea"/>
                          <a:cs typeface="+mn-cs"/>
                        </a:rPr>
                        <a:t>9</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rowSpan="5"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b="0" kern="1200" dirty="0">
                        <a:solidFill>
                          <a:schemeClr val="dk1"/>
                        </a:solidFill>
                        <a:effectLst/>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5" h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kern="1200" dirty="0" err="1">
                          <a:solidFill>
                            <a:schemeClr val="dk1"/>
                          </a:solidFill>
                          <a:effectLst/>
                          <a:latin typeface="+mn-lt"/>
                          <a:ea typeface="+mn-ea"/>
                          <a:cs typeface="+mn-cs"/>
                        </a:rPr>
                        <a:t>set_left_eload</a:t>
                      </a:r>
                      <a:r>
                        <a:rPr lang="en-US" altLang="zh-TW" sz="1200" b="0" kern="1200" dirty="0">
                          <a:solidFill>
                            <a:schemeClr val="dk1"/>
                          </a:solidFill>
                          <a:effectLst/>
                          <a:latin typeface="+mn-lt"/>
                          <a:ea typeface="+mn-ea"/>
                          <a:cs typeface="+mn-cs"/>
                        </a:rPr>
                        <a:t>[0]</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fontAlgn="ctr">
                        <a:buNone/>
                      </a:pPr>
                      <a:r>
                        <a:rPr lang="zh-TW" altLang="en-US" sz="1100" b="0" i="0" u="none" strike="noStrike" kern="1200" dirty="0">
                          <a:solidFill>
                            <a:schemeClr val="tx1"/>
                          </a:solidFill>
                          <a:effectLst/>
                          <a:latin typeface="+mn-lt"/>
                          <a:ea typeface="+mn-ea"/>
                          <a:cs typeface="+mn-cs"/>
                        </a:rPr>
                        <a:t>設定 左耳電子負載電流</a:t>
                      </a:r>
                      <a:r>
                        <a:rPr lang="en-US" altLang="zh-TW" sz="1100" b="0" i="0" u="none" strike="noStrike" kern="1200" dirty="0">
                          <a:solidFill>
                            <a:schemeClr val="tx1"/>
                          </a:solidFill>
                          <a:effectLst/>
                          <a:latin typeface="+mn-lt"/>
                          <a:ea typeface="+mn-ea"/>
                          <a:cs typeface="+mn-cs"/>
                        </a:rPr>
                        <a:t> 0mA</a:t>
                      </a:r>
                      <a:endParaRPr lang="zh-TW" altLang="en-US" sz="1100" b="0" i="0" u="none" strike="noStrike" kern="1200" dirty="0">
                        <a:solidFill>
                          <a:schemeClr val="tx1"/>
                        </a:solidFill>
                        <a:effectLst/>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905077583"/>
                  </a:ext>
                </a:extLst>
              </a:tr>
              <a:tr h="283845">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b="1" i="0" u="none" strike="noStrike" dirty="0">
                        <a:solidFill>
                          <a:srgbClr val="000000"/>
                        </a:solidFill>
                        <a:effectLst/>
                        <a:latin typeface="新細明體" panose="02020500000000000000" pitchFamily="18" charset="-120"/>
                        <a:ea typeface="新細明體" panose="02020500000000000000" pitchFamily="18"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ctr">
                        <a:buNone/>
                      </a:pPr>
                      <a:r>
                        <a:rPr lang="en-US" altLang="zh-TW" sz="1100" b="0" i="0" u="none" strike="noStrike" dirty="0">
                          <a:solidFill>
                            <a:srgbClr val="000000"/>
                          </a:solidFill>
                          <a:effectLst/>
                          <a:latin typeface="+mn-lt"/>
                          <a:ea typeface="新細明體" panose="02020500000000000000" pitchFamily="18" charset="-120"/>
                        </a:rPr>
                        <a:t>10</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gridSpan="2"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b="0" kern="1200" dirty="0">
                        <a:solidFill>
                          <a:schemeClr val="dk1"/>
                        </a:solidFill>
                        <a:effectLst/>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v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kern="1200" dirty="0" err="1">
                          <a:solidFill>
                            <a:schemeClr val="dk1"/>
                          </a:solidFill>
                          <a:effectLst/>
                          <a:latin typeface="+mn-lt"/>
                          <a:ea typeface="+mn-ea"/>
                          <a:cs typeface="+mn-cs"/>
                        </a:rPr>
                        <a:t>set_right_eload</a:t>
                      </a:r>
                      <a:r>
                        <a:rPr lang="en-US" altLang="zh-TW" sz="1200" b="0" kern="1200" dirty="0">
                          <a:solidFill>
                            <a:schemeClr val="dk1"/>
                          </a:solidFill>
                          <a:effectLst/>
                          <a:latin typeface="+mn-lt"/>
                          <a:ea typeface="+mn-ea"/>
                          <a:cs typeface="+mn-cs"/>
                        </a:rPr>
                        <a:t>[0]</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zh-TW" altLang="en-US" sz="1100" b="0" i="0" u="none" strike="noStrike" kern="1200" dirty="0">
                          <a:solidFill>
                            <a:schemeClr val="tx1"/>
                          </a:solidFill>
                          <a:effectLst/>
                          <a:latin typeface="+mn-lt"/>
                          <a:ea typeface="+mn-ea"/>
                          <a:cs typeface="+mn-cs"/>
                        </a:rPr>
                        <a:t>設定 右耳電子負載電流</a:t>
                      </a:r>
                      <a:r>
                        <a:rPr lang="en-US" altLang="zh-TW" sz="1100" b="0" i="0" u="none" strike="noStrike" kern="1200" dirty="0">
                          <a:solidFill>
                            <a:schemeClr val="tx1"/>
                          </a:solidFill>
                          <a:effectLst/>
                          <a:latin typeface="+mn-lt"/>
                          <a:ea typeface="+mn-ea"/>
                          <a:cs typeface="+mn-cs"/>
                        </a:rPr>
                        <a:t> 0mA</a:t>
                      </a:r>
                      <a:endParaRPr lang="zh-TW" altLang="en-US" sz="1100" b="0" i="0" u="none" strike="noStrike" kern="1200" dirty="0">
                        <a:solidFill>
                          <a:schemeClr val="tx1"/>
                        </a:solidFill>
                        <a:effectLst/>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4218561278"/>
                  </a:ext>
                </a:extLst>
              </a:tr>
              <a:tr h="283845">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b="1" i="0" u="none" strike="noStrike" dirty="0">
                        <a:solidFill>
                          <a:srgbClr val="000000"/>
                        </a:solidFill>
                        <a:effectLst/>
                        <a:latin typeface="新細明體" panose="02020500000000000000" pitchFamily="18" charset="-120"/>
                        <a:ea typeface="新細明體" panose="02020500000000000000" pitchFamily="18"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ctr">
                        <a:buNone/>
                      </a:pPr>
                      <a:r>
                        <a:rPr lang="en-US" altLang="zh-TW" sz="1200" b="0" kern="1200" dirty="0">
                          <a:solidFill>
                            <a:schemeClr val="dk1"/>
                          </a:solidFill>
                          <a:effectLst/>
                          <a:latin typeface="+mn-lt"/>
                          <a:ea typeface="+mn-ea"/>
                          <a:cs typeface="+mn-cs"/>
                        </a:rPr>
                        <a:t>11</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gridSpan="2"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b="0" kern="1200" dirty="0">
                        <a:solidFill>
                          <a:schemeClr val="dk1"/>
                        </a:solidFill>
                        <a:effectLst/>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v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kern="1200" dirty="0" err="1">
                          <a:solidFill>
                            <a:schemeClr val="dk1"/>
                          </a:solidFill>
                          <a:effectLst/>
                          <a:latin typeface="+mn-lt"/>
                          <a:ea typeface="+mn-ea"/>
                          <a:cs typeface="+mn-cs"/>
                        </a:rPr>
                        <a:t>left_eload_ch_on</a:t>
                      </a:r>
                      <a:endParaRPr lang="en-US" altLang="zh-TW" sz="1200" b="0" kern="1200" dirty="0">
                        <a:solidFill>
                          <a:schemeClr val="dk1"/>
                        </a:solidFill>
                        <a:effectLst/>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fontAlgn="ctr">
                        <a:buNone/>
                      </a:pPr>
                      <a:r>
                        <a:rPr lang="zh-TW" altLang="en-US" sz="1100" b="0" i="0" u="none" strike="noStrike" kern="1200" dirty="0">
                          <a:solidFill>
                            <a:schemeClr val="tx1"/>
                          </a:solidFill>
                          <a:effectLst/>
                          <a:latin typeface="+mn-lt"/>
                          <a:ea typeface="+mn-ea"/>
                          <a:cs typeface="+mn-cs"/>
                        </a:rPr>
                        <a:t>打開左耳</a:t>
                      </a:r>
                      <a:r>
                        <a:rPr lang="en-US" altLang="zh-TW" sz="1100" b="0" i="0" u="none" strike="noStrike" kern="1200" dirty="0" err="1">
                          <a:solidFill>
                            <a:schemeClr val="tx1"/>
                          </a:solidFill>
                          <a:effectLst/>
                          <a:latin typeface="+mn-lt"/>
                          <a:ea typeface="+mn-ea"/>
                          <a:cs typeface="+mn-cs"/>
                        </a:rPr>
                        <a:t>Eload</a:t>
                      </a:r>
                      <a:r>
                        <a:rPr lang="zh-TW" altLang="en-US" sz="1100" b="0" i="0" u="none" strike="noStrike" kern="1200" dirty="0">
                          <a:solidFill>
                            <a:schemeClr val="tx1"/>
                          </a:solidFill>
                          <a:effectLst/>
                          <a:latin typeface="+mn-lt"/>
                          <a:ea typeface="+mn-ea"/>
                          <a:cs typeface="+mn-cs"/>
                        </a:rPr>
                        <a:t>通道</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348183154"/>
                  </a:ext>
                </a:extLst>
              </a:tr>
              <a:tr h="283845">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b="1" i="0" u="none" strike="noStrike" dirty="0">
                        <a:solidFill>
                          <a:srgbClr val="000000"/>
                        </a:solidFill>
                        <a:effectLst/>
                        <a:latin typeface="新細明體" panose="02020500000000000000" pitchFamily="18" charset="-120"/>
                        <a:ea typeface="新細明體" panose="02020500000000000000" pitchFamily="18"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ctr">
                        <a:buNone/>
                      </a:pPr>
                      <a:r>
                        <a:rPr lang="en-US" altLang="zh-TW" sz="1100" b="0" i="0" u="none" strike="noStrike" dirty="0">
                          <a:solidFill>
                            <a:srgbClr val="000000"/>
                          </a:solidFill>
                          <a:effectLst/>
                          <a:latin typeface="+mn-lt"/>
                          <a:ea typeface="新細明體" panose="02020500000000000000" pitchFamily="18" charset="-120"/>
                        </a:rPr>
                        <a:t>12</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gridSpan="2"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b="0" kern="1200" dirty="0">
                        <a:solidFill>
                          <a:schemeClr val="dk1"/>
                        </a:solidFill>
                        <a:effectLst/>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v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kern="1200" dirty="0" err="1">
                          <a:solidFill>
                            <a:schemeClr val="dk1"/>
                          </a:solidFill>
                          <a:effectLst/>
                          <a:latin typeface="+mn-lt"/>
                          <a:ea typeface="+mn-ea"/>
                          <a:cs typeface="+mn-cs"/>
                        </a:rPr>
                        <a:t>right_eload_ch_on</a:t>
                      </a:r>
                      <a:endParaRPr lang="en-US" altLang="zh-TW" sz="1200" b="0" kern="1200" dirty="0">
                        <a:solidFill>
                          <a:schemeClr val="dk1"/>
                        </a:solidFill>
                        <a:effectLst/>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zh-TW" altLang="en-US" sz="1100" b="0" i="0" u="none" strike="noStrike" kern="1200" dirty="0">
                          <a:solidFill>
                            <a:schemeClr val="tx1"/>
                          </a:solidFill>
                          <a:effectLst/>
                          <a:latin typeface="+mn-lt"/>
                          <a:ea typeface="+mn-ea"/>
                          <a:cs typeface="+mn-cs"/>
                        </a:rPr>
                        <a:t>打開右耳</a:t>
                      </a:r>
                      <a:r>
                        <a:rPr lang="en-US" altLang="zh-TW" sz="1100" b="0" i="0" u="none" strike="noStrike" kern="1200" dirty="0" err="1">
                          <a:solidFill>
                            <a:schemeClr val="tx1"/>
                          </a:solidFill>
                          <a:effectLst/>
                          <a:latin typeface="+mn-lt"/>
                          <a:ea typeface="+mn-ea"/>
                          <a:cs typeface="+mn-cs"/>
                        </a:rPr>
                        <a:t>Eload</a:t>
                      </a:r>
                      <a:r>
                        <a:rPr lang="zh-TW" altLang="en-US" sz="1100" b="0" i="0" u="none" strike="noStrike" kern="1200" dirty="0">
                          <a:solidFill>
                            <a:schemeClr val="tx1"/>
                          </a:solidFill>
                          <a:effectLst/>
                          <a:latin typeface="+mn-lt"/>
                          <a:ea typeface="+mn-ea"/>
                          <a:cs typeface="+mn-cs"/>
                        </a:rPr>
                        <a:t>通道</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4247827742"/>
                  </a:ext>
                </a:extLst>
              </a:tr>
              <a:tr h="40009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TW" sz="1200" b="1" i="0" u="none" strike="noStrike" dirty="0">
                        <a:solidFill>
                          <a:srgbClr val="000000"/>
                        </a:solidFill>
                        <a:effectLst/>
                        <a:latin typeface="新細明體" panose="02020500000000000000" pitchFamily="18" charset="-120"/>
                        <a:ea typeface="新細明體" panose="02020500000000000000" pitchFamily="18" charset="-120"/>
                      </a:endParaRP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altLang="zh-TW" sz="1100" b="0" i="0" u="none" strike="noStrike" dirty="0">
                          <a:solidFill>
                            <a:srgbClr val="000000"/>
                          </a:solidFill>
                          <a:effectLst/>
                          <a:latin typeface="+mn-lt"/>
                          <a:ea typeface="新細明體" panose="02020500000000000000" pitchFamily="18" charset="-120"/>
                        </a:rPr>
                        <a:t>13</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b="0" kern="1200" dirty="0">
                        <a:solidFill>
                          <a:schemeClr val="dk1"/>
                        </a:solidFill>
                        <a:effectLst/>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v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kern="1200" dirty="0" err="1">
                          <a:solidFill>
                            <a:schemeClr val="dk1"/>
                          </a:solidFill>
                          <a:effectLst/>
                          <a:latin typeface="+mn-lt"/>
                          <a:ea typeface="+mn-ea"/>
                          <a:cs typeface="+mn-cs"/>
                        </a:rPr>
                        <a:t>set_left_eload</a:t>
                      </a:r>
                      <a:r>
                        <a:rPr lang="en-US" altLang="zh-TW" sz="1200" b="0" kern="1200" dirty="0">
                          <a:solidFill>
                            <a:schemeClr val="dk1"/>
                          </a:solidFill>
                          <a:effectLst/>
                          <a:latin typeface="+mn-lt"/>
                          <a:ea typeface="+mn-ea"/>
                          <a:cs typeface="+mn-cs"/>
                        </a:rPr>
                        <a:t>[100]</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100" b="0" i="0" u="none" strike="noStrike" kern="1200" dirty="0">
                          <a:solidFill>
                            <a:schemeClr val="tx1"/>
                          </a:solidFill>
                          <a:effectLst/>
                          <a:latin typeface="+mn-lt"/>
                          <a:ea typeface="+mn-ea"/>
                          <a:cs typeface="+mn-cs"/>
                        </a:rPr>
                        <a:t>設定 左耳電子負載電流</a:t>
                      </a:r>
                      <a:r>
                        <a:rPr lang="en-US" altLang="zh-TW" sz="1100" b="0" i="0" u="none" strike="noStrike" kern="1200" dirty="0">
                          <a:solidFill>
                            <a:schemeClr val="tx1"/>
                          </a:solidFill>
                          <a:effectLst/>
                          <a:latin typeface="+mn-lt"/>
                          <a:ea typeface="+mn-ea"/>
                          <a:cs typeface="+mn-cs"/>
                        </a:rPr>
                        <a:t> 100mA</a:t>
                      </a:r>
                      <a:endParaRPr lang="zh-TW" altLang="en-US" sz="1100" b="0" i="0" u="none" strike="noStrike" kern="1200" dirty="0">
                        <a:solidFill>
                          <a:schemeClr val="tx1"/>
                        </a:solidFill>
                        <a:effectLst/>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44960041"/>
                  </a:ext>
                </a:extLst>
              </a:tr>
            </a:tbl>
          </a:graphicData>
        </a:graphic>
      </p:graphicFrame>
    </p:spTree>
    <p:extLst>
      <p:ext uri="{BB962C8B-B14F-4D97-AF65-F5344CB8AC3E}">
        <p14:creationId xmlns:p14="http://schemas.microsoft.com/office/powerpoint/2010/main" val="182890818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032055-42B7-07F7-ED95-1935638F8D93}"/>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26D7AD01-E239-2836-07BE-F778DC092ECF}"/>
              </a:ext>
            </a:extLst>
          </p:cNvPr>
          <p:cNvSpPr>
            <a:spLocks noGrp="1"/>
          </p:cNvSpPr>
          <p:nvPr>
            <p:ph type="body" sz="quarter" idx="13"/>
          </p:nvPr>
        </p:nvSpPr>
        <p:spPr/>
        <p:txBody>
          <a:bodyPr/>
          <a:lstStyle/>
          <a:p>
            <a:r>
              <a:rPr lang="en-US" dirty="0"/>
              <a:t>Terminology  </a:t>
            </a:r>
          </a:p>
          <a:p>
            <a:endParaRPr lang="en-US" dirty="0"/>
          </a:p>
        </p:txBody>
      </p:sp>
      <p:sp>
        <p:nvSpPr>
          <p:cNvPr id="6" name="文字方塊 5">
            <a:extLst>
              <a:ext uri="{FF2B5EF4-FFF2-40B4-BE49-F238E27FC236}">
                <a16:creationId xmlns:a16="http://schemas.microsoft.com/office/drawing/2014/main" id="{B947D558-66EE-5242-A0F8-2F2D8D7EB2B3}"/>
              </a:ext>
            </a:extLst>
          </p:cNvPr>
          <p:cNvSpPr txBox="1"/>
          <p:nvPr/>
        </p:nvSpPr>
        <p:spPr>
          <a:xfrm>
            <a:off x="571500" y="938449"/>
            <a:ext cx="10122520" cy="1881925"/>
          </a:xfrm>
          <a:prstGeom prst="rect">
            <a:avLst/>
          </a:prstGeom>
          <a:noFill/>
        </p:spPr>
        <p:txBody>
          <a:bodyPr wrap="square">
            <a:spAutoFit/>
          </a:bodyPr>
          <a:lstStyle/>
          <a:p>
            <a:pPr>
              <a:lnSpc>
                <a:spcPct val="150000"/>
              </a:lnSpc>
              <a:defRPr/>
            </a:pPr>
            <a:r>
              <a:rPr lang="en-US" altLang="zh-TW" sz="2000" b="1" dirty="0"/>
              <a:t>Constant</a:t>
            </a:r>
            <a:r>
              <a:rPr lang="zh-TW" altLang="en-US" sz="2000" b="1" kern="1200" dirty="0">
                <a:solidFill>
                  <a:schemeClr val="tx1"/>
                </a:solidFill>
                <a:effectLst/>
                <a:latin typeface="+mn-lt"/>
                <a:ea typeface="+mn-ea"/>
                <a:cs typeface="+mn-cs"/>
              </a:rPr>
              <a:t>：</a:t>
            </a:r>
            <a:endParaRPr lang="en-US" altLang="zh-TW" sz="2000" b="1" kern="1200" dirty="0">
              <a:solidFill>
                <a:schemeClr val="tx1"/>
              </a:solidFill>
              <a:effectLst/>
              <a:latin typeface="+mn-lt"/>
              <a:ea typeface="+mn-ea"/>
              <a:cs typeface="+mn-cs"/>
            </a:endParaRPr>
          </a:p>
          <a:p>
            <a:pPr marL="800100" lvl="1" indent="-342900">
              <a:lnSpc>
                <a:spcPct val="150000"/>
              </a:lnSpc>
              <a:buFont typeface="Arial" panose="020B0604020202020204" pitchFamily="34" charset="0"/>
              <a:buChar char="•"/>
              <a:defRPr/>
            </a:pPr>
            <a:r>
              <a:rPr lang="en-US" altLang="zh-TW" sz="2000" dirty="0"/>
              <a:t>Measure the output voltage &amp; current at the bud L/R POS under load conditions</a:t>
            </a:r>
          </a:p>
          <a:p>
            <a:pPr>
              <a:lnSpc>
                <a:spcPct val="150000"/>
              </a:lnSpc>
              <a:defRPr/>
            </a:pPr>
            <a:r>
              <a:rPr lang="en-US" altLang="zh-TW" sz="2000" b="1" dirty="0"/>
              <a:t>Command</a:t>
            </a:r>
            <a:r>
              <a:rPr lang="zh-TW" altLang="en-US" sz="2000" b="1" dirty="0"/>
              <a:t>：</a:t>
            </a:r>
            <a:endParaRPr lang="en-US" altLang="zh-TW" sz="2000" b="1" dirty="0"/>
          </a:p>
          <a:p>
            <a:pPr lvl="1">
              <a:lnSpc>
                <a:spcPct val="150000"/>
              </a:lnSpc>
              <a:defRPr/>
            </a:pPr>
            <a:endParaRPr lang="en-US" altLang="zh-TW" sz="2000" dirty="0"/>
          </a:p>
        </p:txBody>
      </p:sp>
      <p:graphicFrame>
        <p:nvGraphicFramePr>
          <p:cNvPr id="5" name="表格 4">
            <a:extLst>
              <a:ext uri="{FF2B5EF4-FFF2-40B4-BE49-F238E27FC236}">
                <a16:creationId xmlns:a16="http://schemas.microsoft.com/office/drawing/2014/main" id="{31F53D72-7AFE-42FB-0EC9-84F823EFEC9D}"/>
              </a:ext>
            </a:extLst>
          </p:cNvPr>
          <p:cNvGraphicFramePr>
            <a:graphicFrameLocks noGrp="1"/>
          </p:cNvGraphicFramePr>
          <p:nvPr>
            <p:extLst>
              <p:ext uri="{D42A27DB-BD31-4B8C-83A1-F6EECF244321}">
                <p14:modId xmlns:p14="http://schemas.microsoft.com/office/powerpoint/2010/main" val="4047222324"/>
              </p:ext>
            </p:extLst>
          </p:nvPr>
        </p:nvGraphicFramePr>
        <p:xfrm>
          <a:off x="1113800" y="2385615"/>
          <a:ext cx="9580220" cy="4271663"/>
        </p:xfrm>
        <a:graphic>
          <a:graphicData uri="http://schemas.openxmlformats.org/drawingml/2006/table">
            <a:tbl>
              <a:tblPr>
                <a:tableStyleId>{5C22544A-7EE6-4342-B048-85BDC9FD1C3A}</a:tableStyleId>
              </a:tblPr>
              <a:tblGrid>
                <a:gridCol w="1599005">
                  <a:extLst>
                    <a:ext uri="{9D8B030D-6E8A-4147-A177-3AD203B41FA5}">
                      <a16:colId xmlns:a16="http://schemas.microsoft.com/office/drawing/2014/main" val="3315535983"/>
                    </a:ext>
                  </a:extLst>
                </a:gridCol>
                <a:gridCol w="524107">
                  <a:extLst>
                    <a:ext uri="{9D8B030D-6E8A-4147-A177-3AD203B41FA5}">
                      <a16:colId xmlns:a16="http://schemas.microsoft.com/office/drawing/2014/main" val="2960066220"/>
                    </a:ext>
                  </a:extLst>
                </a:gridCol>
                <a:gridCol w="1166813">
                  <a:extLst>
                    <a:ext uri="{9D8B030D-6E8A-4147-A177-3AD203B41FA5}">
                      <a16:colId xmlns:a16="http://schemas.microsoft.com/office/drawing/2014/main" val="3319955928"/>
                    </a:ext>
                  </a:extLst>
                </a:gridCol>
                <a:gridCol w="1717287">
                  <a:extLst>
                    <a:ext uri="{9D8B030D-6E8A-4147-A177-3AD203B41FA5}">
                      <a16:colId xmlns:a16="http://schemas.microsoft.com/office/drawing/2014/main" val="163623680"/>
                    </a:ext>
                  </a:extLst>
                </a:gridCol>
                <a:gridCol w="2495550">
                  <a:extLst>
                    <a:ext uri="{9D8B030D-6E8A-4147-A177-3AD203B41FA5}">
                      <a16:colId xmlns:a16="http://schemas.microsoft.com/office/drawing/2014/main" val="97452426"/>
                    </a:ext>
                  </a:extLst>
                </a:gridCol>
                <a:gridCol w="2077458">
                  <a:extLst>
                    <a:ext uri="{9D8B030D-6E8A-4147-A177-3AD203B41FA5}">
                      <a16:colId xmlns:a16="http://schemas.microsoft.com/office/drawing/2014/main" val="1095481995"/>
                    </a:ext>
                  </a:extLst>
                </a:gridCol>
              </a:tblGrid>
              <a:tr h="283845">
                <a:tc>
                  <a:txBody>
                    <a:bodyPr/>
                    <a:lstStyle/>
                    <a:p>
                      <a:pPr algn="ctr" fontAlgn="ctr">
                        <a:buNone/>
                      </a:pPr>
                      <a:r>
                        <a:rPr lang="en-US" sz="1100" b="1" u="none" strike="noStrike" dirty="0">
                          <a:effectLst/>
                        </a:rPr>
                        <a:t>Test</a:t>
                      </a:r>
                      <a:r>
                        <a:rPr lang="en-US" sz="1100" u="none" strike="noStrike" dirty="0">
                          <a:effectLst/>
                        </a:rPr>
                        <a:t> </a:t>
                      </a:r>
                      <a:r>
                        <a:rPr lang="en-US" sz="1100" b="1" u="none" strike="noStrike" dirty="0">
                          <a:effectLst/>
                        </a:rPr>
                        <a:t>item</a:t>
                      </a:r>
                      <a:endParaRPr lang="en-US" sz="1100" b="1"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40000"/>
                        <a:lumOff val="60000"/>
                      </a:schemeClr>
                    </a:solidFill>
                  </a:tcPr>
                </a:tc>
                <a:tc>
                  <a:txBody>
                    <a:bodyPr/>
                    <a:lstStyle/>
                    <a:p>
                      <a:pPr algn="ctr" fontAlgn="ctr">
                        <a:buNone/>
                      </a:pPr>
                      <a:r>
                        <a:rPr lang="zh-TW" altLang="en-US" sz="1100" u="none" strike="noStrike" dirty="0">
                          <a:effectLst/>
                        </a:rPr>
                        <a:t>　</a:t>
                      </a: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40000"/>
                        <a:lumOff val="60000"/>
                      </a:schemeClr>
                    </a:solidFill>
                  </a:tcPr>
                </a:tc>
                <a:tc>
                  <a:txBody>
                    <a:bodyPr/>
                    <a:lstStyle/>
                    <a:p>
                      <a:pPr algn="ctr" fontAlgn="ctr">
                        <a:buNone/>
                      </a:pPr>
                      <a:r>
                        <a:rPr lang="en-US" sz="1100" b="1" u="none" strike="noStrike" dirty="0">
                          <a:effectLst/>
                        </a:rPr>
                        <a:t>DUT</a:t>
                      </a:r>
                      <a:r>
                        <a:rPr lang="en-US" sz="1100" u="none" strike="noStrike" dirty="0">
                          <a:effectLst/>
                        </a:rPr>
                        <a:t>  </a:t>
                      </a:r>
                      <a:r>
                        <a:rPr lang="en-US" sz="1100" b="1" u="none" strike="noStrike" dirty="0">
                          <a:effectLst/>
                        </a:rPr>
                        <a:t>command</a:t>
                      </a:r>
                      <a:endParaRPr lang="en-US" sz="1100" b="1" i="0" u="none" strike="noStrike" dirty="0">
                        <a:solidFill>
                          <a:srgbClr val="FF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40000"/>
                        <a:lumOff val="60000"/>
                      </a:schemeClr>
                    </a:solidFill>
                  </a:tcPr>
                </a:tc>
                <a:tc>
                  <a:txBody>
                    <a:bodyPr/>
                    <a:lstStyle/>
                    <a:p>
                      <a:pPr algn="l" fontAlgn="ctr">
                        <a:buNone/>
                      </a:pPr>
                      <a:r>
                        <a:rPr lang="en-US" altLang="zh-TW" sz="1100" b="1" kern="1200" dirty="0">
                          <a:solidFill>
                            <a:schemeClr val="tx1"/>
                          </a:solidFill>
                          <a:effectLst/>
                          <a:latin typeface="+mn-lt"/>
                          <a:ea typeface="+mn-ea"/>
                          <a:cs typeface="+mn-cs"/>
                        </a:rPr>
                        <a:t>Description</a:t>
                      </a: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TW" sz="1100" b="1" u="none" strike="noStrike" dirty="0">
                          <a:effectLst/>
                        </a:rPr>
                        <a:t> Dummy</a:t>
                      </a:r>
                      <a:r>
                        <a:rPr lang="en-US" altLang="zh-TW" sz="1100" u="none" strike="noStrike" dirty="0">
                          <a:effectLst/>
                        </a:rPr>
                        <a:t>  </a:t>
                      </a:r>
                      <a:r>
                        <a:rPr lang="en-US" altLang="zh-TW" sz="1100" b="1" u="none" strike="noStrike" dirty="0">
                          <a:effectLst/>
                        </a:rPr>
                        <a:t>command </a:t>
                      </a:r>
                      <a:endParaRPr lang="en-US" altLang="zh-TW" sz="1100" b="1" i="0" u="none" strike="noStrike" dirty="0">
                        <a:solidFill>
                          <a:srgbClr val="FF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40000"/>
                        <a:lumOff val="60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zh-TW" sz="1100" b="1" kern="1200" dirty="0">
                          <a:solidFill>
                            <a:schemeClr val="tx1"/>
                          </a:solidFill>
                          <a:effectLst/>
                          <a:latin typeface="+mn-lt"/>
                          <a:ea typeface="+mn-ea"/>
                          <a:cs typeface="+mn-cs"/>
                        </a:rPr>
                        <a:t>Description</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3824094486"/>
                  </a:ext>
                </a:extLst>
              </a:tr>
              <a:tr h="283845">
                <a:tc rowSpan="1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400" b="1" dirty="0"/>
                        <a:t>Constant</a:t>
                      </a:r>
                      <a:endParaRPr sz="1400" b="0" kern="1200" dirty="0">
                        <a:solidFill>
                          <a:schemeClr val="dk1"/>
                        </a:solidFill>
                        <a:effectLst/>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altLang="zh-TW" sz="1100" b="0" i="0" u="none" strike="noStrike" dirty="0">
                          <a:solidFill>
                            <a:srgbClr val="000000"/>
                          </a:solidFill>
                          <a:effectLst/>
                          <a:latin typeface="+mn-lt"/>
                          <a:ea typeface="新細明體" panose="02020500000000000000" pitchFamily="18" charset="-120"/>
                        </a:rPr>
                        <a:t>14</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rowSpan="5"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b="0" kern="1200" dirty="0">
                        <a:solidFill>
                          <a:schemeClr val="dk1"/>
                        </a:solidFill>
                        <a:effectLst/>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rowSpan="5" h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kern="1200" dirty="0" err="1">
                          <a:solidFill>
                            <a:schemeClr val="dk1"/>
                          </a:solidFill>
                          <a:effectLst/>
                          <a:latin typeface="+mn-lt"/>
                          <a:ea typeface="+mn-ea"/>
                          <a:cs typeface="+mn-cs"/>
                        </a:rPr>
                        <a:t>set_right_eload</a:t>
                      </a:r>
                      <a:r>
                        <a:rPr lang="en-US" altLang="zh-TW" sz="1200" b="0" kern="1200" dirty="0">
                          <a:solidFill>
                            <a:schemeClr val="dk1"/>
                          </a:solidFill>
                          <a:effectLst/>
                          <a:latin typeface="+mn-lt"/>
                          <a:ea typeface="+mn-ea"/>
                          <a:cs typeface="+mn-cs"/>
                        </a:rPr>
                        <a:t>[100]</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100" b="0" i="0" u="none" strike="noStrike" kern="1200" dirty="0">
                          <a:solidFill>
                            <a:schemeClr val="tx1"/>
                          </a:solidFill>
                          <a:effectLst/>
                          <a:latin typeface="+mn-lt"/>
                          <a:ea typeface="+mn-ea"/>
                          <a:cs typeface="+mn-cs"/>
                        </a:rPr>
                        <a:t>設定 右耳電子負載電流</a:t>
                      </a:r>
                      <a:r>
                        <a:rPr lang="en-US" altLang="zh-TW" sz="1100" b="0" i="0" u="none" strike="noStrike" kern="1200" dirty="0">
                          <a:solidFill>
                            <a:schemeClr val="tx1"/>
                          </a:solidFill>
                          <a:effectLst/>
                          <a:latin typeface="+mn-lt"/>
                          <a:ea typeface="+mn-ea"/>
                          <a:cs typeface="+mn-cs"/>
                        </a:rPr>
                        <a:t> 100mA</a:t>
                      </a:r>
                      <a:endParaRPr lang="zh-TW" altLang="en-US" sz="1100" b="0" i="0" u="none" strike="noStrike" kern="1200" dirty="0">
                        <a:solidFill>
                          <a:schemeClr val="tx1"/>
                        </a:solidFill>
                        <a:effectLst/>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886505774"/>
                  </a:ext>
                </a:extLst>
              </a:tr>
              <a:tr h="283845">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b="1" i="0" u="none" strike="noStrike" dirty="0">
                        <a:solidFill>
                          <a:srgbClr val="000000"/>
                        </a:solidFill>
                        <a:effectLst/>
                        <a:latin typeface="新細明體" panose="02020500000000000000" pitchFamily="18" charset="-120"/>
                        <a:ea typeface="新細明體" panose="02020500000000000000" pitchFamily="18" charset="-120"/>
                      </a:endParaRPr>
                    </a:p>
                  </a:txBody>
                  <a:tcPr anchor="ctr">
                    <a:lnL w="12700" cap="flat" cmpd="sng" algn="ctr">
                      <a:solidFill>
                        <a:schemeClr val="tx1"/>
                      </a:solidFill>
                      <a:prstDash val="solid"/>
                      <a:round/>
                      <a:headEnd type="none" w="med" len="med"/>
                      <a:tailEnd type="none" w="med" len="med"/>
                    </a:lnL>
                  </a:tcPr>
                </a:tc>
                <a:tc>
                  <a:txBody>
                    <a:bodyPr/>
                    <a:lstStyle/>
                    <a:p>
                      <a:pPr algn="ctr" fontAlgn="ctr">
                        <a:buNone/>
                      </a:pPr>
                      <a:r>
                        <a:rPr lang="en-US" altLang="zh-TW" sz="1100" b="0" i="0" u="none" strike="noStrike" dirty="0">
                          <a:solidFill>
                            <a:srgbClr val="000000"/>
                          </a:solidFill>
                          <a:effectLst/>
                          <a:latin typeface="+mn-lt"/>
                          <a:ea typeface="新細明體" panose="02020500000000000000" pitchFamily="18" charset="-120"/>
                        </a:rPr>
                        <a:t>15</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gridSpan="2"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b="0" kern="1200" dirty="0">
                        <a:solidFill>
                          <a:schemeClr val="dk1"/>
                        </a:solidFill>
                        <a:effectLst/>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v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kern="1200" dirty="0" err="1">
                          <a:solidFill>
                            <a:schemeClr val="dk1"/>
                          </a:solidFill>
                          <a:effectLst/>
                          <a:latin typeface="+mn-lt"/>
                          <a:ea typeface="+mn-ea"/>
                          <a:cs typeface="+mn-cs"/>
                        </a:rPr>
                        <a:t>get_left_pos_voltage</a:t>
                      </a:r>
                      <a:endParaRPr lang="en-US" altLang="zh-TW" sz="1200" b="0" kern="1200" dirty="0">
                        <a:solidFill>
                          <a:schemeClr val="dk1"/>
                        </a:solidFill>
                        <a:effectLst/>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100" b="0" i="0" u="none" strike="noStrike" kern="1200" dirty="0">
                          <a:solidFill>
                            <a:schemeClr val="tx1"/>
                          </a:solidFill>
                          <a:effectLst/>
                          <a:latin typeface="+mn-lt"/>
                          <a:ea typeface="+mn-ea"/>
                          <a:cs typeface="+mn-cs"/>
                        </a:rPr>
                        <a:t>讀取 左耳 </a:t>
                      </a:r>
                      <a:r>
                        <a:rPr lang="en-US" altLang="zh-TW" sz="1100" b="0" i="0" u="none" strike="noStrike" kern="1200" dirty="0">
                          <a:solidFill>
                            <a:schemeClr val="tx1"/>
                          </a:solidFill>
                          <a:effectLst/>
                          <a:latin typeface="+mn-lt"/>
                          <a:ea typeface="+mn-ea"/>
                          <a:cs typeface="+mn-cs"/>
                        </a:rPr>
                        <a:t>Bud Pogo pin </a:t>
                      </a:r>
                      <a:r>
                        <a:rPr lang="zh-TW" altLang="en-US" sz="1100" b="0" i="0" u="none" strike="noStrike" kern="1200" dirty="0">
                          <a:solidFill>
                            <a:schemeClr val="tx1"/>
                          </a:solidFill>
                          <a:effectLst/>
                          <a:latin typeface="+mn-lt"/>
                          <a:ea typeface="+mn-ea"/>
                          <a:cs typeface="+mn-cs"/>
                        </a:rPr>
                        <a:t>電壓</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252770946"/>
                  </a:ext>
                </a:extLst>
              </a:tr>
              <a:tr h="283845">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b="1" i="0" u="none" strike="noStrike" dirty="0">
                        <a:solidFill>
                          <a:srgbClr val="000000"/>
                        </a:solidFill>
                        <a:effectLst/>
                        <a:latin typeface="新細明體" panose="02020500000000000000" pitchFamily="18" charset="-120"/>
                        <a:ea typeface="新細明體" panose="02020500000000000000" pitchFamily="18" charset="-120"/>
                      </a:endParaRPr>
                    </a:p>
                  </a:txBody>
                  <a:tcPr anchor="ctr">
                    <a:lnL w="12700" cap="flat" cmpd="sng" algn="ctr">
                      <a:solidFill>
                        <a:schemeClr val="tx1"/>
                      </a:solidFill>
                      <a:prstDash val="solid"/>
                      <a:round/>
                      <a:headEnd type="none" w="med" len="med"/>
                      <a:tailEnd type="none" w="med" len="med"/>
                    </a:lnL>
                  </a:tcPr>
                </a:tc>
                <a:tc>
                  <a:txBody>
                    <a:bodyPr/>
                    <a:lstStyle/>
                    <a:p>
                      <a:pPr algn="ctr" fontAlgn="ctr">
                        <a:buNone/>
                      </a:pPr>
                      <a:r>
                        <a:rPr lang="en-US" altLang="zh-TW" sz="1100" b="0" i="0" u="none" strike="noStrike" dirty="0">
                          <a:solidFill>
                            <a:srgbClr val="000000"/>
                          </a:solidFill>
                          <a:effectLst/>
                          <a:latin typeface="+mn-lt"/>
                          <a:ea typeface="新細明體" panose="02020500000000000000" pitchFamily="18" charset="-120"/>
                        </a:rPr>
                        <a:t>16</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gridSpan="2"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b="0" kern="1200" dirty="0">
                        <a:solidFill>
                          <a:schemeClr val="dk1"/>
                        </a:solidFill>
                        <a:effectLst/>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v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kern="1200" dirty="0" err="1">
                          <a:solidFill>
                            <a:schemeClr val="dk1"/>
                          </a:solidFill>
                          <a:effectLst/>
                          <a:latin typeface="+mn-lt"/>
                          <a:ea typeface="+mn-ea"/>
                          <a:cs typeface="+mn-cs"/>
                        </a:rPr>
                        <a:t>get_left_eload_current</a:t>
                      </a:r>
                      <a:endParaRPr lang="en-US" altLang="zh-TW" sz="1200" b="0" kern="1200" dirty="0">
                        <a:solidFill>
                          <a:schemeClr val="dk1"/>
                        </a:solidFill>
                        <a:effectLst/>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100" b="0" i="0" u="none" strike="noStrike" kern="1200" dirty="0">
                          <a:solidFill>
                            <a:schemeClr val="tx1"/>
                          </a:solidFill>
                          <a:effectLst/>
                          <a:latin typeface="+mn-lt"/>
                          <a:ea typeface="+mn-ea"/>
                          <a:cs typeface="+mn-cs"/>
                        </a:rPr>
                        <a:t>讀取 左耳電子負載實際的電流</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455634850"/>
                  </a:ext>
                </a:extLst>
              </a:tr>
              <a:tr h="283845">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b="1" i="0" u="none" strike="noStrike" dirty="0">
                        <a:solidFill>
                          <a:srgbClr val="000000"/>
                        </a:solidFill>
                        <a:effectLst/>
                        <a:latin typeface="新細明體" panose="02020500000000000000" pitchFamily="18" charset="-120"/>
                        <a:ea typeface="新細明體" panose="02020500000000000000" pitchFamily="18" charset="-120"/>
                      </a:endParaRPr>
                    </a:p>
                  </a:txBody>
                  <a:tcPr anchor="ctr">
                    <a:lnL w="12700" cap="flat" cmpd="sng" algn="ctr">
                      <a:solidFill>
                        <a:schemeClr val="tx1"/>
                      </a:solidFill>
                      <a:prstDash val="solid"/>
                      <a:round/>
                      <a:headEnd type="none" w="med" len="med"/>
                      <a:tailEnd type="none" w="med" len="med"/>
                    </a:lnL>
                  </a:tcPr>
                </a:tc>
                <a:tc>
                  <a:txBody>
                    <a:bodyPr/>
                    <a:lstStyle/>
                    <a:p>
                      <a:pPr algn="ctr" fontAlgn="ctr">
                        <a:buNone/>
                      </a:pPr>
                      <a:r>
                        <a:rPr lang="en-US" altLang="zh-TW" sz="1100" b="0" i="0" u="none" strike="noStrike" dirty="0">
                          <a:solidFill>
                            <a:srgbClr val="000000"/>
                          </a:solidFill>
                          <a:effectLst/>
                          <a:latin typeface="+mn-lt"/>
                          <a:ea typeface="新細明體" panose="02020500000000000000" pitchFamily="18" charset="-120"/>
                        </a:rPr>
                        <a:t>17</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gridSpan="2"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b="0" kern="1200" dirty="0">
                        <a:solidFill>
                          <a:schemeClr val="dk1"/>
                        </a:solidFill>
                        <a:effectLst/>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v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kern="1200" dirty="0" err="1">
                          <a:solidFill>
                            <a:schemeClr val="dk1"/>
                          </a:solidFill>
                          <a:effectLst/>
                          <a:latin typeface="+mn-lt"/>
                          <a:ea typeface="+mn-ea"/>
                          <a:cs typeface="+mn-cs"/>
                        </a:rPr>
                        <a:t>get_right_pos_voltage</a:t>
                      </a:r>
                      <a:endParaRPr lang="en-US" altLang="zh-TW" sz="1200" b="0" kern="1200" dirty="0">
                        <a:solidFill>
                          <a:schemeClr val="dk1"/>
                        </a:solidFill>
                        <a:effectLst/>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100" b="0" i="0" u="none" strike="noStrike" kern="1200" dirty="0">
                          <a:solidFill>
                            <a:schemeClr val="tx1"/>
                          </a:solidFill>
                          <a:effectLst/>
                          <a:latin typeface="+mn-lt"/>
                          <a:ea typeface="+mn-ea"/>
                          <a:cs typeface="+mn-cs"/>
                        </a:rPr>
                        <a:t>讀取 右耳 </a:t>
                      </a:r>
                      <a:r>
                        <a:rPr lang="en-US" altLang="zh-TW" sz="1100" b="0" i="0" u="none" strike="noStrike" kern="1200" dirty="0">
                          <a:solidFill>
                            <a:schemeClr val="tx1"/>
                          </a:solidFill>
                          <a:effectLst/>
                          <a:latin typeface="+mn-lt"/>
                          <a:ea typeface="+mn-ea"/>
                          <a:cs typeface="+mn-cs"/>
                        </a:rPr>
                        <a:t>Bud Pogo pin </a:t>
                      </a:r>
                      <a:r>
                        <a:rPr lang="zh-TW" altLang="en-US" sz="1100" b="0" i="0" u="none" strike="noStrike" kern="1200" dirty="0">
                          <a:solidFill>
                            <a:schemeClr val="tx1"/>
                          </a:solidFill>
                          <a:effectLst/>
                          <a:latin typeface="+mn-lt"/>
                          <a:ea typeface="+mn-ea"/>
                          <a:cs typeface="+mn-cs"/>
                        </a:rPr>
                        <a:t>電壓</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865724265"/>
                  </a:ext>
                </a:extLst>
              </a:tr>
              <a:tr h="283845">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b="1" i="0" u="none" strike="noStrike" dirty="0">
                        <a:solidFill>
                          <a:srgbClr val="000000"/>
                        </a:solidFill>
                        <a:effectLst/>
                        <a:latin typeface="新細明體" panose="02020500000000000000" pitchFamily="18" charset="-120"/>
                        <a:ea typeface="新細明體" panose="02020500000000000000" pitchFamily="18" charset="-120"/>
                      </a:endParaRPr>
                    </a:p>
                  </a:txBody>
                  <a:tcPr anchor="ctr">
                    <a:lnL w="12700" cap="flat" cmpd="sng" algn="ctr">
                      <a:solidFill>
                        <a:schemeClr val="tx1"/>
                      </a:solidFill>
                      <a:prstDash val="solid"/>
                      <a:round/>
                      <a:headEnd type="none" w="med" len="med"/>
                      <a:tailEnd type="none" w="med" len="med"/>
                    </a:lnL>
                  </a:tcPr>
                </a:tc>
                <a:tc>
                  <a:txBody>
                    <a:bodyPr/>
                    <a:lstStyle/>
                    <a:p>
                      <a:pPr algn="ctr" fontAlgn="ctr">
                        <a:buNone/>
                      </a:pPr>
                      <a:r>
                        <a:rPr lang="en-US" altLang="zh-TW" sz="1100" b="0" i="0" u="none" strike="noStrike" dirty="0">
                          <a:solidFill>
                            <a:srgbClr val="000000"/>
                          </a:solidFill>
                          <a:effectLst/>
                          <a:latin typeface="+mn-lt"/>
                          <a:ea typeface="新細明體" panose="02020500000000000000" pitchFamily="18" charset="-120"/>
                        </a:rPr>
                        <a:t>18</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gridSpan="2"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b="0" kern="1200" dirty="0">
                        <a:solidFill>
                          <a:schemeClr val="dk1"/>
                        </a:solidFill>
                        <a:effectLst/>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v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kern="1200" dirty="0" err="1">
                          <a:solidFill>
                            <a:schemeClr val="dk1"/>
                          </a:solidFill>
                          <a:effectLst/>
                          <a:latin typeface="+mn-lt"/>
                          <a:ea typeface="+mn-ea"/>
                          <a:cs typeface="+mn-cs"/>
                        </a:rPr>
                        <a:t>get_right_eload_current</a:t>
                      </a:r>
                      <a:endParaRPr lang="en-US" altLang="zh-TW" sz="1200" b="0" kern="1200" dirty="0">
                        <a:solidFill>
                          <a:schemeClr val="dk1"/>
                        </a:solidFill>
                        <a:effectLst/>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100" b="0" i="0" u="none" strike="noStrike" kern="1200" dirty="0">
                          <a:solidFill>
                            <a:schemeClr val="tx1"/>
                          </a:solidFill>
                          <a:effectLst/>
                          <a:latin typeface="+mn-lt"/>
                          <a:ea typeface="+mn-ea"/>
                          <a:cs typeface="+mn-cs"/>
                        </a:rPr>
                        <a:t>讀取 右耳電子負載實際的電流</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643818552"/>
                  </a:ext>
                </a:extLst>
              </a:tr>
              <a:tr h="283845">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b="1" i="0" u="none" strike="noStrike" dirty="0">
                        <a:solidFill>
                          <a:srgbClr val="000000"/>
                        </a:solidFill>
                        <a:effectLst/>
                        <a:latin typeface="新細明體" panose="02020500000000000000" pitchFamily="18" charset="-120"/>
                        <a:ea typeface="新細明體" panose="02020500000000000000" pitchFamily="18"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ctr">
                        <a:buNone/>
                      </a:pPr>
                      <a:r>
                        <a:rPr lang="en-US" altLang="zh-TW" sz="1100" b="0" i="0" u="none" strike="noStrike" dirty="0">
                          <a:solidFill>
                            <a:srgbClr val="000000"/>
                          </a:solidFill>
                          <a:effectLst/>
                          <a:latin typeface="+mn-lt"/>
                          <a:ea typeface="新細明體" panose="02020500000000000000" pitchFamily="18" charset="-120"/>
                        </a:rPr>
                        <a:t>19</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kern="1200" dirty="0">
                          <a:solidFill>
                            <a:schemeClr val="dk1"/>
                          </a:solidFill>
                          <a:effectLst/>
                          <a:latin typeface="+mn-lt"/>
                          <a:ea typeface="+mn-ea"/>
                          <a:cs typeface="+mn-cs"/>
                        </a:rPr>
                        <a:t>gg info</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zh-TW" altLang="en-US" sz="1100" b="0" i="0" u="none" strike="noStrike" kern="1200" dirty="0">
                          <a:solidFill>
                            <a:schemeClr val="tx1"/>
                          </a:solidFill>
                          <a:effectLst/>
                          <a:latin typeface="+mn-lt"/>
                          <a:ea typeface="+mn-ea"/>
                          <a:cs typeface="+mn-cs"/>
                        </a:rPr>
                        <a:t>取得電池各項資訊</a:t>
                      </a:r>
                      <a:endParaRPr lang="zh-TW" altLang="zh-TW" sz="1100" b="0" i="0" u="none" strike="noStrike" kern="1200" dirty="0">
                        <a:solidFill>
                          <a:schemeClr val="tx1"/>
                        </a:solidFill>
                        <a:effectLst/>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sz="1200" b="0" kern="1200" dirty="0">
                        <a:solidFill>
                          <a:schemeClr val="dk1"/>
                        </a:solidFill>
                        <a:effectLst/>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sz="1200" b="0" kern="1200" dirty="0">
                        <a:solidFill>
                          <a:schemeClr val="dk1"/>
                        </a:solidFill>
                        <a:effectLst/>
                        <a:latin typeface="+mn-lt"/>
                        <a:ea typeface="+mn-ea"/>
                        <a:cs typeface="+mn-cs"/>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556903449"/>
                  </a:ext>
                </a:extLst>
              </a:tr>
              <a:tr h="283845">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b="1" i="0" u="none" strike="noStrike" dirty="0">
                        <a:solidFill>
                          <a:srgbClr val="000000"/>
                        </a:solidFill>
                        <a:effectLst/>
                        <a:latin typeface="新細明體" panose="02020500000000000000" pitchFamily="18" charset="-120"/>
                        <a:ea typeface="新細明體" panose="02020500000000000000" pitchFamily="18"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ctr">
                        <a:buNone/>
                      </a:pPr>
                      <a:r>
                        <a:rPr lang="en-US" altLang="zh-TW" sz="1100" b="0" i="0" u="none" strike="noStrike" dirty="0">
                          <a:solidFill>
                            <a:srgbClr val="000000"/>
                          </a:solidFill>
                          <a:effectLst/>
                          <a:latin typeface="+mn-lt"/>
                          <a:ea typeface="新細明體" panose="02020500000000000000" pitchFamily="18" charset="-120"/>
                        </a:rPr>
                        <a:t>20</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rowSpan="4"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b="0" kern="1200" dirty="0">
                        <a:solidFill>
                          <a:schemeClr val="dk1"/>
                        </a:solidFill>
                        <a:effectLst/>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rowSpan="4" h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kern="1200" dirty="0" err="1">
                          <a:solidFill>
                            <a:schemeClr val="dk1"/>
                          </a:solidFill>
                          <a:effectLst/>
                          <a:latin typeface="+mn-lt"/>
                          <a:ea typeface="+mn-ea"/>
                          <a:cs typeface="+mn-cs"/>
                        </a:rPr>
                        <a:t>set_left_eload</a:t>
                      </a:r>
                      <a:r>
                        <a:rPr lang="en-US" altLang="zh-TW" sz="1200" b="0" kern="1200" dirty="0">
                          <a:solidFill>
                            <a:schemeClr val="dk1"/>
                          </a:solidFill>
                          <a:effectLst/>
                          <a:latin typeface="+mn-lt"/>
                          <a:ea typeface="+mn-ea"/>
                          <a:cs typeface="+mn-cs"/>
                        </a:rPr>
                        <a:t>[0]</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fontAlgn="ctr">
                        <a:buNone/>
                      </a:pPr>
                      <a:r>
                        <a:rPr lang="zh-TW" altLang="en-US" sz="1100" b="0" i="0" u="none" strike="noStrike" kern="1200" dirty="0">
                          <a:solidFill>
                            <a:schemeClr val="tx1"/>
                          </a:solidFill>
                          <a:effectLst/>
                          <a:latin typeface="+mn-lt"/>
                          <a:ea typeface="+mn-ea"/>
                          <a:cs typeface="+mn-cs"/>
                        </a:rPr>
                        <a:t>設定 左耳電子負載電流</a:t>
                      </a:r>
                      <a:r>
                        <a:rPr lang="en-US" altLang="zh-TW" sz="1100" b="0" i="0" u="none" strike="noStrike" kern="1200" dirty="0">
                          <a:solidFill>
                            <a:schemeClr val="tx1"/>
                          </a:solidFill>
                          <a:effectLst/>
                          <a:latin typeface="+mn-lt"/>
                          <a:ea typeface="+mn-ea"/>
                          <a:cs typeface="+mn-cs"/>
                        </a:rPr>
                        <a:t> 0mA</a:t>
                      </a:r>
                      <a:endParaRPr lang="zh-TW" altLang="en-US" sz="1100" b="0" i="0" u="none" strike="noStrike" kern="1200" dirty="0">
                        <a:solidFill>
                          <a:schemeClr val="tx1"/>
                        </a:solidFill>
                        <a:effectLst/>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548702820"/>
                  </a:ext>
                </a:extLst>
              </a:tr>
              <a:tr h="283845">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b="0" kern="1200" dirty="0">
                        <a:solidFill>
                          <a:schemeClr val="dk1"/>
                        </a:solidFill>
                        <a:effectLst/>
                        <a:latin typeface="+mn-lt"/>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ctr">
                        <a:buNone/>
                      </a:pPr>
                      <a:r>
                        <a:rPr lang="en-US" altLang="zh-TW" sz="1200" b="0" kern="1200" dirty="0">
                          <a:solidFill>
                            <a:schemeClr val="dk1"/>
                          </a:solidFill>
                          <a:effectLst/>
                          <a:latin typeface="+mn-lt"/>
                          <a:ea typeface="+mn-ea"/>
                          <a:cs typeface="+mn-cs"/>
                        </a:rPr>
                        <a:t>21</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gridSpan="2"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b="0" kern="1200" dirty="0">
                        <a:solidFill>
                          <a:schemeClr val="dk1"/>
                        </a:solidFill>
                        <a:effectLst/>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v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kern="1200" dirty="0" err="1">
                          <a:solidFill>
                            <a:schemeClr val="dk1"/>
                          </a:solidFill>
                          <a:effectLst/>
                          <a:latin typeface="+mn-lt"/>
                          <a:ea typeface="+mn-ea"/>
                          <a:cs typeface="+mn-cs"/>
                        </a:rPr>
                        <a:t>set_right_eload</a:t>
                      </a:r>
                      <a:r>
                        <a:rPr lang="en-US" altLang="zh-TW" sz="1200" b="0" kern="1200" dirty="0">
                          <a:solidFill>
                            <a:schemeClr val="dk1"/>
                          </a:solidFill>
                          <a:effectLst/>
                          <a:latin typeface="+mn-lt"/>
                          <a:ea typeface="+mn-ea"/>
                          <a:cs typeface="+mn-cs"/>
                        </a:rPr>
                        <a:t>[0]</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zh-TW" altLang="en-US" sz="1100" b="0" i="0" u="none" strike="noStrike" kern="1200" dirty="0">
                          <a:solidFill>
                            <a:schemeClr val="tx1"/>
                          </a:solidFill>
                          <a:effectLst/>
                          <a:latin typeface="+mn-lt"/>
                          <a:ea typeface="+mn-ea"/>
                          <a:cs typeface="+mn-cs"/>
                        </a:rPr>
                        <a:t>設定 右耳電子負載電流</a:t>
                      </a:r>
                      <a:r>
                        <a:rPr lang="en-US" altLang="zh-TW" sz="1100" b="0" i="0" u="none" strike="noStrike" kern="1200" dirty="0">
                          <a:solidFill>
                            <a:schemeClr val="tx1"/>
                          </a:solidFill>
                          <a:effectLst/>
                          <a:latin typeface="+mn-lt"/>
                          <a:ea typeface="+mn-ea"/>
                          <a:cs typeface="+mn-cs"/>
                        </a:rPr>
                        <a:t> 0mA</a:t>
                      </a:r>
                      <a:endParaRPr lang="zh-TW" altLang="en-US" sz="1100" b="0" i="0" u="none" strike="noStrike" kern="1200" dirty="0">
                        <a:solidFill>
                          <a:schemeClr val="tx1"/>
                        </a:solidFill>
                        <a:effectLst/>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905077583"/>
                  </a:ext>
                </a:extLst>
              </a:tr>
              <a:tr h="283845">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b="1" i="0" u="none" strike="noStrike" dirty="0">
                        <a:solidFill>
                          <a:srgbClr val="000000"/>
                        </a:solidFill>
                        <a:effectLst/>
                        <a:latin typeface="新細明體" panose="02020500000000000000" pitchFamily="18" charset="-120"/>
                        <a:ea typeface="新細明體" panose="02020500000000000000" pitchFamily="18"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ctr">
                        <a:buNone/>
                      </a:pPr>
                      <a:r>
                        <a:rPr lang="en-US" altLang="zh-TW" sz="1100" b="0" i="0" u="none" strike="noStrike" dirty="0">
                          <a:solidFill>
                            <a:srgbClr val="000000"/>
                          </a:solidFill>
                          <a:effectLst/>
                          <a:latin typeface="+mn-lt"/>
                          <a:ea typeface="新細明體" panose="02020500000000000000" pitchFamily="18" charset="-120"/>
                        </a:rPr>
                        <a:t>22</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gridSpan="2"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b="0" kern="1200" dirty="0">
                        <a:solidFill>
                          <a:schemeClr val="dk1"/>
                        </a:solidFill>
                        <a:effectLst/>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v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zh-TW" sz="1200" b="0" kern="1200" dirty="0" err="1">
                          <a:solidFill>
                            <a:schemeClr val="dk1"/>
                          </a:solidFill>
                          <a:effectLst/>
                          <a:latin typeface="+mn-lt"/>
                          <a:ea typeface="+mn-ea"/>
                          <a:cs typeface="+mn-cs"/>
                        </a:rPr>
                        <a:t>get_left_pos_voltage</a:t>
                      </a:r>
                      <a:endParaRPr lang="en-US" altLang="zh-TW" sz="1200" b="0" kern="1200" dirty="0">
                        <a:solidFill>
                          <a:schemeClr val="dk1"/>
                        </a:solidFill>
                        <a:effectLst/>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zh-TW" altLang="en-US" sz="1100" b="0" i="0" u="none" strike="noStrike" kern="1200" dirty="0">
                          <a:solidFill>
                            <a:schemeClr val="tx1"/>
                          </a:solidFill>
                          <a:effectLst/>
                          <a:latin typeface="+mn-lt"/>
                          <a:ea typeface="+mn-ea"/>
                          <a:cs typeface="+mn-cs"/>
                        </a:rPr>
                        <a:t>讀取 左耳 </a:t>
                      </a:r>
                      <a:r>
                        <a:rPr lang="en-US" altLang="zh-TW" sz="1100" b="0" i="0" u="none" strike="noStrike" kern="1200" dirty="0">
                          <a:solidFill>
                            <a:schemeClr val="tx1"/>
                          </a:solidFill>
                          <a:effectLst/>
                          <a:latin typeface="+mn-lt"/>
                          <a:ea typeface="+mn-ea"/>
                          <a:cs typeface="+mn-cs"/>
                        </a:rPr>
                        <a:t>Bud Pogo pin </a:t>
                      </a:r>
                      <a:r>
                        <a:rPr lang="zh-TW" altLang="en-US" sz="1100" b="0" i="0" u="none" strike="noStrike" kern="1200" dirty="0">
                          <a:solidFill>
                            <a:schemeClr val="tx1"/>
                          </a:solidFill>
                          <a:effectLst/>
                          <a:latin typeface="+mn-lt"/>
                          <a:ea typeface="+mn-ea"/>
                          <a:cs typeface="+mn-cs"/>
                        </a:rPr>
                        <a:t>電壓</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4218561278"/>
                  </a:ext>
                </a:extLst>
              </a:tr>
              <a:tr h="283845">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b="1" i="0" u="none" strike="noStrike" dirty="0">
                        <a:solidFill>
                          <a:srgbClr val="000000"/>
                        </a:solidFill>
                        <a:effectLst/>
                        <a:latin typeface="新細明體" panose="02020500000000000000" pitchFamily="18" charset="-120"/>
                        <a:ea typeface="新細明體" panose="02020500000000000000" pitchFamily="18"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ctr">
                        <a:buNone/>
                      </a:pPr>
                      <a:r>
                        <a:rPr lang="en-US" altLang="zh-TW" sz="1200" b="0" kern="1200" dirty="0">
                          <a:solidFill>
                            <a:schemeClr val="dk1"/>
                          </a:solidFill>
                          <a:effectLst/>
                          <a:latin typeface="+mn-lt"/>
                          <a:ea typeface="+mn-ea"/>
                          <a:cs typeface="+mn-cs"/>
                        </a:rPr>
                        <a:t>23</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gridSpan="2"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b="0" kern="1200" dirty="0">
                        <a:solidFill>
                          <a:schemeClr val="dk1"/>
                        </a:solidFill>
                        <a:effectLst/>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v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zh-TW" sz="1200" b="0" kern="1200" dirty="0" err="1">
                          <a:solidFill>
                            <a:schemeClr val="dk1"/>
                          </a:solidFill>
                          <a:effectLst/>
                          <a:latin typeface="+mn-lt"/>
                          <a:ea typeface="+mn-ea"/>
                          <a:cs typeface="+mn-cs"/>
                        </a:rPr>
                        <a:t>get_right_pos_voltage</a:t>
                      </a:r>
                      <a:endParaRPr lang="en-US" altLang="zh-TW" sz="1200" b="0" kern="1200" dirty="0">
                        <a:solidFill>
                          <a:schemeClr val="dk1"/>
                        </a:solidFill>
                        <a:effectLst/>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zh-TW" altLang="en-US" sz="1100" b="0" i="0" u="none" strike="noStrike" kern="1200" dirty="0">
                          <a:solidFill>
                            <a:schemeClr val="tx1"/>
                          </a:solidFill>
                          <a:effectLst/>
                          <a:latin typeface="+mn-lt"/>
                          <a:ea typeface="+mn-ea"/>
                          <a:cs typeface="+mn-cs"/>
                        </a:rPr>
                        <a:t>讀取 右耳 </a:t>
                      </a:r>
                      <a:r>
                        <a:rPr lang="en-US" altLang="zh-TW" sz="1100" b="0" i="0" u="none" strike="noStrike" kern="1200" dirty="0">
                          <a:solidFill>
                            <a:schemeClr val="tx1"/>
                          </a:solidFill>
                          <a:effectLst/>
                          <a:latin typeface="+mn-lt"/>
                          <a:ea typeface="+mn-ea"/>
                          <a:cs typeface="+mn-cs"/>
                        </a:rPr>
                        <a:t>Bud Pogo pin </a:t>
                      </a:r>
                      <a:r>
                        <a:rPr lang="zh-TW" altLang="en-US" sz="1100" b="0" i="0" u="none" strike="noStrike" kern="1200" dirty="0">
                          <a:solidFill>
                            <a:schemeClr val="tx1"/>
                          </a:solidFill>
                          <a:effectLst/>
                          <a:latin typeface="+mn-lt"/>
                          <a:ea typeface="+mn-ea"/>
                          <a:cs typeface="+mn-cs"/>
                        </a:rPr>
                        <a:t>電壓</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348183154"/>
                  </a:ext>
                </a:extLst>
              </a:tr>
              <a:tr h="283845">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b="1" i="0" u="none" strike="noStrike" dirty="0">
                        <a:solidFill>
                          <a:srgbClr val="000000"/>
                        </a:solidFill>
                        <a:effectLst/>
                        <a:latin typeface="新細明體" panose="02020500000000000000" pitchFamily="18" charset="-120"/>
                        <a:ea typeface="新細明體" panose="02020500000000000000" pitchFamily="18" charset="-12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ctr">
                        <a:buNone/>
                      </a:pPr>
                      <a:r>
                        <a:rPr lang="en-US" altLang="zh-TW" sz="1100" b="0" i="0" u="none" strike="noStrike" dirty="0">
                          <a:solidFill>
                            <a:srgbClr val="000000"/>
                          </a:solidFill>
                          <a:effectLst/>
                          <a:latin typeface="+mn-lt"/>
                          <a:ea typeface="新細明體" panose="02020500000000000000" pitchFamily="18" charset="-120"/>
                        </a:rPr>
                        <a:t>24</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kern="1200" dirty="0">
                          <a:solidFill>
                            <a:schemeClr val="dk1"/>
                          </a:solidFill>
                          <a:effectLst/>
                          <a:latin typeface="+mn-lt"/>
                          <a:ea typeface="+mn-ea"/>
                          <a:cs typeface="+mn-cs"/>
                        </a:rPr>
                        <a:t>gg info</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zh-TW" altLang="en-US" sz="1100" b="0" i="0" u="none" strike="noStrike" kern="1200" dirty="0">
                          <a:solidFill>
                            <a:schemeClr val="tx1"/>
                          </a:solidFill>
                          <a:effectLst/>
                          <a:latin typeface="+mn-lt"/>
                          <a:ea typeface="+mn-ea"/>
                          <a:cs typeface="+mn-cs"/>
                        </a:rPr>
                        <a:t>確認電池各項資訊</a:t>
                      </a:r>
                      <a:endParaRPr lang="zh-TW" altLang="zh-TW" sz="1100" b="0" i="0" u="none" strike="noStrike" kern="1200" dirty="0">
                        <a:solidFill>
                          <a:schemeClr val="tx1"/>
                        </a:solidFill>
                        <a:effectLst/>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b="0" kern="1200" dirty="0">
                        <a:solidFill>
                          <a:schemeClr val="dk1"/>
                        </a:solidFill>
                        <a:effectLst/>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4247827742"/>
                  </a:ext>
                </a:extLst>
              </a:tr>
              <a:tr h="283845">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TW" sz="1200" b="1" i="0" u="none" strike="noStrike" dirty="0">
                        <a:solidFill>
                          <a:srgbClr val="000000"/>
                        </a:solidFill>
                        <a:effectLst/>
                        <a:latin typeface="新細明體" panose="02020500000000000000" pitchFamily="18" charset="-120"/>
                        <a:ea typeface="新細明體" panose="02020500000000000000" pitchFamily="18" charset="-120"/>
                      </a:endParaRP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ctr">
                        <a:buNone/>
                      </a:pPr>
                      <a:r>
                        <a:rPr lang="en-US" altLang="zh-TW" sz="1100" b="0" i="0" u="none" strike="noStrike" dirty="0">
                          <a:solidFill>
                            <a:srgbClr val="000000"/>
                          </a:solidFill>
                          <a:effectLst/>
                          <a:latin typeface="+mn-lt"/>
                          <a:ea typeface="新細明體" panose="02020500000000000000" pitchFamily="18" charset="-120"/>
                        </a:rPr>
                        <a:t>25</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b="0" kern="1200" dirty="0">
                        <a:solidFill>
                          <a:schemeClr val="dk1"/>
                        </a:solidFill>
                        <a:effectLst/>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sz="1200" b="0" kern="1200" dirty="0">
                        <a:solidFill>
                          <a:schemeClr val="dk1"/>
                        </a:solidFill>
                        <a:effectLst/>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b="0" kern="1200" dirty="0">
                          <a:solidFill>
                            <a:schemeClr val="dk1"/>
                          </a:solidFill>
                          <a:effectLst/>
                          <a:latin typeface="+mn-lt"/>
                          <a:ea typeface="+mn-ea"/>
                          <a:cs typeface="+mn-cs"/>
                        </a:rPr>
                        <a:t>（</a:t>
                      </a:r>
                      <a:r>
                        <a:rPr lang="en-US" altLang="zh-TW" sz="1200" b="0" kern="1200" dirty="0">
                          <a:solidFill>
                            <a:schemeClr val="dk1"/>
                          </a:solidFill>
                          <a:effectLst/>
                          <a:latin typeface="+mn-lt"/>
                          <a:ea typeface="+mn-ea"/>
                          <a:cs typeface="+mn-cs"/>
                        </a:rPr>
                        <a:t>Left / Right</a:t>
                      </a:r>
                      <a:r>
                        <a:rPr lang="zh-TW" altLang="en-US" sz="1200" b="0" kern="1200" dirty="0">
                          <a:solidFill>
                            <a:schemeClr val="dk1"/>
                          </a:solidFill>
                          <a:effectLst/>
                          <a:latin typeface="+mn-lt"/>
                          <a:ea typeface="+mn-ea"/>
                          <a:cs typeface="+mn-cs"/>
                        </a:rPr>
                        <a:t>）</a:t>
                      </a:r>
                      <a:r>
                        <a:rPr lang="en-US" altLang="zh-TW" sz="1200" b="0" kern="1200" dirty="0">
                          <a:solidFill>
                            <a:schemeClr val="dk1"/>
                          </a:solidFill>
                          <a:effectLst/>
                          <a:latin typeface="+mn-lt"/>
                          <a:ea typeface="+mn-ea"/>
                          <a:cs typeface="+mn-cs"/>
                        </a:rPr>
                        <a:t>_</a:t>
                      </a:r>
                      <a:r>
                        <a:rPr lang="en-US" altLang="zh-TW" sz="1200" b="0" kern="1200" dirty="0" err="1">
                          <a:solidFill>
                            <a:schemeClr val="dk1"/>
                          </a:solidFill>
                          <a:effectLst/>
                          <a:latin typeface="+mn-lt"/>
                          <a:ea typeface="+mn-ea"/>
                          <a:cs typeface="+mn-cs"/>
                        </a:rPr>
                        <a:t>eload_ch_off</a:t>
                      </a:r>
                      <a:endParaRPr lang="en-US" altLang="zh-TW" sz="1200" b="0" kern="1200" dirty="0">
                        <a:solidFill>
                          <a:schemeClr val="dk1"/>
                        </a:solidFill>
                        <a:effectLst/>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fontAlgn="ctr">
                        <a:buNone/>
                      </a:pPr>
                      <a:r>
                        <a:rPr lang="zh-TW" altLang="en-US" sz="1100" b="0" i="0" u="none" strike="noStrike" kern="1200" dirty="0">
                          <a:solidFill>
                            <a:schemeClr val="tx1"/>
                          </a:solidFill>
                          <a:effectLst/>
                          <a:latin typeface="+mn-lt"/>
                          <a:ea typeface="+mn-ea"/>
                          <a:cs typeface="+mn-cs"/>
                        </a:rPr>
                        <a:t>關閉左右耳</a:t>
                      </a:r>
                      <a:r>
                        <a:rPr lang="en-US" altLang="zh-TW" sz="1100" b="0" i="0" u="none" strike="noStrike" kern="1200" dirty="0" err="1">
                          <a:solidFill>
                            <a:schemeClr val="tx1"/>
                          </a:solidFill>
                          <a:effectLst/>
                          <a:latin typeface="+mn-lt"/>
                          <a:ea typeface="+mn-ea"/>
                          <a:cs typeface="+mn-cs"/>
                        </a:rPr>
                        <a:t>Eload</a:t>
                      </a:r>
                      <a:r>
                        <a:rPr lang="zh-TW" altLang="en-US" sz="1100" b="0" i="0" u="none" strike="noStrike" kern="1200" dirty="0">
                          <a:solidFill>
                            <a:schemeClr val="tx1"/>
                          </a:solidFill>
                          <a:effectLst/>
                          <a:latin typeface="+mn-lt"/>
                          <a:ea typeface="+mn-ea"/>
                          <a:cs typeface="+mn-cs"/>
                        </a:rPr>
                        <a:t>通道</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664446879"/>
                  </a:ext>
                </a:extLst>
              </a:tr>
              <a:tr h="283845">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TW" sz="1200" b="1" i="0" u="none" strike="noStrike" dirty="0">
                        <a:solidFill>
                          <a:srgbClr val="000000"/>
                        </a:solidFill>
                        <a:effectLst/>
                        <a:latin typeface="新細明體" panose="02020500000000000000" pitchFamily="18" charset="-120"/>
                        <a:ea typeface="新細明體" panose="02020500000000000000" pitchFamily="18" charset="-120"/>
                      </a:endParaRP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fontAlgn="ctr">
                        <a:buNone/>
                      </a:pPr>
                      <a:r>
                        <a:rPr lang="en-US" altLang="zh-TW" sz="1100" b="0" i="0" u="none" strike="noStrike" dirty="0">
                          <a:solidFill>
                            <a:srgbClr val="000000"/>
                          </a:solidFill>
                          <a:effectLst/>
                          <a:latin typeface="+mn-lt"/>
                          <a:ea typeface="新細明體" panose="02020500000000000000" pitchFamily="18" charset="-120"/>
                        </a:rPr>
                        <a:t>26</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kern="1200" dirty="0">
                          <a:solidFill>
                            <a:schemeClr val="dk1"/>
                          </a:solidFill>
                          <a:effectLst/>
                          <a:latin typeface="+mn-lt"/>
                          <a:ea typeface="+mn-ea"/>
                          <a:cs typeface="+mn-cs"/>
                        </a:rPr>
                        <a:t>dev </a:t>
                      </a:r>
                      <a:r>
                        <a:rPr lang="en-US" altLang="zh-TW" sz="1200" b="0" kern="1200" dirty="0" err="1">
                          <a:solidFill>
                            <a:schemeClr val="dk1"/>
                          </a:solidFill>
                          <a:effectLst/>
                          <a:latin typeface="+mn-lt"/>
                          <a:ea typeface="+mn-ea"/>
                          <a:cs typeface="+mn-cs"/>
                        </a:rPr>
                        <a:t>vbus</a:t>
                      </a:r>
                      <a:r>
                        <a:rPr lang="en-US" altLang="zh-TW" sz="1200" b="0" kern="1200" dirty="0">
                          <a:solidFill>
                            <a:schemeClr val="dk1"/>
                          </a:solidFill>
                          <a:effectLst/>
                          <a:latin typeface="+mn-lt"/>
                          <a:ea typeface="+mn-ea"/>
                          <a:cs typeface="+mn-cs"/>
                        </a:rPr>
                        <a:t> enable</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l" fontAlgn="ctr">
                        <a:buNone/>
                      </a:pPr>
                      <a:r>
                        <a:rPr lang="zh-TW" altLang="en-US" sz="1100" b="0" i="0" u="none" strike="noStrike" kern="1200" dirty="0">
                          <a:solidFill>
                            <a:schemeClr val="tx1"/>
                          </a:solidFill>
                          <a:effectLst/>
                          <a:latin typeface="+mn-lt"/>
                          <a:ea typeface="+mn-ea"/>
                          <a:cs typeface="+mn-cs"/>
                        </a:rPr>
                        <a:t>重新啟用</a:t>
                      </a:r>
                      <a:r>
                        <a:rPr lang="en-US" altLang="zh-TW" sz="1100" b="0" i="0" u="none" strike="noStrike" kern="1200" dirty="0">
                          <a:solidFill>
                            <a:schemeClr val="tx1"/>
                          </a:solidFill>
                          <a:effectLst/>
                          <a:latin typeface="+mn-lt"/>
                          <a:ea typeface="+mn-ea"/>
                          <a:cs typeface="+mn-cs"/>
                        </a:rPr>
                        <a:t>5v</a:t>
                      </a:r>
                      <a:r>
                        <a:rPr lang="zh-TW" altLang="en-US" sz="1100" b="0" i="0" u="none" strike="noStrike" kern="1200" dirty="0">
                          <a:solidFill>
                            <a:schemeClr val="tx1"/>
                          </a:solidFill>
                          <a:effectLst/>
                          <a:latin typeface="+mn-lt"/>
                          <a:ea typeface="+mn-ea"/>
                          <a:cs typeface="+mn-cs"/>
                        </a:rPr>
                        <a:t>外部電源</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rowSpan="2"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b="0" kern="1200" dirty="0">
                        <a:solidFill>
                          <a:schemeClr val="dk1"/>
                        </a:solidFill>
                        <a:effectLst/>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h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30732826"/>
                  </a:ext>
                </a:extLst>
              </a:tr>
              <a:tr h="297833">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TW" sz="1200" b="1" i="0" u="none" strike="noStrike" dirty="0">
                        <a:solidFill>
                          <a:srgbClr val="000000"/>
                        </a:solidFill>
                        <a:effectLst/>
                        <a:latin typeface="新細明體" panose="02020500000000000000" pitchFamily="18" charset="-120"/>
                        <a:ea typeface="新細明體" panose="02020500000000000000" pitchFamily="18" charset="-120"/>
                      </a:endParaRPr>
                    </a:p>
                  </a:txBody>
                  <a:tcPr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altLang="zh-TW" sz="1100" b="0" i="0" u="none" strike="noStrike" dirty="0">
                          <a:solidFill>
                            <a:srgbClr val="000000"/>
                          </a:solidFill>
                          <a:effectLst/>
                          <a:latin typeface="+mn-lt"/>
                          <a:ea typeface="新細明體" panose="02020500000000000000" pitchFamily="18" charset="-120"/>
                        </a:rPr>
                        <a:t>27</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kern="1200" dirty="0">
                          <a:solidFill>
                            <a:schemeClr val="dk1"/>
                          </a:solidFill>
                          <a:effectLst/>
                          <a:latin typeface="+mn-lt"/>
                          <a:ea typeface="+mn-ea"/>
                          <a:cs typeface="+mn-cs"/>
                        </a:rPr>
                        <a:t>dev </a:t>
                      </a:r>
                      <a:r>
                        <a:rPr lang="en-US" altLang="zh-TW" sz="1200" b="0" kern="1200" dirty="0" err="1">
                          <a:solidFill>
                            <a:schemeClr val="dk1"/>
                          </a:solidFill>
                          <a:effectLst/>
                          <a:latin typeface="+mn-lt"/>
                          <a:ea typeface="+mn-ea"/>
                          <a:cs typeface="+mn-cs"/>
                        </a:rPr>
                        <a:t>vbus</a:t>
                      </a:r>
                      <a:r>
                        <a:rPr lang="en-US" altLang="zh-TW" sz="1200" b="0" kern="1200" dirty="0">
                          <a:solidFill>
                            <a:schemeClr val="dk1"/>
                          </a:solidFill>
                          <a:effectLst/>
                          <a:latin typeface="+mn-lt"/>
                          <a:ea typeface="+mn-ea"/>
                          <a:cs typeface="+mn-cs"/>
                        </a:rPr>
                        <a:t> get</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zh-TW" altLang="en-US" sz="1100" b="0" i="0" u="none" strike="noStrike" kern="1200" dirty="0">
                          <a:solidFill>
                            <a:schemeClr val="tx1"/>
                          </a:solidFill>
                          <a:effectLst/>
                          <a:latin typeface="+mn-lt"/>
                          <a:ea typeface="+mn-ea"/>
                          <a:cs typeface="+mn-cs"/>
                        </a:rPr>
                        <a:t>確認啟用</a:t>
                      </a:r>
                      <a:r>
                        <a:rPr lang="en-US" altLang="zh-TW" sz="1100" b="0" i="0" u="none" strike="noStrike" kern="1200" dirty="0" err="1">
                          <a:solidFill>
                            <a:schemeClr val="tx1"/>
                          </a:solidFill>
                          <a:effectLst/>
                          <a:latin typeface="+mn-lt"/>
                          <a:ea typeface="+mn-ea"/>
                          <a:cs typeface="+mn-cs"/>
                        </a:rPr>
                        <a:t>vbus</a:t>
                      </a:r>
                      <a:endParaRPr lang="zh-TW" altLang="en-US" sz="1100" b="0" i="0" u="none" strike="noStrike" kern="1200" dirty="0">
                        <a:solidFill>
                          <a:schemeClr val="tx1"/>
                        </a:solidFill>
                        <a:effectLst/>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b="0" kern="1200" dirty="0">
                        <a:solidFill>
                          <a:schemeClr val="dk1"/>
                        </a:solidFill>
                        <a:effectLst/>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v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26243644"/>
                  </a:ext>
                </a:extLst>
              </a:tr>
            </a:tbl>
          </a:graphicData>
        </a:graphic>
      </p:graphicFrame>
    </p:spTree>
    <p:extLst>
      <p:ext uri="{BB962C8B-B14F-4D97-AF65-F5344CB8AC3E}">
        <p14:creationId xmlns:p14="http://schemas.microsoft.com/office/powerpoint/2010/main" val="224546712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4EDA83-99F2-40FE-39CA-07AFE99CE880}"/>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E5195E92-5313-AE46-85DE-02D599269C50}"/>
              </a:ext>
            </a:extLst>
          </p:cNvPr>
          <p:cNvSpPr>
            <a:spLocks noGrp="1"/>
          </p:cNvSpPr>
          <p:nvPr>
            <p:ph type="body" sz="quarter" idx="13"/>
          </p:nvPr>
        </p:nvSpPr>
        <p:spPr/>
        <p:txBody>
          <a:bodyPr/>
          <a:lstStyle/>
          <a:p>
            <a:r>
              <a:rPr lang="en-US" dirty="0"/>
              <a:t>Terminology  </a:t>
            </a:r>
          </a:p>
          <a:p>
            <a:endParaRPr lang="en-US" dirty="0"/>
          </a:p>
        </p:txBody>
      </p:sp>
      <p:sp>
        <p:nvSpPr>
          <p:cNvPr id="6" name="文字方塊 5">
            <a:extLst>
              <a:ext uri="{FF2B5EF4-FFF2-40B4-BE49-F238E27FC236}">
                <a16:creationId xmlns:a16="http://schemas.microsoft.com/office/drawing/2014/main" id="{2C5D586F-C2F7-24AB-7D9E-A66D32125BE4}"/>
              </a:ext>
            </a:extLst>
          </p:cNvPr>
          <p:cNvSpPr txBox="1"/>
          <p:nvPr/>
        </p:nvSpPr>
        <p:spPr>
          <a:xfrm>
            <a:off x="571500" y="938449"/>
            <a:ext cx="9336429" cy="1881925"/>
          </a:xfrm>
          <a:prstGeom prst="rect">
            <a:avLst/>
          </a:prstGeom>
          <a:noFill/>
        </p:spPr>
        <p:txBody>
          <a:bodyPr wrap="square">
            <a:spAutoFit/>
          </a:bodyPr>
          <a:lstStyle/>
          <a:p>
            <a:pPr>
              <a:lnSpc>
                <a:spcPct val="150000"/>
              </a:lnSpc>
              <a:defRPr/>
            </a:pPr>
            <a:r>
              <a:rPr lang="en-US" altLang="zh-TW" b="1" dirty="0" err="1"/>
              <a:t>ConnectivityTest_PARROT</a:t>
            </a:r>
            <a:r>
              <a:rPr lang="zh-TW" altLang="en-US" sz="2000" b="1" kern="1200" dirty="0">
                <a:solidFill>
                  <a:schemeClr val="tx1"/>
                </a:solidFill>
                <a:effectLst/>
                <a:latin typeface="+mn-lt"/>
                <a:ea typeface="+mn-ea"/>
                <a:cs typeface="+mn-cs"/>
              </a:rPr>
              <a:t>：</a:t>
            </a:r>
            <a:endParaRPr lang="en-US" altLang="zh-TW" sz="2000" b="1" kern="1200" dirty="0">
              <a:solidFill>
                <a:schemeClr val="tx1"/>
              </a:solidFill>
              <a:effectLst/>
              <a:latin typeface="+mn-lt"/>
              <a:ea typeface="+mn-ea"/>
              <a:cs typeface="+mn-cs"/>
            </a:endParaRPr>
          </a:p>
          <a:p>
            <a:pPr marL="800100" lvl="1" indent="-342900">
              <a:lnSpc>
                <a:spcPct val="150000"/>
              </a:lnSpc>
              <a:buFont typeface="Arial" panose="020B0604020202020204" pitchFamily="34" charset="0"/>
              <a:buChar char="•"/>
              <a:defRPr/>
            </a:pPr>
            <a:r>
              <a:rPr lang="en-US" altLang="zh-TW" sz="2000" dirty="0"/>
              <a:t>Verify the connectivity between the DUT and the PARROT device</a:t>
            </a:r>
            <a:endParaRPr lang="en-US" altLang="zh-TW" sz="2000" b="1" dirty="0"/>
          </a:p>
          <a:p>
            <a:pPr>
              <a:lnSpc>
                <a:spcPct val="150000"/>
              </a:lnSpc>
              <a:defRPr/>
            </a:pPr>
            <a:r>
              <a:rPr lang="en-US" altLang="zh-TW" sz="2000" b="1" dirty="0"/>
              <a:t>Command</a:t>
            </a:r>
            <a:r>
              <a:rPr lang="zh-TW" altLang="en-US" sz="2000" b="1" dirty="0"/>
              <a:t>：</a:t>
            </a:r>
            <a:endParaRPr lang="en-US" altLang="zh-TW" sz="2000" b="1" dirty="0"/>
          </a:p>
          <a:p>
            <a:pPr>
              <a:lnSpc>
                <a:spcPct val="150000"/>
              </a:lnSpc>
              <a:defRPr/>
            </a:pPr>
            <a:endParaRPr lang="en" altLang="zh-TW" sz="2000" dirty="0"/>
          </a:p>
        </p:txBody>
      </p:sp>
      <p:graphicFrame>
        <p:nvGraphicFramePr>
          <p:cNvPr id="4" name="表格 3">
            <a:extLst>
              <a:ext uri="{FF2B5EF4-FFF2-40B4-BE49-F238E27FC236}">
                <a16:creationId xmlns:a16="http://schemas.microsoft.com/office/drawing/2014/main" id="{BF7C6083-608F-0D83-E2B2-E3B3DABA09AD}"/>
              </a:ext>
            </a:extLst>
          </p:cNvPr>
          <p:cNvGraphicFramePr>
            <a:graphicFrameLocks noGrp="1"/>
          </p:cNvGraphicFramePr>
          <p:nvPr>
            <p:extLst>
              <p:ext uri="{D42A27DB-BD31-4B8C-83A1-F6EECF244321}">
                <p14:modId xmlns:p14="http://schemas.microsoft.com/office/powerpoint/2010/main" val="1343733673"/>
              </p:ext>
            </p:extLst>
          </p:nvPr>
        </p:nvGraphicFramePr>
        <p:xfrm>
          <a:off x="794353" y="2589738"/>
          <a:ext cx="8627440" cy="952116"/>
        </p:xfrm>
        <a:graphic>
          <a:graphicData uri="http://schemas.openxmlformats.org/drawingml/2006/table">
            <a:tbl>
              <a:tblPr>
                <a:tableStyleId>{5C22544A-7EE6-4342-B048-85BDC9FD1C3A}</a:tableStyleId>
              </a:tblPr>
              <a:tblGrid>
                <a:gridCol w="2284513">
                  <a:extLst>
                    <a:ext uri="{9D8B030D-6E8A-4147-A177-3AD203B41FA5}">
                      <a16:colId xmlns:a16="http://schemas.microsoft.com/office/drawing/2014/main" val="549460067"/>
                    </a:ext>
                  </a:extLst>
                </a:gridCol>
                <a:gridCol w="544010">
                  <a:extLst>
                    <a:ext uri="{9D8B030D-6E8A-4147-A177-3AD203B41FA5}">
                      <a16:colId xmlns:a16="http://schemas.microsoft.com/office/drawing/2014/main" val="2327150729"/>
                    </a:ext>
                  </a:extLst>
                </a:gridCol>
                <a:gridCol w="2777924">
                  <a:extLst>
                    <a:ext uri="{9D8B030D-6E8A-4147-A177-3AD203B41FA5}">
                      <a16:colId xmlns:a16="http://schemas.microsoft.com/office/drawing/2014/main" val="486039291"/>
                    </a:ext>
                  </a:extLst>
                </a:gridCol>
                <a:gridCol w="3020993">
                  <a:extLst>
                    <a:ext uri="{9D8B030D-6E8A-4147-A177-3AD203B41FA5}">
                      <a16:colId xmlns:a16="http://schemas.microsoft.com/office/drawing/2014/main" val="2143126558"/>
                    </a:ext>
                  </a:extLst>
                </a:gridCol>
              </a:tblGrid>
              <a:tr h="459766">
                <a:tc>
                  <a:txBody>
                    <a:bodyPr/>
                    <a:lstStyle/>
                    <a:p>
                      <a:pPr algn="ctr" fontAlgn="ctr">
                        <a:buNone/>
                      </a:pPr>
                      <a:r>
                        <a:rPr lang="en-US" sz="1100" b="1" u="none" strike="noStrike" dirty="0">
                          <a:effectLst/>
                        </a:rPr>
                        <a:t>Test item</a:t>
                      </a:r>
                      <a:endParaRPr lang="en-US" sz="1100" b="1"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ctr" fontAlgn="ctr">
                        <a:buNone/>
                      </a:pPr>
                      <a:r>
                        <a:rPr lang="zh-TW" altLang="en-US" sz="1100" u="none" strike="noStrike" dirty="0">
                          <a:effectLst/>
                        </a:rPr>
                        <a:t>　</a:t>
                      </a: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ctr" fontAlgn="ctr">
                        <a:buNone/>
                      </a:pPr>
                      <a:r>
                        <a:rPr lang="en-US" sz="1100" b="1" u="none" strike="noStrike" dirty="0">
                          <a:effectLst/>
                        </a:rPr>
                        <a:t>DUT command</a:t>
                      </a:r>
                      <a:endParaRPr lang="en-US" sz="1100" b="1" i="0" u="none" strike="noStrike" dirty="0">
                        <a:solidFill>
                          <a:srgbClr val="FF0000"/>
                        </a:solidFill>
                        <a:effectLst/>
                        <a:latin typeface="新細明體" panose="02020500000000000000" pitchFamily="18" charset="-120"/>
                        <a:ea typeface="新細明體" panose="02020500000000000000" pitchFamily="18" charset="-120"/>
                      </a:endParaRPr>
                    </a:p>
                  </a:txBody>
                  <a:tcPr marL="9411" marR="9411" marT="9411" marB="0"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l" fontAlgn="ctr">
                        <a:buNone/>
                      </a:pPr>
                      <a:r>
                        <a:rPr lang="en-US" altLang="zh-TW" sz="1100" b="1" kern="1200" dirty="0">
                          <a:solidFill>
                            <a:schemeClr val="tx1"/>
                          </a:solidFill>
                          <a:effectLst/>
                          <a:latin typeface="+mn-lt"/>
                          <a:ea typeface="+mn-ea"/>
                          <a:cs typeface="+mn-cs"/>
                        </a:rPr>
                        <a:t>Description</a:t>
                      </a: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6">
                        <a:lumMod val="40000"/>
                        <a:lumOff val="60000"/>
                      </a:schemeClr>
                    </a:solidFill>
                  </a:tcPr>
                </a:tc>
                <a:extLst>
                  <a:ext uri="{0D108BD9-81ED-4DB2-BD59-A6C34878D82A}">
                    <a16:rowId xmlns:a16="http://schemas.microsoft.com/office/drawing/2014/main" val="3535358712"/>
                  </a:ext>
                </a:extLst>
              </a:tr>
              <a:tr h="492350">
                <a:tc>
                  <a:txBody>
                    <a:bodyPr/>
                    <a:lstStyle/>
                    <a:p>
                      <a:pPr algn="ctr" fontAlgn="ctr">
                        <a:buNone/>
                      </a:pPr>
                      <a:r>
                        <a:rPr lang="en-US" altLang="zh-TW" sz="1100" b="1" dirty="0" err="1"/>
                        <a:t>ConnectivityTest_PARROT</a:t>
                      </a: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marL="0" algn="ctr" defTabSz="914400" rtl="0" eaLnBrk="1" fontAlgn="ctr" latinLnBrk="0" hangingPunct="1">
                        <a:buNone/>
                      </a:pPr>
                      <a:r>
                        <a:rPr lang="en-US" altLang="zh-TW" sz="1100" b="0" kern="1200" dirty="0">
                          <a:solidFill>
                            <a:schemeClr val="dk1"/>
                          </a:solidFill>
                          <a:latin typeface="+mn-lt"/>
                          <a:ea typeface="+mn-ea"/>
                          <a:cs typeface="+mn-cs"/>
                        </a:rPr>
                        <a:t>1</a:t>
                      </a:r>
                    </a:p>
                  </a:txBody>
                  <a:tcPr marL="9411" marR="9411" marT="9411" marB="0" anchor="ctr">
                    <a:lnB w="12700" cap="flat" cmpd="sng" algn="ctr">
                      <a:solidFill>
                        <a:schemeClr val="tx1"/>
                      </a:solidFill>
                      <a:prstDash val="solid"/>
                      <a:round/>
                      <a:headEnd type="none" w="med" len="med"/>
                      <a:tailEnd type="none" w="med" len="med"/>
                    </a:lnB>
                  </a:tcPr>
                </a:tc>
                <a:tc>
                  <a:txBody>
                    <a:bodyPr/>
                    <a:lstStyle/>
                    <a:p>
                      <a:r>
                        <a:rPr lang="en-US" altLang="zh-TW" sz="1400" b="0" kern="1200" dirty="0">
                          <a:solidFill>
                            <a:schemeClr val="dk1"/>
                          </a:solidFill>
                          <a:effectLst/>
                          <a:latin typeface="+mn-lt"/>
                          <a:ea typeface="+mn-ea"/>
                          <a:cs typeface="+mn-cs"/>
                        </a:rPr>
                        <a:t>I2c scan i2c1</a:t>
                      </a:r>
                    </a:p>
                  </a:txBody>
                  <a:tcPr marL="9525" marR="9525" marT="9525" marB="0" anchor="ctr">
                    <a:lnR w="12700" cap="flat" cmpd="sng" algn="ctr">
                      <a:solidFill>
                        <a:schemeClr val="bg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l" fontAlgn="ctr">
                        <a:buNone/>
                      </a:pPr>
                      <a:r>
                        <a:rPr lang="zh-TW" altLang="en-US" sz="1400" b="0" kern="1200" dirty="0">
                          <a:solidFill>
                            <a:schemeClr val="dk1"/>
                          </a:solidFill>
                          <a:effectLst/>
                          <a:latin typeface="+mn-lt"/>
                          <a:ea typeface="+mn-ea"/>
                          <a:cs typeface="+mn-cs"/>
                        </a:rPr>
                        <a:t>在 </a:t>
                      </a:r>
                      <a:r>
                        <a:rPr lang="en-US" altLang="zh-TW" sz="1400" b="0" kern="1200" dirty="0">
                          <a:solidFill>
                            <a:schemeClr val="dk1"/>
                          </a:solidFill>
                          <a:effectLst/>
                          <a:latin typeface="+mn-lt"/>
                          <a:ea typeface="+mn-ea"/>
                          <a:cs typeface="+mn-cs"/>
                        </a:rPr>
                        <a:t>i2c1 bus </a:t>
                      </a:r>
                      <a:r>
                        <a:rPr lang="zh-TW" altLang="en-US" sz="1400" b="0" kern="1200" dirty="0">
                          <a:solidFill>
                            <a:schemeClr val="dk1"/>
                          </a:solidFill>
                          <a:effectLst/>
                          <a:latin typeface="+mn-lt"/>
                          <a:ea typeface="+mn-ea"/>
                          <a:cs typeface="+mn-cs"/>
                        </a:rPr>
                        <a:t>上掃描所有裝置位址</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94060309"/>
                  </a:ext>
                </a:extLst>
              </a:tr>
            </a:tbl>
          </a:graphicData>
        </a:graphic>
      </p:graphicFrame>
    </p:spTree>
    <p:extLst>
      <p:ext uri="{BB962C8B-B14F-4D97-AF65-F5344CB8AC3E}">
        <p14:creationId xmlns:p14="http://schemas.microsoft.com/office/powerpoint/2010/main" val="379549886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115E2-D4F4-950C-BB95-CA558F64DB02}"/>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1111D081-3192-6F6F-5C74-DCA6ED63B339}"/>
              </a:ext>
            </a:extLst>
          </p:cNvPr>
          <p:cNvSpPr>
            <a:spLocks noGrp="1"/>
          </p:cNvSpPr>
          <p:nvPr>
            <p:ph type="body" sz="quarter" idx="13"/>
          </p:nvPr>
        </p:nvSpPr>
        <p:spPr/>
        <p:txBody>
          <a:bodyPr/>
          <a:lstStyle/>
          <a:p>
            <a:r>
              <a:rPr lang="en-US" dirty="0"/>
              <a:t>Terminology  </a:t>
            </a:r>
          </a:p>
          <a:p>
            <a:endParaRPr lang="en-US" dirty="0"/>
          </a:p>
        </p:txBody>
      </p:sp>
      <p:sp>
        <p:nvSpPr>
          <p:cNvPr id="6" name="文字方塊 5">
            <a:extLst>
              <a:ext uri="{FF2B5EF4-FFF2-40B4-BE49-F238E27FC236}">
                <a16:creationId xmlns:a16="http://schemas.microsoft.com/office/drawing/2014/main" id="{89D7F2B1-5229-25A5-EC9A-3D3B2C117232}"/>
              </a:ext>
            </a:extLst>
          </p:cNvPr>
          <p:cNvSpPr txBox="1"/>
          <p:nvPr/>
        </p:nvSpPr>
        <p:spPr>
          <a:xfrm>
            <a:off x="571500" y="938449"/>
            <a:ext cx="8886825" cy="2246769"/>
          </a:xfrm>
          <a:prstGeom prst="rect">
            <a:avLst/>
          </a:prstGeom>
          <a:noFill/>
        </p:spPr>
        <p:txBody>
          <a:bodyPr wrap="square">
            <a:spAutoFit/>
          </a:bodyPr>
          <a:lstStyle/>
          <a:p>
            <a:pPr>
              <a:lnSpc>
                <a:spcPct val="150000"/>
              </a:lnSpc>
              <a:defRPr/>
            </a:pPr>
            <a:r>
              <a:rPr lang="en-US" altLang="zh-TW" sz="2000" b="1" dirty="0" err="1"/>
              <a:t>OpenBudlinkChannel</a:t>
            </a:r>
            <a:r>
              <a:rPr lang="zh-TW" altLang="en-US" sz="2000" b="1" dirty="0"/>
              <a:t> ＆ </a:t>
            </a:r>
            <a:r>
              <a:rPr lang="en-US" altLang="zh-TW" sz="2000" b="1" dirty="0" err="1"/>
              <a:t>CloseBudlinkChannel</a:t>
            </a:r>
            <a:r>
              <a:rPr lang="zh-TW" altLang="en-US" sz="2000" b="1" kern="1200" dirty="0">
                <a:solidFill>
                  <a:schemeClr val="tx1"/>
                </a:solidFill>
                <a:effectLst/>
                <a:latin typeface="+mn-lt"/>
                <a:ea typeface="+mn-ea"/>
                <a:cs typeface="+mn-cs"/>
              </a:rPr>
              <a:t>：</a:t>
            </a:r>
          </a:p>
          <a:p>
            <a:pPr marL="800100" lvl="1" indent="-342900">
              <a:lnSpc>
                <a:spcPct val="150000"/>
              </a:lnSpc>
              <a:buFont typeface="Arial" panose="020B0604020202020204" pitchFamily="34" charset="0"/>
              <a:buChar char="•"/>
              <a:defRPr/>
            </a:pPr>
            <a:r>
              <a:rPr lang="en-US" altLang="zh-TW" sz="2000" dirty="0"/>
              <a:t>Reset the fixture to ensure it returns to the initial position</a:t>
            </a:r>
          </a:p>
          <a:p>
            <a:pPr marL="800100" lvl="1" indent="-342900">
              <a:lnSpc>
                <a:spcPct val="150000"/>
              </a:lnSpc>
              <a:buFont typeface="Arial" panose="020B0604020202020204" pitchFamily="34" charset="0"/>
              <a:buChar char="•"/>
              <a:defRPr/>
            </a:pPr>
            <a:r>
              <a:rPr lang="en-US" altLang="zh-TW" sz="2000" dirty="0"/>
              <a:t>Clear the DUT's SN to allow reprogramming or retesting.</a:t>
            </a:r>
          </a:p>
          <a:p>
            <a:pPr>
              <a:lnSpc>
                <a:spcPct val="150000"/>
              </a:lnSpc>
              <a:defRPr/>
            </a:pPr>
            <a:r>
              <a:rPr lang="en-US" altLang="zh-TW" sz="2000" b="1" dirty="0"/>
              <a:t>Command</a:t>
            </a:r>
            <a:r>
              <a:rPr lang="zh-TW" altLang="en-US" sz="2000" b="1" dirty="0"/>
              <a:t>：</a:t>
            </a:r>
            <a:endParaRPr lang="en-US" altLang="zh-TW" sz="2000" b="1" dirty="0"/>
          </a:p>
          <a:p>
            <a:pPr>
              <a:defRPr/>
            </a:pPr>
            <a:endParaRPr lang="en-US" altLang="zh-TW" sz="2000" dirty="0"/>
          </a:p>
        </p:txBody>
      </p:sp>
      <p:graphicFrame>
        <p:nvGraphicFramePr>
          <p:cNvPr id="2" name="表格 1">
            <a:extLst>
              <a:ext uri="{FF2B5EF4-FFF2-40B4-BE49-F238E27FC236}">
                <a16:creationId xmlns:a16="http://schemas.microsoft.com/office/drawing/2014/main" id="{E2FCC556-7253-FBA8-CB3F-6035967563E6}"/>
              </a:ext>
            </a:extLst>
          </p:cNvPr>
          <p:cNvGraphicFramePr>
            <a:graphicFrameLocks noGrp="1"/>
          </p:cNvGraphicFramePr>
          <p:nvPr>
            <p:extLst>
              <p:ext uri="{D42A27DB-BD31-4B8C-83A1-F6EECF244321}">
                <p14:modId xmlns:p14="http://schemas.microsoft.com/office/powerpoint/2010/main" val="1845698562"/>
              </p:ext>
            </p:extLst>
          </p:nvPr>
        </p:nvGraphicFramePr>
        <p:xfrm>
          <a:off x="671497" y="2982606"/>
          <a:ext cx="10035082" cy="1380353"/>
        </p:xfrm>
        <a:graphic>
          <a:graphicData uri="http://schemas.openxmlformats.org/drawingml/2006/table">
            <a:tbl>
              <a:tblPr>
                <a:tableStyleId>{5C22544A-7EE6-4342-B048-85BDC9FD1C3A}</a:tableStyleId>
              </a:tblPr>
              <a:tblGrid>
                <a:gridCol w="1979106">
                  <a:extLst>
                    <a:ext uri="{9D8B030D-6E8A-4147-A177-3AD203B41FA5}">
                      <a16:colId xmlns:a16="http://schemas.microsoft.com/office/drawing/2014/main" val="3315535983"/>
                    </a:ext>
                  </a:extLst>
                </a:gridCol>
                <a:gridCol w="462987">
                  <a:extLst>
                    <a:ext uri="{9D8B030D-6E8A-4147-A177-3AD203B41FA5}">
                      <a16:colId xmlns:a16="http://schemas.microsoft.com/office/drawing/2014/main" val="2960066220"/>
                    </a:ext>
                  </a:extLst>
                </a:gridCol>
                <a:gridCol w="3679746">
                  <a:extLst>
                    <a:ext uri="{9D8B030D-6E8A-4147-A177-3AD203B41FA5}">
                      <a16:colId xmlns:a16="http://schemas.microsoft.com/office/drawing/2014/main" val="55451195"/>
                    </a:ext>
                  </a:extLst>
                </a:gridCol>
                <a:gridCol w="3913243">
                  <a:extLst>
                    <a:ext uri="{9D8B030D-6E8A-4147-A177-3AD203B41FA5}">
                      <a16:colId xmlns:a16="http://schemas.microsoft.com/office/drawing/2014/main" val="2080052651"/>
                    </a:ext>
                  </a:extLst>
                </a:gridCol>
              </a:tblGrid>
              <a:tr h="312581">
                <a:tc>
                  <a:txBody>
                    <a:bodyPr/>
                    <a:lstStyle/>
                    <a:p>
                      <a:pPr algn="ctr" fontAlgn="ctr">
                        <a:buNone/>
                      </a:pPr>
                      <a:r>
                        <a:rPr lang="en-US" sz="1100" b="1" u="none" strike="noStrike" dirty="0">
                          <a:effectLst/>
                        </a:rPr>
                        <a:t>Test</a:t>
                      </a:r>
                      <a:r>
                        <a:rPr lang="en-US" sz="1100" u="none" strike="noStrike" dirty="0">
                          <a:effectLst/>
                        </a:rPr>
                        <a:t> </a:t>
                      </a:r>
                      <a:r>
                        <a:rPr lang="en-US" sz="1100" b="1" u="none" strike="noStrike" dirty="0">
                          <a:effectLst/>
                        </a:rPr>
                        <a:t>item</a:t>
                      </a:r>
                      <a:endParaRPr lang="en-US" sz="1100" b="1"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ctr" fontAlgn="ctr">
                        <a:buNone/>
                      </a:pPr>
                      <a:r>
                        <a:rPr lang="zh-TW" altLang="en-US" sz="1100" u="none" strike="noStrike" dirty="0">
                          <a:effectLst/>
                        </a:rPr>
                        <a:t>　</a:t>
                      </a: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ctr" fontAlgn="ctr">
                        <a:buNone/>
                      </a:pPr>
                      <a:r>
                        <a:rPr lang="en-US" sz="1100" b="1" u="none" strike="noStrike" dirty="0">
                          <a:effectLst/>
                        </a:rPr>
                        <a:t>Dummy command</a:t>
                      </a:r>
                      <a:endParaRPr lang="en-US" sz="1100" b="1" i="0" u="none" strike="noStrike" dirty="0">
                        <a:solidFill>
                          <a:srgbClr val="FF0000"/>
                        </a:solidFill>
                        <a:effectLst/>
                        <a:latin typeface="新細明體" panose="02020500000000000000" pitchFamily="18" charset="-120"/>
                        <a:ea typeface="新細明體" panose="02020500000000000000" pitchFamily="18" charset="-120"/>
                      </a:endParaRPr>
                    </a:p>
                  </a:txBody>
                  <a:tcPr marL="9525" marR="9525" marT="9525" marB="0"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l" fontAlgn="ctr">
                        <a:buNone/>
                      </a:pPr>
                      <a:r>
                        <a:rPr lang="en-US" altLang="zh-TW" sz="1100" b="1" kern="1200" dirty="0">
                          <a:solidFill>
                            <a:schemeClr val="tx1"/>
                          </a:solidFill>
                          <a:effectLst/>
                          <a:latin typeface="+mn-lt"/>
                          <a:ea typeface="+mn-ea"/>
                          <a:cs typeface="+mn-cs"/>
                        </a:rPr>
                        <a:t>Description</a:t>
                      </a: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6">
                        <a:lumMod val="40000"/>
                        <a:lumOff val="60000"/>
                      </a:schemeClr>
                    </a:solidFill>
                  </a:tcPr>
                </a:tc>
                <a:extLst>
                  <a:ext uri="{0D108BD9-81ED-4DB2-BD59-A6C34878D82A}">
                    <a16:rowId xmlns:a16="http://schemas.microsoft.com/office/drawing/2014/main" val="3824094486"/>
                  </a:ext>
                </a:extLst>
              </a:tr>
              <a:tr h="253958">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dirty="0" err="1"/>
                        <a:t>OpenBudlinkChannel</a:t>
                      </a:r>
                      <a:endParaRPr lang="en-US" altLang="zh-TW" sz="1200" b="1" i="0" u="none" strike="noStrike" dirty="0">
                        <a:solidFill>
                          <a:srgbClr val="000000"/>
                        </a:solidFill>
                        <a:effectLst/>
                        <a:latin typeface="新細明體" panose="02020500000000000000" pitchFamily="18" charset="-120"/>
                        <a:ea typeface="新細明體" panose="02020500000000000000" pitchFamily="18" charset="-120"/>
                      </a:endParaRPr>
                    </a:p>
                  </a:txBody>
                  <a:tcPr anchor="ctr">
                    <a:lnL w="12700" cap="flat" cmpd="sng" algn="ctr">
                      <a:solidFill>
                        <a:schemeClr val="tx1"/>
                      </a:solidFill>
                      <a:prstDash val="solid"/>
                      <a:round/>
                      <a:headEnd type="none" w="med" len="med"/>
                      <a:tailEnd type="none" w="med" len="med"/>
                    </a:lnL>
                  </a:tcPr>
                </a:tc>
                <a:tc>
                  <a:txBody>
                    <a:bodyPr/>
                    <a:lstStyle/>
                    <a:p>
                      <a:pPr algn="ctr" fontAlgn="ctr">
                        <a:buNone/>
                      </a:pPr>
                      <a:r>
                        <a:rPr lang="en-US" altLang="zh-TW" sz="1100" b="0" i="0" u="none" strike="noStrike" dirty="0">
                          <a:solidFill>
                            <a:srgbClr val="000000"/>
                          </a:solidFill>
                          <a:effectLst/>
                          <a:latin typeface="+mn-lt"/>
                          <a:ea typeface="新細明體" panose="02020500000000000000" pitchFamily="18" charset="-120"/>
                        </a:rPr>
                        <a:t>1</a:t>
                      </a:r>
                    </a:p>
                  </a:txBody>
                  <a:tcPr marL="9525" marR="9525" marT="9525" marB="0" anchor="ctr"/>
                </a:tc>
                <a:tc>
                  <a:txBody>
                    <a:bodyPr/>
                    <a:lstStyle/>
                    <a:p>
                      <a:r>
                        <a:rPr lang="en-US" altLang="zh-TW" sz="1100" u="none" strike="noStrike" kern="1200" dirty="0" err="1">
                          <a:solidFill>
                            <a:schemeClr val="dk1"/>
                          </a:solidFill>
                          <a:effectLst/>
                          <a:latin typeface="+mn-lt"/>
                          <a:ea typeface="+mn-ea"/>
                          <a:cs typeface="+mn-cs"/>
                        </a:rPr>
                        <a:t>right_budlink_ch_on</a:t>
                      </a:r>
                      <a:endParaRPr lang="en-US" altLang="zh-TW" sz="1100" u="none" strike="noStrike" kern="1200" dirty="0">
                        <a:solidFill>
                          <a:schemeClr val="dk1"/>
                        </a:solidFill>
                        <a:effectLst/>
                        <a:latin typeface="+mn-lt"/>
                        <a:ea typeface="+mn-ea"/>
                        <a:cs typeface="+mn-cs"/>
                      </a:endParaRPr>
                    </a:p>
                  </a:txBody>
                  <a:tcPr marL="9525" marR="9525" marT="9525" marB="0" anchor="ctr"/>
                </a:tc>
                <a:tc>
                  <a:txBody>
                    <a:bodyPr/>
                    <a:lstStyle/>
                    <a:p>
                      <a:pPr algn="l" fontAlgn="ctr">
                        <a:buNone/>
                      </a:pPr>
                      <a:r>
                        <a:rPr lang="zh-TW" altLang="en-US" sz="1100" u="none" strike="noStrike" dirty="0">
                          <a:effectLst/>
                        </a:rPr>
                        <a:t>打開右耳連接通道</a:t>
                      </a: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884187575"/>
                  </a:ext>
                </a:extLst>
              </a:tr>
              <a:tr h="305898">
                <a:tc vMerge="1">
                  <a:txBody>
                    <a:bodyPr/>
                    <a:lstStyle/>
                    <a:p>
                      <a:endParaRPr lang="zh-TW" altLang="en-US"/>
                    </a:p>
                  </a:txBody>
                  <a:tcPr/>
                </a:tc>
                <a:tc>
                  <a:txBody>
                    <a:bodyPr/>
                    <a:lstStyle/>
                    <a:p>
                      <a:pPr algn="ctr" fontAlgn="ctr">
                        <a:buNone/>
                      </a:pPr>
                      <a:r>
                        <a:rPr lang="en-US" altLang="zh-TW" sz="1100" b="0" i="0" u="none" strike="noStrike" dirty="0">
                          <a:solidFill>
                            <a:srgbClr val="000000"/>
                          </a:solidFill>
                          <a:effectLst/>
                          <a:latin typeface="+mn-lt"/>
                          <a:ea typeface="新細明體" panose="02020500000000000000" pitchFamily="18" charset="-120"/>
                        </a:rPr>
                        <a:t>2</a:t>
                      </a:r>
                    </a:p>
                  </a:txBody>
                  <a:tcPr marL="9525" marR="9525" marT="9525" marB="0" anchor="ctr"/>
                </a:tc>
                <a:tc>
                  <a:txBody>
                    <a:bodyPr/>
                    <a:lstStyle/>
                    <a:p>
                      <a:r>
                        <a:rPr lang="en-US" altLang="zh-TW" sz="1100" u="none" strike="noStrike" kern="1200" dirty="0" err="1">
                          <a:solidFill>
                            <a:schemeClr val="dk1"/>
                          </a:solidFill>
                          <a:effectLst/>
                          <a:latin typeface="+mn-lt"/>
                          <a:ea typeface="+mn-ea"/>
                          <a:cs typeface="+mn-cs"/>
                        </a:rPr>
                        <a:t>left_budlink_ch_on</a:t>
                      </a:r>
                      <a:endParaRPr lang="en-US" altLang="zh-TW" sz="1100" u="none" strike="noStrike" kern="1200" dirty="0">
                        <a:solidFill>
                          <a:schemeClr val="dk1"/>
                        </a:solidFill>
                        <a:effectLst/>
                        <a:latin typeface="+mn-lt"/>
                        <a:ea typeface="+mn-ea"/>
                        <a:cs typeface="+mn-cs"/>
                      </a:endParaRPr>
                    </a:p>
                  </a:txBody>
                  <a:tcPr marL="9525" marR="9525" marT="9525" marB="0" anchor="ctr"/>
                </a:tc>
                <a:tc>
                  <a:txBody>
                    <a:bodyPr/>
                    <a:lstStyle/>
                    <a:p>
                      <a:pPr algn="l" fontAlgn="ctr">
                        <a:buNone/>
                      </a:pPr>
                      <a:r>
                        <a:rPr lang="zh-TW" altLang="en-US" sz="1100" u="none" strike="noStrike" dirty="0">
                          <a:effectLst/>
                        </a:rPr>
                        <a:t>打開左耳連接通道</a:t>
                      </a: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832564753"/>
                  </a:ext>
                </a:extLst>
              </a:tr>
              <a:tr h="253958">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200" b="1" dirty="0" err="1"/>
                        <a:t>CloseBudlinkChannel</a:t>
                      </a:r>
                      <a:endParaRPr lang="en-US" altLang="zh-TW" sz="1200" b="1" i="0" u="none" strike="noStrike" dirty="0">
                        <a:solidFill>
                          <a:srgbClr val="000000"/>
                        </a:solidFill>
                        <a:effectLst/>
                        <a:latin typeface="新細明體" panose="02020500000000000000" pitchFamily="18" charset="-120"/>
                        <a:ea typeface="新細明體" panose="02020500000000000000" pitchFamily="18" charset="-120"/>
                      </a:endParaRP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fontAlgn="ctr">
                        <a:buNone/>
                      </a:pPr>
                      <a:r>
                        <a:rPr lang="en-US" altLang="zh-TW" sz="1100" b="0" i="0" u="none" strike="noStrike" dirty="0">
                          <a:solidFill>
                            <a:srgbClr val="000000"/>
                          </a:solidFill>
                          <a:effectLst/>
                          <a:latin typeface="+mn-lt"/>
                          <a:ea typeface="新細明體" panose="02020500000000000000" pitchFamily="18" charset="-120"/>
                        </a:rPr>
                        <a:t>1</a:t>
                      </a:r>
                    </a:p>
                  </a:txBody>
                  <a:tcPr marL="9525" marR="9525" marT="9525" marB="0" anchor="ctr"/>
                </a:tc>
                <a:tc>
                  <a:txBody>
                    <a:bodyPr/>
                    <a:lstStyle/>
                    <a:p>
                      <a:r>
                        <a:rPr lang="en-US" altLang="zh-TW" sz="1100" u="none" strike="noStrike" kern="1200" dirty="0" err="1">
                          <a:solidFill>
                            <a:schemeClr val="dk1"/>
                          </a:solidFill>
                          <a:effectLst/>
                          <a:latin typeface="+mn-lt"/>
                          <a:ea typeface="+mn-ea"/>
                          <a:cs typeface="+mn-cs"/>
                        </a:rPr>
                        <a:t>right_budlink_ch_off</a:t>
                      </a:r>
                      <a:endParaRPr lang="en-US" altLang="zh-TW" sz="1100" u="none" strike="noStrike" kern="1200" dirty="0">
                        <a:solidFill>
                          <a:schemeClr val="dk1"/>
                        </a:solidFill>
                        <a:effectLst/>
                        <a:latin typeface="+mn-lt"/>
                        <a:ea typeface="+mn-ea"/>
                        <a:cs typeface="+mn-cs"/>
                      </a:endParaRPr>
                    </a:p>
                  </a:txBody>
                  <a:tcPr marL="9525" marR="9525" marT="9525" marB="0" anchor="ctr"/>
                </a:tc>
                <a:tc>
                  <a:txBody>
                    <a:bodyPr/>
                    <a:lstStyle/>
                    <a:p>
                      <a:pPr algn="l" fontAlgn="ctr">
                        <a:buNone/>
                      </a:pPr>
                      <a:r>
                        <a:rPr lang="zh-TW" altLang="en-US" sz="1100" u="none" strike="noStrike" dirty="0">
                          <a:effectLst/>
                        </a:rPr>
                        <a:t>關閉右耳連接通道</a:t>
                      </a: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680325677"/>
                  </a:ext>
                </a:extLst>
              </a:tr>
              <a:tr h="253958">
                <a:tc vMerge="1">
                  <a:txBody>
                    <a:bodyPr/>
                    <a:lstStyle/>
                    <a:p>
                      <a:endParaRPr lang="zh-TW" altLang="en-US"/>
                    </a:p>
                  </a:txBody>
                  <a:tcPr/>
                </a:tc>
                <a:tc>
                  <a:txBody>
                    <a:bodyPr/>
                    <a:lstStyle/>
                    <a:p>
                      <a:pPr algn="ctr" fontAlgn="ctr">
                        <a:buNone/>
                      </a:pPr>
                      <a:r>
                        <a:rPr lang="en-US" altLang="zh-TW" sz="1100" b="0" i="0" u="none" strike="noStrike" dirty="0">
                          <a:solidFill>
                            <a:srgbClr val="000000"/>
                          </a:solidFill>
                          <a:effectLst/>
                          <a:latin typeface="+mn-lt"/>
                          <a:ea typeface="新細明體" panose="02020500000000000000" pitchFamily="18" charset="-120"/>
                        </a:rPr>
                        <a:t>2</a:t>
                      </a:r>
                    </a:p>
                  </a:txBody>
                  <a:tcPr marL="9525" marR="9525" marT="9525" marB="0" anchor="ctr">
                    <a:lnB w="12700" cap="flat" cmpd="sng" algn="ctr">
                      <a:solidFill>
                        <a:schemeClr val="tx1"/>
                      </a:solidFill>
                      <a:prstDash val="solid"/>
                      <a:round/>
                      <a:headEnd type="none" w="med" len="med"/>
                      <a:tailEnd type="none" w="med" len="med"/>
                    </a:lnB>
                  </a:tcPr>
                </a:tc>
                <a:tc>
                  <a:txBody>
                    <a:bodyPr/>
                    <a:lstStyle/>
                    <a:p>
                      <a:r>
                        <a:rPr lang="en-US" altLang="zh-TW" sz="1100" u="none" strike="noStrike" kern="1200" dirty="0" err="1">
                          <a:solidFill>
                            <a:schemeClr val="dk1"/>
                          </a:solidFill>
                          <a:effectLst/>
                          <a:latin typeface="+mn-lt"/>
                          <a:ea typeface="+mn-ea"/>
                          <a:cs typeface="+mn-cs"/>
                        </a:rPr>
                        <a:t>left_budlink_ch_off</a:t>
                      </a:r>
                      <a:endParaRPr lang="en-US" altLang="zh-TW" sz="1100" u="none" strike="noStrike" kern="1200" dirty="0">
                        <a:solidFill>
                          <a:schemeClr val="dk1"/>
                        </a:solidFill>
                        <a:effectLst/>
                        <a:latin typeface="+mn-lt"/>
                        <a:ea typeface="+mn-ea"/>
                        <a:cs typeface="+mn-cs"/>
                      </a:endParaRP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l" fontAlgn="ctr">
                        <a:buNone/>
                      </a:pPr>
                      <a:r>
                        <a:rPr lang="zh-TW" altLang="en-US" sz="1100" u="none" strike="noStrike" dirty="0">
                          <a:effectLst/>
                        </a:rPr>
                        <a:t>關閉左耳連接通道</a:t>
                      </a: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56249644"/>
                  </a:ext>
                </a:extLst>
              </a:tr>
            </a:tbl>
          </a:graphicData>
        </a:graphic>
      </p:graphicFrame>
    </p:spTree>
    <p:extLst>
      <p:ext uri="{BB962C8B-B14F-4D97-AF65-F5344CB8AC3E}">
        <p14:creationId xmlns:p14="http://schemas.microsoft.com/office/powerpoint/2010/main" val="231467858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37CFEC-815E-FE3E-71CF-36AC7B33464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37E9A790-82E8-F90B-6CCE-95CCA8D53261}"/>
              </a:ext>
            </a:extLst>
          </p:cNvPr>
          <p:cNvSpPr>
            <a:spLocks noGrp="1"/>
          </p:cNvSpPr>
          <p:nvPr>
            <p:ph type="body" sz="quarter" idx="13"/>
          </p:nvPr>
        </p:nvSpPr>
        <p:spPr/>
        <p:txBody>
          <a:bodyPr/>
          <a:lstStyle/>
          <a:p>
            <a:r>
              <a:rPr lang="en-US" dirty="0"/>
              <a:t>Terminology  </a:t>
            </a:r>
          </a:p>
          <a:p>
            <a:endParaRPr lang="en-US" dirty="0"/>
          </a:p>
        </p:txBody>
      </p:sp>
      <p:sp>
        <p:nvSpPr>
          <p:cNvPr id="6" name="文字方塊 5">
            <a:extLst>
              <a:ext uri="{FF2B5EF4-FFF2-40B4-BE49-F238E27FC236}">
                <a16:creationId xmlns:a16="http://schemas.microsoft.com/office/drawing/2014/main" id="{A2663683-F56D-7689-5461-47198FA3A63D}"/>
              </a:ext>
            </a:extLst>
          </p:cNvPr>
          <p:cNvSpPr txBox="1"/>
          <p:nvPr/>
        </p:nvSpPr>
        <p:spPr>
          <a:xfrm>
            <a:off x="571500" y="938449"/>
            <a:ext cx="8886825" cy="1881925"/>
          </a:xfrm>
          <a:prstGeom prst="rect">
            <a:avLst/>
          </a:prstGeom>
          <a:noFill/>
        </p:spPr>
        <p:txBody>
          <a:bodyPr wrap="square">
            <a:spAutoFit/>
          </a:bodyPr>
          <a:lstStyle/>
          <a:p>
            <a:pPr>
              <a:lnSpc>
                <a:spcPct val="150000"/>
              </a:lnSpc>
              <a:defRPr/>
            </a:pPr>
            <a:r>
              <a:rPr lang="en-US" altLang="zh-TW" sz="2000" b="1" dirty="0" err="1"/>
              <a:t>ConnectivityTest_BuddyLink</a:t>
            </a:r>
            <a:r>
              <a:rPr lang="en-US" altLang="zh-TW" sz="2000" b="1" dirty="0"/>
              <a:t>(Right/Left)</a:t>
            </a:r>
            <a:r>
              <a:rPr lang="zh-TW" altLang="en-US" sz="2000" b="1" kern="1200" dirty="0">
                <a:solidFill>
                  <a:schemeClr val="tx1"/>
                </a:solidFill>
                <a:effectLst/>
                <a:latin typeface="+mn-lt"/>
                <a:ea typeface="+mn-ea"/>
                <a:cs typeface="+mn-cs"/>
              </a:rPr>
              <a:t>：</a:t>
            </a:r>
            <a:endParaRPr lang="en-US" altLang="zh-TW" sz="2000" b="1" kern="1200" dirty="0">
              <a:solidFill>
                <a:schemeClr val="tx1"/>
              </a:solidFill>
              <a:effectLst/>
              <a:latin typeface="+mn-lt"/>
              <a:ea typeface="+mn-ea"/>
              <a:cs typeface="+mn-cs"/>
            </a:endParaRPr>
          </a:p>
          <a:p>
            <a:pPr marL="800100" lvl="1" indent="-342900">
              <a:lnSpc>
                <a:spcPct val="150000"/>
              </a:lnSpc>
              <a:buFont typeface="Arial" panose="020B0604020202020204" pitchFamily="34" charset="0"/>
              <a:buChar char="•"/>
              <a:defRPr/>
            </a:pPr>
            <a:r>
              <a:rPr lang="en-US" altLang="zh-TW" sz="2000" dirty="0"/>
              <a:t>Check the communication function between case and bud</a:t>
            </a:r>
          </a:p>
          <a:p>
            <a:pPr>
              <a:lnSpc>
                <a:spcPct val="150000"/>
              </a:lnSpc>
              <a:defRPr/>
            </a:pPr>
            <a:r>
              <a:rPr lang="en-US" altLang="zh-TW" sz="2000" b="1" dirty="0"/>
              <a:t>Command</a:t>
            </a:r>
            <a:r>
              <a:rPr lang="zh-TW" altLang="en-US" sz="2000" b="1" dirty="0"/>
              <a:t>：</a:t>
            </a:r>
            <a:endParaRPr lang="en-US" altLang="zh-TW" sz="2000" b="1" dirty="0"/>
          </a:p>
          <a:p>
            <a:pPr>
              <a:lnSpc>
                <a:spcPct val="150000"/>
              </a:lnSpc>
              <a:defRPr/>
            </a:pPr>
            <a:endParaRPr lang="en-US" altLang="zh-TW" sz="2000" dirty="0"/>
          </a:p>
        </p:txBody>
      </p:sp>
      <p:graphicFrame>
        <p:nvGraphicFramePr>
          <p:cNvPr id="5" name="表格 4">
            <a:extLst>
              <a:ext uri="{FF2B5EF4-FFF2-40B4-BE49-F238E27FC236}">
                <a16:creationId xmlns:a16="http://schemas.microsoft.com/office/drawing/2014/main" id="{CD646D15-2B3F-D629-754A-C1B8D3042F28}"/>
              </a:ext>
            </a:extLst>
          </p:cNvPr>
          <p:cNvGraphicFramePr>
            <a:graphicFrameLocks noGrp="1"/>
          </p:cNvGraphicFramePr>
          <p:nvPr>
            <p:extLst>
              <p:ext uri="{D42A27DB-BD31-4B8C-83A1-F6EECF244321}">
                <p14:modId xmlns:p14="http://schemas.microsoft.com/office/powerpoint/2010/main" val="3721370073"/>
              </p:ext>
            </p:extLst>
          </p:nvPr>
        </p:nvGraphicFramePr>
        <p:xfrm>
          <a:off x="571499" y="2470621"/>
          <a:ext cx="7240769" cy="4201113"/>
        </p:xfrm>
        <a:graphic>
          <a:graphicData uri="http://schemas.openxmlformats.org/drawingml/2006/table">
            <a:tbl>
              <a:tblPr>
                <a:tableStyleId>{5C22544A-7EE6-4342-B048-85BDC9FD1C3A}</a:tableStyleId>
              </a:tblPr>
              <a:tblGrid>
                <a:gridCol w="2657479">
                  <a:extLst>
                    <a:ext uri="{9D8B030D-6E8A-4147-A177-3AD203B41FA5}">
                      <a16:colId xmlns:a16="http://schemas.microsoft.com/office/drawing/2014/main" val="3315535983"/>
                    </a:ext>
                  </a:extLst>
                </a:gridCol>
                <a:gridCol w="609600">
                  <a:extLst>
                    <a:ext uri="{9D8B030D-6E8A-4147-A177-3AD203B41FA5}">
                      <a16:colId xmlns:a16="http://schemas.microsoft.com/office/drawing/2014/main" val="2960066220"/>
                    </a:ext>
                  </a:extLst>
                </a:gridCol>
                <a:gridCol w="2338238">
                  <a:extLst>
                    <a:ext uri="{9D8B030D-6E8A-4147-A177-3AD203B41FA5}">
                      <a16:colId xmlns:a16="http://schemas.microsoft.com/office/drawing/2014/main" val="3319955928"/>
                    </a:ext>
                  </a:extLst>
                </a:gridCol>
                <a:gridCol w="1635452">
                  <a:extLst>
                    <a:ext uri="{9D8B030D-6E8A-4147-A177-3AD203B41FA5}">
                      <a16:colId xmlns:a16="http://schemas.microsoft.com/office/drawing/2014/main" val="163623680"/>
                    </a:ext>
                  </a:extLst>
                </a:gridCol>
              </a:tblGrid>
              <a:tr h="613284">
                <a:tc>
                  <a:txBody>
                    <a:bodyPr/>
                    <a:lstStyle/>
                    <a:p>
                      <a:pPr algn="ctr" fontAlgn="ctr">
                        <a:buNone/>
                      </a:pPr>
                      <a:r>
                        <a:rPr lang="en-US" sz="1100" b="1" u="none" strike="noStrike" dirty="0">
                          <a:effectLst/>
                        </a:rPr>
                        <a:t>Test</a:t>
                      </a:r>
                      <a:r>
                        <a:rPr lang="en-US" sz="1100" u="none" strike="noStrike" dirty="0">
                          <a:effectLst/>
                        </a:rPr>
                        <a:t> </a:t>
                      </a:r>
                      <a:r>
                        <a:rPr lang="en-US" sz="1100" b="1" u="none" strike="noStrike" dirty="0">
                          <a:effectLst/>
                        </a:rPr>
                        <a:t>item</a:t>
                      </a:r>
                      <a:endParaRPr lang="en-US" sz="1100" b="1"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ctr" fontAlgn="ctr">
                        <a:buNone/>
                      </a:pPr>
                      <a:r>
                        <a:rPr lang="zh-TW" altLang="en-US" sz="1100" u="none" strike="noStrike" dirty="0">
                          <a:effectLst/>
                        </a:rPr>
                        <a:t>　</a:t>
                      </a: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ctr" fontAlgn="ctr">
                        <a:buNone/>
                      </a:pPr>
                      <a:r>
                        <a:rPr lang="en-US" sz="1100" b="1" u="none" strike="noStrike" dirty="0">
                          <a:effectLst/>
                        </a:rPr>
                        <a:t>DUT</a:t>
                      </a:r>
                      <a:r>
                        <a:rPr lang="en-US" sz="1100" u="none" strike="noStrike" dirty="0">
                          <a:effectLst/>
                        </a:rPr>
                        <a:t>  </a:t>
                      </a:r>
                      <a:r>
                        <a:rPr lang="en-US" sz="1100" b="1" u="none" strike="noStrike" dirty="0">
                          <a:effectLst/>
                        </a:rPr>
                        <a:t>command</a:t>
                      </a:r>
                      <a:endParaRPr lang="en-US" sz="1100" b="1" i="0" u="none" strike="noStrike" dirty="0">
                        <a:solidFill>
                          <a:srgbClr val="FF0000"/>
                        </a:solidFill>
                        <a:effectLst/>
                        <a:latin typeface="新細明體" panose="02020500000000000000" pitchFamily="18" charset="-120"/>
                        <a:ea typeface="新細明體" panose="02020500000000000000" pitchFamily="18" charset="-120"/>
                      </a:endParaRPr>
                    </a:p>
                  </a:txBody>
                  <a:tcPr marL="9525" marR="9525" marT="9525" marB="0"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l" fontAlgn="ctr">
                        <a:buNone/>
                      </a:pPr>
                      <a:r>
                        <a:rPr lang="en-US" altLang="zh-TW" sz="1100" b="1" kern="1200" dirty="0">
                          <a:solidFill>
                            <a:schemeClr val="tx1"/>
                          </a:solidFill>
                          <a:effectLst/>
                          <a:latin typeface="+mn-lt"/>
                          <a:ea typeface="+mn-ea"/>
                          <a:cs typeface="+mn-cs"/>
                        </a:rPr>
                        <a:t>Description</a:t>
                      </a: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6">
                        <a:lumMod val="40000"/>
                        <a:lumOff val="60000"/>
                      </a:schemeClr>
                    </a:solidFill>
                  </a:tcPr>
                </a:tc>
                <a:extLst>
                  <a:ext uri="{0D108BD9-81ED-4DB2-BD59-A6C34878D82A}">
                    <a16:rowId xmlns:a16="http://schemas.microsoft.com/office/drawing/2014/main" val="3824094486"/>
                  </a:ext>
                </a:extLst>
              </a:tr>
              <a:tr h="512547">
                <a:tc rowSpan="7">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400" b="1" dirty="0" err="1"/>
                        <a:t>ConnectivityTest_BuddyLink</a:t>
                      </a:r>
                      <a:r>
                        <a:rPr lang="en-US" altLang="zh-TW" sz="1400" b="1" dirty="0"/>
                        <a:t>(Right/Left)</a:t>
                      </a:r>
                      <a:endParaRPr lang="en-US" altLang="zh-TW" sz="1400" b="0" i="0" u="none" strike="noStrike" dirty="0">
                        <a:solidFill>
                          <a:srgbClr val="000000"/>
                        </a:solidFill>
                        <a:effectLst/>
                        <a:latin typeface="新細明體" panose="02020500000000000000" pitchFamily="18" charset="-120"/>
                        <a:ea typeface="新細明體" panose="02020500000000000000" pitchFamily="18" charset="-120"/>
                      </a:endParaRP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fontAlgn="ctr">
                        <a:buNone/>
                      </a:pPr>
                      <a:r>
                        <a:rPr lang="en-US" altLang="zh-TW" sz="1100" b="0" i="0" u="none" strike="noStrike" dirty="0">
                          <a:solidFill>
                            <a:srgbClr val="000000"/>
                          </a:solidFill>
                          <a:effectLst/>
                          <a:latin typeface="+mn-lt"/>
                          <a:ea typeface="新細明體" panose="02020500000000000000" pitchFamily="18" charset="-120"/>
                        </a:rPr>
                        <a:t>1</a:t>
                      </a:r>
                    </a:p>
                  </a:txBody>
                  <a:tcPr marL="9525" marR="9525" marT="9525"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kern="1200" dirty="0">
                          <a:solidFill>
                            <a:schemeClr val="dk1"/>
                          </a:solidFill>
                          <a:effectLst/>
                          <a:latin typeface="+mn-lt"/>
                          <a:ea typeface="+mn-ea"/>
                          <a:cs typeface="+mn-cs"/>
                        </a:rPr>
                        <a:t>ft reset</a:t>
                      </a:r>
                    </a:p>
                  </a:txBody>
                  <a:tcPr marL="9525" marR="9525" marT="9525" marB="0" anchor="ctr"/>
                </a:tc>
                <a:tc>
                  <a:txBody>
                    <a:bodyPr/>
                    <a:lstStyle/>
                    <a:p>
                      <a:pPr marL="0" marR="0" lvl="0" indent="0" algn="l" defTabSz="914400" rtl="0" eaLnBrk="1" fontAlgn="ctr" latinLnBrk="0" hangingPunct="1">
                        <a:lnSpc>
                          <a:spcPct val="150000"/>
                        </a:lnSpc>
                        <a:spcBef>
                          <a:spcPts val="0"/>
                        </a:spcBef>
                        <a:spcAft>
                          <a:spcPts val="0"/>
                        </a:spcAft>
                        <a:buClrTx/>
                        <a:buSzTx/>
                        <a:buFontTx/>
                        <a:buNone/>
                        <a:tabLst/>
                        <a:defRPr/>
                      </a:pPr>
                      <a:r>
                        <a:rPr lang="en-US" altLang="zh-TW" sz="1100" b="0" i="0" u="none" strike="noStrike" kern="1200" dirty="0">
                          <a:solidFill>
                            <a:schemeClr val="tx1"/>
                          </a:solidFill>
                          <a:effectLst/>
                          <a:latin typeface="+mn-lt"/>
                          <a:ea typeface="+mn-ea"/>
                          <a:cs typeface="+mn-cs"/>
                        </a:rPr>
                        <a:t>reset</a:t>
                      </a:r>
                      <a:r>
                        <a:rPr lang="zh-TW" altLang="en-US" sz="1100" b="0" i="0" u="none" strike="noStrike" kern="1200" dirty="0">
                          <a:solidFill>
                            <a:schemeClr val="tx1"/>
                          </a:solidFill>
                          <a:effectLst/>
                          <a:latin typeface="+mn-lt"/>
                          <a:ea typeface="+mn-ea"/>
                          <a:cs typeface="+mn-cs"/>
                        </a:rPr>
                        <a:t>系統</a:t>
                      </a:r>
                      <a:endParaRPr lang="zh-TW" altLang="zh-TW" sz="1100" b="0" i="0" u="none" strike="noStrike" kern="1200" dirty="0">
                        <a:solidFill>
                          <a:schemeClr val="tx1"/>
                        </a:solidFill>
                        <a:effectLst/>
                        <a:latin typeface="+mn-lt"/>
                        <a:ea typeface="+mn-ea"/>
                        <a:cs typeface="+mn-cs"/>
                      </a:endParaRPr>
                    </a:p>
                  </a:txBody>
                  <a:tcPr marL="9525" marR="9525" marT="9525"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884187575"/>
                  </a:ext>
                </a:extLst>
              </a:tr>
              <a:tr h="512547">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TW" sz="1200" b="0" i="0" u="none" strike="noStrike" dirty="0">
                        <a:solidFill>
                          <a:srgbClr val="000000"/>
                        </a:solidFill>
                        <a:effectLst/>
                        <a:latin typeface="新細明體" panose="02020500000000000000" pitchFamily="18" charset="-120"/>
                        <a:ea typeface="新細明體" panose="02020500000000000000" pitchFamily="18" charset="-120"/>
                      </a:endParaRPr>
                    </a:p>
                  </a:txBody>
                  <a:tcPr anchor="ctr">
                    <a:lnL w="12700" cap="flat" cmpd="sng" algn="ctr">
                      <a:solidFill>
                        <a:schemeClr val="tx1"/>
                      </a:solidFill>
                      <a:prstDash val="solid"/>
                      <a:round/>
                      <a:headEnd type="none" w="med" len="med"/>
                      <a:tailEnd type="none" w="med" len="med"/>
                    </a:lnL>
                  </a:tcPr>
                </a:tc>
                <a:tc>
                  <a:txBody>
                    <a:bodyPr/>
                    <a:lstStyle/>
                    <a:p>
                      <a:pPr algn="ctr" fontAlgn="ctr">
                        <a:buNone/>
                      </a:pPr>
                      <a:r>
                        <a:rPr lang="en-US" altLang="zh-TW" sz="1100" b="0" i="0" u="none" strike="noStrike" dirty="0">
                          <a:solidFill>
                            <a:srgbClr val="000000"/>
                          </a:solidFill>
                          <a:effectLst/>
                          <a:latin typeface="+mn-lt"/>
                          <a:ea typeface="新細明體" panose="02020500000000000000" pitchFamily="18" charset="-120"/>
                        </a:rPr>
                        <a:t>2</a:t>
                      </a:r>
                    </a:p>
                  </a:txBody>
                  <a:tcPr marL="9525" marR="9525" marT="9525" marB="0" anchor="ctr"/>
                </a:tc>
                <a:tc>
                  <a:txBody>
                    <a:bodyPr/>
                    <a:lstStyle/>
                    <a:p>
                      <a:r>
                        <a:rPr lang="en-US" altLang="zh-TW" sz="1200" b="0" kern="1200" dirty="0" err="1">
                          <a:solidFill>
                            <a:schemeClr val="dk1"/>
                          </a:solidFill>
                          <a:effectLst/>
                          <a:latin typeface="+mn-lt"/>
                          <a:ea typeface="+mn-ea"/>
                          <a:cs typeface="+mn-cs"/>
                        </a:rPr>
                        <a:t>dbg</a:t>
                      </a:r>
                      <a:r>
                        <a:rPr lang="en-US" altLang="zh-TW" sz="1200" b="0" kern="1200" dirty="0">
                          <a:solidFill>
                            <a:schemeClr val="dk1"/>
                          </a:solidFill>
                          <a:effectLst/>
                          <a:latin typeface="+mn-lt"/>
                          <a:ea typeface="+mn-ea"/>
                          <a:cs typeface="+mn-cs"/>
                        </a:rPr>
                        <a:t> set all none</a:t>
                      </a:r>
                    </a:p>
                  </a:txBody>
                  <a:tcPr marL="9525" marR="9525" marT="9525" marB="0" anchor="ct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altLang="zh-TW" sz="1100" b="0" i="0" u="none" strike="noStrike" kern="1200" dirty="0">
                          <a:solidFill>
                            <a:schemeClr val="tx1"/>
                          </a:solidFill>
                          <a:effectLst/>
                          <a:latin typeface="+mn-lt"/>
                          <a:ea typeface="+mn-ea"/>
                          <a:cs typeface="+mn-cs"/>
                        </a:rPr>
                        <a:t>Debug </a:t>
                      </a:r>
                      <a:r>
                        <a:rPr lang="zh-TW" altLang="en-US" sz="1100" b="0" i="0" u="none" strike="noStrike" kern="1200" dirty="0">
                          <a:solidFill>
                            <a:schemeClr val="tx1"/>
                          </a:solidFill>
                          <a:effectLst/>
                          <a:latin typeface="+mn-lt"/>
                          <a:ea typeface="+mn-ea"/>
                          <a:cs typeface="+mn-cs"/>
                        </a:rPr>
                        <a:t>相關設定設為無</a:t>
                      </a:r>
                      <a:endParaRPr lang="zh-TW" altLang="zh-TW" sz="1100" b="0" i="0" u="none" strike="noStrike" kern="1200" dirty="0">
                        <a:solidFill>
                          <a:schemeClr val="tx1"/>
                        </a:solidFill>
                        <a:effectLst/>
                        <a:latin typeface="+mn-lt"/>
                        <a:ea typeface="+mn-ea"/>
                        <a:cs typeface="+mn-cs"/>
                      </a:endParaRPr>
                    </a:p>
                  </a:txBody>
                  <a:tcPr marL="9525" marR="9525" marT="9525"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131482063"/>
                  </a:ext>
                </a:extLst>
              </a:tr>
              <a:tr h="512547">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TW" sz="1200" b="0" i="0" u="none" strike="noStrike" dirty="0">
                        <a:solidFill>
                          <a:srgbClr val="000000"/>
                        </a:solidFill>
                        <a:effectLst/>
                        <a:latin typeface="新細明體" panose="02020500000000000000" pitchFamily="18" charset="-120"/>
                        <a:ea typeface="新細明體" panose="02020500000000000000" pitchFamily="18" charset="-120"/>
                      </a:endParaRPr>
                    </a:p>
                  </a:txBody>
                  <a:tcPr anchor="ctr">
                    <a:lnL w="12700" cap="flat" cmpd="sng" algn="ctr">
                      <a:solidFill>
                        <a:schemeClr val="tx1"/>
                      </a:solidFill>
                      <a:prstDash val="solid"/>
                      <a:round/>
                      <a:headEnd type="none" w="med" len="med"/>
                      <a:tailEnd type="none" w="med" len="med"/>
                    </a:lnL>
                  </a:tcPr>
                </a:tc>
                <a:tc>
                  <a:txBody>
                    <a:bodyPr/>
                    <a:lstStyle/>
                    <a:p>
                      <a:pPr algn="ctr" fontAlgn="ctr">
                        <a:buNone/>
                      </a:pPr>
                      <a:r>
                        <a:rPr lang="en-US" altLang="zh-TW" sz="1100" b="0" i="0" u="none" strike="noStrike" dirty="0">
                          <a:solidFill>
                            <a:srgbClr val="000000"/>
                          </a:solidFill>
                          <a:effectLst/>
                          <a:latin typeface="+mn-lt"/>
                          <a:ea typeface="新細明體" panose="02020500000000000000" pitchFamily="18" charset="-120"/>
                        </a:rPr>
                        <a:t>3</a:t>
                      </a:r>
                    </a:p>
                  </a:txBody>
                  <a:tcPr marL="9525" marR="9525" marT="9525" marB="0" anchor="ctr"/>
                </a:tc>
                <a:tc>
                  <a:txBody>
                    <a:bodyPr/>
                    <a:lstStyle/>
                    <a:p>
                      <a:r>
                        <a:rPr lang="en-US" altLang="zh-TW" sz="1200" b="0" kern="1200" dirty="0">
                          <a:solidFill>
                            <a:schemeClr val="dk1"/>
                          </a:solidFill>
                          <a:effectLst/>
                          <a:latin typeface="+mn-lt"/>
                          <a:ea typeface="+mn-ea"/>
                          <a:cs typeface="+mn-cs"/>
                        </a:rPr>
                        <a:t>bud </a:t>
                      </a:r>
                      <a:r>
                        <a:rPr lang="en-US" altLang="zh-TW" sz="1200" b="0" kern="1200" dirty="0" err="1">
                          <a:solidFill>
                            <a:schemeClr val="dk1"/>
                          </a:solidFill>
                          <a:effectLst/>
                          <a:latin typeface="+mn-lt"/>
                          <a:ea typeface="+mn-ea"/>
                          <a:cs typeface="+mn-cs"/>
                        </a:rPr>
                        <a:t>mgr</a:t>
                      </a:r>
                      <a:r>
                        <a:rPr lang="en-US" altLang="zh-TW" sz="1200" b="0" kern="1200" dirty="0">
                          <a:solidFill>
                            <a:schemeClr val="dk1"/>
                          </a:solidFill>
                          <a:effectLst/>
                          <a:latin typeface="+mn-lt"/>
                          <a:ea typeface="+mn-ea"/>
                          <a:cs typeface="+mn-cs"/>
                        </a:rPr>
                        <a:t> disable (left/right)</a:t>
                      </a:r>
                    </a:p>
                  </a:txBody>
                  <a:tcPr marL="9525" marR="9525" marT="9525" marB="0" anchor="ct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zh-TW" altLang="en-US" sz="1100" b="0" i="0" u="none" strike="noStrike" kern="1200" dirty="0">
                          <a:solidFill>
                            <a:schemeClr val="tx1"/>
                          </a:solidFill>
                          <a:effectLst/>
                          <a:latin typeface="+mn-lt"/>
                          <a:ea typeface="+mn-ea"/>
                          <a:cs typeface="+mn-cs"/>
                        </a:rPr>
                        <a:t>停用（</a:t>
                      </a:r>
                      <a:r>
                        <a:rPr lang="en-US" altLang="zh-TW" sz="1100" b="0" i="0" u="none" strike="noStrike" kern="1200" dirty="0">
                          <a:solidFill>
                            <a:schemeClr val="tx1"/>
                          </a:solidFill>
                          <a:effectLst/>
                          <a:latin typeface="+mn-lt"/>
                          <a:ea typeface="+mn-ea"/>
                          <a:cs typeface="+mn-cs"/>
                        </a:rPr>
                        <a:t>L/R</a:t>
                      </a:r>
                      <a:r>
                        <a:rPr lang="zh-TW" altLang="en-US" sz="1100" b="0" i="0" u="none" strike="noStrike" kern="1200" dirty="0">
                          <a:solidFill>
                            <a:schemeClr val="tx1"/>
                          </a:solidFill>
                          <a:effectLst/>
                          <a:latin typeface="+mn-lt"/>
                          <a:ea typeface="+mn-ea"/>
                          <a:cs typeface="+mn-cs"/>
                        </a:rPr>
                        <a:t>）</a:t>
                      </a:r>
                      <a:r>
                        <a:rPr lang="en-US" altLang="zh-TW" sz="1100" b="0" i="0" u="none" strike="noStrike" kern="1200" dirty="0">
                          <a:solidFill>
                            <a:schemeClr val="tx1"/>
                          </a:solidFill>
                          <a:effectLst/>
                          <a:latin typeface="+mn-lt"/>
                          <a:ea typeface="+mn-ea"/>
                          <a:cs typeface="+mn-cs"/>
                        </a:rPr>
                        <a:t>Bud</a:t>
                      </a:r>
                      <a:r>
                        <a:rPr lang="zh-TW" altLang="en-US" sz="1100" b="0" i="0" u="none" strike="noStrike" kern="1200" dirty="0">
                          <a:solidFill>
                            <a:schemeClr val="tx1"/>
                          </a:solidFill>
                          <a:effectLst/>
                          <a:latin typeface="+mn-lt"/>
                          <a:ea typeface="+mn-ea"/>
                          <a:cs typeface="+mn-cs"/>
                        </a:rPr>
                        <a:t>的管理</a:t>
                      </a:r>
                      <a:endParaRPr lang="zh-TW" altLang="zh-TW" sz="1100" b="0" i="0" u="none" strike="noStrike" kern="1200" dirty="0">
                        <a:solidFill>
                          <a:schemeClr val="tx1"/>
                        </a:solidFill>
                        <a:effectLst/>
                        <a:latin typeface="+mn-lt"/>
                        <a:ea typeface="+mn-ea"/>
                        <a:cs typeface="+mn-cs"/>
                      </a:endParaRPr>
                    </a:p>
                  </a:txBody>
                  <a:tcPr marL="9525" marR="9525" marT="9525"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4277190936"/>
                  </a:ext>
                </a:extLst>
              </a:tr>
              <a:tr h="512547">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TW" sz="1200" b="0" i="0" u="none" strike="noStrike" dirty="0">
                        <a:solidFill>
                          <a:srgbClr val="000000"/>
                        </a:solidFill>
                        <a:effectLst/>
                        <a:latin typeface="新細明體" panose="02020500000000000000" pitchFamily="18" charset="-120"/>
                        <a:ea typeface="新細明體" panose="02020500000000000000" pitchFamily="18" charset="-120"/>
                      </a:endParaRPr>
                    </a:p>
                  </a:txBody>
                  <a:tcPr anchor="ctr">
                    <a:lnL w="12700" cap="flat" cmpd="sng" algn="ctr">
                      <a:solidFill>
                        <a:schemeClr val="tx1"/>
                      </a:solidFill>
                      <a:prstDash val="solid"/>
                      <a:round/>
                      <a:headEnd type="none" w="med" len="med"/>
                      <a:tailEnd type="none" w="med" len="med"/>
                    </a:lnL>
                  </a:tcPr>
                </a:tc>
                <a:tc>
                  <a:txBody>
                    <a:bodyPr/>
                    <a:lstStyle/>
                    <a:p>
                      <a:pPr algn="ctr" fontAlgn="ctr">
                        <a:buNone/>
                      </a:pPr>
                      <a:r>
                        <a:rPr lang="en-US" altLang="zh-TW" sz="1100" b="0" i="0" u="none" strike="noStrike" dirty="0">
                          <a:solidFill>
                            <a:srgbClr val="000000"/>
                          </a:solidFill>
                          <a:effectLst/>
                          <a:latin typeface="+mn-lt"/>
                          <a:ea typeface="新細明體" panose="02020500000000000000" pitchFamily="18" charset="-120"/>
                        </a:rPr>
                        <a:t>4</a:t>
                      </a:r>
                    </a:p>
                  </a:txBody>
                  <a:tcPr marL="9525" marR="9525" marT="9525" marB="0" anchor="ctr"/>
                </a:tc>
                <a:tc>
                  <a:txBody>
                    <a:bodyPr/>
                    <a:lstStyle/>
                    <a:p>
                      <a:r>
                        <a:rPr lang="en-US" altLang="zh-TW" sz="1200" b="0" kern="1200" dirty="0">
                          <a:solidFill>
                            <a:schemeClr val="dk1"/>
                          </a:solidFill>
                          <a:effectLst/>
                          <a:latin typeface="+mn-lt"/>
                          <a:ea typeface="+mn-ea"/>
                          <a:cs typeface="+mn-cs"/>
                        </a:rPr>
                        <a:t>bud detect (left/right)</a:t>
                      </a:r>
                    </a:p>
                  </a:txBody>
                  <a:tcPr marL="9525" marR="9525" marT="9525" marB="0" anchor="ct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zh-TW" altLang="en-US" sz="1100" b="0" i="0" u="none" strike="noStrike" kern="1200" dirty="0">
                          <a:solidFill>
                            <a:schemeClr val="tx1"/>
                          </a:solidFill>
                          <a:effectLst/>
                          <a:latin typeface="+mn-lt"/>
                          <a:ea typeface="+mn-ea"/>
                          <a:cs typeface="+mn-cs"/>
                        </a:rPr>
                        <a:t>偵測（</a:t>
                      </a:r>
                      <a:r>
                        <a:rPr lang="en-US" altLang="zh-TW" sz="1100" b="0" i="0" u="none" strike="noStrike" kern="1200" dirty="0">
                          <a:solidFill>
                            <a:schemeClr val="tx1"/>
                          </a:solidFill>
                          <a:effectLst/>
                          <a:latin typeface="+mn-lt"/>
                          <a:ea typeface="+mn-ea"/>
                          <a:cs typeface="+mn-cs"/>
                        </a:rPr>
                        <a:t>L/R</a:t>
                      </a:r>
                      <a:r>
                        <a:rPr lang="zh-TW" altLang="en-US" sz="1100" b="0" i="0" u="none" strike="noStrike" kern="1200" dirty="0">
                          <a:solidFill>
                            <a:schemeClr val="tx1"/>
                          </a:solidFill>
                          <a:effectLst/>
                          <a:latin typeface="+mn-lt"/>
                          <a:ea typeface="+mn-ea"/>
                          <a:cs typeface="+mn-cs"/>
                        </a:rPr>
                        <a:t>）</a:t>
                      </a:r>
                      <a:r>
                        <a:rPr lang="en-US" altLang="zh-TW" sz="1100" b="0" i="0" u="none" strike="noStrike" kern="1200" dirty="0">
                          <a:solidFill>
                            <a:schemeClr val="tx1"/>
                          </a:solidFill>
                          <a:effectLst/>
                          <a:latin typeface="+mn-lt"/>
                          <a:ea typeface="+mn-ea"/>
                          <a:cs typeface="+mn-cs"/>
                        </a:rPr>
                        <a:t>Bud</a:t>
                      </a:r>
                      <a:endParaRPr lang="zh-TW" altLang="zh-TW" sz="1100" b="0" i="0" u="none" strike="noStrike" kern="1200" dirty="0">
                        <a:solidFill>
                          <a:schemeClr val="tx1"/>
                        </a:solidFill>
                        <a:effectLst/>
                        <a:latin typeface="+mn-lt"/>
                        <a:ea typeface="+mn-ea"/>
                        <a:cs typeface="+mn-cs"/>
                      </a:endParaRPr>
                    </a:p>
                  </a:txBody>
                  <a:tcPr marL="9525" marR="9525" marT="9525"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222796966"/>
                  </a:ext>
                </a:extLst>
              </a:tr>
              <a:tr h="512547">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TW" sz="1200" b="0" i="0" u="none" strike="noStrike" dirty="0">
                        <a:solidFill>
                          <a:srgbClr val="000000"/>
                        </a:solidFill>
                        <a:effectLst/>
                        <a:latin typeface="新細明體" panose="02020500000000000000" pitchFamily="18" charset="-120"/>
                        <a:ea typeface="新細明體" panose="02020500000000000000" pitchFamily="18" charset="-120"/>
                      </a:endParaRPr>
                    </a:p>
                  </a:txBody>
                  <a:tcPr anchor="ctr">
                    <a:lnL w="12700" cap="flat" cmpd="sng" algn="ctr">
                      <a:solidFill>
                        <a:schemeClr val="tx1"/>
                      </a:solidFill>
                      <a:prstDash val="solid"/>
                      <a:round/>
                      <a:headEnd type="none" w="med" len="med"/>
                      <a:tailEnd type="none" w="med" len="med"/>
                    </a:lnL>
                  </a:tcPr>
                </a:tc>
                <a:tc>
                  <a:txBody>
                    <a:bodyPr/>
                    <a:lstStyle/>
                    <a:p>
                      <a:pPr algn="ctr" fontAlgn="ctr">
                        <a:buNone/>
                      </a:pPr>
                      <a:r>
                        <a:rPr lang="en-US" altLang="zh-TW" sz="1100" b="0" i="0" u="none" strike="noStrike" dirty="0">
                          <a:solidFill>
                            <a:srgbClr val="000000"/>
                          </a:solidFill>
                          <a:effectLst/>
                          <a:latin typeface="+mn-lt"/>
                          <a:ea typeface="新細明體" panose="02020500000000000000" pitchFamily="18" charset="-120"/>
                        </a:rPr>
                        <a:t>5</a:t>
                      </a:r>
                    </a:p>
                  </a:txBody>
                  <a:tcPr marL="9525" marR="9525" marT="9525" marB="0" anchor="ctr"/>
                </a:tc>
                <a:tc>
                  <a:txBody>
                    <a:bodyPr/>
                    <a:lstStyle/>
                    <a:p>
                      <a:r>
                        <a:rPr lang="en-US" altLang="zh-TW" sz="1200" b="0" kern="1200" dirty="0">
                          <a:solidFill>
                            <a:schemeClr val="dk1"/>
                          </a:solidFill>
                          <a:effectLst/>
                          <a:latin typeface="+mn-lt"/>
                          <a:ea typeface="+mn-ea"/>
                          <a:cs typeface="+mn-cs"/>
                        </a:rPr>
                        <a:t>bud </a:t>
                      </a:r>
                      <a:r>
                        <a:rPr lang="en-US" altLang="zh-TW" sz="1200" b="0" kern="1200" dirty="0" err="1">
                          <a:solidFill>
                            <a:schemeClr val="dk1"/>
                          </a:solidFill>
                          <a:effectLst/>
                          <a:latin typeface="+mn-lt"/>
                          <a:ea typeface="+mn-ea"/>
                          <a:cs typeface="+mn-cs"/>
                        </a:rPr>
                        <a:t>mgr</a:t>
                      </a:r>
                      <a:r>
                        <a:rPr lang="en-US" altLang="zh-TW" sz="1200" b="0" kern="1200" dirty="0">
                          <a:solidFill>
                            <a:schemeClr val="dk1"/>
                          </a:solidFill>
                          <a:effectLst/>
                          <a:latin typeface="+mn-lt"/>
                          <a:ea typeface="+mn-ea"/>
                          <a:cs typeface="+mn-cs"/>
                        </a:rPr>
                        <a:t> enable (left/right)</a:t>
                      </a:r>
                    </a:p>
                  </a:txBody>
                  <a:tcPr marL="9525" marR="9525" marT="9525" marB="0" anchor="ct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zh-TW" altLang="en-US" sz="1100" b="0" i="0" u="none" strike="noStrike" kern="1200" dirty="0">
                          <a:solidFill>
                            <a:schemeClr val="tx1"/>
                          </a:solidFill>
                          <a:effectLst/>
                          <a:latin typeface="+mn-lt"/>
                          <a:ea typeface="+mn-ea"/>
                          <a:cs typeface="+mn-cs"/>
                        </a:rPr>
                        <a:t>啟用（</a:t>
                      </a:r>
                      <a:r>
                        <a:rPr lang="en-US" altLang="zh-TW" sz="1100" b="0" i="0" u="none" strike="noStrike" kern="1200" dirty="0">
                          <a:solidFill>
                            <a:schemeClr val="tx1"/>
                          </a:solidFill>
                          <a:effectLst/>
                          <a:latin typeface="+mn-lt"/>
                          <a:ea typeface="+mn-ea"/>
                          <a:cs typeface="+mn-cs"/>
                        </a:rPr>
                        <a:t>L/R</a:t>
                      </a:r>
                      <a:r>
                        <a:rPr lang="zh-TW" altLang="en-US" sz="1100" b="0" i="0" u="none" strike="noStrike" kern="1200" dirty="0">
                          <a:solidFill>
                            <a:schemeClr val="tx1"/>
                          </a:solidFill>
                          <a:effectLst/>
                          <a:latin typeface="+mn-lt"/>
                          <a:ea typeface="+mn-ea"/>
                          <a:cs typeface="+mn-cs"/>
                        </a:rPr>
                        <a:t>）</a:t>
                      </a:r>
                      <a:r>
                        <a:rPr lang="en-US" altLang="zh-TW" sz="1100" b="0" i="0" u="none" strike="noStrike" kern="1200" dirty="0">
                          <a:solidFill>
                            <a:schemeClr val="tx1"/>
                          </a:solidFill>
                          <a:effectLst/>
                          <a:latin typeface="+mn-lt"/>
                          <a:ea typeface="+mn-ea"/>
                          <a:cs typeface="+mn-cs"/>
                        </a:rPr>
                        <a:t>Bud</a:t>
                      </a:r>
                      <a:r>
                        <a:rPr lang="zh-TW" altLang="en-US" sz="1100" b="0" i="0" u="none" strike="noStrike" kern="1200" dirty="0">
                          <a:solidFill>
                            <a:schemeClr val="tx1"/>
                          </a:solidFill>
                          <a:effectLst/>
                          <a:latin typeface="+mn-lt"/>
                          <a:ea typeface="+mn-ea"/>
                          <a:cs typeface="+mn-cs"/>
                        </a:rPr>
                        <a:t>的管理</a:t>
                      </a:r>
                      <a:endParaRPr lang="zh-TW" altLang="zh-TW" sz="1100" b="0" i="0" u="none" strike="noStrike" kern="1200" dirty="0">
                        <a:solidFill>
                          <a:schemeClr val="tx1"/>
                        </a:solidFill>
                        <a:effectLst/>
                        <a:latin typeface="+mn-lt"/>
                        <a:ea typeface="+mn-ea"/>
                        <a:cs typeface="+mn-cs"/>
                      </a:endParaRPr>
                    </a:p>
                  </a:txBody>
                  <a:tcPr marL="9525" marR="9525" marT="9525"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888339198"/>
                  </a:ext>
                </a:extLst>
              </a:tr>
              <a:tr h="512547">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TW" sz="1200" b="0" i="0" u="none" strike="noStrike" dirty="0">
                        <a:solidFill>
                          <a:srgbClr val="000000"/>
                        </a:solidFill>
                        <a:effectLst/>
                        <a:latin typeface="新細明體" panose="02020500000000000000" pitchFamily="18" charset="-120"/>
                        <a:ea typeface="新細明體" panose="02020500000000000000" pitchFamily="18" charset="-120"/>
                      </a:endParaRP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fontAlgn="ctr">
                        <a:buNone/>
                      </a:pPr>
                      <a:r>
                        <a:rPr lang="en-US" altLang="zh-TW" sz="1100" b="0" i="0" u="none" strike="noStrike" dirty="0">
                          <a:solidFill>
                            <a:srgbClr val="000000"/>
                          </a:solidFill>
                          <a:effectLst/>
                          <a:latin typeface="+mn-lt"/>
                          <a:ea typeface="新細明體" panose="02020500000000000000" pitchFamily="18" charset="-120"/>
                        </a:rPr>
                        <a:t>6</a:t>
                      </a:r>
                    </a:p>
                  </a:txBody>
                  <a:tcPr marL="9525" marR="9525" marT="9525" marB="0" anchor="ctr"/>
                </a:tc>
                <a:tc>
                  <a:txBody>
                    <a:bodyPr/>
                    <a:lstStyle/>
                    <a:p>
                      <a:r>
                        <a:rPr lang="en-US" altLang="zh-TW" sz="1200" b="0" kern="1200" dirty="0">
                          <a:solidFill>
                            <a:schemeClr val="dk1"/>
                          </a:solidFill>
                          <a:effectLst/>
                          <a:latin typeface="+mn-lt"/>
                          <a:ea typeface="+mn-ea"/>
                          <a:cs typeface="+mn-cs"/>
                        </a:rPr>
                        <a:t>bud state get (left/right)</a:t>
                      </a:r>
                    </a:p>
                  </a:txBody>
                  <a:tcPr marL="9525" marR="9525" marT="9525" marB="0" anchor="ct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zh-TW" altLang="en-US" sz="1100" b="0" i="0" u="none" strike="noStrike" kern="1200" dirty="0">
                          <a:solidFill>
                            <a:schemeClr val="tx1"/>
                          </a:solidFill>
                          <a:effectLst/>
                          <a:latin typeface="+mn-lt"/>
                          <a:ea typeface="+mn-ea"/>
                          <a:cs typeface="+mn-cs"/>
                        </a:rPr>
                        <a:t>獲取（</a:t>
                      </a:r>
                      <a:r>
                        <a:rPr lang="en-US" altLang="zh-TW" sz="1100" b="0" i="0" u="none" strike="noStrike" kern="1200" dirty="0">
                          <a:solidFill>
                            <a:schemeClr val="tx1"/>
                          </a:solidFill>
                          <a:effectLst/>
                          <a:latin typeface="+mn-lt"/>
                          <a:ea typeface="+mn-ea"/>
                          <a:cs typeface="+mn-cs"/>
                        </a:rPr>
                        <a:t>L/R</a:t>
                      </a:r>
                      <a:r>
                        <a:rPr lang="zh-TW" altLang="en-US" sz="1100" b="0" i="0" u="none" strike="noStrike" kern="1200" dirty="0">
                          <a:solidFill>
                            <a:schemeClr val="tx1"/>
                          </a:solidFill>
                          <a:effectLst/>
                          <a:latin typeface="+mn-lt"/>
                          <a:ea typeface="+mn-ea"/>
                          <a:cs typeface="+mn-cs"/>
                        </a:rPr>
                        <a:t>）</a:t>
                      </a:r>
                      <a:r>
                        <a:rPr lang="en-US" altLang="zh-TW" sz="1100" b="0" i="0" u="none" strike="noStrike" kern="1200" dirty="0">
                          <a:solidFill>
                            <a:schemeClr val="tx1"/>
                          </a:solidFill>
                          <a:effectLst/>
                          <a:latin typeface="+mn-lt"/>
                          <a:ea typeface="+mn-ea"/>
                          <a:cs typeface="+mn-cs"/>
                        </a:rPr>
                        <a:t>Bud</a:t>
                      </a:r>
                      <a:r>
                        <a:rPr lang="zh-TW" altLang="en-US" sz="1100" b="0" i="0" u="none" strike="noStrike" kern="1200" dirty="0">
                          <a:solidFill>
                            <a:schemeClr val="tx1"/>
                          </a:solidFill>
                          <a:effectLst/>
                          <a:latin typeface="+mn-lt"/>
                          <a:ea typeface="+mn-ea"/>
                          <a:cs typeface="+mn-cs"/>
                        </a:rPr>
                        <a:t>目前狀態</a:t>
                      </a:r>
                      <a:endParaRPr lang="zh-TW" altLang="zh-TW" sz="1100" b="0" i="0" u="none" strike="noStrike" kern="1200" dirty="0">
                        <a:solidFill>
                          <a:schemeClr val="tx1"/>
                        </a:solidFill>
                        <a:effectLst/>
                        <a:latin typeface="+mn-lt"/>
                        <a:ea typeface="+mn-ea"/>
                        <a:cs typeface="+mn-cs"/>
                      </a:endParaRPr>
                    </a:p>
                  </a:txBody>
                  <a:tcPr marL="9525" marR="9525" marT="9525"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370335244"/>
                  </a:ext>
                </a:extLst>
              </a:tr>
              <a:tr h="512547">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TW" sz="1400" b="0" i="0" u="none" strike="noStrike" dirty="0">
                        <a:solidFill>
                          <a:srgbClr val="000000"/>
                        </a:solidFill>
                        <a:effectLst/>
                        <a:latin typeface="新細明體" panose="02020500000000000000" pitchFamily="18" charset="-120"/>
                        <a:ea typeface="新細明體" panose="02020500000000000000" pitchFamily="18" charset="-120"/>
                      </a:endParaRP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fontAlgn="ctr">
                        <a:buNone/>
                      </a:pPr>
                      <a:r>
                        <a:rPr lang="en-US" altLang="zh-TW" sz="1100" b="0" i="0" u="none" strike="noStrike" dirty="0">
                          <a:solidFill>
                            <a:srgbClr val="000000"/>
                          </a:solidFill>
                          <a:effectLst/>
                          <a:latin typeface="+mn-lt"/>
                          <a:ea typeface="新細明體" panose="02020500000000000000" pitchFamily="18" charset="-120"/>
                        </a:rPr>
                        <a:t>7</a:t>
                      </a:r>
                    </a:p>
                  </a:txBody>
                  <a:tcPr marL="9525" marR="9525" marT="9525" marB="0" anchor="ctr">
                    <a:lnB w="12700" cap="flat" cmpd="sng" algn="ctr">
                      <a:solidFill>
                        <a:schemeClr val="tx1"/>
                      </a:solidFill>
                      <a:prstDash val="solid"/>
                      <a:round/>
                      <a:headEnd type="none" w="med" len="med"/>
                      <a:tailEnd type="none" w="med" len="med"/>
                    </a:lnB>
                  </a:tcPr>
                </a:tc>
                <a:tc>
                  <a:txBody>
                    <a:bodyPr/>
                    <a:lstStyle/>
                    <a:p>
                      <a:r>
                        <a:rPr lang="en-US" altLang="zh-TW" sz="1200" b="0" kern="1200" dirty="0">
                          <a:solidFill>
                            <a:schemeClr val="dk1"/>
                          </a:solidFill>
                          <a:effectLst/>
                          <a:latin typeface="+mn-lt"/>
                          <a:ea typeface="+mn-ea"/>
                          <a:cs typeface="+mn-cs"/>
                        </a:rPr>
                        <a:t>bud link test (left/right)</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zh-TW" altLang="en-US" sz="1100" b="0" i="0" u="none" strike="noStrike" kern="1200" dirty="0">
                          <a:solidFill>
                            <a:schemeClr val="tx1"/>
                          </a:solidFill>
                          <a:effectLst/>
                          <a:latin typeface="+mn-lt"/>
                          <a:ea typeface="+mn-ea"/>
                          <a:cs typeface="+mn-cs"/>
                        </a:rPr>
                        <a:t>測試（</a:t>
                      </a:r>
                      <a:r>
                        <a:rPr lang="en-US" altLang="zh-TW" sz="1100" b="0" i="0" u="none" strike="noStrike" kern="1200" dirty="0">
                          <a:solidFill>
                            <a:schemeClr val="tx1"/>
                          </a:solidFill>
                          <a:effectLst/>
                          <a:latin typeface="+mn-lt"/>
                          <a:ea typeface="+mn-ea"/>
                          <a:cs typeface="+mn-cs"/>
                        </a:rPr>
                        <a:t>L/R</a:t>
                      </a:r>
                      <a:r>
                        <a:rPr lang="zh-TW" altLang="en-US" sz="1100" b="0" i="0" u="none" strike="noStrike" kern="1200" dirty="0">
                          <a:solidFill>
                            <a:schemeClr val="tx1"/>
                          </a:solidFill>
                          <a:effectLst/>
                          <a:latin typeface="+mn-lt"/>
                          <a:ea typeface="+mn-ea"/>
                          <a:cs typeface="+mn-cs"/>
                        </a:rPr>
                        <a:t>）</a:t>
                      </a:r>
                      <a:r>
                        <a:rPr lang="en-US" altLang="zh-TW" sz="1100" b="0" i="0" u="none" strike="noStrike" kern="1200" dirty="0">
                          <a:solidFill>
                            <a:schemeClr val="tx1"/>
                          </a:solidFill>
                          <a:effectLst/>
                          <a:latin typeface="+mn-lt"/>
                          <a:ea typeface="+mn-ea"/>
                          <a:cs typeface="+mn-cs"/>
                        </a:rPr>
                        <a:t>Bud</a:t>
                      </a:r>
                      <a:r>
                        <a:rPr lang="zh-TW" altLang="en-US" sz="1100" b="0" i="0" u="none" strike="noStrike" kern="1200" dirty="0">
                          <a:solidFill>
                            <a:schemeClr val="tx1"/>
                          </a:solidFill>
                          <a:effectLst/>
                          <a:latin typeface="+mn-lt"/>
                          <a:ea typeface="+mn-ea"/>
                          <a:cs typeface="+mn-cs"/>
                        </a:rPr>
                        <a:t>連線功能</a:t>
                      </a:r>
                      <a:endParaRPr lang="zh-TW" altLang="zh-TW" sz="1100" b="0" i="0" u="none" strike="noStrike" kern="1200" dirty="0">
                        <a:solidFill>
                          <a:schemeClr val="tx1"/>
                        </a:solidFill>
                        <a:effectLst/>
                        <a:latin typeface="+mn-lt"/>
                        <a:ea typeface="+mn-ea"/>
                        <a:cs typeface="+mn-cs"/>
                      </a:endParaRPr>
                    </a:p>
                  </a:txBody>
                  <a:tcPr marL="9525" marR="9525" marT="9525"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05857226"/>
                  </a:ext>
                </a:extLst>
              </a:tr>
            </a:tbl>
          </a:graphicData>
        </a:graphic>
      </p:graphicFrame>
      <p:pic>
        <p:nvPicPr>
          <p:cNvPr id="4" name="圖片 3" descr="一張含有 文字, 收據, 字型, 白色 的圖片&#10;&#10;AI 產生的內容可能不正確。">
            <a:extLst>
              <a:ext uri="{FF2B5EF4-FFF2-40B4-BE49-F238E27FC236}">
                <a16:creationId xmlns:a16="http://schemas.microsoft.com/office/drawing/2014/main" id="{09EF33D4-3296-03C5-FC50-F84E74B34F31}"/>
              </a:ext>
            </a:extLst>
          </p:cNvPr>
          <p:cNvPicPr>
            <a:picLocks noChangeAspect="1"/>
          </p:cNvPicPr>
          <p:nvPr/>
        </p:nvPicPr>
        <p:blipFill>
          <a:blip r:embed="rId3"/>
          <a:srcRect b="11108"/>
          <a:stretch>
            <a:fillRect/>
          </a:stretch>
        </p:blipFill>
        <p:spPr>
          <a:xfrm>
            <a:off x="8260927" y="5316875"/>
            <a:ext cx="3359574" cy="722682"/>
          </a:xfrm>
          <a:prstGeom prst="rect">
            <a:avLst/>
          </a:prstGeom>
        </p:spPr>
      </p:pic>
      <p:sp>
        <p:nvSpPr>
          <p:cNvPr id="8" name="文字方塊 7">
            <a:extLst>
              <a:ext uri="{FF2B5EF4-FFF2-40B4-BE49-F238E27FC236}">
                <a16:creationId xmlns:a16="http://schemas.microsoft.com/office/drawing/2014/main" id="{C2B4D434-A32B-BC91-3530-9D524EB529FD}"/>
              </a:ext>
            </a:extLst>
          </p:cNvPr>
          <p:cNvSpPr txBox="1"/>
          <p:nvPr/>
        </p:nvSpPr>
        <p:spPr>
          <a:xfrm>
            <a:off x="9223869" y="6039557"/>
            <a:ext cx="1433689" cy="369332"/>
          </a:xfrm>
          <a:prstGeom prst="rect">
            <a:avLst/>
          </a:prstGeom>
          <a:noFill/>
        </p:spPr>
        <p:txBody>
          <a:bodyPr wrap="square">
            <a:spAutoFit/>
          </a:bodyPr>
          <a:lstStyle/>
          <a:p>
            <a:r>
              <a:rPr lang="en-US" altLang="zh-TW" sz="1800" b="0" kern="1200" dirty="0">
                <a:solidFill>
                  <a:schemeClr val="dk1"/>
                </a:solidFill>
                <a:effectLst/>
                <a:latin typeface="+mn-lt"/>
                <a:ea typeface="+mn-ea"/>
                <a:cs typeface="+mn-cs"/>
              </a:rPr>
              <a:t>bud link test</a:t>
            </a:r>
            <a:endParaRPr lang="zh-TW" altLang="en-US" dirty="0"/>
          </a:p>
        </p:txBody>
      </p:sp>
      <p:pic>
        <p:nvPicPr>
          <p:cNvPr id="10" name="圖片 9" descr="一張含有 文字, 字型, 白色, 螢幕擷取畫面 的圖片&#10;&#10;AI 產生的內容可能不正確。">
            <a:extLst>
              <a:ext uri="{FF2B5EF4-FFF2-40B4-BE49-F238E27FC236}">
                <a16:creationId xmlns:a16="http://schemas.microsoft.com/office/drawing/2014/main" id="{322677FD-2E37-93AE-58AE-AF1CDF9FC136}"/>
              </a:ext>
            </a:extLst>
          </p:cNvPr>
          <p:cNvPicPr>
            <a:picLocks noChangeAspect="1"/>
          </p:cNvPicPr>
          <p:nvPr/>
        </p:nvPicPr>
        <p:blipFill>
          <a:blip r:embed="rId4"/>
          <a:srcRect r="3716"/>
          <a:stretch>
            <a:fillRect/>
          </a:stretch>
        </p:blipFill>
        <p:spPr>
          <a:xfrm>
            <a:off x="8318218" y="3376468"/>
            <a:ext cx="3199700" cy="661159"/>
          </a:xfrm>
          <a:prstGeom prst="rect">
            <a:avLst/>
          </a:prstGeom>
        </p:spPr>
      </p:pic>
      <p:sp>
        <p:nvSpPr>
          <p:cNvPr id="12" name="文字方塊 11">
            <a:extLst>
              <a:ext uri="{FF2B5EF4-FFF2-40B4-BE49-F238E27FC236}">
                <a16:creationId xmlns:a16="http://schemas.microsoft.com/office/drawing/2014/main" id="{047136FD-C46A-790C-37B7-0C3ABD851654}"/>
              </a:ext>
            </a:extLst>
          </p:cNvPr>
          <p:cNvSpPr txBox="1"/>
          <p:nvPr/>
        </p:nvSpPr>
        <p:spPr>
          <a:xfrm>
            <a:off x="9223869" y="4037627"/>
            <a:ext cx="1286933" cy="369332"/>
          </a:xfrm>
          <a:prstGeom prst="rect">
            <a:avLst/>
          </a:prstGeom>
          <a:noFill/>
        </p:spPr>
        <p:txBody>
          <a:bodyPr wrap="square">
            <a:spAutoFit/>
          </a:bodyPr>
          <a:lstStyle/>
          <a:p>
            <a:r>
              <a:rPr lang="en-US" altLang="zh-TW" sz="1800" b="0" kern="1200" dirty="0">
                <a:solidFill>
                  <a:schemeClr val="dk1"/>
                </a:solidFill>
                <a:effectLst/>
                <a:latin typeface="+mn-lt"/>
                <a:ea typeface="+mn-ea"/>
                <a:cs typeface="+mn-cs"/>
              </a:rPr>
              <a:t>bud detect </a:t>
            </a:r>
            <a:endParaRPr lang="zh-TW" altLang="en-US" dirty="0"/>
          </a:p>
        </p:txBody>
      </p:sp>
    </p:spTree>
    <p:extLst>
      <p:ext uri="{BB962C8B-B14F-4D97-AF65-F5344CB8AC3E}">
        <p14:creationId xmlns:p14="http://schemas.microsoft.com/office/powerpoint/2010/main" val="3755774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4BDB2-8D69-6CE6-83C1-FE32E4E4DF4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42AA567D-0388-D91B-C345-D328DFFAA3DB}"/>
              </a:ext>
            </a:extLst>
          </p:cNvPr>
          <p:cNvSpPr>
            <a:spLocks noGrp="1"/>
          </p:cNvSpPr>
          <p:nvPr>
            <p:ph type="body" sz="quarter" idx="13"/>
          </p:nvPr>
        </p:nvSpPr>
        <p:spPr/>
        <p:txBody>
          <a:bodyPr/>
          <a:lstStyle/>
          <a:p>
            <a:r>
              <a:rPr lang="en-US" dirty="0"/>
              <a:t>Terminology  </a:t>
            </a:r>
          </a:p>
          <a:p>
            <a:endParaRPr lang="en-US" dirty="0"/>
          </a:p>
        </p:txBody>
      </p:sp>
      <p:sp>
        <p:nvSpPr>
          <p:cNvPr id="6" name="文字方塊 5">
            <a:extLst>
              <a:ext uri="{FF2B5EF4-FFF2-40B4-BE49-F238E27FC236}">
                <a16:creationId xmlns:a16="http://schemas.microsoft.com/office/drawing/2014/main" id="{27ABADEE-61EF-05F2-D309-DC9CF44C6C21}"/>
              </a:ext>
            </a:extLst>
          </p:cNvPr>
          <p:cNvSpPr txBox="1"/>
          <p:nvPr/>
        </p:nvSpPr>
        <p:spPr>
          <a:xfrm>
            <a:off x="571500" y="938449"/>
            <a:ext cx="9336429" cy="1932073"/>
          </a:xfrm>
          <a:prstGeom prst="rect">
            <a:avLst/>
          </a:prstGeom>
          <a:noFill/>
        </p:spPr>
        <p:txBody>
          <a:bodyPr wrap="square">
            <a:spAutoFit/>
          </a:bodyPr>
          <a:lstStyle/>
          <a:p>
            <a:pPr>
              <a:lnSpc>
                <a:spcPct val="150000"/>
              </a:lnSpc>
              <a:defRPr/>
            </a:pPr>
            <a:r>
              <a:rPr lang="en-US" altLang="zh-TW" sz="2000" b="1" dirty="0" err="1"/>
              <a:t>Release_DUT</a:t>
            </a:r>
            <a:r>
              <a:rPr lang="zh-TW" altLang="en-US" sz="2000" b="1" kern="1200" dirty="0">
                <a:solidFill>
                  <a:schemeClr val="tx1"/>
                </a:solidFill>
                <a:effectLst/>
                <a:latin typeface="+mn-lt"/>
                <a:ea typeface="+mn-ea"/>
                <a:cs typeface="+mn-cs"/>
              </a:rPr>
              <a:t>：</a:t>
            </a:r>
            <a:endParaRPr lang="en-US" altLang="zh-TW" sz="2000" b="1" kern="1200" dirty="0">
              <a:solidFill>
                <a:schemeClr val="tx1"/>
              </a:solidFill>
              <a:effectLst/>
              <a:latin typeface="+mn-lt"/>
              <a:ea typeface="+mn-ea"/>
              <a:cs typeface="+mn-cs"/>
            </a:endParaRPr>
          </a:p>
          <a:p>
            <a:pPr marL="800100" lvl="1" indent="-342900">
              <a:lnSpc>
                <a:spcPct val="150000"/>
              </a:lnSpc>
              <a:buFont typeface="Arial" panose="020B0604020202020204" pitchFamily="34" charset="0"/>
              <a:buChar char="•"/>
              <a:defRPr/>
            </a:pPr>
            <a:r>
              <a:rPr lang="en-US" altLang="zh-TW" sz="2000" dirty="0"/>
              <a:t>Raise the dummy-bud pressing module to release the DUT fixture</a:t>
            </a:r>
            <a:endParaRPr lang="en-US" altLang="zh-TW" sz="2000" b="1" dirty="0"/>
          </a:p>
          <a:p>
            <a:pPr>
              <a:lnSpc>
                <a:spcPct val="150000"/>
              </a:lnSpc>
              <a:defRPr/>
            </a:pPr>
            <a:r>
              <a:rPr lang="en-US" altLang="zh-TW" sz="2000" b="1" dirty="0"/>
              <a:t>Command</a:t>
            </a:r>
            <a:r>
              <a:rPr lang="zh-TW" altLang="en-US" sz="2000" b="1" dirty="0"/>
              <a:t>：</a:t>
            </a:r>
            <a:endParaRPr lang="en-US" altLang="zh-TW" sz="2000" b="1" dirty="0"/>
          </a:p>
          <a:p>
            <a:pPr>
              <a:lnSpc>
                <a:spcPct val="150000"/>
              </a:lnSpc>
              <a:defRPr/>
            </a:pPr>
            <a:endParaRPr lang="en" altLang="zh-TW" sz="2000" dirty="0"/>
          </a:p>
        </p:txBody>
      </p:sp>
      <p:graphicFrame>
        <p:nvGraphicFramePr>
          <p:cNvPr id="4" name="表格 3">
            <a:extLst>
              <a:ext uri="{FF2B5EF4-FFF2-40B4-BE49-F238E27FC236}">
                <a16:creationId xmlns:a16="http://schemas.microsoft.com/office/drawing/2014/main" id="{FF0EE640-D405-75F5-07BF-754C4C2E9294}"/>
              </a:ext>
            </a:extLst>
          </p:cNvPr>
          <p:cNvGraphicFramePr>
            <a:graphicFrameLocks noGrp="1"/>
          </p:cNvGraphicFramePr>
          <p:nvPr>
            <p:extLst>
              <p:ext uri="{D42A27DB-BD31-4B8C-83A1-F6EECF244321}">
                <p14:modId xmlns:p14="http://schemas.microsoft.com/office/powerpoint/2010/main" val="3142508139"/>
              </p:ext>
            </p:extLst>
          </p:nvPr>
        </p:nvGraphicFramePr>
        <p:xfrm>
          <a:off x="794350" y="2589738"/>
          <a:ext cx="7012339" cy="839262"/>
        </p:xfrm>
        <a:graphic>
          <a:graphicData uri="http://schemas.openxmlformats.org/drawingml/2006/table">
            <a:tbl>
              <a:tblPr>
                <a:tableStyleId>{5C22544A-7EE6-4342-B048-85BDC9FD1C3A}</a:tableStyleId>
              </a:tblPr>
              <a:tblGrid>
                <a:gridCol w="2048849">
                  <a:extLst>
                    <a:ext uri="{9D8B030D-6E8A-4147-A177-3AD203B41FA5}">
                      <a16:colId xmlns:a16="http://schemas.microsoft.com/office/drawing/2014/main" val="549460067"/>
                    </a:ext>
                  </a:extLst>
                </a:gridCol>
                <a:gridCol w="524444">
                  <a:extLst>
                    <a:ext uri="{9D8B030D-6E8A-4147-A177-3AD203B41FA5}">
                      <a16:colId xmlns:a16="http://schemas.microsoft.com/office/drawing/2014/main" val="2327150729"/>
                    </a:ext>
                  </a:extLst>
                </a:gridCol>
                <a:gridCol w="2472380">
                  <a:extLst>
                    <a:ext uri="{9D8B030D-6E8A-4147-A177-3AD203B41FA5}">
                      <a16:colId xmlns:a16="http://schemas.microsoft.com/office/drawing/2014/main" val="486039291"/>
                    </a:ext>
                  </a:extLst>
                </a:gridCol>
                <a:gridCol w="1966666">
                  <a:extLst>
                    <a:ext uri="{9D8B030D-6E8A-4147-A177-3AD203B41FA5}">
                      <a16:colId xmlns:a16="http://schemas.microsoft.com/office/drawing/2014/main" val="2143126558"/>
                    </a:ext>
                  </a:extLst>
                </a:gridCol>
              </a:tblGrid>
              <a:tr h="419631">
                <a:tc>
                  <a:txBody>
                    <a:bodyPr/>
                    <a:lstStyle/>
                    <a:p>
                      <a:pPr algn="ctr" fontAlgn="ctr">
                        <a:buNone/>
                      </a:pPr>
                      <a:r>
                        <a:rPr lang="en-US" sz="1100" b="1" u="none" strike="noStrike" dirty="0">
                          <a:effectLst/>
                        </a:rPr>
                        <a:t>Test item</a:t>
                      </a:r>
                      <a:endParaRPr lang="en-US" sz="1100" b="1"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ctr" fontAlgn="ctr">
                        <a:buNone/>
                      </a:pPr>
                      <a:r>
                        <a:rPr lang="zh-TW" altLang="en-US" sz="1100" u="none" strike="noStrike">
                          <a:effectLst/>
                        </a:rPr>
                        <a:t>　</a:t>
                      </a:r>
                      <a:endParaRPr lang="zh-TW" altLang="en-US" sz="11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ctr" fontAlgn="ctr">
                        <a:buNone/>
                      </a:pPr>
                      <a:r>
                        <a:rPr lang="en-US" sz="1100" b="1" u="none" strike="noStrike" dirty="0">
                          <a:effectLst/>
                        </a:rPr>
                        <a:t>cylinder command</a:t>
                      </a:r>
                      <a:endParaRPr lang="en-US" sz="1100" b="1" i="0" u="none" strike="noStrike" dirty="0">
                        <a:solidFill>
                          <a:srgbClr val="FF0000"/>
                        </a:solidFill>
                        <a:effectLst/>
                        <a:latin typeface="新細明體" panose="02020500000000000000" pitchFamily="18" charset="-120"/>
                        <a:ea typeface="新細明體" panose="02020500000000000000" pitchFamily="18" charset="-120"/>
                      </a:endParaRPr>
                    </a:p>
                  </a:txBody>
                  <a:tcPr marL="9411" marR="9411" marT="9411" marB="0"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l" fontAlgn="ctr">
                        <a:buNone/>
                      </a:pPr>
                      <a:r>
                        <a:rPr lang="en-US" altLang="zh-TW" sz="1100" b="1" kern="1200" dirty="0">
                          <a:solidFill>
                            <a:schemeClr val="tx1"/>
                          </a:solidFill>
                          <a:effectLst/>
                          <a:latin typeface="+mn-lt"/>
                          <a:ea typeface="+mn-ea"/>
                          <a:cs typeface="+mn-cs"/>
                        </a:rPr>
                        <a:t>Description</a:t>
                      </a: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6">
                        <a:lumMod val="40000"/>
                        <a:lumOff val="60000"/>
                      </a:schemeClr>
                    </a:solidFill>
                  </a:tcPr>
                </a:tc>
                <a:extLst>
                  <a:ext uri="{0D108BD9-81ED-4DB2-BD59-A6C34878D82A}">
                    <a16:rowId xmlns:a16="http://schemas.microsoft.com/office/drawing/2014/main" val="3535358712"/>
                  </a:ext>
                </a:extLst>
              </a:tr>
              <a:tr h="419631">
                <a:tc>
                  <a:txBody>
                    <a:bodyPr/>
                    <a:lstStyle/>
                    <a:p>
                      <a:pPr algn="ctr" fontAlgn="ctr">
                        <a:buNone/>
                      </a:pPr>
                      <a:r>
                        <a:rPr lang="en-US" altLang="zh-TW" sz="1100" b="1" dirty="0" err="1"/>
                        <a:t>Release_DUT</a:t>
                      </a: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marL="0" algn="ctr" defTabSz="914400" rtl="0" eaLnBrk="1" fontAlgn="ctr" latinLnBrk="0" hangingPunct="1">
                        <a:buNone/>
                      </a:pPr>
                      <a:r>
                        <a:rPr lang="en-US" altLang="zh-TW" sz="1100" b="0" kern="1200" dirty="0">
                          <a:solidFill>
                            <a:schemeClr val="dk1"/>
                          </a:solidFill>
                          <a:latin typeface="+mn-lt"/>
                          <a:ea typeface="+mn-ea"/>
                          <a:cs typeface="+mn-cs"/>
                        </a:rPr>
                        <a:t>1</a:t>
                      </a:r>
                    </a:p>
                  </a:txBody>
                  <a:tcPr marL="9411" marR="9411" marT="9411" marB="0" anchor="ctr">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zh-TW" sz="1100" b="0" i="0" u="none" strike="noStrike" kern="1200" dirty="0">
                          <a:solidFill>
                            <a:schemeClr val="tx1"/>
                          </a:solidFill>
                          <a:effectLst/>
                          <a:latin typeface="+mn-lt"/>
                          <a:ea typeface="+mn-ea"/>
                          <a:cs typeface="+mn-cs"/>
                        </a:rPr>
                        <a:t>cylinder4 back</a:t>
                      </a:r>
                    </a:p>
                  </a:txBody>
                  <a:tcPr marL="9525" marR="9525" marT="9525" marB="0" anchor="ctr">
                    <a:lnR w="12700" cap="flat" cmpd="sng" algn="ctr">
                      <a:solidFill>
                        <a:schemeClr val="bg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l" fontAlgn="ctr">
                        <a:buNone/>
                      </a:pPr>
                      <a:r>
                        <a:rPr lang="zh-TW" altLang="en-US" sz="1100" b="0" i="0" u="none" strike="noStrike" kern="1200" dirty="0">
                          <a:solidFill>
                            <a:schemeClr val="tx1"/>
                          </a:solidFill>
                          <a:effectLst/>
                          <a:latin typeface="+mn-lt"/>
                          <a:ea typeface="+mn-ea"/>
                          <a:cs typeface="+mn-cs"/>
                        </a:rPr>
                        <a:t>假耳汽缸上抬</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94060309"/>
                  </a:ext>
                </a:extLst>
              </a:tr>
            </a:tbl>
          </a:graphicData>
        </a:graphic>
      </p:graphicFrame>
    </p:spTree>
    <p:extLst>
      <p:ext uri="{BB962C8B-B14F-4D97-AF65-F5344CB8AC3E}">
        <p14:creationId xmlns:p14="http://schemas.microsoft.com/office/powerpoint/2010/main" val="224064282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6E254E-2839-15D3-D147-E7CDE4151E37}"/>
            </a:ext>
          </a:extLst>
        </p:cNvPr>
        <p:cNvGrpSpPr/>
        <p:nvPr/>
      </p:nvGrpSpPr>
      <p:grpSpPr>
        <a:xfrm>
          <a:off x="0" y="0"/>
          <a:ext cx="0" cy="0"/>
          <a:chOff x="0" y="0"/>
          <a:chExt cx="0" cy="0"/>
        </a:xfrm>
      </p:grpSpPr>
      <p:pic>
        <p:nvPicPr>
          <p:cNvPr id="8" name="圖片 7" descr="一張含有 寫生, 圖表, 方案, 文字 的圖片&#10;&#10;AI 產生的內容可能不正確。">
            <a:extLst>
              <a:ext uri="{FF2B5EF4-FFF2-40B4-BE49-F238E27FC236}">
                <a16:creationId xmlns:a16="http://schemas.microsoft.com/office/drawing/2014/main" id="{73D2FA0A-0C4C-2F0A-DA3A-1489CF16C5A0}"/>
              </a:ext>
            </a:extLst>
          </p:cNvPr>
          <p:cNvPicPr>
            <a:picLocks noChangeAspect="1"/>
          </p:cNvPicPr>
          <p:nvPr/>
        </p:nvPicPr>
        <p:blipFill>
          <a:blip r:embed="rId3"/>
          <a:stretch>
            <a:fillRect/>
          </a:stretch>
        </p:blipFill>
        <p:spPr>
          <a:xfrm>
            <a:off x="6615730" y="310307"/>
            <a:ext cx="4904758" cy="2625999"/>
          </a:xfrm>
          <a:prstGeom prst="rect">
            <a:avLst/>
          </a:prstGeom>
        </p:spPr>
      </p:pic>
      <p:sp>
        <p:nvSpPr>
          <p:cNvPr id="3" name="Text Placeholder 2">
            <a:extLst>
              <a:ext uri="{FF2B5EF4-FFF2-40B4-BE49-F238E27FC236}">
                <a16:creationId xmlns:a16="http://schemas.microsoft.com/office/drawing/2014/main" id="{4F695523-8199-D7D6-418F-EAAAAB298938}"/>
              </a:ext>
            </a:extLst>
          </p:cNvPr>
          <p:cNvSpPr>
            <a:spLocks noGrp="1"/>
          </p:cNvSpPr>
          <p:nvPr>
            <p:ph type="body" sz="quarter" idx="13"/>
          </p:nvPr>
        </p:nvSpPr>
        <p:spPr/>
        <p:txBody>
          <a:bodyPr/>
          <a:lstStyle/>
          <a:p>
            <a:r>
              <a:rPr lang="en-US" dirty="0"/>
              <a:t>Terminology  </a:t>
            </a:r>
          </a:p>
          <a:p>
            <a:endParaRPr lang="en-US" dirty="0"/>
          </a:p>
        </p:txBody>
      </p:sp>
      <p:sp>
        <p:nvSpPr>
          <p:cNvPr id="6" name="文字方塊 5">
            <a:extLst>
              <a:ext uri="{FF2B5EF4-FFF2-40B4-BE49-F238E27FC236}">
                <a16:creationId xmlns:a16="http://schemas.microsoft.com/office/drawing/2014/main" id="{DA8B4134-9C28-45F9-4524-3779AC36A613}"/>
              </a:ext>
            </a:extLst>
          </p:cNvPr>
          <p:cNvSpPr txBox="1"/>
          <p:nvPr/>
        </p:nvSpPr>
        <p:spPr>
          <a:xfrm>
            <a:off x="571500" y="938449"/>
            <a:ext cx="8886825" cy="1881925"/>
          </a:xfrm>
          <a:prstGeom prst="rect">
            <a:avLst/>
          </a:prstGeom>
          <a:noFill/>
        </p:spPr>
        <p:txBody>
          <a:bodyPr wrap="square">
            <a:spAutoFit/>
          </a:bodyPr>
          <a:lstStyle/>
          <a:p>
            <a:pPr>
              <a:lnSpc>
                <a:spcPct val="150000"/>
              </a:lnSpc>
              <a:defRPr/>
            </a:pPr>
            <a:r>
              <a:rPr lang="en-US" altLang="zh-TW" sz="2000" b="1" dirty="0" err="1"/>
              <a:t>LidStatusCheck</a:t>
            </a:r>
            <a:r>
              <a:rPr lang="zh-TW" altLang="en-US" sz="2000" b="1" kern="1200" dirty="0">
                <a:solidFill>
                  <a:schemeClr val="tx1"/>
                </a:solidFill>
                <a:effectLst/>
                <a:latin typeface="+mn-lt"/>
                <a:ea typeface="+mn-ea"/>
                <a:cs typeface="+mn-cs"/>
              </a:rPr>
              <a:t>：</a:t>
            </a:r>
          </a:p>
          <a:p>
            <a:pPr marL="800100" lvl="1" indent="-342900">
              <a:lnSpc>
                <a:spcPct val="150000"/>
              </a:lnSpc>
              <a:buFont typeface="Arial" panose="020B0604020202020204" pitchFamily="34" charset="0"/>
              <a:buChar char="•"/>
              <a:defRPr/>
            </a:pPr>
            <a:r>
              <a:rPr lang="en-US" altLang="zh-TW" dirty="0"/>
              <a:t>Close the lid and Check case lid status</a:t>
            </a:r>
          </a:p>
          <a:p>
            <a:pPr>
              <a:lnSpc>
                <a:spcPct val="150000"/>
              </a:lnSpc>
              <a:defRPr/>
            </a:pPr>
            <a:r>
              <a:rPr lang="en-US" altLang="zh-TW" sz="2000" b="1" dirty="0"/>
              <a:t>Command</a:t>
            </a:r>
            <a:r>
              <a:rPr lang="zh-TW" altLang="en-US" sz="2000" b="1" dirty="0"/>
              <a:t>：</a:t>
            </a:r>
            <a:endParaRPr lang="en-US" altLang="zh-TW" sz="2000" b="1" dirty="0"/>
          </a:p>
          <a:p>
            <a:pPr>
              <a:lnSpc>
                <a:spcPct val="150000"/>
              </a:lnSpc>
              <a:defRPr/>
            </a:pPr>
            <a:endParaRPr lang="en-US" altLang="zh-TW" sz="2000" dirty="0"/>
          </a:p>
        </p:txBody>
      </p:sp>
      <p:graphicFrame>
        <p:nvGraphicFramePr>
          <p:cNvPr id="2" name="表格 1">
            <a:extLst>
              <a:ext uri="{FF2B5EF4-FFF2-40B4-BE49-F238E27FC236}">
                <a16:creationId xmlns:a16="http://schemas.microsoft.com/office/drawing/2014/main" id="{9EA6E0D6-4CCF-4C84-8AE4-1141E8F79BEB}"/>
              </a:ext>
            </a:extLst>
          </p:cNvPr>
          <p:cNvGraphicFramePr>
            <a:graphicFrameLocks noGrp="1"/>
          </p:cNvGraphicFramePr>
          <p:nvPr>
            <p:extLst>
              <p:ext uri="{D42A27DB-BD31-4B8C-83A1-F6EECF244321}">
                <p14:modId xmlns:p14="http://schemas.microsoft.com/office/powerpoint/2010/main" val="691792547"/>
              </p:ext>
            </p:extLst>
          </p:nvPr>
        </p:nvGraphicFramePr>
        <p:xfrm>
          <a:off x="571499" y="2522005"/>
          <a:ext cx="7186893" cy="3224041"/>
        </p:xfrm>
        <a:graphic>
          <a:graphicData uri="http://schemas.openxmlformats.org/drawingml/2006/table">
            <a:tbl>
              <a:tblPr>
                <a:tableStyleId>{5C22544A-7EE6-4342-B048-85BDC9FD1C3A}</a:tableStyleId>
              </a:tblPr>
              <a:tblGrid>
                <a:gridCol w="1411794">
                  <a:extLst>
                    <a:ext uri="{9D8B030D-6E8A-4147-A177-3AD203B41FA5}">
                      <a16:colId xmlns:a16="http://schemas.microsoft.com/office/drawing/2014/main" val="549460067"/>
                    </a:ext>
                  </a:extLst>
                </a:gridCol>
                <a:gridCol w="361378">
                  <a:extLst>
                    <a:ext uri="{9D8B030D-6E8A-4147-A177-3AD203B41FA5}">
                      <a16:colId xmlns:a16="http://schemas.microsoft.com/office/drawing/2014/main" val="2327150729"/>
                    </a:ext>
                  </a:extLst>
                </a:gridCol>
                <a:gridCol w="1290632">
                  <a:extLst>
                    <a:ext uri="{9D8B030D-6E8A-4147-A177-3AD203B41FA5}">
                      <a16:colId xmlns:a16="http://schemas.microsoft.com/office/drawing/2014/main" val="3642965757"/>
                    </a:ext>
                  </a:extLst>
                </a:gridCol>
                <a:gridCol w="1064934">
                  <a:extLst>
                    <a:ext uri="{9D8B030D-6E8A-4147-A177-3AD203B41FA5}">
                      <a16:colId xmlns:a16="http://schemas.microsoft.com/office/drawing/2014/main" val="2229921703"/>
                    </a:ext>
                  </a:extLst>
                </a:gridCol>
                <a:gridCol w="1702990">
                  <a:extLst>
                    <a:ext uri="{9D8B030D-6E8A-4147-A177-3AD203B41FA5}">
                      <a16:colId xmlns:a16="http://schemas.microsoft.com/office/drawing/2014/main" val="486039291"/>
                    </a:ext>
                  </a:extLst>
                </a:gridCol>
                <a:gridCol w="1355165">
                  <a:extLst>
                    <a:ext uri="{9D8B030D-6E8A-4147-A177-3AD203B41FA5}">
                      <a16:colId xmlns:a16="http://schemas.microsoft.com/office/drawing/2014/main" val="2143126558"/>
                    </a:ext>
                  </a:extLst>
                </a:gridCol>
              </a:tblGrid>
              <a:tr h="615240">
                <a:tc>
                  <a:txBody>
                    <a:bodyPr/>
                    <a:lstStyle/>
                    <a:p>
                      <a:pPr algn="ctr" fontAlgn="ctr">
                        <a:buNone/>
                      </a:pPr>
                      <a:r>
                        <a:rPr lang="en-US" sz="1100" b="1" u="none" strike="noStrike" dirty="0">
                          <a:effectLst/>
                        </a:rPr>
                        <a:t>Test item</a:t>
                      </a:r>
                      <a:endParaRPr lang="en-US" sz="1100" b="1"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ctr" fontAlgn="ctr">
                        <a:buNone/>
                      </a:pPr>
                      <a:r>
                        <a:rPr lang="zh-TW" altLang="en-US" sz="1100" u="none" strike="noStrike">
                          <a:effectLst/>
                        </a:rPr>
                        <a:t>　</a:t>
                      </a:r>
                      <a:endParaRPr lang="zh-TW" altLang="en-US" sz="1100" b="0" i="0" u="none" strike="noStrike">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ctr" fontAlgn="ctr">
                        <a:buNone/>
                      </a:pPr>
                      <a:r>
                        <a:rPr lang="en-US" sz="1100" b="1" u="none" strike="noStrike" dirty="0">
                          <a:effectLst/>
                        </a:rPr>
                        <a:t>DUT  command</a:t>
                      </a:r>
                      <a:endParaRPr lang="en-US" sz="1100" b="1" i="0" u="none" strike="noStrike" dirty="0">
                        <a:solidFill>
                          <a:srgbClr val="FF0000"/>
                        </a:solidFill>
                        <a:effectLst/>
                        <a:latin typeface="新細明體" panose="02020500000000000000" pitchFamily="18" charset="-120"/>
                        <a:ea typeface="新細明體" panose="02020500000000000000" pitchFamily="18" charset="-120"/>
                      </a:endParaRPr>
                    </a:p>
                  </a:txBody>
                  <a:tcPr marL="9411" marR="9411" marT="9411" marB="0"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l" fontAlgn="ctr">
                        <a:buNone/>
                      </a:pPr>
                      <a:r>
                        <a:rPr lang="en-US" altLang="zh-TW" sz="1100" b="1" kern="1200" dirty="0">
                          <a:solidFill>
                            <a:schemeClr val="tx1"/>
                          </a:solidFill>
                          <a:effectLst/>
                          <a:latin typeface="+mn-lt"/>
                          <a:ea typeface="+mn-ea"/>
                          <a:cs typeface="+mn-cs"/>
                        </a:rPr>
                        <a:t>Description</a:t>
                      </a: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ctr" fontAlgn="ctr">
                        <a:buNone/>
                      </a:pPr>
                      <a:r>
                        <a:rPr lang="en-US" sz="1100" b="1" u="none" strike="noStrike" dirty="0">
                          <a:effectLst/>
                        </a:rPr>
                        <a:t>cylinder command</a:t>
                      </a:r>
                      <a:endParaRPr lang="en-US" sz="1100" b="1" i="0" u="none" strike="noStrike" dirty="0">
                        <a:solidFill>
                          <a:srgbClr val="FF0000"/>
                        </a:solidFill>
                        <a:effectLst/>
                        <a:latin typeface="新細明體" panose="02020500000000000000" pitchFamily="18" charset="-120"/>
                        <a:ea typeface="新細明體" panose="02020500000000000000" pitchFamily="18" charset="-120"/>
                      </a:endParaRPr>
                    </a:p>
                  </a:txBody>
                  <a:tcPr marL="9411" marR="9411" marT="9411" marB="0"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l" fontAlgn="ctr">
                        <a:buNone/>
                      </a:pPr>
                      <a:r>
                        <a:rPr lang="en-US" altLang="zh-TW" sz="1100" b="1" kern="1200" dirty="0">
                          <a:solidFill>
                            <a:schemeClr val="tx1"/>
                          </a:solidFill>
                          <a:effectLst/>
                          <a:latin typeface="+mn-lt"/>
                          <a:ea typeface="+mn-ea"/>
                          <a:cs typeface="+mn-cs"/>
                        </a:rPr>
                        <a:t>Description</a:t>
                      </a: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6">
                        <a:lumMod val="40000"/>
                        <a:lumOff val="60000"/>
                      </a:schemeClr>
                    </a:solidFill>
                  </a:tcPr>
                </a:tc>
                <a:extLst>
                  <a:ext uri="{0D108BD9-81ED-4DB2-BD59-A6C34878D82A}">
                    <a16:rowId xmlns:a16="http://schemas.microsoft.com/office/drawing/2014/main" val="3535358712"/>
                  </a:ext>
                </a:extLst>
              </a:tr>
              <a:tr h="615240">
                <a:tc rowSpan="4">
                  <a:txBody>
                    <a:bodyPr/>
                    <a:lstStyle/>
                    <a:p>
                      <a:pPr algn="ctr" fontAlgn="ctr">
                        <a:buNone/>
                      </a:pPr>
                      <a:r>
                        <a:rPr lang="en-US" altLang="zh-TW" sz="1400" b="1" dirty="0" err="1"/>
                        <a:t>LidStatusCheck</a:t>
                      </a:r>
                      <a:endParaRPr lang="zh-TW" altLang="en-US" sz="14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fontAlgn="ctr">
                        <a:buNone/>
                      </a:pPr>
                      <a:r>
                        <a:rPr lang="en-US" altLang="zh-TW" sz="1100" u="none" strike="noStrike" dirty="0">
                          <a:effectLst/>
                        </a:rPr>
                        <a:t>1</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a:txBody>
                    <a:bodyPr/>
                    <a:lstStyle/>
                    <a:p>
                      <a:r>
                        <a:rPr lang="en-US" altLang="zh-TW" sz="1200" b="0" kern="1200" dirty="0">
                          <a:solidFill>
                            <a:schemeClr val="dk1"/>
                          </a:solidFill>
                          <a:effectLst/>
                          <a:latin typeface="+mn-lt"/>
                          <a:ea typeface="+mn-ea"/>
                          <a:cs typeface="+mn-cs"/>
                        </a:rPr>
                        <a:t>dev lid get</a:t>
                      </a:r>
                    </a:p>
                  </a:txBody>
                  <a:tcPr marL="9411" marR="9411" marT="9411" marB="0" anchor="ctr"/>
                </a:tc>
                <a:tc>
                  <a:txBody>
                    <a:bodyPr/>
                    <a:lstStyle/>
                    <a:p>
                      <a:pPr marL="0" algn="l" defTabSz="914400" rtl="0" eaLnBrk="1" fontAlgn="ctr" latinLnBrk="0" hangingPunct="1">
                        <a:buNone/>
                      </a:pPr>
                      <a:r>
                        <a:rPr lang="zh-TW" altLang="en-US" sz="1100" b="0" i="0" u="none" strike="noStrike" kern="1200" dirty="0">
                          <a:solidFill>
                            <a:schemeClr val="tx1"/>
                          </a:solidFill>
                          <a:effectLst/>
                          <a:latin typeface="+mn-lt"/>
                          <a:ea typeface="+mn-ea"/>
                          <a:cs typeface="+mn-cs"/>
                        </a:rPr>
                        <a:t>讀取盒子開關蓋狀態</a:t>
                      </a:r>
                      <a:r>
                        <a:rPr lang="en-US" altLang="zh-TW" sz="1100" b="0" i="0" u="none" strike="noStrike" kern="1200" dirty="0">
                          <a:solidFill>
                            <a:schemeClr val="tx1"/>
                          </a:solidFill>
                          <a:effectLst/>
                          <a:latin typeface="+mn-lt"/>
                          <a:ea typeface="+mn-ea"/>
                          <a:cs typeface="+mn-cs"/>
                        </a:rPr>
                        <a:t>(</a:t>
                      </a:r>
                      <a:r>
                        <a:rPr lang="zh-TW" altLang="en-US" sz="1100" b="0" i="0" u="none" strike="noStrike" kern="1200" dirty="0">
                          <a:solidFill>
                            <a:schemeClr val="tx1"/>
                          </a:solidFill>
                          <a:effectLst/>
                          <a:latin typeface="+mn-lt"/>
                          <a:ea typeface="+mn-ea"/>
                          <a:cs typeface="+mn-cs"/>
                        </a:rPr>
                        <a:t>開</a:t>
                      </a:r>
                      <a:r>
                        <a:rPr lang="en-US" altLang="zh-TW" sz="1100" b="0" i="0" u="none" strike="noStrike" kern="1200" dirty="0">
                          <a:solidFill>
                            <a:schemeClr val="tx1"/>
                          </a:solidFill>
                          <a:effectLst/>
                          <a:latin typeface="+mn-lt"/>
                          <a:ea typeface="+mn-ea"/>
                          <a:cs typeface="+mn-cs"/>
                        </a:rPr>
                        <a:t>)</a:t>
                      </a:r>
                      <a:endParaRPr lang="zh-TW" altLang="en-US" sz="1100" b="0" i="0" u="none" strike="noStrike" kern="1200" dirty="0">
                        <a:solidFill>
                          <a:schemeClr val="tx1"/>
                        </a:solidFill>
                        <a:effectLst/>
                        <a:latin typeface="+mn-lt"/>
                        <a:ea typeface="+mn-ea"/>
                        <a:cs typeface="+mn-cs"/>
                      </a:endParaRPr>
                    </a:p>
                  </a:txBody>
                  <a:tcPr marL="9411" marR="9411" marT="9411" marB="0" anchor="ctr"/>
                </a:tc>
                <a:tc gridSpan="2">
                  <a:txBody>
                    <a:bodyPr/>
                    <a:lstStyle/>
                    <a:p>
                      <a:pPr marL="0" algn="l" defTabSz="914400" rtl="0" eaLnBrk="1" fontAlgn="ctr" latinLnBrk="0" hangingPunct="1">
                        <a:buNone/>
                      </a:pPr>
                      <a:r>
                        <a:rPr lang="zh-TW" altLang="en-US" sz="1100" b="0" i="0" u="none" strike="noStrike" kern="1200" dirty="0">
                          <a:solidFill>
                            <a:schemeClr val="tx1"/>
                          </a:solidFill>
                          <a:effectLst/>
                          <a:latin typeface="+mn-lt"/>
                          <a:ea typeface="+mn-ea"/>
                          <a:cs typeface="+mn-cs"/>
                        </a:rPr>
                        <a:t> </a:t>
                      </a:r>
                    </a:p>
                  </a:txBody>
                  <a:tcPr marL="9411" marR="9411" marT="9411" marB="0" anchor="ctr">
                    <a:lnR w="12700" cap="flat" cmpd="sng" algn="ctr">
                      <a:solidFill>
                        <a:schemeClr val="tx1"/>
                      </a:solidFill>
                      <a:prstDash val="solid"/>
                      <a:round/>
                      <a:headEnd type="none" w="med" len="med"/>
                      <a:tailEnd type="none" w="med" len="med"/>
                    </a:lnR>
                  </a:tcPr>
                </a:tc>
                <a:tc hMerge="1">
                  <a:txBody>
                    <a:bodyPr/>
                    <a:lstStyle/>
                    <a:p>
                      <a:endParaRPr lang="zh-TW" altLang="en-US" dirty="0"/>
                    </a:p>
                  </a:txBody>
                  <a:tcPr marL="9411" marR="9411" marT="941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794060309"/>
                  </a:ext>
                </a:extLst>
              </a:tr>
              <a:tr h="615240">
                <a:tc vMerge="1">
                  <a:txBody>
                    <a:bodyPr/>
                    <a:lstStyle/>
                    <a:p>
                      <a:endParaRPr lang="zh-TW" altLang="en-US"/>
                    </a:p>
                  </a:txBody>
                  <a:tcPr>
                    <a:lnT w="12700" cap="flat" cmpd="sng" algn="ctr">
                      <a:solidFill>
                        <a:schemeClr val="tx1"/>
                      </a:solidFill>
                      <a:prstDash val="solid"/>
                      <a:round/>
                      <a:headEnd type="none" w="med" len="med"/>
                      <a:tailEnd type="none" w="med" len="med"/>
                    </a:lnT>
                  </a:tcPr>
                </a:tc>
                <a:tc>
                  <a:txBody>
                    <a:bodyPr/>
                    <a:lstStyle/>
                    <a:p>
                      <a:pPr algn="ctr" fontAlgn="ctr">
                        <a:buNone/>
                      </a:pPr>
                      <a:r>
                        <a:rPr lang="en-US" altLang="zh-TW" sz="1100" u="none" strike="noStrike" dirty="0">
                          <a:effectLst/>
                        </a:rPr>
                        <a:t>2</a:t>
                      </a:r>
                      <a:endParaRPr lang="en-US" altLang="zh-TW"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tc>
                <a:tc rowSpan="2" gridSpan="2">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zh-TW" sz="1200" b="0" kern="1200" dirty="0">
                        <a:solidFill>
                          <a:schemeClr val="dk1"/>
                        </a:solidFill>
                        <a:effectLst/>
                        <a:latin typeface="+mn-lt"/>
                        <a:ea typeface="+mn-ea"/>
                        <a:cs typeface="+mn-cs"/>
                      </a:endParaRPr>
                    </a:p>
                  </a:txBody>
                  <a:tcPr marL="9411" marR="9411" marT="9411" marB="0" anchor="ctr">
                    <a:lnR w="12700" cap="flat" cmpd="sng" algn="ctr">
                      <a:solidFill>
                        <a:schemeClr val="bg1"/>
                      </a:solidFill>
                      <a:prstDash val="solid"/>
                      <a:round/>
                      <a:headEnd type="none" w="med" len="med"/>
                      <a:tailEnd type="none" w="med" len="med"/>
                    </a:lnR>
                  </a:tcPr>
                </a:tc>
                <a:tc rowSpan="2" h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lnR w="12700" cap="flat" cmpd="sng" algn="ctr">
                      <a:solidFill>
                        <a:schemeClr val="bg1"/>
                      </a:solidFill>
                      <a:prstDash val="solid"/>
                      <a:round/>
                      <a:headEnd type="none" w="med" len="med"/>
                      <a:tailEnd type="none" w="med" len="med"/>
                    </a:lnR>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zh-TW" sz="1200" b="0" kern="1200" dirty="0">
                          <a:solidFill>
                            <a:schemeClr val="dk1"/>
                          </a:solidFill>
                          <a:effectLst/>
                          <a:latin typeface="+mn-lt"/>
                          <a:ea typeface="+mn-ea"/>
                          <a:cs typeface="+mn-cs"/>
                        </a:rPr>
                        <a:t>cylinder3 front</a:t>
                      </a:r>
                    </a:p>
                  </a:txBody>
                  <a:tcPr marL="9411" marR="9411" marT="9411"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zh-TW" altLang="en-US" sz="1100" b="0" i="0" u="none" strike="noStrike" kern="1200" dirty="0">
                          <a:solidFill>
                            <a:schemeClr val="tx1"/>
                          </a:solidFill>
                          <a:effectLst/>
                          <a:latin typeface="+mn-lt"/>
                          <a:ea typeface="+mn-ea"/>
                          <a:cs typeface="+mn-cs"/>
                        </a:rPr>
                        <a:t>關蓋汽缸往前（關）</a:t>
                      </a:r>
                    </a:p>
                  </a:txBody>
                  <a:tcPr marL="9411" marR="9411" marT="9411"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428791286"/>
                  </a:ext>
                </a:extLst>
              </a:tr>
              <a:tr h="603015">
                <a:tc vMerge="1">
                  <a:txBody>
                    <a:bodyPr/>
                    <a:lstStyle/>
                    <a:p>
                      <a:pPr algn="ctr" fontAlgn="ctr">
                        <a:buNone/>
                      </a:pP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marL="0" algn="ctr" defTabSz="914400" rtl="0" eaLnBrk="1" fontAlgn="ctr" latinLnBrk="0" hangingPunct="1">
                        <a:buNone/>
                      </a:pPr>
                      <a:r>
                        <a:rPr lang="en-US" altLang="zh-TW" sz="1100" u="none" strike="noStrike" kern="1200" dirty="0">
                          <a:solidFill>
                            <a:schemeClr val="dk1"/>
                          </a:solidFill>
                          <a:effectLst/>
                          <a:latin typeface="+mn-lt"/>
                          <a:ea typeface="+mn-ea"/>
                          <a:cs typeface="+mn-cs"/>
                        </a:rPr>
                        <a:t>3</a:t>
                      </a:r>
                    </a:p>
                  </a:txBody>
                  <a:tcPr marL="9411" marR="9411" marT="9411" marB="0" anchor="ctr"/>
                </a:tc>
                <a:tc gridSpan="2" v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zh-TW" altLang="en-US" sz="1100" u="none" strike="noStrike" kern="1200" dirty="0">
                        <a:solidFill>
                          <a:schemeClr val="dk1"/>
                        </a:solidFill>
                        <a:effectLst/>
                        <a:latin typeface="+mn-lt"/>
                        <a:ea typeface="+mn-ea"/>
                        <a:cs typeface="+mn-cs"/>
                      </a:endParaRPr>
                    </a:p>
                  </a:txBody>
                  <a:tcPr marL="9411" marR="9411" marT="9411" marB="0" anchor="ctr"/>
                </a:tc>
                <a:tc hMerge="1" vMerge="1">
                  <a:txBody>
                    <a:bodyPr/>
                    <a:lstStyle/>
                    <a:p>
                      <a:endParaRPr lang="zh-TW" altLang="en-US" dirty="0"/>
                    </a:p>
                  </a:txBody>
                  <a:tcPr marL="9411" marR="9411" marT="9411"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zh-TW" sz="1200" b="0" kern="1200" dirty="0">
                          <a:solidFill>
                            <a:schemeClr val="dk1"/>
                          </a:solidFill>
                          <a:effectLst/>
                          <a:latin typeface="+mn-lt"/>
                          <a:ea typeface="+mn-ea"/>
                          <a:cs typeface="+mn-cs"/>
                        </a:rPr>
                        <a:t>cylinder3 back</a:t>
                      </a:r>
                    </a:p>
                  </a:txBody>
                  <a:tcPr marL="9411" marR="9411" marT="9411" marB="0" anchor="ctr">
                    <a:lnT w="12700" cap="flat" cmpd="sng" algn="ctr">
                      <a:solidFill>
                        <a:schemeClr val="bg1"/>
                      </a:solidFill>
                      <a:prstDash val="solid"/>
                      <a:round/>
                      <a:headEnd type="none" w="med" len="med"/>
                      <a:tailEnd type="none" w="med" len="med"/>
                    </a:lnT>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zh-TW" altLang="en-US" sz="1100" b="0" i="0" u="none" strike="noStrike" kern="1200" dirty="0">
                          <a:solidFill>
                            <a:schemeClr val="tx1"/>
                          </a:solidFill>
                          <a:effectLst/>
                          <a:latin typeface="+mn-lt"/>
                          <a:ea typeface="+mn-ea"/>
                          <a:cs typeface="+mn-cs"/>
                        </a:rPr>
                        <a:t>關蓋汽缸往後（動作收回）</a:t>
                      </a:r>
                    </a:p>
                  </a:txBody>
                  <a:tcPr marL="9411" marR="9411" marT="9411" marB="0" anchor="ctr">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extLst>
                  <a:ext uri="{0D108BD9-81ED-4DB2-BD59-A6C34878D82A}">
                    <a16:rowId xmlns:a16="http://schemas.microsoft.com/office/drawing/2014/main" val="295869694"/>
                  </a:ext>
                </a:extLst>
              </a:tr>
              <a:tr h="775306">
                <a:tc vMerge="1">
                  <a:txBody>
                    <a:bodyPr/>
                    <a:lstStyle/>
                    <a:p>
                      <a:pPr algn="ctr" fontAlgn="ctr">
                        <a:buNone/>
                      </a:pP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marL="0" algn="ctr" defTabSz="914400" rtl="0" eaLnBrk="1" fontAlgn="ctr" latinLnBrk="0" hangingPunct="1">
                        <a:buNone/>
                      </a:pPr>
                      <a:r>
                        <a:rPr lang="en-US" altLang="zh-TW" sz="1100" u="none" strike="noStrike" kern="1200" dirty="0">
                          <a:solidFill>
                            <a:schemeClr val="dk1"/>
                          </a:solidFill>
                          <a:effectLst/>
                          <a:latin typeface="+mn-lt"/>
                          <a:ea typeface="+mn-ea"/>
                          <a:cs typeface="+mn-cs"/>
                        </a:rPr>
                        <a:t>4</a:t>
                      </a:r>
                    </a:p>
                  </a:txBody>
                  <a:tcPr marL="9411" marR="9411" marT="9411" marB="0" anchor="ctr">
                    <a:lnB w="12700" cap="flat" cmpd="sng" algn="ctr">
                      <a:solidFill>
                        <a:schemeClr val="tx1"/>
                      </a:solidFill>
                      <a:prstDash val="solid"/>
                      <a:round/>
                      <a:headEnd type="none" w="med" len="med"/>
                      <a:tailEnd type="none" w="med" len="med"/>
                    </a:lnB>
                  </a:tcPr>
                </a:tc>
                <a:tc>
                  <a:txBody>
                    <a:bodyPr/>
                    <a:lstStyle/>
                    <a:p>
                      <a:r>
                        <a:rPr lang="en-US" altLang="zh-TW" sz="1200" b="0" kern="1200" dirty="0">
                          <a:solidFill>
                            <a:schemeClr val="dk1"/>
                          </a:solidFill>
                          <a:effectLst/>
                          <a:latin typeface="+mn-lt"/>
                          <a:ea typeface="+mn-ea"/>
                          <a:cs typeface="+mn-cs"/>
                        </a:rPr>
                        <a:t>dev lid get</a:t>
                      </a:r>
                    </a:p>
                  </a:txBody>
                  <a:tcPr marL="9411" marR="9411" marT="9411" marB="0" anchor="ctr">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zh-TW" altLang="en-US" sz="1100" b="0" i="0" u="none" strike="noStrike" kern="1200" dirty="0">
                          <a:solidFill>
                            <a:schemeClr val="tx1"/>
                          </a:solidFill>
                          <a:effectLst/>
                          <a:latin typeface="+mn-lt"/>
                          <a:ea typeface="+mn-ea"/>
                          <a:cs typeface="+mn-cs"/>
                        </a:rPr>
                        <a:t>讀取盒子開關蓋狀態</a:t>
                      </a:r>
                      <a:r>
                        <a:rPr lang="en-US" altLang="zh-TW" sz="1100" b="0" i="0" u="none" strike="noStrike" kern="1200" dirty="0">
                          <a:solidFill>
                            <a:schemeClr val="tx1"/>
                          </a:solidFill>
                          <a:effectLst/>
                          <a:latin typeface="+mn-lt"/>
                          <a:ea typeface="+mn-ea"/>
                          <a:cs typeface="+mn-cs"/>
                        </a:rPr>
                        <a:t>(</a:t>
                      </a:r>
                      <a:r>
                        <a:rPr lang="zh-TW" altLang="en-US" sz="1100" b="0" i="0" u="none" strike="noStrike" kern="1200" dirty="0">
                          <a:solidFill>
                            <a:schemeClr val="tx1"/>
                          </a:solidFill>
                          <a:effectLst/>
                          <a:latin typeface="+mn-lt"/>
                          <a:ea typeface="+mn-ea"/>
                          <a:cs typeface="+mn-cs"/>
                        </a:rPr>
                        <a:t>關</a:t>
                      </a:r>
                      <a:r>
                        <a:rPr lang="en-US" altLang="zh-TW" sz="1100" b="0" i="0" u="none" strike="noStrike" kern="1200" dirty="0">
                          <a:solidFill>
                            <a:schemeClr val="tx1"/>
                          </a:solidFill>
                          <a:effectLst/>
                          <a:latin typeface="+mn-lt"/>
                          <a:ea typeface="+mn-ea"/>
                          <a:cs typeface="+mn-cs"/>
                        </a:rPr>
                        <a:t>)</a:t>
                      </a:r>
                      <a:endParaRPr lang="zh-TW" altLang="en-US" sz="1100" b="0" i="0" u="none" strike="noStrike" kern="1200" dirty="0">
                        <a:solidFill>
                          <a:schemeClr val="tx1"/>
                        </a:solidFill>
                        <a:effectLst/>
                        <a:latin typeface="+mn-lt"/>
                        <a:ea typeface="+mn-ea"/>
                        <a:cs typeface="+mn-cs"/>
                      </a:endParaRPr>
                    </a:p>
                  </a:txBody>
                  <a:tcPr marL="9411" marR="9411" marT="9411" marB="0" anchor="ctr">
                    <a:lnB w="12700" cap="flat" cmpd="sng" algn="ctr">
                      <a:solidFill>
                        <a:schemeClr val="tx1"/>
                      </a:solidFill>
                      <a:prstDash val="solid"/>
                      <a:round/>
                      <a:headEnd type="none" w="med" len="med"/>
                      <a:tailEnd type="none" w="med" len="med"/>
                    </a:lnB>
                  </a:tcPr>
                </a:tc>
                <a:tc gridSpan="2">
                  <a:txBody>
                    <a:bodyPr/>
                    <a:lstStyle/>
                    <a:p>
                      <a:pPr marL="0" algn="l" defTabSz="914400" rtl="0" eaLnBrk="1" fontAlgn="ctr" latinLnBrk="0" hangingPunct="1">
                        <a:buNone/>
                      </a:pPr>
                      <a:endParaRPr lang="en-US" sz="1100" b="0" i="0" u="none" strike="noStrike" kern="1200" dirty="0">
                        <a:solidFill>
                          <a:schemeClr val="tx1"/>
                        </a:solidFill>
                        <a:effectLst/>
                        <a:latin typeface="+mn-lt"/>
                        <a:ea typeface="+mn-ea"/>
                        <a:cs typeface="+mn-cs"/>
                      </a:endParaRPr>
                    </a:p>
                  </a:txBody>
                  <a:tcPr marL="9411" marR="9411" marT="9411"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h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3742783"/>
                  </a:ext>
                </a:extLst>
              </a:tr>
            </a:tbl>
          </a:graphicData>
        </a:graphic>
      </p:graphicFrame>
      <p:pic>
        <p:nvPicPr>
          <p:cNvPr id="10" name="圖片 9" descr="一張含有 寫生, 圖畫, 設計, 圖解 的圖片&#10;&#10;AI 產生的內容可能不正確。">
            <a:extLst>
              <a:ext uri="{FF2B5EF4-FFF2-40B4-BE49-F238E27FC236}">
                <a16:creationId xmlns:a16="http://schemas.microsoft.com/office/drawing/2014/main" id="{ECE8B077-2C81-42D3-40C2-924101293D15}"/>
              </a:ext>
            </a:extLst>
          </p:cNvPr>
          <p:cNvPicPr>
            <a:picLocks noChangeAspect="1"/>
          </p:cNvPicPr>
          <p:nvPr/>
        </p:nvPicPr>
        <p:blipFill>
          <a:blip r:embed="rId4"/>
          <a:stretch>
            <a:fillRect/>
          </a:stretch>
        </p:blipFill>
        <p:spPr>
          <a:xfrm>
            <a:off x="8145698" y="3246034"/>
            <a:ext cx="3474803" cy="2074352"/>
          </a:xfrm>
          <a:prstGeom prst="rect">
            <a:avLst/>
          </a:prstGeom>
        </p:spPr>
      </p:pic>
    </p:spTree>
    <p:extLst>
      <p:ext uri="{BB962C8B-B14F-4D97-AF65-F5344CB8AC3E}">
        <p14:creationId xmlns:p14="http://schemas.microsoft.com/office/powerpoint/2010/main" val="140909262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D6467F-AB4E-CD44-C482-302FECB7B44F}"/>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CA8761EA-BF70-D199-5B79-85DE7C2E9789}"/>
              </a:ext>
            </a:extLst>
          </p:cNvPr>
          <p:cNvSpPr>
            <a:spLocks noGrp="1"/>
          </p:cNvSpPr>
          <p:nvPr>
            <p:ph type="body" sz="quarter" idx="13"/>
          </p:nvPr>
        </p:nvSpPr>
        <p:spPr/>
        <p:txBody>
          <a:bodyPr/>
          <a:lstStyle/>
          <a:p>
            <a:r>
              <a:rPr lang="en-US" dirty="0"/>
              <a:t>Terminology  </a:t>
            </a:r>
          </a:p>
          <a:p>
            <a:endParaRPr lang="en-US" dirty="0"/>
          </a:p>
        </p:txBody>
      </p:sp>
      <p:sp>
        <p:nvSpPr>
          <p:cNvPr id="6" name="文字方塊 5">
            <a:extLst>
              <a:ext uri="{FF2B5EF4-FFF2-40B4-BE49-F238E27FC236}">
                <a16:creationId xmlns:a16="http://schemas.microsoft.com/office/drawing/2014/main" id="{4BA56329-BC5C-58DC-74F9-B0C12026F496}"/>
              </a:ext>
            </a:extLst>
          </p:cNvPr>
          <p:cNvSpPr txBox="1"/>
          <p:nvPr/>
        </p:nvSpPr>
        <p:spPr>
          <a:xfrm>
            <a:off x="571500" y="938449"/>
            <a:ext cx="8886825" cy="1785104"/>
          </a:xfrm>
          <a:prstGeom prst="rect">
            <a:avLst/>
          </a:prstGeom>
          <a:noFill/>
        </p:spPr>
        <p:txBody>
          <a:bodyPr wrap="square">
            <a:spAutoFit/>
          </a:bodyPr>
          <a:lstStyle/>
          <a:p>
            <a:pPr>
              <a:lnSpc>
                <a:spcPct val="150000"/>
              </a:lnSpc>
              <a:defRPr/>
            </a:pPr>
            <a:r>
              <a:rPr lang="en-US" altLang="zh-TW" sz="2000" b="1" dirty="0" err="1"/>
              <a:t>SystemReset</a:t>
            </a:r>
            <a:r>
              <a:rPr lang="zh-TW" altLang="en-US" sz="2000" b="1" kern="1200" dirty="0">
                <a:solidFill>
                  <a:schemeClr val="tx1"/>
                </a:solidFill>
                <a:effectLst/>
                <a:latin typeface="+mn-lt"/>
                <a:ea typeface="+mn-ea"/>
                <a:cs typeface="+mn-cs"/>
              </a:rPr>
              <a:t>：</a:t>
            </a:r>
          </a:p>
          <a:p>
            <a:pPr marL="800100" lvl="1" indent="-342900">
              <a:lnSpc>
                <a:spcPct val="150000"/>
              </a:lnSpc>
              <a:buFont typeface="Arial" panose="020B0604020202020204" pitchFamily="34" charset="0"/>
              <a:buChar char="•"/>
              <a:defRPr/>
            </a:pPr>
            <a:r>
              <a:rPr lang="en-US" altLang="zh-TW" sz="2000" dirty="0"/>
              <a:t>Reset the DUT device </a:t>
            </a:r>
          </a:p>
          <a:p>
            <a:pPr>
              <a:lnSpc>
                <a:spcPct val="150000"/>
              </a:lnSpc>
              <a:defRPr/>
            </a:pPr>
            <a:r>
              <a:rPr lang="en-US" altLang="zh-TW" sz="2000" b="1" dirty="0"/>
              <a:t>Command</a:t>
            </a:r>
            <a:r>
              <a:rPr lang="zh-TW" altLang="en-US" sz="2000" b="1" dirty="0"/>
              <a:t>：</a:t>
            </a:r>
            <a:endParaRPr lang="en-US" altLang="zh-TW" sz="2000" b="1" dirty="0"/>
          </a:p>
          <a:p>
            <a:pPr>
              <a:defRPr/>
            </a:pPr>
            <a:endParaRPr lang="en-US" altLang="zh-TW" sz="2000" dirty="0"/>
          </a:p>
        </p:txBody>
      </p:sp>
      <p:graphicFrame>
        <p:nvGraphicFramePr>
          <p:cNvPr id="2" name="表格 1">
            <a:extLst>
              <a:ext uri="{FF2B5EF4-FFF2-40B4-BE49-F238E27FC236}">
                <a16:creationId xmlns:a16="http://schemas.microsoft.com/office/drawing/2014/main" id="{B63B5684-BA38-19F9-A7F7-8DE0E7838D88}"/>
              </a:ext>
            </a:extLst>
          </p:cNvPr>
          <p:cNvGraphicFramePr>
            <a:graphicFrameLocks noGrp="1"/>
          </p:cNvGraphicFramePr>
          <p:nvPr>
            <p:extLst>
              <p:ext uri="{D42A27DB-BD31-4B8C-83A1-F6EECF244321}">
                <p14:modId xmlns:p14="http://schemas.microsoft.com/office/powerpoint/2010/main" val="3851827787"/>
              </p:ext>
            </p:extLst>
          </p:nvPr>
        </p:nvGraphicFramePr>
        <p:xfrm>
          <a:off x="912011" y="2542302"/>
          <a:ext cx="6229570" cy="707886"/>
        </p:xfrm>
        <a:graphic>
          <a:graphicData uri="http://schemas.openxmlformats.org/drawingml/2006/table">
            <a:tbl>
              <a:tblPr>
                <a:tableStyleId>{5C22544A-7EE6-4342-B048-85BDC9FD1C3A}</a:tableStyleId>
              </a:tblPr>
              <a:tblGrid>
                <a:gridCol w="1394718">
                  <a:extLst>
                    <a:ext uri="{9D8B030D-6E8A-4147-A177-3AD203B41FA5}">
                      <a16:colId xmlns:a16="http://schemas.microsoft.com/office/drawing/2014/main" val="3315535983"/>
                    </a:ext>
                  </a:extLst>
                </a:gridCol>
                <a:gridCol w="450305">
                  <a:extLst>
                    <a:ext uri="{9D8B030D-6E8A-4147-A177-3AD203B41FA5}">
                      <a16:colId xmlns:a16="http://schemas.microsoft.com/office/drawing/2014/main" val="2960066220"/>
                    </a:ext>
                  </a:extLst>
                </a:gridCol>
                <a:gridCol w="2507731">
                  <a:extLst>
                    <a:ext uri="{9D8B030D-6E8A-4147-A177-3AD203B41FA5}">
                      <a16:colId xmlns:a16="http://schemas.microsoft.com/office/drawing/2014/main" val="3319955928"/>
                    </a:ext>
                  </a:extLst>
                </a:gridCol>
                <a:gridCol w="1876816">
                  <a:extLst>
                    <a:ext uri="{9D8B030D-6E8A-4147-A177-3AD203B41FA5}">
                      <a16:colId xmlns:a16="http://schemas.microsoft.com/office/drawing/2014/main" val="163623680"/>
                    </a:ext>
                  </a:extLst>
                </a:gridCol>
              </a:tblGrid>
              <a:tr h="295314">
                <a:tc>
                  <a:txBody>
                    <a:bodyPr/>
                    <a:lstStyle/>
                    <a:p>
                      <a:pPr algn="ctr" fontAlgn="ctr">
                        <a:buNone/>
                      </a:pPr>
                      <a:r>
                        <a:rPr lang="en-US" sz="1100" b="1" u="none" strike="noStrike" dirty="0">
                          <a:effectLst/>
                        </a:rPr>
                        <a:t>Test</a:t>
                      </a:r>
                      <a:r>
                        <a:rPr lang="en-US" sz="1100" u="none" strike="noStrike" dirty="0">
                          <a:effectLst/>
                        </a:rPr>
                        <a:t> </a:t>
                      </a:r>
                      <a:r>
                        <a:rPr lang="en-US" sz="1100" b="1" u="none" strike="noStrike" dirty="0">
                          <a:effectLst/>
                        </a:rPr>
                        <a:t>item</a:t>
                      </a:r>
                      <a:endParaRPr lang="en-US" sz="1100" b="1"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ctr" fontAlgn="ctr">
                        <a:buNone/>
                      </a:pPr>
                      <a:r>
                        <a:rPr lang="zh-TW" altLang="en-US" sz="1100" u="none" strike="noStrike" dirty="0">
                          <a:effectLst/>
                        </a:rPr>
                        <a:t>　</a:t>
                      </a: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ctr" fontAlgn="ctr">
                        <a:buNone/>
                      </a:pPr>
                      <a:r>
                        <a:rPr lang="en-US" sz="1100" b="1" u="none" strike="noStrike" dirty="0">
                          <a:effectLst/>
                        </a:rPr>
                        <a:t>DUT</a:t>
                      </a:r>
                      <a:r>
                        <a:rPr lang="en-US" sz="1100" u="none" strike="noStrike" dirty="0">
                          <a:effectLst/>
                        </a:rPr>
                        <a:t>  </a:t>
                      </a:r>
                      <a:r>
                        <a:rPr lang="en-US" sz="1100" b="1" u="none" strike="noStrike" dirty="0">
                          <a:effectLst/>
                        </a:rPr>
                        <a:t>command</a:t>
                      </a:r>
                      <a:endParaRPr lang="en-US" sz="1100" b="1" i="0" u="none" strike="noStrike" dirty="0">
                        <a:solidFill>
                          <a:srgbClr val="FF0000"/>
                        </a:solidFill>
                        <a:effectLst/>
                        <a:latin typeface="新細明體" panose="02020500000000000000" pitchFamily="18" charset="-120"/>
                        <a:ea typeface="新細明體" panose="02020500000000000000" pitchFamily="18" charset="-120"/>
                      </a:endParaRPr>
                    </a:p>
                  </a:txBody>
                  <a:tcPr marL="9525" marR="9525" marT="9525" marB="0"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l" fontAlgn="ctr">
                        <a:buNone/>
                      </a:pPr>
                      <a:r>
                        <a:rPr lang="en-US" altLang="zh-TW" sz="1100" b="1" kern="1200" dirty="0">
                          <a:solidFill>
                            <a:schemeClr val="tx1"/>
                          </a:solidFill>
                          <a:effectLst/>
                          <a:latin typeface="+mn-lt"/>
                          <a:ea typeface="+mn-ea"/>
                          <a:cs typeface="+mn-cs"/>
                        </a:rPr>
                        <a:t>Description</a:t>
                      </a: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6">
                        <a:lumMod val="40000"/>
                        <a:lumOff val="60000"/>
                      </a:schemeClr>
                    </a:solidFill>
                  </a:tcPr>
                </a:tc>
                <a:extLst>
                  <a:ext uri="{0D108BD9-81ED-4DB2-BD59-A6C34878D82A}">
                    <a16:rowId xmlns:a16="http://schemas.microsoft.com/office/drawing/2014/main" val="3824094486"/>
                  </a:ext>
                </a:extLst>
              </a:tr>
              <a:tr h="41257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400" b="1" kern="1200" dirty="0" err="1">
                          <a:solidFill>
                            <a:schemeClr val="dk1"/>
                          </a:solidFill>
                          <a:effectLst/>
                          <a:latin typeface="+mn-lt"/>
                          <a:ea typeface="+mn-ea"/>
                          <a:cs typeface="+mn-cs"/>
                        </a:rPr>
                        <a:t>SystemReset</a:t>
                      </a:r>
                      <a:endParaRPr lang="en-US" altLang="zh-TW" sz="1400" b="1" kern="1200" dirty="0">
                        <a:solidFill>
                          <a:schemeClr val="dk1"/>
                        </a:solidFill>
                        <a:effectLst/>
                        <a:latin typeface="+mn-lt"/>
                        <a:ea typeface="+mn-ea"/>
                        <a:cs typeface="+mn-cs"/>
                      </a:endParaRP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fontAlgn="ctr">
                        <a:buNone/>
                      </a:pPr>
                      <a:r>
                        <a:rPr lang="en-US" altLang="zh-TW" sz="1100" b="0" i="0" u="none" strike="noStrike" dirty="0">
                          <a:solidFill>
                            <a:srgbClr val="000000"/>
                          </a:solidFill>
                          <a:effectLst/>
                          <a:latin typeface="+mn-lt"/>
                          <a:ea typeface="新細明體" panose="02020500000000000000" pitchFamily="18" charset="-120"/>
                        </a:rPr>
                        <a:t>1</a:t>
                      </a:r>
                    </a:p>
                  </a:txBody>
                  <a:tcPr marL="9525" marR="9525" marT="9525" marB="0" anchor="ctr">
                    <a:lnB w="12700" cap="flat" cmpd="sng" algn="ctr">
                      <a:solidFill>
                        <a:schemeClr val="tx1"/>
                      </a:solidFill>
                      <a:prstDash val="solid"/>
                      <a:round/>
                      <a:headEnd type="none" w="med" len="med"/>
                      <a:tailEnd type="none" w="med" len="med"/>
                    </a:lnB>
                  </a:tcPr>
                </a:tc>
                <a:tc>
                  <a:txBody>
                    <a:bodyPr/>
                    <a:lstStyle/>
                    <a:p>
                      <a:r>
                        <a:rPr lang="en-US" altLang="zh-TW" sz="1400" b="0" kern="1200" dirty="0">
                          <a:solidFill>
                            <a:schemeClr val="dk1"/>
                          </a:solidFill>
                          <a:effectLst/>
                          <a:latin typeface="+mn-lt"/>
                          <a:ea typeface="+mn-ea"/>
                          <a:cs typeface="+mn-cs"/>
                        </a:rPr>
                        <a:t>ft reset</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zh-TW" altLang="en-US" sz="1100" b="0" i="0" u="none" strike="noStrike" kern="1200" dirty="0">
                          <a:solidFill>
                            <a:schemeClr val="tx1"/>
                          </a:solidFill>
                          <a:effectLst/>
                          <a:latin typeface="+mn-lt"/>
                          <a:ea typeface="+mn-ea"/>
                          <a:cs typeface="+mn-cs"/>
                        </a:rPr>
                        <a:t>重置待測裝置</a:t>
                      </a:r>
                      <a:endParaRPr lang="zh-TW" altLang="zh-TW" sz="1100" b="0" i="0" u="none" strike="noStrike" kern="1200" dirty="0">
                        <a:solidFill>
                          <a:schemeClr val="tx1"/>
                        </a:solidFill>
                        <a:effectLst/>
                        <a:latin typeface="+mn-lt"/>
                        <a:ea typeface="+mn-ea"/>
                        <a:cs typeface="+mn-cs"/>
                      </a:endParaRPr>
                    </a:p>
                  </a:txBody>
                  <a:tcPr marL="9525" marR="9525" marT="9525"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84187575"/>
                  </a:ext>
                </a:extLst>
              </a:tr>
            </a:tbl>
          </a:graphicData>
        </a:graphic>
      </p:graphicFrame>
    </p:spTree>
    <p:extLst>
      <p:ext uri="{BB962C8B-B14F-4D97-AF65-F5344CB8AC3E}">
        <p14:creationId xmlns:p14="http://schemas.microsoft.com/office/powerpoint/2010/main" val="102209302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DB2DFE-3C3B-BA30-141A-AADB251A8120}"/>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BDFC6292-245C-B0FB-BDE9-3064C88FEB9D}"/>
              </a:ext>
            </a:extLst>
          </p:cNvPr>
          <p:cNvSpPr>
            <a:spLocks noGrp="1"/>
          </p:cNvSpPr>
          <p:nvPr>
            <p:ph type="body" sz="quarter" idx="13"/>
          </p:nvPr>
        </p:nvSpPr>
        <p:spPr/>
        <p:txBody>
          <a:bodyPr/>
          <a:lstStyle/>
          <a:p>
            <a:r>
              <a:rPr lang="en-US" dirty="0"/>
              <a:t>Terminology  </a:t>
            </a:r>
          </a:p>
          <a:p>
            <a:endParaRPr lang="en-US" dirty="0"/>
          </a:p>
        </p:txBody>
      </p:sp>
      <p:sp>
        <p:nvSpPr>
          <p:cNvPr id="6" name="文字方塊 5">
            <a:extLst>
              <a:ext uri="{FF2B5EF4-FFF2-40B4-BE49-F238E27FC236}">
                <a16:creationId xmlns:a16="http://schemas.microsoft.com/office/drawing/2014/main" id="{DC47B6A6-D1B5-B23B-958E-B6BF1F8B17E8}"/>
              </a:ext>
            </a:extLst>
          </p:cNvPr>
          <p:cNvSpPr txBox="1"/>
          <p:nvPr/>
        </p:nvSpPr>
        <p:spPr>
          <a:xfrm>
            <a:off x="571500" y="938449"/>
            <a:ext cx="8886825" cy="2246769"/>
          </a:xfrm>
          <a:prstGeom prst="rect">
            <a:avLst/>
          </a:prstGeom>
          <a:noFill/>
        </p:spPr>
        <p:txBody>
          <a:bodyPr wrap="square">
            <a:spAutoFit/>
          </a:bodyPr>
          <a:lstStyle/>
          <a:p>
            <a:pPr>
              <a:lnSpc>
                <a:spcPct val="150000"/>
              </a:lnSpc>
              <a:defRPr/>
            </a:pPr>
            <a:r>
              <a:rPr lang="en-US" altLang="zh-TW" sz="2000" b="1" dirty="0"/>
              <a:t>Teardown - </a:t>
            </a:r>
            <a:r>
              <a:rPr lang="en-US" altLang="zh-TW" sz="2000" b="1" dirty="0" err="1"/>
              <a:t>FixtureReset</a:t>
            </a:r>
            <a:r>
              <a:rPr lang="zh-TW" altLang="en-US" sz="2000" b="1" dirty="0"/>
              <a:t> ＆ </a:t>
            </a:r>
            <a:r>
              <a:rPr lang="en-US" altLang="zh-TW" sz="2000" b="1" dirty="0" err="1"/>
              <a:t>cleanSN</a:t>
            </a:r>
            <a:r>
              <a:rPr lang="zh-TW" altLang="en-US" sz="2000" b="1" kern="1200" dirty="0">
                <a:solidFill>
                  <a:schemeClr val="tx1"/>
                </a:solidFill>
                <a:effectLst/>
                <a:latin typeface="+mn-lt"/>
                <a:ea typeface="+mn-ea"/>
                <a:cs typeface="+mn-cs"/>
              </a:rPr>
              <a:t>：</a:t>
            </a:r>
          </a:p>
          <a:p>
            <a:pPr marL="800100" lvl="1" indent="-342900">
              <a:lnSpc>
                <a:spcPct val="150000"/>
              </a:lnSpc>
              <a:buFont typeface="Arial" panose="020B0604020202020204" pitchFamily="34" charset="0"/>
              <a:buChar char="•"/>
              <a:defRPr/>
            </a:pPr>
            <a:r>
              <a:rPr lang="en-US" altLang="zh-TW" sz="2000" dirty="0"/>
              <a:t>Reset the fixture to ensure it returns to the initial position</a:t>
            </a:r>
          </a:p>
          <a:p>
            <a:pPr marL="800100" lvl="1" indent="-342900">
              <a:lnSpc>
                <a:spcPct val="150000"/>
              </a:lnSpc>
              <a:buFont typeface="Arial" panose="020B0604020202020204" pitchFamily="34" charset="0"/>
              <a:buChar char="•"/>
              <a:defRPr/>
            </a:pPr>
            <a:r>
              <a:rPr lang="en-US" altLang="zh-TW" sz="2000" dirty="0"/>
              <a:t>Clear the DUT's SN to allow reprogramming or retesting.</a:t>
            </a:r>
          </a:p>
          <a:p>
            <a:pPr>
              <a:lnSpc>
                <a:spcPct val="150000"/>
              </a:lnSpc>
              <a:defRPr/>
            </a:pPr>
            <a:r>
              <a:rPr lang="en-US" altLang="zh-TW" sz="2000" b="1" dirty="0"/>
              <a:t>Command</a:t>
            </a:r>
            <a:r>
              <a:rPr lang="zh-TW" altLang="en-US" sz="2000" b="1" dirty="0"/>
              <a:t>：</a:t>
            </a:r>
            <a:endParaRPr lang="en-US" altLang="zh-TW" sz="2000" b="1" dirty="0"/>
          </a:p>
          <a:p>
            <a:pPr>
              <a:defRPr/>
            </a:pPr>
            <a:endParaRPr lang="en-US" altLang="zh-TW" sz="2000" dirty="0"/>
          </a:p>
        </p:txBody>
      </p:sp>
      <p:graphicFrame>
        <p:nvGraphicFramePr>
          <p:cNvPr id="5" name="表格 4">
            <a:extLst>
              <a:ext uri="{FF2B5EF4-FFF2-40B4-BE49-F238E27FC236}">
                <a16:creationId xmlns:a16="http://schemas.microsoft.com/office/drawing/2014/main" id="{30F711E6-68C3-CE00-25B7-860432B2F2B9}"/>
              </a:ext>
            </a:extLst>
          </p:cNvPr>
          <p:cNvGraphicFramePr>
            <a:graphicFrameLocks noGrp="1"/>
          </p:cNvGraphicFramePr>
          <p:nvPr>
            <p:extLst>
              <p:ext uri="{D42A27DB-BD31-4B8C-83A1-F6EECF244321}">
                <p14:modId xmlns:p14="http://schemas.microsoft.com/office/powerpoint/2010/main" val="528783882"/>
              </p:ext>
            </p:extLst>
          </p:nvPr>
        </p:nvGraphicFramePr>
        <p:xfrm>
          <a:off x="846470" y="3185218"/>
          <a:ext cx="10499059" cy="1854470"/>
        </p:xfrm>
        <a:graphic>
          <a:graphicData uri="http://schemas.openxmlformats.org/drawingml/2006/table">
            <a:tbl>
              <a:tblPr>
                <a:tableStyleId>{5C22544A-7EE6-4342-B048-85BDC9FD1C3A}</a:tableStyleId>
              </a:tblPr>
              <a:tblGrid>
                <a:gridCol w="1143318">
                  <a:extLst>
                    <a:ext uri="{9D8B030D-6E8A-4147-A177-3AD203B41FA5}">
                      <a16:colId xmlns:a16="http://schemas.microsoft.com/office/drawing/2014/main" val="3315535983"/>
                    </a:ext>
                  </a:extLst>
                </a:gridCol>
                <a:gridCol w="228238">
                  <a:extLst>
                    <a:ext uri="{9D8B030D-6E8A-4147-A177-3AD203B41FA5}">
                      <a16:colId xmlns:a16="http://schemas.microsoft.com/office/drawing/2014/main" val="2960066220"/>
                    </a:ext>
                  </a:extLst>
                </a:gridCol>
                <a:gridCol w="1558951">
                  <a:extLst>
                    <a:ext uri="{9D8B030D-6E8A-4147-A177-3AD203B41FA5}">
                      <a16:colId xmlns:a16="http://schemas.microsoft.com/office/drawing/2014/main" val="3319955928"/>
                    </a:ext>
                  </a:extLst>
                </a:gridCol>
                <a:gridCol w="1289956">
                  <a:extLst>
                    <a:ext uri="{9D8B030D-6E8A-4147-A177-3AD203B41FA5}">
                      <a16:colId xmlns:a16="http://schemas.microsoft.com/office/drawing/2014/main" val="163623680"/>
                    </a:ext>
                  </a:extLst>
                </a:gridCol>
                <a:gridCol w="1558951">
                  <a:extLst>
                    <a:ext uri="{9D8B030D-6E8A-4147-A177-3AD203B41FA5}">
                      <a16:colId xmlns:a16="http://schemas.microsoft.com/office/drawing/2014/main" val="55451195"/>
                    </a:ext>
                  </a:extLst>
                </a:gridCol>
                <a:gridCol w="1175453">
                  <a:extLst>
                    <a:ext uri="{9D8B030D-6E8A-4147-A177-3AD203B41FA5}">
                      <a16:colId xmlns:a16="http://schemas.microsoft.com/office/drawing/2014/main" val="2080052651"/>
                    </a:ext>
                  </a:extLst>
                </a:gridCol>
                <a:gridCol w="1970977">
                  <a:extLst>
                    <a:ext uri="{9D8B030D-6E8A-4147-A177-3AD203B41FA5}">
                      <a16:colId xmlns:a16="http://schemas.microsoft.com/office/drawing/2014/main" val="1804171445"/>
                    </a:ext>
                  </a:extLst>
                </a:gridCol>
                <a:gridCol w="1573215">
                  <a:extLst>
                    <a:ext uri="{9D8B030D-6E8A-4147-A177-3AD203B41FA5}">
                      <a16:colId xmlns:a16="http://schemas.microsoft.com/office/drawing/2014/main" val="1620893930"/>
                    </a:ext>
                  </a:extLst>
                </a:gridCol>
              </a:tblGrid>
              <a:tr h="312581">
                <a:tc>
                  <a:txBody>
                    <a:bodyPr/>
                    <a:lstStyle/>
                    <a:p>
                      <a:pPr algn="ctr" fontAlgn="ctr">
                        <a:buNone/>
                      </a:pPr>
                      <a:r>
                        <a:rPr lang="en-US" sz="1100" b="1" u="none" strike="noStrike" dirty="0">
                          <a:effectLst/>
                        </a:rPr>
                        <a:t>Test</a:t>
                      </a:r>
                      <a:r>
                        <a:rPr lang="en-US" sz="1100" u="none" strike="noStrike" dirty="0">
                          <a:effectLst/>
                        </a:rPr>
                        <a:t> </a:t>
                      </a:r>
                      <a:r>
                        <a:rPr lang="en-US" sz="1100" b="1" u="none" strike="noStrike" dirty="0">
                          <a:effectLst/>
                        </a:rPr>
                        <a:t>item</a:t>
                      </a:r>
                      <a:endParaRPr lang="en-US" sz="1100" b="1"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ctr" fontAlgn="ctr">
                        <a:buNone/>
                      </a:pPr>
                      <a:r>
                        <a:rPr lang="zh-TW" altLang="en-US" sz="1100" u="none" strike="noStrike" dirty="0">
                          <a:effectLst/>
                        </a:rPr>
                        <a:t>　</a:t>
                      </a: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ctr" fontAlgn="ctr">
                        <a:buNone/>
                      </a:pPr>
                      <a:r>
                        <a:rPr lang="en-US" sz="1100" b="1" u="none" strike="noStrike" dirty="0">
                          <a:effectLst/>
                        </a:rPr>
                        <a:t>Type-C</a:t>
                      </a:r>
                      <a:r>
                        <a:rPr lang="en-US" sz="1100" u="none" strike="noStrike" dirty="0">
                          <a:effectLst/>
                        </a:rPr>
                        <a:t>  </a:t>
                      </a:r>
                      <a:r>
                        <a:rPr lang="en-US" sz="1100" b="1" u="none" strike="noStrike" dirty="0">
                          <a:effectLst/>
                        </a:rPr>
                        <a:t>command</a:t>
                      </a:r>
                      <a:endParaRPr lang="en-US" sz="1100" b="1" i="0" u="none" strike="noStrike" dirty="0">
                        <a:solidFill>
                          <a:srgbClr val="FF0000"/>
                        </a:solidFill>
                        <a:effectLst/>
                        <a:latin typeface="新細明體" panose="02020500000000000000" pitchFamily="18" charset="-120"/>
                        <a:ea typeface="新細明體" panose="02020500000000000000" pitchFamily="18" charset="-120"/>
                      </a:endParaRPr>
                    </a:p>
                  </a:txBody>
                  <a:tcPr marL="9525" marR="9525" marT="9525" marB="0"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l" fontAlgn="ctr">
                        <a:buNone/>
                      </a:pPr>
                      <a:r>
                        <a:rPr lang="en-US" altLang="zh-TW" sz="1100" b="1" kern="1200" dirty="0">
                          <a:solidFill>
                            <a:schemeClr val="tx1"/>
                          </a:solidFill>
                          <a:effectLst/>
                          <a:latin typeface="+mn-lt"/>
                          <a:ea typeface="+mn-ea"/>
                          <a:cs typeface="+mn-cs"/>
                        </a:rPr>
                        <a:t>Description</a:t>
                      </a: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ctr" fontAlgn="ctr">
                        <a:buNone/>
                      </a:pPr>
                      <a:r>
                        <a:rPr lang="en-US" sz="1100" b="1" u="none" strike="noStrike" dirty="0">
                          <a:effectLst/>
                        </a:rPr>
                        <a:t>Dummy command</a:t>
                      </a:r>
                      <a:endParaRPr lang="en-US" sz="1100" b="1" i="0" u="none" strike="noStrike" dirty="0">
                        <a:solidFill>
                          <a:srgbClr val="FF0000"/>
                        </a:solidFill>
                        <a:effectLst/>
                        <a:latin typeface="新細明體" panose="02020500000000000000" pitchFamily="18" charset="-120"/>
                        <a:ea typeface="新細明體" panose="02020500000000000000" pitchFamily="18" charset="-120"/>
                      </a:endParaRPr>
                    </a:p>
                  </a:txBody>
                  <a:tcPr marL="9525" marR="9525" marT="9525" marB="0"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l" fontAlgn="ctr">
                        <a:buNone/>
                      </a:pPr>
                      <a:r>
                        <a:rPr lang="en-US" altLang="zh-TW" sz="1100" b="1" kern="1200" dirty="0">
                          <a:solidFill>
                            <a:schemeClr val="tx1"/>
                          </a:solidFill>
                          <a:effectLst/>
                          <a:latin typeface="+mn-lt"/>
                          <a:ea typeface="+mn-ea"/>
                          <a:cs typeface="+mn-cs"/>
                        </a:rPr>
                        <a:t>Description</a:t>
                      </a: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ctr" fontAlgn="ctr">
                        <a:buNone/>
                      </a:pPr>
                      <a:r>
                        <a:rPr lang="en-US" sz="1100" b="1" u="none" strike="noStrike" dirty="0">
                          <a:effectLst/>
                        </a:rPr>
                        <a:t>cylinder command</a:t>
                      </a:r>
                      <a:endParaRPr lang="en-US" sz="1100" b="1" i="0" u="none" strike="noStrike" dirty="0">
                        <a:solidFill>
                          <a:srgbClr val="FF0000"/>
                        </a:solidFill>
                        <a:effectLst/>
                        <a:latin typeface="新細明體" panose="02020500000000000000" pitchFamily="18" charset="-120"/>
                        <a:ea typeface="新細明體" panose="02020500000000000000" pitchFamily="18" charset="-120"/>
                      </a:endParaRPr>
                    </a:p>
                  </a:txBody>
                  <a:tcPr marL="9411" marR="9411" marT="9411" marB="0" anchor="ctr">
                    <a:lnT w="12700" cap="flat" cmpd="sng" algn="ctr">
                      <a:solidFill>
                        <a:schemeClr val="tx1"/>
                      </a:solidFill>
                      <a:prstDash val="solid"/>
                      <a:round/>
                      <a:headEnd type="none" w="med" len="med"/>
                      <a:tailEnd type="none" w="med" len="med"/>
                    </a:lnT>
                    <a:solidFill>
                      <a:schemeClr val="accent6">
                        <a:lumMod val="40000"/>
                        <a:lumOff val="60000"/>
                      </a:schemeClr>
                    </a:solidFill>
                  </a:tcPr>
                </a:tc>
                <a:tc>
                  <a:txBody>
                    <a:bodyPr/>
                    <a:lstStyle/>
                    <a:p>
                      <a:pPr algn="l" fontAlgn="ctr">
                        <a:buNone/>
                      </a:pPr>
                      <a:r>
                        <a:rPr lang="en-US" altLang="zh-TW" sz="1100" b="1" kern="1200" dirty="0">
                          <a:solidFill>
                            <a:schemeClr val="tx1"/>
                          </a:solidFill>
                          <a:effectLst/>
                          <a:latin typeface="+mn-lt"/>
                          <a:ea typeface="+mn-ea"/>
                          <a:cs typeface="+mn-cs"/>
                        </a:rPr>
                        <a:t>Description</a:t>
                      </a: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6">
                        <a:lumMod val="40000"/>
                        <a:lumOff val="60000"/>
                      </a:schemeClr>
                    </a:solidFill>
                  </a:tcPr>
                </a:tc>
                <a:extLst>
                  <a:ext uri="{0D108BD9-81ED-4DB2-BD59-A6C34878D82A}">
                    <a16:rowId xmlns:a16="http://schemas.microsoft.com/office/drawing/2014/main" val="3824094486"/>
                  </a:ext>
                </a:extLst>
              </a:tr>
              <a:tr h="253958">
                <a:tc rowSpan="4">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TW" sz="1200" b="1" dirty="0" err="1"/>
                        <a:t>FixtureReset</a:t>
                      </a:r>
                      <a:endParaRPr lang="zh-TW" altLang="en-US" sz="1200" b="0" i="0" u="none" strike="noStrike" dirty="0">
                        <a:solidFill>
                          <a:srgbClr val="000000"/>
                        </a:solidFill>
                        <a:effectLst/>
                        <a:latin typeface="新細明體" panose="02020500000000000000" pitchFamily="18" charset="-120"/>
                        <a:ea typeface="新細明體" panose="02020500000000000000" pitchFamily="18" charset="-120"/>
                      </a:endParaRPr>
                    </a:p>
                  </a:txBody>
                  <a:tcPr anchor="ctr">
                    <a:lnL w="12700" cap="flat" cmpd="sng" algn="ctr">
                      <a:solidFill>
                        <a:schemeClr val="tx1"/>
                      </a:solidFill>
                      <a:prstDash val="solid"/>
                      <a:round/>
                      <a:headEnd type="none" w="med" len="med"/>
                      <a:tailEnd type="none" w="med" len="med"/>
                    </a:lnL>
                  </a:tcPr>
                </a:tc>
                <a:tc>
                  <a:txBody>
                    <a:bodyPr/>
                    <a:lstStyle/>
                    <a:p>
                      <a:pPr algn="ctr" fontAlgn="ctr">
                        <a:buNone/>
                      </a:pPr>
                      <a:r>
                        <a:rPr lang="en-US" altLang="zh-TW" sz="1200" b="0" kern="1200" dirty="0">
                          <a:solidFill>
                            <a:schemeClr val="dk1"/>
                          </a:solidFill>
                          <a:effectLst/>
                          <a:latin typeface="+mn-lt"/>
                          <a:ea typeface="+mn-ea"/>
                          <a:cs typeface="+mn-cs"/>
                        </a:rPr>
                        <a:t>1</a:t>
                      </a:r>
                    </a:p>
                  </a:txBody>
                  <a:tcPr marL="9525" marR="9525" marT="9525" marB="0" anchor="ctr"/>
                </a:tc>
                <a:tc>
                  <a:txBody>
                    <a:bodyPr/>
                    <a:lstStyle/>
                    <a:p>
                      <a:pPr algn="l" fontAlgn="ctr">
                        <a:buNone/>
                      </a:pPr>
                      <a:r>
                        <a:rPr lang="en-US" sz="1100" b="0" i="0" u="none" strike="noStrike" kern="1200" dirty="0">
                          <a:solidFill>
                            <a:schemeClr val="tx1"/>
                          </a:solidFill>
                          <a:effectLst/>
                          <a:latin typeface="+mn-lt"/>
                          <a:ea typeface="+mn-ea"/>
                          <a:cs typeface="+mn-cs"/>
                        </a:rPr>
                        <a:t>reset</a:t>
                      </a:r>
                    </a:p>
                  </a:txBody>
                  <a:tcPr marL="9525" marR="9525" marT="9525" marB="0" anchor="ctr"/>
                </a:tc>
                <a:tc>
                  <a:txBody>
                    <a:bodyPr/>
                    <a:lstStyle/>
                    <a:p>
                      <a:pPr algn="l" fontAlgn="ctr">
                        <a:buNone/>
                      </a:pPr>
                      <a:r>
                        <a:rPr lang="zh-TW" altLang="en-US" sz="1100" b="0" i="0" u="none" strike="noStrike" kern="1200" dirty="0">
                          <a:solidFill>
                            <a:schemeClr val="tx1"/>
                          </a:solidFill>
                          <a:effectLst/>
                          <a:latin typeface="+mn-lt"/>
                          <a:ea typeface="+mn-ea"/>
                          <a:cs typeface="+mn-cs"/>
                        </a:rPr>
                        <a:t>復位</a:t>
                      </a:r>
                    </a:p>
                  </a:txBody>
                  <a:tcPr marL="9525" marR="9525" marT="9525"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zh-TW" sz="1100" b="0" i="0" u="none" strike="noStrike" kern="1200" dirty="0">
                          <a:solidFill>
                            <a:schemeClr val="tx1"/>
                          </a:solidFill>
                          <a:effectLst/>
                          <a:latin typeface="+mn-lt"/>
                          <a:ea typeface="+mn-ea"/>
                          <a:cs typeface="+mn-cs"/>
                        </a:rPr>
                        <a:t>reset</a:t>
                      </a:r>
                    </a:p>
                  </a:txBody>
                  <a:tcPr marL="9525" marR="9525" marT="9525" marB="0" anchor="ctr"/>
                </a:tc>
                <a:tc>
                  <a:txBody>
                    <a:bodyPr/>
                    <a:lstStyle/>
                    <a:p>
                      <a:pPr algn="l" fontAlgn="ctr">
                        <a:buNone/>
                      </a:pPr>
                      <a:r>
                        <a:rPr lang="zh-TW" altLang="en-US" sz="1100" b="0" i="0" u="none" strike="noStrike" kern="1200" dirty="0">
                          <a:solidFill>
                            <a:schemeClr val="tx1"/>
                          </a:solidFill>
                          <a:effectLst/>
                          <a:latin typeface="+mn-lt"/>
                          <a:ea typeface="+mn-ea"/>
                          <a:cs typeface="+mn-cs"/>
                        </a:rPr>
                        <a:t>復位</a:t>
                      </a:r>
                    </a:p>
                  </a:txBody>
                  <a:tcPr marL="9525" marR="9525" marT="9525" marB="0" anchor="ctr"/>
                </a:tc>
                <a:tc gridSpan="2">
                  <a:txBody>
                    <a:bodyPr/>
                    <a:lstStyle/>
                    <a:p>
                      <a:pPr algn="l" fontAlgn="ctr">
                        <a:buNone/>
                      </a:pPr>
                      <a:endParaRPr lang="zh-TW" altLang="en-US" sz="1100" b="0" i="0" u="none" strike="noStrike" kern="1200" dirty="0">
                        <a:solidFill>
                          <a:schemeClr val="tx1"/>
                        </a:solidFill>
                        <a:effectLst/>
                        <a:latin typeface="+mn-lt"/>
                        <a:ea typeface="+mn-ea"/>
                        <a:cs typeface="+mn-cs"/>
                      </a:endParaRPr>
                    </a:p>
                  </a:txBody>
                  <a:tcPr marL="9525" marR="9525" marT="9525" marB="0" anchor="ctr">
                    <a:lnR w="12700" cap="flat" cmpd="sng" algn="ctr">
                      <a:solidFill>
                        <a:schemeClr val="tx1"/>
                      </a:solidFill>
                      <a:prstDash val="solid"/>
                      <a:round/>
                      <a:headEnd type="none" w="med" len="med"/>
                      <a:tailEnd type="none" w="med" len="med"/>
                    </a:lnR>
                  </a:tcPr>
                </a:tc>
                <a:tc h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884187575"/>
                  </a:ext>
                </a:extLst>
              </a:tr>
              <a:tr h="253084">
                <a:tc vMerge="1">
                  <a:txBody>
                    <a:bodyPr/>
                    <a:lstStyle/>
                    <a:p>
                      <a:endParaRPr lang="zh-TW" altLang="en-US"/>
                    </a:p>
                  </a:txBody>
                  <a:tcPr/>
                </a:tc>
                <a:tc>
                  <a:txBody>
                    <a:bodyPr/>
                    <a:lstStyle/>
                    <a:p>
                      <a:pPr algn="ctr" fontAlgn="ctr">
                        <a:buNone/>
                      </a:pPr>
                      <a:r>
                        <a:rPr lang="en-US" altLang="zh-TW" sz="1200" b="0" kern="1200" dirty="0">
                          <a:solidFill>
                            <a:schemeClr val="dk1"/>
                          </a:solidFill>
                          <a:effectLst/>
                          <a:latin typeface="+mn-lt"/>
                          <a:ea typeface="+mn-ea"/>
                          <a:cs typeface="+mn-cs"/>
                        </a:rPr>
                        <a:t>2</a:t>
                      </a:r>
                    </a:p>
                  </a:txBody>
                  <a:tcPr marL="9525" marR="9525" marT="9525" marB="0" anchor="ctr"/>
                </a:tc>
                <a:tc rowSpan="3" gridSpan="4">
                  <a:txBody>
                    <a:bodyPr/>
                    <a:lstStyle/>
                    <a:p>
                      <a:pPr algn="l" fontAlgn="ctr">
                        <a:buNone/>
                      </a:pPr>
                      <a:endParaRPr lang="en-US" sz="1100" b="0" i="0" u="none" strike="noStrike" kern="1200" dirty="0">
                        <a:solidFill>
                          <a:schemeClr val="tx1"/>
                        </a:solidFill>
                        <a:effectLst/>
                        <a:latin typeface="+mn-lt"/>
                        <a:ea typeface="+mn-ea"/>
                        <a:cs typeface="+mn-cs"/>
                      </a:endParaRPr>
                    </a:p>
                  </a:txBody>
                  <a:tcPr marL="9525" marR="9525" marT="9525" marB="0" anchor="ctr"/>
                </a:tc>
                <a:tc rowSpan="3" hMerge="1">
                  <a:txBody>
                    <a:bodyPr/>
                    <a:lstStyle/>
                    <a:p>
                      <a:pPr algn="l" fontAlgn="ctr">
                        <a:buNone/>
                      </a:pPr>
                      <a:endParaRPr lang="zh-TW" altLang="en-US" sz="1400" b="0" kern="1200" dirty="0">
                        <a:solidFill>
                          <a:schemeClr val="dk1"/>
                        </a:solidFill>
                        <a:effectLst/>
                        <a:latin typeface="+mn-lt"/>
                        <a:ea typeface="+mn-ea"/>
                        <a:cs typeface="+mn-cs"/>
                      </a:endParaRPr>
                    </a:p>
                  </a:txBody>
                  <a:tcPr marL="9525" marR="9525" marT="9525" marB="0" anchor="ctr"/>
                </a:tc>
                <a:tc rowSpan="3" hMerge="1">
                  <a:txBody>
                    <a:bodyPr/>
                    <a:lstStyle/>
                    <a:p>
                      <a:pPr algn="l" fontAlgn="ctr">
                        <a:buNone/>
                      </a:pPr>
                      <a:endParaRPr lang="en-US" sz="1400" b="0" kern="1200" dirty="0">
                        <a:solidFill>
                          <a:schemeClr val="dk1"/>
                        </a:solidFill>
                        <a:effectLst/>
                        <a:latin typeface="+mn-lt"/>
                        <a:ea typeface="+mn-ea"/>
                        <a:cs typeface="+mn-cs"/>
                      </a:endParaRPr>
                    </a:p>
                  </a:txBody>
                  <a:tcPr marL="9525" marR="9525" marT="9525" marB="0" anchor="ctr"/>
                </a:tc>
                <a:tc rowSpan="3" hMerge="1">
                  <a:txBody>
                    <a:bodyPr/>
                    <a:lstStyle/>
                    <a:p>
                      <a:pPr algn="l" fontAlgn="ctr">
                        <a:buNone/>
                      </a:pPr>
                      <a:endParaRPr lang="zh-TW" altLang="en-US" sz="1400" b="0" kern="1200" dirty="0">
                        <a:solidFill>
                          <a:schemeClr val="dk1"/>
                        </a:solidFill>
                        <a:effectLst/>
                        <a:latin typeface="+mn-lt"/>
                        <a:ea typeface="+mn-ea"/>
                        <a:cs typeface="+mn-cs"/>
                      </a:endParaRPr>
                    </a:p>
                  </a:txBody>
                  <a:tcPr marL="9525" marR="9525" marT="9525"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zh-TW" sz="1100" b="0" i="0" u="none" strike="noStrike" kern="1200" dirty="0">
                          <a:solidFill>
                            <a:schemeClr val="tx1"/>
                          </a:solidFill>
                          <a:effectLst/>
                          <a:latin typeface="+mn-lt"/>
                          <a:ea typeface="+mn-ea"/>
                          <a:cs typeface="+mn-cs"/>
                        </a:rPr>
                        <a:t>cylinder4 back</a:t>
                      </a:r>
                    </a:p>
                  </a:txBody>
                  <a:tcPr marL="9525" marR="9525" marT="9525" marB="0" anchor="ctr"/>
                </a:tc>
                <a:tc>
                  <a:txBody>
                    <a:bodyPr/>
                    <a:lstStyle/>
                    <a:p>
                      <a:pPr algn="l" fontAlgn="ctr">
                        <a:buNone/>
                      </a:pPr>
                      <a:r>
                        <a:rPr lang="zh-TW" altLang="en-US" sz="1100" b="0" i="0" u="none" strike="noStrike" kern="1200" dirty="0">
                          <a:solidFill>
                            <a:schemeClr val="tx1"/>
                          </a:solidFill>
                          <a:effectLst/>
                          <a:latin typeface="+mn-lt"/>
                          <a:ea typeface="+mn-ea"/>
                          <a:cs typeface="+mn-cs"/>
                        </a:rPr>
                        <a:t>假耳汽缸上抬</a:t>
                      </a:r>
                    </a:p>
                  </a:txBody>
                  <a:tcPr marL="9525" marR="9525" marT="9525"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832564753"/>
                  </a:ext>
                </a:extLst>
              </a:tr>
              <a:tr h="253084">
                <a:tc v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zh-TW" altLang="en-US" sz="1200" b="0" i="0" u="none" strike="noStrike" dirty="0">
                        <a:solidFill>
                          <a:srgbClr val="000000"/>
                        </a:solidFill>
                        <a:effectLst/>
                        <a:latin typeface="新細明體" panose="02020500000000000000" pitchFamily="18" charset="-120"/>
                        <a:ea typeface="新細明體" panose="02020500000000000000" pitchFamily="18" charset="-120"/>
                      </a:endParaRPr>
                    </a:p>
                  </a:txBody>
                  <a:tcPr anchor="ctr">
                    <a:lnL w="12700" cap="flat" cmpd="sng" algn="ctr">
                      <a:solidFill>
                        <a:schemeClr val="tx1"/>
                      </a:solidFill>
                      <a:prstDash val="solid"/>
                      <a:round/>
                      <a:headEnd type="none" w="med" len="med"/>
                      <a:tailEnd type="none" w="med" len="med"/>
                    </a:lnL>
                  </a:tcPr>
                </a:tc>
                <a:tc>
                  <a:txBody>
                    <a:bodyPr/>
                    <a:lstStyle/>
                    <a:p>
                      <a:pPr algn="ctr" fontAlgn="ctr">
                        <a:buNone/>
                      </a:pPr>
                      <a:r>
                        <a:rPr lang="en-US" altLang="zh-TW" sz="1200" b="0" kern="1200" dirty="0">
                          <a:solidFill>
                            <a:schemeClr val="dk1"/>
                          </a:solidFill>
                          <a:effectLst/>
                          <a:latin typeface="+mn-lt"/>
                          <a:ea typeface="+mn-ea"/>
                          <a:cs typeface="+mn-cs"/>
                        </a:rPr>
                        <a:t>3</a:t>
                      </a:r>
                    </a:p>
                  </a:txBody>
                  <a:tcPr marL="9525" marR="9525" marT="9525" marB="0" anchor="ctr"/>
                </a:tc>
                <a:tc gridSpan="4" vMerge="1">
                  <a:txBody>
                    <a:bodyPr/>
                    <a:lstStyle/>
                    <a:p>
                      <a:pPr algn="l" fontAlgn="ctr">
                        <a:buNone/>
                      </a:pPr>
                      <a:endParaRPr lang="en-US" sz="1400" b="0" kern="1200" dirty="0">
                        <a:solidFill>
                          <a:schemeClr val="dk1"/>
                        </a:solidFill>
                        <a:effectLst/>
                        <a:latin typeface="+mn-lt"/>
                        <a:ea typeface="+mn-ea"/>
                        <a:cs typeface="+mn-cs"/>
                      </a:endParaRPr>
                    </a:p>
                  </a:txBody>
                  <a:tcPr marL="9525" marR="9525" marT="9525" marB="0" anchor="ctr"/>
                </a:tc>
                <a:tc hMerge="1" vMerge="1">
                  <a:txBody>
                    <a:bodyPr/>
                    <a:lstStyle/>
                    <a:p>
                      <a:pPr algn="l" fontAlgn="ctr">
                        <a:buNone/>
                      </a:pPr>
                      <a:endParaRPr lang="zh-TW" altLang="en-US" sz="1400" b="0" kern="1200" dirty="0">
                        <a:solidFill>
                          <a:schemeClr val="dk1"/>
                        </a:solidFill>
                        <a:effectLst/>
                        <a:latin typeface="+mn-lt"/>
                        <a:ea typeface="+mn-ea"/>
                        <a:cs typeface="+mn-cs"/>
                      </a:endParaRPr>
                    </a:p>
                  </a:txBody>
                  <a:tcPr marL="9525" marR="9525" marT="9525" marB="0" anchor="ctr"/>
                </a:tc>
                <a:tc hMerge="1" vMerge="1">
                  <a:txBody>
                    <a:bodyPr/>
                    <a:lstStyle/>
                    <a:p>
                      <a:pPr algn="l" fontAlgn="ctr">
                        <a:buNone/>
                      </a:pPr>
                      <a:endParaRPr lang="en-US" sz="1400" b="0" kern="1200" dirty="0">
                        <a:solidFill>
                          <a:schemeClr val="dk1"/>
                        </a:solidFill>
                        <a:effectLst/>
                        <a:latin typeface="+mn-lt"/>
                        <a:ea typeface="+mn-ea"/>
                        <a:cs typeface="+mn-cs"/>
                      </a:endParaRPr>
                    </a:p>
                  </a:txBody>
                  <a:tcPr marL="9525" marR="9525" marT="9525" marB="0" anchor="ctr"/>
                </a:tc>
                <a:tc hMerge="1" vMerge="1">
                  <a:txBody>
                    <a:bodyPr/>
                    <a:lstStyle/>
                    <a:p>
                      <a:pPr algn="l" fontAlgn="ctr">
                        <a:buNone/>
                      </a:pPr>
                      <a:endParaRPr lang="zh-TW" altLang="en-US" sz="1400" b="0" kern="1200" dirty="0">
                        <a:solidFill>
                          <a:schemeClr val="dk1"/>
                        </a:solidFill>
                        <a:effectLst/>
                        <a:latin typeface="+mn-lt"/>
                        <a:ea typeface="+mn-ea"/>
                        <a:cs typeface="+mn-cs"/>
                      </a:endParaRPr>
                    </a:p>
                  </a:txBody>
                  <a:tcPr marL="9525" marR="9525" marT="9525"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zh-TW" sz="1100" b="0" i="0" u="none" strike="noStrike" kern="1200" dirty="0">
                          <a:solidFill>
                            <a:schemeClr val="tx1"/>
                          </a:solidFill>
                          <a:effectLst/>
                          <a:latin typeface="+mn-lt"/>
                          <a:ea typeface="+mn-ea"/>
                          <a:cs typeface="+mn-cs"/>
                        </a:rPr>
                        <a:t>cylinder2 back</a:t>
                      </a:r>
                    </a:p>
                  </a:txBody>
                  <a:tcPr marL="9525" marR="9525" marT="9525"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zh-TW" sz="1100" b="0" i="0" u="none" strike="noStrike" kern="1200" dirty="0">
                          <a:solidFill>
                            <a:schemeClr val="tx1"/>
                          </a:solidFill>
                          <a:effectLst/>
                          <a:latin typeface="+mn-lt"/>
                          <a:ea typeface="+mn-ea"/>
                          <a:cs typeface="+mn-cs"/>
                        </a:rPr>
                        <a:t>Type-C</a:t>
                      </a:r>
                      <a:r>
                        <a:rPr lang="zh-TW" altLang="en-US" sz="1100" b="0" i="0" u="none" strike="noStrike" kern="1200" dirty="0">
                          <a:solidFill>
                            <a:schemeClr val="tx1"/>
                          </a:solidFill>
                          <a:effectLst/>
                          <a:latin typeface="+mn-lt"/>
                          <a:ea typeface="+mn-ea"/>
                          <a:cs typeface="+mn-cs"/>
                        </a:rPr>
                        <a:t>復位</a:t>
                      </a:r>
                    </a:p>
                  </a:txBody>
                  <a:tcPr marL="9525" marR="9525" marT="9525"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4519934"/>
                  </a:ext>
                </a:extLst>
              </a:tr>
              <a:tr h="253084">
                <a:tc v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zh-TW" altLang="en-US" sz="1200" b="0" i="0" u="none" strike="noStrike" dirty="0">
                        <a:solidFill>
                          <a:srgbClr val="000000"/>
                        </a:solidFill>
                        <a:effectLst/>
                        <a:latin typeface="新細明體" panose="02020500000000000000" pitchFamily="18" charset="-120"/>
                        <a:ea typeface="新細明體" panose="02020500000000000000" pitchFamily="18" charset="-120"/>
                      </a:endParaRPr>
                    </a:p>
                  </a:txBody>
                  <a:tcPr anchor="ctr">
                    <a:lnL w="12700" cap="flat" cmpd="sng" algn="ctr">
                      <a:solidFill>
                        <a:schemeClr val="tx1"/>
                      </a:solidFill>
                      <a:prstDash val="solid"/>
                      <a:round/>
                      <a:headEnd type="none" w="med" len="med"/>
                      <a:tailEnd type="none" w="med" len="med"/>
                    </a:lnL>
                  </a:tcPr>
                </a:tc>
                <a:tc>
                  <a:txBody>
                    <a:bodyPr/>
                    <a:lstStyle/>
                    <a:p>
                      <a:pPr algn="ctr" fontAlgn="ctr">
                        <a:buNone/>
                      </a:pPr>
                      <a:r>
                        <a:rPr lang="en-US" altLang="zh-TW" sz="1200" b="0" kern="1200" dirty="0">
                          <a:solidFill>
                            <a:schemeClr val="dk1"/>
                          </a:solidFill>
                          <a:effectLst/>
                          <a:latin typeface="+mn-lt"/>
                          <a:ea typeface="+mn-ea"/>
                          <a:cs typeface="+mn-cs"/>
                        </a:rPr>
                        <a:t>4</a:t>
                      </a:r>
                    </a:p>
                  </a:txBody>
                  <a:tcPr marL="9525" marR="9525" marT="9525" marB="0" anchor="ctr"/>
                </a:tc>
                <a:tc gridSpan="4" vMerge="1">
                  <a:txBody>
                    <a:bodyPr/>
                    <a:lstStyle/>
                    <a:p>
                      <a:pPr algn="l" fontAlgn="ctr">
                        <a:buNone/>
                      </a:pPr>
                      <a:endParaRPr lang="en-US" sz="1400" b="0" kern="1200" dirty="0">
                        <a:solidFill>
                          <a:schemeClr val="dk1"/>
                        </a:solidFill>
                        <a:effectLst/>
                        <a:latin typeface="+mn-lt"/>
                        <a:ea typeface="+mn-ea"/>
                        <a:cs typeface="+mn-cs"/>
                      </a:endParaRPr>
                    </a:p>
                  </a:txBody>
                  <a:tcPr marL="9525" marR="9525" marT="9525" marB="0" anchor="ctr"/>
                </a:tc>
                <a:tc hMerge="1" vMerge="1">
                  <a:txBody>
                    <a:bodyPr/>
                    <a:lstStyle/>
                    <a:p>
                      <a:pPr algn="l" fontAlgn="ctr">
                        <a:buNone/>
                      </a:pPr>
                      <a:endParaRPr lang="zh-TW" altLang="en-US" sz="1400" b="0" kern="1200" dirty="0">
                        <a:solidFill>
                          <a:schemeClr val="dk1"/>
                        </a:solidFill>
                        <a:effectLst/>
                        <a:latin typeface="+mn-lt"/>
                        <a:ea typeface="+mn-ea"/>
                        <a:cs typeface="+mn-cs"/>
                      </a:endParaRPr>
                    </a:p>
                  </a:txBody>
                  <a:tcPr marL="9525" marR="9525" marT="9525" marB="0" anchor="ctr"/>
                </a:tc>
                <a:tc hMerge="1" vMerge="1">
                  <a:txBody>
                    <a:bodyPr/>
                    <a:lstStyle/>
                    <a:p>
                      <a:pPr algn="l" fontAlgn="ctr">
                        <a:buNone/>
                      </a:pPr>
                      <a:endParaRPr lang="en-US" sz="1400" b="0" kern="1200">
                        <a:solidFill>
                          <a:schemeClr val="dk1"/>
                        </a:solidFill>
                        <a:effectLst/>
                        <a:latin typeface="+mn-lt"/>
                        <a:ea typeface="+mn-ea"/>
                        <a:cs typeface="+mn-cs"/>
                      </a:endParaRPr>
                    </a:p>
                  </a:txBody>
                  <a:tcPr marL="9525" marR="9525" marT="9525" marB="0" anchor="ctr"/>
                </a:tc>
                <a:tc hMerge="1" vMerge="1">
                  <a:txBody>
                    <a:bodyPr/>
                    <a:lstStyle/>
                    <a:p>
                      <a:pPr algn="l" fontAlgn="ctr">
                        <a:buNone/>
                      </a:pPr>
                      <a:endParaRPr lang="zh-TW" altLang="en-US" sz="1400" b="0" kern="1200" dirty="0">
                        <a:solidFill>
                          <a:schemeClr val="dk1"/>
                        </a:solidFill>
                        <a:effectLst/>
                        <a:latin typeface="+mn-lt"/>
                        <a:ea typeface="+mn-ea"/>
                        <a:cs typeface="+mn-cs"/>
                      </a:endParaRPr>
                    </a:p>
                  </a:txBody>
                  <a:tcPr marL="9525" marR="9525" marT="9525"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zh-TW" sz="1100" b="0" i="0" u="none" strike="noStrike" kern="1200" dirty="0">
                          <a:solidFill>
                            <a:schemeClr val="tx1"/>
                          </a:solidFill>
                          <a:effectLst/>
                          <a:latin typeface="+mn-lt"/>
                          <a:ea typeface="+mn-ea"/>
                          <a:cs typeface="+mn-cs"/>
                        </a:rPr>
                        <a:t>reset</a:t>
                      </a:r>
                    </a:p>
                  </a:txBody>
                  <a:tcPr marL="9525" marR="9525" marT="9525" marB="0" anchor="ctr"/>
                </a:tc>
                <a:tc>
                  <a:txBody>
                    <a:bodyPr/>
                    <a:lstStyle/>
                    <a:p>
                      <a:pPr algn="l" fontAlgn="ctr">
                        <a:buNone/>
                      </a:pPr>
                      <a:r>
                        <a:rPr lang="zh-TW" altLang="en-US" sz="1100" b="0" i="0" u="none" strike="noStrike" kern="1200" dirty="0">
                          <a:solidFill>
                            <a:schemeClr val="tx1"/>
                          </a:solidFill>
                          <a:effectLst/>
                          <a:latin typeface="+mn-lt"/>
                          <a:ea typeface="+mn-ea"/>
                          <a:cs typeface="+mn-cs"/>
                        </a:rPr>
                        <a:t>全汽缸復位</a:t>
                      </a:r>
                    </a:p>
                  </a:txBody>
                  <a:tcPr marL="9525" marR="9525" marT="9525"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176606790"/>
                  </a:ext>
                </a:extLst>
              </a:tr>
              <a:tr h="253958">
                <a:tc gridSpan="6">
                  <a:txBody>
                    <a:bodyPr/>
                    <a:lstStyle/>
                    <a:p>
                      <a:pPr algn="ctr" fontAlgn="ctr">
                        <a:buNone/>
                      </a:pPr>
                      <a:r>
                        <a:rPr lang="zh-TW" altLang="en-US" sz="1100" b="0" i="0" u="none" strike="noStrike" kern="1200" dirty="0">
                          <a:solidFill>
                            <a:schemeClr val="tx1"/>
                          </a:solidFill>
                          <a:effectLst/>
                          <a:latin typeface="+mn-lt"/>
                          <a:ea typeface="+mn-ea"/>
                          <a:cs typeface="+mn-cs"/>
                        </a:rPr>
                        <a:t>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6">
                        <a:lumMod val="40000"/>
                        <a:lumOff val="60000"/>
                      </a:schemeClr>
                    </a:solidFill>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a:txBody>
                    <a:bodyPr/>
                    <a:lstStyle/>
                    <a:p>
                      <a:pPr algn="ctr" fontAlgn="ctr">
                        <a:buNone/>
                      </a:pPr>
                      <a:endParaRPr lang="zh-TW" altLang="en-US" sz="1100" b="0" i="0" u="none" strike="noStrike" kern="1200" dirty="0">
                        <a:solidFill>
                          <a:schemeClr val="tx1"/>
                        </a:solidFill>
                        <a:effectLst/>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solidFill>
                      <a:schemeClr val="accent6">
                        <a:lumMod val="40000"/>
                        <a:lumOff val="60000"/>
                      </a:schemeClr>
                    </a:solidFill>
                  </a:tcPr>
                </a:tc>
                <a:tc>
                  <a:txBody>
                    <a:bodyPr/>
                    <a:lstStyle/>
                    <a:p>
                      <a:pPr algn="ctr" fontAlgn="ctr">
                        <a:buNone/>
                      </a:pPr>
                      <a:endParaRPr lang="zh-TW" altLang="en-US" sz="1100" b="0" i="0" u="none" strike="noStrike" kern="1200" dirty="0">
                        <a:solidFill>
                          <a:schemeClr val="tx1"/>
                        </a:solidFill>
                        <a:effectLst/>
                        <a:latin typeface="+mn-lt"/>
                        <a:ea typeface="+mn-ea"/>
                        <a:cs typeface="+mn-cs"/>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accent6">
                        <a:lumMod val="40000"/>
                        <a:lumOff val="60000"/>
                      </a:schemeClr>
                    </a:solidFill>
                  </a:tcPr>
                </a:tc>
                <a:extLst>
                  <a:ext uri="{0D108BD9-81ED-4DB2-BD59-A6C34878D82A}">
                    <a16:rowId xmlns:a16="http://schemas.microsoft.com/office/drawing/2014/main" val="2734648277"/>
                  </a:ext>
                </a:extLst>
              </a:tr>
              <a:tr h="274721">
                <a:tc>
                  <a:txBody>
                    <a:bodyPr/>
                    <a:lstStyle/>
                    <a:p>
                      <a:pPr algn="ctr" fontAlgn="ctr">
                        <a:buNone/>
                      </a:pPr>
                      <a:r>
                        <a:rPr lang="en-US" altLang="zh-TW" sz="1200" b="1" dirty="0" err="1"/>
                        <a:t>cleanSN</a:t>
                      </a:r>
                      <a:endParaRPr lang="en-US" altLang="zh-TW" sz="1200" b="0" i="0" u="none" strike="noStrike" dirty="0">
                        <a:solidFill>
                          <a:srgbClr val="000000"/>
                        </a:solidFill>
                        <a:effectLst/>
                        <a:latin typeface="新細明體" panose="02020500000000000000" pitchFamily="18" charset="-120"/>
                        <a:ea typeface="新細明體" panose="02020500000000000000" pitchFamily="18" charset="-120"/>
                      </a:endParaRP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fontAlgn="ctr">
                        <a:buNone/>
                      </a:pPr>
                      <a:r>
                        <a:rPr lang="en-US" altLang="zh-TW" sz="1100" b="0" i="0" u="none" strike="noStrike" dirty="0">
                          <a:solidFill>
                            <a:srgbClr val="000000"/>
                          </a:solidFill>
                          <a:effectLst/>
                          <a:latin typeface="+mn-lt"/>
                          <a:ea typeface="新細明體" panose="02020500000000000000" pitchFamily="18" charset="-120"/>
                        </a:rPr>
                        <a:t>1</a:t>
                      </a:r>
                    </a:p>
                  </a:txBody>
                  <a:tcPr marL="9525" marR="9525" marT="9525" marB="0" anchor="ctr">
                    <a:lnB w="12700" cap="flat" cmpd="sng" algn="ctr">
                      <a:solidFill>
                        <a:schemeClr val="tx1"/>
                      </a:solidFill>
                      <a:prstDash val="solid"/>
                      <a:round/>
                      <a:headEnd type="none" w="med" len="med"/>
                      <a:tailEnd type="none" w="med" len="med"/>
                    </a:lnB>
                  </a:tcPr>
                </a:tc>
                <a:tc gridSpan="6">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0" i="0" u="none" strike="noStrike" kern="1200" dirty="0" err="1">
                          <a:solidFill>
                            <a:schemeClr val="tx1"/>
                          </a:solidFill>
                          <a:effectLst/>
                          <a:latin typeface="+mn-lt"/>
                          <a:ea typeface="+mn-ea"/>
                          <a:cs typeface="+mn-cs"/>
                        </a:rPr>
                        <a:t>TPinterview</a:t>
                      </a:r>
                      <a:r>
                        <a:rPr lang="en-US" sz="1100" b="0" i="0" u="none" strike="noStrike" kern="1200" dirty="0">
                          <a:solidFill>
                            <a:schemeClr val="tx1"/>
                          </a:solidFill>
                          <a:effectLst/>
                          <a:latin typeface="+mn-lt"/>
                          <a:ea typeface="+mn-ea"/>
                          <a:cs typeface="+mn-cs"/>
                        </a:rPr>
                        <a:t> clear SN</a:t>
                      </a:r>
                    </a:p>
                  </a:txBody>
                  <a:tcPr marL="9525" marR="9525" marT="9525"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h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hMerge="1">
                  <a:txBody>
                    <a:bodyPr/>
                    <a:lstStyle/>
                    <a:p>
                      <a:pPr algn="l" fontAlgn="ctr">
                        <a:buNone/>
                      </a:pP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h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h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tc>
                <a:tc h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680325677"/>
                  </a:ext>
                </a:extLst>
              </a:tr>
            </a:tbl>
          </a:graphicData>
        </a:graphic>
      </p:graphicFrame>
    </p:spTree>
    <p:extLst>
      <p:ext uri="{BB962C8B-B14F-4D97-AF65-F5344CB8AC3E}">
        <p14:creationId xmlns:p14="http://schemas.microsoft.com/office/powerpoint/2010/main" val="195924750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BD0386-2D06-6C6E-67D8-6110E9682C8A}"/>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99E53EC7-1C0D-97FD-789E-51C6817894C1}"/>
              </a:ext>
            </a:extLst>
          </p:cNvPr>
          <p:cNvSpPr>
            <a:spLocks noGrp="1"/>
          </p:cNvSpPr>
          <p:nvPr>
            <p:ph type="body" sz="quarter" idx="13"/>
          </p:nvPr>
        </p:nvSpPr>
        <p:spPr/>
        <p:txBody>
          <a:bodyPr/>
          <a:lstStyle/>
          <a:p>
            <a:r>
              <a:rPr lang="en-US" dirty="0"/>
              <a:t>Terminology  </a:t>
            </a:r>
          </a:p>
          <a:p>
            <a:endParaRPr lang="en-US" dirty="0"/>
          </a:p>
        </p:txBody>
      </p:sp>
      <p:sp>
        <p:nvSpPr>
          <p:cNvPr id="6" name="文字方塊 5">
            <a:extLst>
              <a:ext uri="{FF2B5EF4-FFF2-40B4-BE49-F238E27FC236}">
                <a16:creationId xmlns:a16="http://schemas.microsoft.com/office/drawing/2014/main" id="{F030F81D-0948-8EED-1828-40A76F521458}"/>
              </a:ext>
            </a:extLst>
          </p:cNvPr>
          <p:cNvSpPr txBox="1"/>
          <p:nvPr/>
        </p:nvSpPr>
        <p:spPr>
          <a:xfrm>
            <a:off x="571501" y="905346"/>
            <a:ext cx="2438399" cy="375552"/>
          </a:xfrm>
          <a:prstGeom prst="rect">
            <a:avLst/>
          </a:prstGeom>
          <a:noFill/>
        </p:spPr>
        <p:txBody>
          <a:bodyPr wrap="square">
            <a:spAutoFit/>
          </a:bodyPr>
          <a:lstStyle/>
          <a:p>
            <a:pPr>
              <a:lnSpc>
                <a:spcPct val="150000"/>
              </a:lnSpc>
              <a:defRPr/>
            </a:pPr>
            <a:r>
              <a:rPr lang="en-US" altLang="zh-TW" sz="1400" b="1" dirty="0"/>
              <a:t>Case QT </a:t>
            </a:r>
            <a:r>
              <a:rPr lang="en-US" altLang="zh-TW" sz="1400" dirty="0"/>
              <a:t>- Debug Tool </a:t>
            </a:r>
          </a:p>
        </p:txBody>
      </p:sp>
      <p:pic>
        <p:nvPicPr>
          <p:cNvPr id="7" name="圖片 6">
            <a:extLst>
              <a:ext uri="{FF2B5EF4-FFF2-40B4-BE49-F238E27FC236}">
                <a16:creationId xmlns:a16="http://schemas.microsoft.com/office/drawing/2014/main" id="{43E7FCB0-B585-DA79-5C67-789F4A0ED594}"/>
              </a:ext>
            </a:extLst>
          </p:cNvPr>
          <p:cNvPicPr>
            <a:picLocks noChangeAspect="1"/>
          </p:cNvPicPr>
          <p:nvPr/>
        </p:nvPicPr>
        <p:blipFill>
          <a:blip r:embed="rId3"/>
          <a:stretch>
            <a:fillRect/>
          </a:stretch>
        </p:blipFill>
        <p:spPr>
          <a:xfrm>
            <a:off x="3630428" y="1280898"/>
            <a:ext cx="7807257" cy="5315717"/>
          </a:xfrm>
          <a:prstGeom prst="rect">
            <a:avLst/>
          </a:prstGeom>
        </p:spPr>
      </p:pic>
      <p:grpSp>
        <p:nvGrpSpPr>
          <p:cNvPr id="14" name="群組 13">
            <a:extLst>
              <a:ext uri="{FF2B5EF4-FFF2-40B4-BE49-F238E27FC236}">
                <a16:creationId xmlns:a16="http://schemas.microsoft.com/office/drawing/2014/main" id="{A1782DC5-E542-5B56-662E-27F4CAE38CA1}"/>
              </a:ext>
            </a:extLst>
          </p:cNvPr>
          <p:cNvGrpSpPr/>
          <p:nvPr/>
        </p:nvGrpSpPr>
        <p:grpSpPr>
          <a:xfrm>
            <a:off x="3630428" y="1519334"/>
            <a:ext cx="442203" cy="427703"/>
            <a:chOff x="6836923" y="824009"/>
            <a:chExt cx="442203" cy="427703"/>
          </a:xfrm>
        </p:grpSpPr>
        <p:sp>
          <p:nvSpPr>
            <p:cNvPr id="11" name="文字方塊 10">
              <a:extLst>
                <a:ext uri="{FF2B5EF4-FFF2-40B4-BE49-F238E27FC236}">
                  <a16:creationId xmlns:a16="http://schemas.microsoft.com/office/drawing/2014/main" id="{82E8C966-3147-8E49-BD41-68244AC31F37}"/>
                </a:ext>
              </a:extLst>
            </p:cNvPr>
            <p:cNvSpPr txBox="1"/>
            <p:nvPr/>
          </p:nvSpPr>
          <p:spPr>
            <a:xfrm>
              <a:off x="6901572" y="853195"/>
              <a:ext cx="312906" cy="369332"/>
            </a:xfrm>
            <a:prstGeom prst="rect">
              <a:avLst/>
            </a:prstGeom>
            <a:noFill/>
          </p:spPr>
          <p:txBody>
            <a:bodyPr wrap="none" rtlCol="0">
              <a:spAutoFit/>
            </a:bodyPr>
            <a:lstStyle/>
            <a:p>
              <a:r>
                <a:rPr kumimoji="1" lang="en-US" altLang="zh-TW" b="1" dirty="0">
                  <a:solidFill>
                    <a:srgbClr val="FF0000"/>
                  </a:solidFill>
                </a:rPr>
                <a:t>1</a:t>
              </a:r>
              <a:endParaRPr kumimoji="1" lang="zh-TW" altLang="en-US" b="1" dirty="0">
                <a:solidFill>
                  <a:srgbClr val="FF0000"/>
                </a:solidFill>
              </a:endParaRPr>
            </a:p>
          </p:txBody>
        </p:sp>
        <p:sp>
          <p:nvSpPr>
            <p:cNvPr id="12" name="橢圓 11">
              <a:extLst>
                <a:ext uri="{FF2B5EF4-FFF2-40B4-BE49-F238E27FC236}">
                  <a16:creationId xmlns:a16="http://schemas.microsoft.com/office/drawing/2014/main" id="{704DC65F-DCCF-1EA4-4D57-365FF94AEB80}"/>
                </a:ext>
              </a:extLst>
            </p:cNvPr>
            <p:cNvSpPr/>
            <p:nvPr/>
          </p:nvSpPr>
          <p:spPr>
            <a:xfrm>
              <a:off x="6836923" y="824009"/>
              <a:ext cx="442203" cy="427703"/>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ln>
                  <a:solidFill>
                    <a:srgbClr val="FF0000"/>
                  </a:solidFill>
                </a:ln>
                <a:solidFill>
                  <a:srgbClr val="FF0000"/>
                </a:solidFill>
              </a:endParaRPr>
            </a:p>
          </p:txBody>
        </p:sp>
      </p:grpSp>
      <p:grpSp>
        <p:nvGrpSpPr>
          <p:cNvPr id="15" name="群組 14">
            <a:extLst>
              <a:ext uri="{FF2B5EF4-FFF2-40B4-BE49-F238E27FC236}">
                <a16:creationId xmlns:a16="http://schemas.microsoft.com/office/drawing/2014/main" id="{EA223915-BF63-D0A9-8E85-D63F0CE0A046}"/>
              </a:ext>
            </a:extLst>
          </p:cNvPr>
          <p:cNvGrpSpPr/>
          <p:nvPr/>
        </p:nvGrpSpPr>
        <p:grpSpPr>
          <a:xfrm>
            <a:off x="3591705" y="3511053"/>
            <a:ext cx="442203" cy="427703"/>
            <a:chOff x="6836923" y="824009"/>
            <a:chExt cx="442203" cy="427703"/>
          </a:xfrm>
        </p:grpSpPr>
        <p:sp>
          <p:nvSpPr>
            <p:cNvPr id="16" name="文字方塊 15">
              <a:extLst>
                <a:ext uri="{FF2B5EF4-FFF2-40B4-BE49-F238E27FC236}">
                  <a16:creationId xmlns:a16="http://schemas.microsoft.com/office/drawing/2014/main" id="{EF15DFF6-6786-E526-AE75-F3D9DCFA912C}"/>
                </a:ext>
              </a:extLst>
            </p:cNvPr>
            <p:cNvSpPr txBox="1"/>
            <p:nvPr/>
          </p:nvSpPr>
          <p:spPr>
            <a:xfrm>
              <a:off x="6901572" y="853195"/>
              <a:ext cx="312906" cy="369332"/>
            </a:xfrm>
            <a:prstGeom prst="rect">
              <a:avLst/>
            </a:prstGeom>
            <a:noFill/>
          </p:spPr>
          <p:txBody>
            <a:bodyPr wrap="none" rtlCol="0">
              <a:spAutoFit/>
            </a:bodyPr>
            <a:lstStyle/>
            <a:p>
              <a:r>
                <a:rPr kumimoji="1" lang="en-US" altLang="zh-TW" b="1" dirty="0">
                  <a:solidFill>
                    <a:srgbClr val="FF0000"/>
                  </a:solidFill>
                </a:rPr>
                <a:t>2</a:t>
              </a:r>
              <a:endParaRPr kumimoji="1" lang="zh-TW" altLang="en-US" b="1" dirty="0">
                <a:solidFill>
                  <a:srgbClr val="FF0000"/>
                </a:solidFill>
              </a:endParaRPr>
            </a:p>
          </p:txBody>
        </p:sp>
        <p:sp>
          <p:nvSpPr>
            <p:cNvPr id="17" name="橢圓 16">
              <a:extLst>
                <a:ext uri="{FF2B5EF4-FFF2-40B4-BE49-F238E27FC236}">
                  <a16:creationId xmlns:a16="http://schemas.microsoft.com/office/drawing/2014/main" id="{C37C5775-131B-AF08-9294-777B3E6BCF6A}"/>
                </a:ext>
              </a:extLst>
            </p:cNvPr>
            <p:cNvSpPr/>
            <p:nvPr/>
          </p:nvSpPr>
          <p:spPr>
            <a:xfrm>
              <a:off x="6836923" y="824009"/>
              <a:ext cx="442203" cy="427703"/>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ln>
                  <a:solidFill>
                    <a:srgbClr val="FF0000"/>
                  </a:solidFill>
                </a:ln>
                <a:solidFill>
                  <a:srgbClr val="FF0000"/>
                </a:solidFill>
              </a:endParaRPr>
            </a:p>
          </p:txBody>
        </p:sp>
      </p:grpSp>
      <p:grpSp>
        <p:nvGrpSpPr>
          <p:cNvPr id="18" name="群組 17">
            <a:extLst>
              <a:ext uri="{FF2B5EF4-FFF2-40B4-BE49-F238E27FC236}">
                <a16:creationId xmlns:a16="http://schemas.microsoft.com/office/drawing/2014/main" id="{CB3FD408-3964-0D01-1E69-F84149369E33}"/>
              </a:ext>
            </a:extLst>
          </p:cNvPr>
          <p:cNvGrpSpPr/>
          <p:nvPr/>
        </p:nvGrpSpPr>
        <p:grpSpPr>
          <a:xfrm>
            <a:off x="3565780" y="4490456"/>
            <a:ext cx="442203" cy="427703"/>
            <a:chOff x="6836923" y="824009"/>
            <a:chExt cx="442203" cy="427703"/>
          </a:xfrm>
        </p:grpSpPr>
        <p:sp>
          <p:nvSpPr>
            <p:cNvPr id="19" name="文字方塊 18">
              <a:extLst>
                <a:ext uri="{FF2B5EF4-FFF2-40B4-BE49-F238E27FC236}">
                  <a16:creationId xmlns:a16="http://schemas.microsoft.com/office/drawing/2014/main" id="{8278F30B-6644-3DCD-B5B7-597FA82E17A2}"/>
                </a:ext>
              </a:extLst>
            </p:cNvPr>
            <p:cNvSpPr txBox="1"/>
            <p:nvPr/>
          </p:nvSpPr>
          <p:spPr>
            <a:xfrm>
              <a:off x="6901572" y="853195"/>
              <a:ext cx="312906" cy="369332"/>
            </a:xfrm>
            <a:prstGeom prst="rect">
              <a:avLst/>
            </a:prstGeom>
            <a:noFill/>
          </p:spPr>
          <p:txBody>
            <a:bodyPr wrap="none" rtlCol="0">
              <a:spAutoFit/>
            </a:bodyPr>
            <a:lstStyle/>
            <a:p>
              <a:r>
                <a:rPr kumimoji="1" lang="en-US" altLang="zh-TW" b="1" dirty="0">
                  <a:solidFill>
                    <a:srgbClr val="FF0000"/>
                  </a:solidFill>
                </a:rPr>
                <a:t>3</a:t>
              </a:r>
              <a:endParaRPr kumimoji="1" lang="zh-TW" altLang="en-US" b="1" dirty="0">
                <a:solidFill>
                  <a:srgbClr val="FF0000"/>
                </a:solidFill>
              </a:endParaRPr>
            </a:p>
          </p:txBody>
        </p:sp>
        <p:sp>
          <p:nvSpPr>
            <p:cNvPr id="20" name="橢圓 19">
              <a:extLst>
                <a:ext uri="{FF2B5EF4-FFF2-40B4-BE49-F238E27FC236}">
                  <a16:creationId xmlns:a16="http://schemas.microsoft.com/office/drawing/2014/main" id="{931FC20A-0AD5-7D5B-9624-3D71A170C756}"/>
                </a:ext>
              </a:extLst>
            </p:cNvPr>
            <p:cNvSpPr/>
            <p:nvPr/>
          </p:nvSpPr>
          <p:spPr>
            <a:xfrm>
              <a:off x="6836923" y="824009"/>
              <a:ext cx="442203" cy="427703"/>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ln>
                  <a:solidFill>
                    <a:srgbClr val="FF0000"/>
                  </a:solidFill>
                </a:ln>
                <a:solidFill>
                  <a:srgbClr val="FF0000"/>
                </a:solidFill>
              </a:endParaRPr>
            </a:p>
          </p:txBody>
        </p:sp>
      </p:grpSp>
      <p:grpSp>
        <p:nvGrpSpPr>
          <p:cNvPr id="21" name="群組 20">
            <a:extLst>
              <a:ext uri="{FF2B5EF4-FFF2-40B4-BE49-F238E27FC236}">
                <a16:creationId xmlns:a16="http://schemas.microsoft.com/office/drawing/2014/main" id="{0D5496B5-33E9-5281-8C63-46E43770C0FC}"/>
              </a:ext>
            </a:extLst>
          </p:cNvPr>
          <p:cNvGrpSpPr/>
          <p:nvPr/>
        </p:nvGrpSpPr>
        <p:grpSpPr>
          <a:xfrm>
            <a:off x="8592953" y="1490149"/>
            <a:ext cx="442203" cy="427703"/>
            <a:chOff x="6836923" y="824009"/>
            <a:chExt cx="442203" cy="427703"/>
          </a:xfrm>
        </p:grpSpPr>
        <p:sp>
          <p:nvSpPr>
            <p:cNvPr id="22" name="文字方塊 21">
              <a:extLst>
                <a:ext uri="{FF2B5EF4-FFF2-40B4-BE49-F238E27FC236}">
                  <a16:creationId xmlns:a16="http://schemas.microsoft.com/office/drawing/2014/main" id="{EAE6F5F1-0D9D-0521-C5A8-386DDDA7A523}"/>
                </a:ext>
              </a:extLst>
            </p:cNvPr>
            <p:cNvSpPr txBox="1"/>
            <p:nvPr/>
          </p:nvSpPr>
          <p:spPr>
            <a:xfrm>
              <a:off x="6901572" y="853195"/>
              <a:ext cx="312906" cy="369332"/>
            </a:xfrm>
            <a:prstGeom prst="rect">
              <a:avLst/>
            </a:prstGeom>
            <a:noFill/>
          </p:spPr>
          <p:txBody>
            <a:bodyPr wrap="none" rtlCol="0">
              <a:spAutoFit/>
            </a:bodyPr>
            <a:lstStyle/>
            <a:p>
              <a:r>
                <a:rPr kumimoji="1" lang="en-US" altLang="zh-TW" b="1" dirty="0">
                  <a:solidFill>
                    <a:srgbClr val="FF0000"/>
                  </a:solidFill>
                </a:rPr>
                <a:t>4</a:t>
              </a:r>
              <a:endParaRPr kumimoji="1" lang="zh-TW" altLang="en-US" b="1" dirty="0">
                <a:solidFill>
                  <a:srgbClr val="FF0000"/>
                </a:solidFill>
              </a:endParaRPr>
            </a:p>
          </p:txBody>
        </p:sp>
        <p:sp>
          <p:nvSpPr>
            <p:cNvPr id="23" name="橢圓 22">
              <a:extLst>
                <a:ext uri="{FF2B5EF4-FFF2-40B4-BE49-F238E27FC236}">
                  <a16:creationId xmlns:a16="http://schemas.microsoft.com/office/drawing/2014/main" id="{EB193C73-5B7D-4CDE-115D-690460702264}"/>
                </a:ext>
              </a:extLst>
            </p:cNvPr>
            <p:cNvSpPr/>
            <p:nvPr/>
          </p:nvSpPr>
          <p:spPr>
            <a:xfrm>
              <a:off x="6836923" y="824009"/>
              <a:ext cx="442203" cy="427703"/>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ln>
                  <a:solidFill>
                    <a:srgbClr val="FF0000"/>
                  </a:solidFill>
                </a:ln>
                <a:solidFill>
                  <a:srgbClr val="FF0000"/>
                </a:solidFill>
              </a:endParaRPr>
            </a:p>
          </p:txBody>
        </p:sp>
      </p:grpSp>
      <p:grpSp>
        <p:nvGrpSpPr>
          <p:cNvPr id="24" name="群組 23">
            <a:extLst>
              <a:ext uri="{FF2B5EF4-FFF2-40B4-BE49-F238E27FC236}">
                <a16:creationId xmlns:a16="http://schemas.microsoft.com/office/drawing/2014/main" id="{F2448224-8616-CB1A-D3AD-DF4E485BD764}"/>
              </a:ext>
            </a:extLst>
          </p:cNvPr>
          <p:cNvGrpSpPr/>
          <p:nvPr/>
        </p:nvGrpSpPr>
        <p:grpSpPr>
          <a:xfrm>
            <a:off x="8592952" y="2338484"/>
            <a:ext cx="442203" cy="427703"/>
            <a:chOff x="6836923" y="824009"/>
            <a:chExt cx="442203" cy="427703"/>
          </a:xfrm>
        </p:grpSpPr>
        <p:sp>
          <p:nvSpPr>
            <p:cNvPr id="25" name="文字方塊 24">
              <a:extLst>
                <a:ext uri="{FF2B5EF4-FFF2-40B4-BE49-F238E27FC236}">
                  <a16:creationId xmlns:a16="http://schemas.microsoft.com/office/drawing/2014/main" id="{AD20211C-C2B4-8B5D-2138-49369F90C47D}"/>
                </a:ext>
              </a:extLst>
            </p:cNvPr>
            <p:cNvSpPr txBox="1"/>
            <p:nvPr/>
          </p:nvSpPr>
          <p:spPr>
            <a:xfrm>
              <a:off x="6901572" y="853195"/>
              <a:ext cx="312906" cy="369332"/>
            </a:xfrm>
            <a:prstGeom prst="rect">
              <a:avLst/>
            </a:prstGeom>
            <a:noFill/>
          </p:spPr>
          <p:txBody>
            <a:bodyPr wrap="none" rtlCol="0">
              <a:spAutoFit/>
            </a:bodyPr>
            <a:lstStyle/>
            <a:p>
              <a:r>
                <a:rPr kumimoji="1" lang="en-US" altLang="zh-TW" b="1" dirty="0">
                  <a:solidFill>
                    <a:srgbClr val="FF0000"/>
                  </a:solidFill>
                </a:rPr>
                <a:t>5</a:t>
              </a:r>
              <a:endParaRPr kumimoji="1" lang="zh-TW" altLang="en-US" b="1" dirty="0">
                <a:solidFill>
                  <a:srgbClr val="FF0000"/>
                </a:solidFill>
              </a:endParaRPr>
            </a:p>
          </p:txBody>
        </p:sp>
        <p:sp>
          <p:nvSpPr>
            <p:cNvPr id="26" name="橢圓 25">
              <a:extLst>
                <a:ext uri="{FF2B5EF4-FFF2-40B4-BE49-F238E27FC236}">
                  <a16:creationId xmlns:a16="http://schemas.microsoft.com/office/drawing/2014/main" id="{A451A7FD-5B18-3FEF-5D9D-BBD8EFBEFBB9}"/>
                </a:ext>
              </a:extLst>
            </p:cNvPr>
            <p:cNvSpPr/>
            <p:nvPr/>
          </p:nvSpPr>
          <p:spPr>
            <a:xfrm>
              <a:off x="6836923" y="824009"/>
              <a:ext cx="442203" cy="427703"/>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ln>
                  <a:solidFill>
                    <a:srgbClr val="FF0000"/>
                  </a:solidFill>
                </a:ln>
                <a:solidFill>
                  <a:srgbClr val="FF0000"/>
                </a:solidFill>
              </a:endParaRPr>
            </a:p>
          </p:txBody>
        </p:sp>
      </p:grpSp>
      <p:grpSp>
        <p:nvGrpSpPr>
          <p:cNvPr id="27" name="群組 26">
            <a:extLst>
              <a:ext uri="{FF2B5EF4-FFF2-40B4-BE49-F238E27FC236}">
                <a16:creationId xmlns:a16="http://schemas.microsoft.com/office/drawing/2014/main" id="{6FF909D2-7E30-2D68-20DD-27BCDEB6E239}"/>
              </a:ext>
            </a:extLst>
          </p:cNvPr>
          <p:cNvGrpSpPr/>
          <p:nvPr/>
        </p:nvGrpSpPr>
        <p:grpSpPr>
          <a:xfrm>
            <a:off x="8592951" y="3196370"/>
            <a:ext cx="442203" cy="427703"/>
            <a:chOff x="6836923" y="824009"/>
            <a:chExt cx="442203" cy="427703"/>
          </a:xfrm>
        </p:grpSpPr>
        <p:sp>
          <p:nvSpPr>
            <p:cNvPr id="28" name="文字方塊 27">
              <a:extLst>
                <a:ext uri="{FF2B5EF4-FFF2-40B4-BE49-F238E27FC236}">
                  <a16:creationId xmlns:a16="http://schemas.microsoft.com/office/drawing/2014/main" id="{6261AF5F-7633-75D5-04D4-3D06AF807AE3}"/>
                </a:ext>
              </a:extLst>
            </p:cNvPr>
            <p:cNvSpPr txBox="1"/>
            <p:nvPr/>
          </p:nvSpPr>
          <p:spPr>
            <a:xfrm>
              <a:off x="6901572" y="853195"/>
              <a:ext cx="312906" cy="369332"/>
            </a:xfrm>
            <a:prstGeom prst="rect">
              <a:avLst/>
            </a:prstGeom>
            <a:noFill/>
          </p:spPr>
          <p:txBody>
            <a:bodyPr wrap="none" rtlCol="0">
              <a:spAutoFit/>
            </a:bodyPr>
            <a:lstStyle/>
            <a:p>
              <a:r>
                <a:rPr kumimoji="1" lang="en-US" altLang="zh-TW" b="1" dirty="0">
                  <a:solidFill>
                    <a:srgbClr val="FF0000"/>
                  </a:solidFill>
                </a:rPr>
                <a:t>6</a:t>
              </a:r>
              <a:endParaRPr kumimoji="1" lang="zh-TW" altLang="en-US" b="1" dirty="0">
                <a:solidFill>
                  <a:srgbClr val="FF0000"/>
                </a:solidFill>
              </a:endParaRPr>
            </a:p>
          </p:txBody>
        </p:sp>
        <p:sp>
          <p:nvSpPr>
            <p:cNvPr id="29" name="橢圓 28">
              <a:extLst>
                <a:ext uri="{FF2B5EF4-FFF2-40B4-BE49-F238E27FC236}">
                  <a16:creationId xmlns:a16="http://schemas.microsoft.com/office/drawing/2014/main" id="{DE9D77B3-9CAA-C73D-CA84-C2A4A537D684}"/>
                </a:ext>
              </a:extLst>
            </p:cNvPr>
            <p:cNvSpPr/>
            <p:nvPr/>
          </p:nvSpPr>
          <p:spPr>
            <a:xfrm>
              <a:off x="6836923" y="824009"/>
              <a:ext cx="442203" cy="427703"/>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ln>
                  <a:solidFill>
                    <a:srgbClr val="FF0000"/>
                  </a:solidFill>
                </a:ln>
                <a:solidFill>
                  <a:srgbClr val="FF0000"/>
                </a:solidFill>
              </a:endParaRPr>
            </a:p>
          </p:txBody>
        </p:sp>
      </p:grpSp>
      <p:grpSp>
        <p:nvGrpSpPr>
          <p:cNvPr id="30" name="群組 29">
            <a:extLst>
              <a:ext uri="{FF2B5EF4-FFF2-40B4-BE49-F238E27FC236}">
                <a16:creationId xmlns:a16="http://schemas.microsoft.com/office/drawing/2014/main" id="{E43B4A6D-7778-B266-7779-CE4EC86C713E}"/>
              </a:ext>
            </a:extLst>
          </p:cNvPr>
          <p:cNvGrpSpPr/>
          <p:nvPr/>
        </p:nvGrpSpPr>
        <p:grpSpPr>
          <a:xfrm>
            <a:off x="5890589" y="1519334"/>
            <a:ext cx="442203" cy="427703"/>
            <a:chOff x="6836923" y="824009"/>
            <a:chExt cx="442203" cy="427703"/>
          </a:xfrm>
        </p:grpSpPr>
        <p:sp>
          <p:nvSpPr>
            <p:cNvPr id="31" name="文字方塊 30">
              <a:extLst>
                <a:ext uri="{FF2B5EF4-FFF2-40B4-BE49-F238E27FC236}">
                  <a16:creationId xmlns:a16="http://schemas.microsoft.com/office/drawing/2014/main" id="{B438E18A-9EB8-90D6-3FE0-083B31ADD63C}"/>
                </a:ext>
              </a:extLst>
            </p:cNvPr>
            <p:cNvSpPr txBox="1"/>
            <p:nvPr/>
          </p:nvSpPr>
          <p:spPr>
            <a:xfrm>
              <a:off x="6901572" y="853195"/>
              <a:ext cx="312906" cy="369332"/>
            </a:xfrm>
            <a:prstGeom prst="rect">
              <a:avLst/>
            </a:prstGeom>
            <a:noFill/>
          </p:spPr>
          <p:txBody>
            <a:bodyPr wrap="none" rtlCol="0">
              <a:spAutoFit/>
            </a:bodyPr>
            <a:lstStyle/>
            <a:p>
              <a:r>
                <a:rPr kumimoji="1" lang="en-US" altLang="zh-TW" b="1" dirty="0">
                  <a:solidFill>
                    <a:srgbClr val="FF0000"/>
                  </a:solidFill>
                </a:rPr>
                <a:t>7</a:t>
              </a:r>
              <a:endParaRPr kumimoji="1" lang="zh-TW" altLang="en-US" b="1" dirty="0">
                <a:solidFill>
                  <a:srgbClr val="FF0000"/>
                </a:solidFill>
              </a:endParaRPr>
            </a:p>
          </p:txBody>
        </p:sp>
        <p:sp>
          <p:nvSpPr>
            <p:cNvPr id="32" name="橢圓 31">
              <a:extLst>
                <a:ext uri="{FF2B5EF4-FFF2-40B4-BE49-F238E27FC236}">
                  <a16:creationId xmlns:a16="http://schemas.microsoft.com/office/drawing/2014/main" id="{5C1A70FE-8B81-CE9F-8264-9ADDCA6B885E}"/>
                </a:ext>
              </a:extLst>
            </p:cNvPr>
            <p:cNvSpPr/>
            <p:nvPr/>
          </p:nvSpPr>
          <p:spPr>
            <a:xfrm>
              <a:off x="6836923" y="824009"/>
              <a:ext cx="442203" cy="427703"/>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ln>
                  <a:solidFill>
                    <a:srgbClr val="FF0000"/>
                  </a:solidFill>
                </a:ln>
                <a:solidFill>
                  <a:srgbClr val="FF0000"/>
                </a:solidFill>
              </a:endParaRPr>
            </a:p>
          </p:txBody>
        </p:sp>
      </p:grpSp>
      <p:sp>
        <p:nvSpPr>
          <p:cNvPr id="34" name="文字方塊 33">
            <a:extLst>
              <a:ext uri="{FF2B5EF4-FFF2-40B4-BE49-F238E27FC236}">
                <a16:creationId xmlns:a16="http://schemas.microsoft.com/office/drawing/2014/main" id="{7BE7ED0B-37B1-37B9-A095-2D600BD08667}"/>
              </a:ext>
            </a:extLst>
          </p:cNvPr>
          <p:cNvSpPr txBox="1"/>
          <p:nvPr/>
        </p:nvSpPr>
        <p:spPr>
          <a:xfrm>
            <a:off x="571501" y="1439205"/>
            <a:ext cx="2897508" cy="4462760"/>
          </a:xfrm>
          <a:prstGeom prst="rect">
            <a:avLst/>
          </a:prstGeom>
          <a:noFill/>
        </p:spPr>
        <p:txBody>
          <a:bodyPr wrap="square" rtlCol="0">
            <a:spAutoFit/>
          </a:bodyPr>
          <a:lstStyle/>
          <a:p>
            <a:r>
              <a:rPr kumimoji="1" lang="zh-TW" altLang="en-US" sz="1400" dirty="0"/>
              <a:t>介面顯示治具各模組連結狀態，並提供模組對應之功能，以供調適</a:t>
            </a:r>
            <a:endParaRPr kumimoji="1" lang="en-US" altLang="zh-TW" sz="1400" dirty="0"/>
          </a:p>
          <a:p>
            <a:endParaRPr kumimoji="1" lang="en-US" altLang="zh-TW" sz="1400" dirty="0"/>
          </a:p>
          <a:p>
            <a:pPr>
              <a:lnSpc>
                <a:spcPct val="200000"/>
              </a:lnSpc>
            </a:pPr>
            <a:r>
              <a:rPr kumimoji="1" lang="en-US" altLang="zh-TW" sz="1600" dirty="0"/>
              <a:t>1. Fixture </a:t>
            </a:r>
            <a:br>
              <a:rPr kumimoji="1" lang="en-US" altLang="zh-TW" sz="1600" dirty="0"/>
            </a:br>
            <a:r>
              <a:rPr kumimoji="1" lang="en-US" altLang="zh-TW" sz="1600" dirty="0"/>
              <a:t>2. DUT </a:t>
            </a:r>
            <a:br>
              <a:rPr kumimoji="1" lang="en-US" altLang="zh-TW" sz="1600" dirty="0"/>
            </a:br>
            <a:r>
              <a:rPr kumimoji="1" lang="en-US" altLang="zh-TW" sz="1600" dirty="0"/>
              <a:t>3. Type-C Board </a:t>
            </a:r>
            <a:br>
              <a:rPr kumimoji="1" lang="en-US" altLang="zh-TW" sz="1600" dirty="0"/>
            </a:br>
            <a:r>
              <a:rPr kumimoji="1" lang="en-US" altLang="zh-TW" sz="1600" dirty="0"/>
              <a:t>4. LED Analysis </a:t>
            </a:r>
            <a:br>
              <a:rPr kumimoji="1" lang="en-US" altLang="zh-TW" sz="1600" dirty="0"/>
            </a:br>
            <a:r>
              <a:rPr kumimoji="1" lang="en-US" altLang="zh-TW" sz="1600" dirty="0"/>
              <a:t>5. DMM-34465A </a:t>
            </a:r>
            <a:br>
              <a:rPr kumimoji="1" lang="en-US" altLang="zh-TW" sz="1600" dirty="0"/>
            </a:br>
            <a:r>
              <a:rPr kumimoji="1" lang="en-US" altLang="zh-TW" sz="1600" dirty="0"/>
              <a:t>6. Dummy Board </a:t>
            </a:r>
            <a:br>
              <a:rPr kumimoji="1" lang="en-US" altLang="zh-TW" sz="1600" dirty="0"/>
            </a:br>
            <a:r>
              <a:rPr kumimoji="1" lang="en-US" altLang="zh-TW" sz="1600" dirty="0"/>
              <a:t>7. Log display </a:t>
            </a:r>
          </a:p>
          <a:p>
            <a:endParaRPr kumimoji="1" lang="zh-TW" altLang="en-US" dirty="0"/>
          </a:p>
        </p:txBody>
      </p:sp>
    </p:spTree>
    <p:extLst>
      <p:ext uri="{BB962C8B-B14F-4D97-AF65-F5344CB8AC3E}">
        <p14:creationId xmlns:p14="http://schemas.microsoft.com/office/powerpoint/2010/main" val="27274927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BE71A0-D57A-8875-BBEF-37E0580C366E}"/>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E7747EE8-1605-2698-8F88-72108EB617C5}"/>
              </a:ext>
            </a:extLst>
          </p:cNvPr>
          <p:cNvSpPr>
            <a:spLocks noGrp="1"/>
          </p:cNvSpPr>
          <p:nvPr>
            <p:ph type="body" sz="quarter" idx="13"/>
          </p:nvPr>
        </p:nvSpPr>
        <p:spPr/>
        <p:txBody>
          <a:bodyPr/>
          <a:lstStyle/>
          <a:p>
            <a:r>
              <a:rPr lang="en-US" dirty="0"/>
              <a:t>Terminology  </a:t>
            </a:r>
          </a:p>
          <a:p>
            <a:endParaRPr lang="en-US" dirty="0"/>
          </a:p>
        </p:txBody>
      </p:sp>
      <p:sp>
        <p:nvSpPr>
          <p:cNvPr id="6" name="文字方塊 5">
            <a:extLst>
              <a:ext uri="{FF2B5EF4-FFF2-40B4-BE49-F238E27FC236}">
                <a16:creationId xmlns:a16="http://schemas.microsoft.com/office/drawing/2014/main" id="{B83EC6E9-5652-DCD6-1982-6513BA6338D3}"/>
              </a:ext>
            </a:extLst>
          </p:cNvPr>
          <p:cNvSpPr txBox="1"/>
          <p:nvPr/>
        </p:nvSpPr>
        <p:spPr>
          <a:xfrm>
            <a:off x="571501" y="905346"/>
            <a:ext cx="3457574" cy="375552"/>
          </a:xfrm>
          <a:prstGeom prst="rect">
            <a:avLst/>
          </a:prstGeom>
          <a:noFill/>
        </p:spPr>
        <p:txBody>
          <a:bodyPr wrap="square">
            <a:spAutoFit/>
          </a:bodyPr>
          <a:lstStyle/>
          <a:p>
            <a:pPr>
              <a:lnSpc>
                <a:spcPct val="150000"/>
              </a:lnSpc>
              <a:defRPr/>
            </a:pPr>
            <a:r>
              <a:rPr lang="en-US" altLang="zh-TW" sz="1400" b="1" dirty="0"/>
              <a:t>Case QT </a:t>
            </a:r>
            <a:r>
              <a:rPr lang="en-US" altLang="zh-TW" sz="1400" dirty="0"/>
              <a:t>- Debug Tool - Fixture </a:t>
            </a:r>
          </a:p>
        </p:txBody>
      </p:sp>
      <p:pic>
        <p:nvPicPr>
          <p:cNvPr id="7" name="圖片 6">
            <a:extLst>
              <a:ext uri="{FF2B5EF4-FFF2-40B4-BE49-F238E27FC236}">
                <a16:creationId xmlns:a16="http://schemas.microsoft.com/office/drawing/2014/main" id="{F976F148-B446-36B6-5459-6FD099713381}"/>
              </a:ext>
            </a:extLst>
          </p:cNvPr>
          <p:cNvPicPr>
            <a:picLocks noChangeAspect="1"/>
          </p:cNvPicPr>
          <p:nvPr/>
        </p:nvPicPr>
        <p:blipFill>
          <a:blip r:embed="rId3"/>
          <a:srcRect l="2196" t="6888" r="71208" b="54229"/>
          <a:stretch>
            <a:fillRect/>
          </a:stretch>
        </p:blipFill>
        <p:spPr>
          <a:xfrm>
            <a:off x="1644687" y="1409592"/>
            <a:ext cx="3798851" cy="3781425"/>
          </a:xfrm>
          <a:prstGeom prst="rect">
            <a:avLst/>
          </a:prstGeom>
        </p:spPr>
      </p:pic>
      <p:graphicFrame>
        <p:nvGraphicFramePr>
          <p:cNvPr id="2" name="表格 1">
            <a:extLst>
              <a:ext uri="{FF2B5EF4-FFF2-40B4-BE49-F238E27FC236}">
                <a16:creationId xmlns:a16="http://schemas.microsoft.com/office/drawing/2014/main" id="{6D45B976-74A0-03F9-B24E-05F7DE765254}"/>
              </a:ext>
            </a:extLst>
          </p:cNvPr>
          <p:cNvGraphicFramePr>
            <a:graphicFrameLocks noGrp="1"/>
          </p:cNvGraphicFramePr>
          <p:nvPr>
            <p:extLst>
              <p:ext uri="{D42A27DB-BD31-4B8C-83A1-F6EECF244321}">
                <p14:modId xmlns:p14="http://schemas.microsoft.com/office/powerpoint/2010/main" val="1349057233"/>
              </p:ext>
            </p:extLst>
          </p:nvPr>
        </p:nvGraphicFramePr>
        <p:xfrm>
          <a:off x="6858002" y="571501"/>
          <a:ext cx="4179570" cy="5597696"/>
        </p:xfrm>
        <a:graphic>
          <a:graphicData uri="http://schemas.openxmlformats.org/drawingml/2006/table">
            <a:tbl>
              <a:tblPr>
                <a:tableStyleId>{5C22544A-7EE6-4342-B048-85BDC9FD1C3A}</a:tableStyleId>
              </a:tblPr>
              <a:tblGrid>
                <a:gridCol w="2372612">
                  <a:extLst>
                    <a:ext uri="{9D8B030D-6E8A-4147-A177-3AD203B41FA5}">
                      <a16:colId xmlns:a16="http://schemas.microsoft.com/office/drawing/2014/main" val="2399207661"/>
                    </a:ext>
                  </a:extLst>
                </a:gridCol>
                <a:gridCol w="1806958">
                  <a:extLst>
                    <a:ext uri="{9D8B030D-6E8A-4147-A177-3AD203B41FA5}">
                      <a16:colId xmlns:a16="http://schemas.microsoft.com/office/drawing/2014/main" val="3763266389"/>
                    </a:ext>
                  </a:extLst>
                </a:gridCol>
              </a:tblGrid>
              <a:tr h="323107">
                <a:tc>
                  <a:txBody>
                    <a:bodyPr/>
                    <a:lstStyle/>
                    <a:p>
                      <a:pPr algn="l" fontAlgn="ctr">
                        <a:buNone/>
                      </a:pPr>
                      <a:r>
                        <a:rPr lang="en-US" sz="1400" b="1" u="none" strike="noStrike" dirty="0">
                          <a:solidFill>
                            <a:schemeClr val="bg1"/>
                          </a:solidFill>
                          <a:effectLst/>
                        </a:rPr>
                        <a:t>Functions</a:t>
                      </a:r>
                      <a:endParaRPr lang="en-US" sz="1400" b="1" i="0" u="none" strike="noStrike" dirty="0">
                        <a:solidFill>
                          <a:schemeClr val="bg1"/>
                        </a:solidFill>
                        <a:effectLst/>
                        <a:latin typeface="新細明體" panose="02020500000000000000" pitchFamily="18" charset="-120"/>
                        <a:ea typeface="新細明體" panose="02020500000000000000" pitchFamily="18" charset="-120"/>
                      </a:endParaRPr>
                    </a:p>
                  </a:txBody>
                  <a:tcPr marL="6881" marR="6881" marT="6881"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accent6">
                        <a:lumMod val="75000"/>
                      </a:schemeClr>
                    </a:solidFill>
                  </a:tcPr>
                </a:tc>
                <a:tc>
                  <a:txBody>
                    <a:bodyPr/>
                    <a:lstStyle/>
                    <a:p>
                      <a:pPr algn="l" fontAlgn="ctr">
                        <a:buNone/>
                      </a:pPr>
                      <a:r>
                        <a:rPr lang="en-US" sz="1400" b="1" u="none" strike="noStrike" dirty="0">
                          <a:solidFill>
                            <a:schemeClr val="bg1"/>
                          </a:solidFill>
                          <a:effectLst/>
                        </a:rPr>
                        <a:t>Command</a:t>
                      </a:r>
                      <a:endParaRPr lang="en-US" sz="1400" b="1" i="0" u="none" strike="noStrike" dirty="0">
                        <a:solidFill>
                          <a:schemeClr val="bg1"/>
                        </a:solidFill>
                        <a:effectLst/>
                        <a:latin typeface="新細明體" panose="02020500000000000000" pitchFamily="18" charset="-120"/>
                        <a:ea typeface="新細明體" panose="02020500000000000000" pitchFamily="18" charset="-120"/>
                      </a:endParaRPr>
                    </a:p>
                  </a:txBody>
                  <a:tcPr marL="6881" marR="6881" marT="6881"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6">
                        <a:lumMod val="75000"/>
                      </a:schemeClr>
                    </a:solidFill>
                  </a:tcPr>
                </a:tc>
                <a:extLst>
                  <a:ext uri="{0D108BD9-81ED-4DB2-BD59-A6C34878D82A}">
                    <a16:rowId xmlns:a16="http://schemas.microsoft.com/office/drawing/2014/main" val="354823464"/>
                  </a:ext>
                </a:extLst>
              </a:tr>
              <a:tr h="276656">
                <a:tc>
                  <a:txBody>
                    <a:bodyPr/>
                    <a:lstStyle/>
                    <a:p>
                      <a:pPr algn="l" fontAlgn="ctr">
                        <a:buNone/>
                      </a:pPr>
                      <a:r>
                        <a:rPr lang="zh-TW" altLang="en-US" sz="1400" u="none" strike="noStrike" dirty="0">
                          <a:effectLst/>
                        </a:rPr>
                        <a:t>進入工作位（先關蓋）</a:t>
                      </a:r>
                      <a:endParaRPr lang="en-US" altLang="zh-TW" sz="1400" b="0" i="0" u="none" strike="noStrike" dirty="0">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lnL w="12700" cap="flat" cmpd="sng" algn="ctr">
                      <a:solidFill>
                        <a:schemeClr val="tx1"/>
                      </a:solidFill>
                      <a:prstDash val="solid"/>
                      <a:round/>
                      <a:headEnd type="none" w="med" len="med"/>
                      <a:tailEnd type="none" w="med" len="med"/>
                    </a:lnL>
                  </a:tcPr>
                </a:tc>
                <a:tc>
                  <a:txBody>
                    <a:bodyPr/>
                    <a:lstStyle/>
                    <a:p>
                      <a:pPr algn="l" fontAlgn="ctr">
                        <a:buNone/>
                      </a:pPr>
                      <a:r>
                        <a:rPr lang="en-US" sz="1400" u="none" strike="noStrike" dirty="0">
                          <a:effectLst/>
                        </a:rPr>
                        <a:t>cylinder1 front</a:t>
                      </a:r>
                      <a:endParaRPr lang="en-US" sz="1400" b="0" i="0" u="none" strike="noStrike" dirty="0">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4114539500"/>
                  </a:ext>
                </a:extLst>
              </a:tr>
              <a:tr h="257303">
                <a:tc>
                  <a:txBody>
                    <a:bodyPr/>
                    <a:lstStyle/>
                    <a:p>
                      <a:pPr algn="l" fontAlgn="ctr">
                        <a:buNone/>
                      </a:pPr>
                      <a:r>
                        <a:rPr lang="zh-TW" altLang="en-US" sz="1400" u="none" strike="noStrike" dirty="0">
                          <a:effectLst/>
                        </a:rPr>
                        <a:t>退出工作位（後關下真空）</a:t>
                      </a:r>
                      <a:endParaRPr lang="en-US" altLang="zh-TW" sz="1400" b="0" i="0" u="none" strike="noStrike" dirty="0">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lnL w="12700" cap="flat" cmpd="sng" algn="ctr">
                      <a:solidFill>
                        <a:schemeClr val="tx1"/>
                      </a:solidFill>
                      <a:prstDash val="solid"/>
                      <a:round/>
                      <a:headEnd type="none" w="med" len="med"/>
                      <a:tailEnd type="none" w="med" len="med"/>
                    </a:lnL>
                  </a:tcPr>
                </a:tc>
                <a:tc>
                  <a:txBody>
                    <a:bodyPr/>
                    <a:lstStyle/>
                    <a:p>
                      <a:pPr algn="l" fontAlgn="ctr">
                        <a:buNone/>
                      </a:pPr>
                      <a:r>
                        <a:rPr lang="en-US" sz="1400" u="none" strike="noStrike" dirty="0">
                          <a:effectLst/>
                        </a:rPr>
                        <a:t>cylinder1 back</a:t>
                      </a:r>
                      <a:endParaRPr lang="en-US" sz="1400" b="0" i="0" u="none" strike="noStrike" dirty="0">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855035783"/>
                  </a:ext>
                </a:extLst>
              </a:tr>
              <a:tr h="257303">
                <a:tc>
                  <a:txBody>
                    <a:bodyPr/>
                    <a:lstStyle/>
                    <a:p>
                      <a:pPr algn="l" fontAlgn="ctr">
                        <a:buNone/>
                      </a:pPr>
                      <a:r>
                        <a:rPr lang="en-US" sz="1400" u="none" strike="noStrike" dirty="0">
                          <a:effectLst/>
                        </a:rPr>
                        <a:t>Type-C</a:t>
                      </a:r>
                      <a:r>
                        <a:rPr lang="zh-TW" altLang="en-US" sz="1400" u="none" strike="noStrike" dirty="0">
                          <a:effectLst/>
                        </a:rPr>
                        <a:t>動作</a:t>
                      </a:r>
                      <a:endParaRPr lang="zh-TW" altLang="en-US" sz="1400" b="0" i="0" u="none" strike="noStrike" dirty="0">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lnL w="12700" cap="flat" cmpd="sng" algn="ctr">
                      <a:solidFill>
                        <a:schemeClr val="tx1"/>
                      </a:solidFill>
                      <a:prstDash val="solid"/>
                      <a:round/>
                      <a:headEnd type="none" w="med" len="med"/>
                      <a:tailEnd type="none" w="med" len="med"/>
                    </a:lnL>
                  </a:tcPr>
                </a:tc>
                <a:tc>
                  <a:txBody>
                    <a:bodyPr/>
                    <a:lstStyle/>
                    <a:p>
                      <a:pPr algn="l" fontAlgn="ctr">
                        <a:buNone/>
                      </a:pPr>
                      <a:r>
                        <a:rPr lang="en-US" sz="1400" u="none" strike="noStrike">
                          <a:effectLst/>
                        </a:rPr>
                        <a:t>cylinder2 front</a:t>
                      </a:r>
                      <a:endParaRPr lang="en-US" sz="1400" b="0" i="0" u="none" strike="noStrike">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061607005"/>
                  </a:ext>
                </a:extLst>
              </a:tr>
              <a:tr h="257303">
                <a:tc>
                  <a:txBody>
                    <a:bodyPr/>
                    <a:lstStyle/>
                    <a:p>
                      <a:pPr algn="l" fontAlgn="ctr">
                        <a:buNone/>
                      </a:pPr>
                      <a:r>
                        <a:rPr lang="en-US" sz="1400" u="none" strike="noStrike" dirty="0">
                          <a:effectLst/>
                        </a:rPr>
                        <a:t>Type-C</a:t>
                      </a:r>
                      <a:r>
                        <a:rPr lang="zh-TW" altLang="en-US" sz="1400" u="none" strike="noStrike" dirty="0">
                          <a:effectLst/>
                        </a:rPr>
                        <a:t>復位</a:t>
                      </a:r>
                      <a:endParaRPr lang="zh-TW" altLang="en-US" sz="1400" b="0" i="0" u="none" strike="noStrike" dirty="0">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lnL w="12700" cap="flat" cmpd="sng" algn="ctr">
                      <a:solidFill>
                        <a:schemeClr val="tx1"/>
                      </a:solidFill>
                      <a:prstDash val="solid"/>
                      <a:round/>
                      <a:headEnd type="none" w="med" len="med"/>
                      <a:tailEnd type="none" w="med" len="med"/>
                    </a:lnL>
                  </a:tcPr>
                </a:tc>
                <a:tc>
                  <a:txBody>
                    <a:bodyPr/>
                    <a:lstStyle/>
                    <a:p>
                      <a:pPr algn="l" fontAlgn="ctr">
                        <a:buNone/>
                      </a:pPr>
                      <a:r>
                        <a:rPr lang="en-US" sz="1400" u="none" strike="noStrike">
                          <a:effectLst/>
                        </a:rPr>
                        <a:t>cylinder2 back</a:t>
                      </a:r>
                      <a:endParaRPr lang="en-US" sz="1400" b="0" i="0" u="none" strike="noStrike">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624649554"/>
                  </a:ext>
                </a:extLst>
              </a:tr>
              <a:tr h="257303">
                <a:tc>
                  <a:txBody>
                    <a:bodyPr/>
                    <a:lstStyle/>
                    <a:p>
                      <a:pPr algn="l" fontAlgn="ctr">
                        <a:buNone/>
                      </a:pPr>
                      <a:r>
                        <a:rPr lang="zh-TW" altLang="en-US" sz="1400" u="none" strike="noStrike" dirty="0">
                          <a:effectLst/>
                        </a:rPr>
                        <a:t>關蓋動作</a:t>
                      </a:r>
                      <a:endParaRPr lang="zh-TW" altLang="en-US" sz="1400" b="0" i="0" u="none" strike="noStrike" dirty="0">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lnL w="12700" cap="flat" cmpd="sng" algn="ctr">
                      <a:solidFill>
                        <a:schemeClr val="tx1"/>
                      </a:solidFill>
                      <a:prstDash val="solid"/>
                      <a:round/>
                      <a:headEnd type="none" w="med" len="med"/>
                      <a:tailEnd type="none" w="med" len="med"/>
                    </a:lnL>
                  </a:tcPr>
                </a:tc>
                <a:tc>
                  <a:txBody>
                    <a:bodyPr/>
                    <a:lstStyle/>
                    <a:p>
                      <a:pPr algn="l" fontAlgn="ctr">
                        <a:buNone/>
                      </a:pPr>
                      <a:r>
                        <a:rPr lang="en-US" sz="1400" u="none" strike="noStrike" dirty="0">
                          <a:effectLst/>
                        </a:rPr>
                        <a:t>cylinder3 front</a:t>
                      </a:r>
                      <a:endParaRPr lang="en-US" sz="1400" b="0" i="0" u="none" strike="noStrike" dirty="0">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854751357"/>
                  </a:ext>
                </a:extLst>
              </a:tr>
              <a:tr h="257303">
                <a:tc>
                  <a:txBody>
                    <a:bodyPr/>
                    <a:lstStyle/>
                    <a:p>
                      <a:pPr algn="l" fontAlgn="ctr">
                        <a:buNone/>
                      </a:pPr>
                      <a:r>
                        <a:rPr lang="zh-TW" altLang="en-US" sz="1400" u="none" strike="noStrike" dirty="0">
                          <a:effectLst/>
                        </a:rPr>
                        <a:t>關蓋復位</a:t>
                      </a:r>
                      <a:endParaRPr lang="zh-TW" altLang="en-US" sz="1400" b="0" i="0" u="none" strike="noStrike" dirty="0">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lnL w="12700" cap="flat" cmpd="sng" algn="ctr">
                      <a:solidFill>
                        <a:schemeClr val="tx1"/>
                      </a:solidFill>
                      <a:prstDash val="solid"/>
                      <a:round/>
                      <a:headEnd type="none" w="med" len="med"/>
                      <a:tailEnd type="none" w="med" len="med"/>
                    </a:lnL>
                  </a:tcPr>
                </a:tc>
                <a:tc>
                  <a:txBody>
                    <a:bodyPr/>
                    <a:lstStyle/>
                    <a:p>
                      <a:pPr algn="l" fontAlgn="ctr">
                        <a:buNone/>
                      </a:pPr>
                      <a:r>
                        <a:rPr lang="en-US" sz="1400" u="none" strike="noStrike" dirty="0">
                          <a:effectLst/>
                        </a:rPr>
                        <a:t>cylinder3 back</a:t>
                      </a:r>
                      <a:endParaRPr lang="en-US" sz="1400" b="0" i="0" u="none" strike="noStrike" dirty="0">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57910987"/>
                  </a:ext>
                </a:extLst>
              </a:tr>
              <a:tr h="257303">
                <a:tc>
                  <a:txBody>
                    <a:bodyPr/>
                    <a:lstStyle/>
                    <a:p>
                      <a:pPr algn="l" fontAlgn="ctr">
                        <a:buNone/>
                      </a:pPr>
                      <a:r>
                        <a:rPr lang="zh-TW" altLang="en-US" sz="1400" u="none" strike="noStrike" dirty="0">
                          <a:effectLst/>
                        </a:rPr>
                        <a:t>開關蓋狀態查詢</a:t>
                      </a:r>
                      <a:endParaRPr lang="zh-TW" altLang="en-US" sz="1400" b="0" i="0" u="none" strike="noStrike" dirty="0">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lnL w="12700" cap="flat" cmpd="sng" algn="ctr">
                      <a:solidFill>
                        <a:schemeClr val="tx1"/>
                      </a:solidFill>
                      <a:prstDash val="solid"/>
                      <a:round/>
                      <a:headEnd type="none" w="med" len="med"/>
                      <a:tailEnd type="none" w="med" len="med"/>
                    </a:lnL>
                  </a:tcPr>
                </a:tc>
                <a:tc>
                  <a:txBody>
                    <a:bodyPr/>
                    <a:lstStyle/>
                    <a:p>
                      <a:pPr algn="l" fontAlgn="ctr">
                        <a:buNone/>
                      </a:pPr>
                      <a:r>
                        <a:rPr lang="en-US" sz="1400" u="none" strike="noStrike">
                          <a:effectLst/>
                        </a:rPr>
                        <a:t>Check DUT</a:t>
                      </a:r>
                      <a:endParaRPr lang="en-US" sz="1400" b="0" i="0" u="none" strike="noStrike">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9149332"/>
                  </a:ext>
                </a:extLst>
              </a:tr>
              <a:tr h="257303">
                <a:tc>
                  <a:txBody>
                    <a:bodyPr/>
                    <a:lstStyle/>
                    <a:p>
                      <a:pPr algn="l" fontAlgn="ctr">
                        <a:buNone/>
                      </a:pPr>
                      <a:r>
                        <a:rPr lang="zh-TW" altLang="en-US" sz="1400" u="none" strike="noStrike" dirty="0">
                          <a:effectLst/>
                        </a:rPr>
                        <a:t>假耳下壓動作</a:t>
                      </a:r>
                      <a:endParaRPr lang="zh-TW" altLang="en-US" sz="1400" b="0" i="0" u="none" strike="noStrike" dirty="0">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lnL w="12700" cap="flat" cmpd="sng" algn="ctr">
                      <a:solidFill>
                        <a:schemeClr val="tx1"/>
                      </a:solidFill>
                      <a:prstDash val="solid"/>
                      <a:round/>
                      <a:headEnd type="none" w="med" len="med"/>
                      <a:tailEnd type="none" w="med" len="med"/>
                    </a:lnL>
                  </a:tcPr>
                </a:tc>
                <a:tc>
                  <a:txBody>
                    <a:bodyPr/>
                    <a:lstStyle/>
                    <a:p>
                      <a:pPr algn="l" fontAlgn="ctr">
                        <a:buNone/>
                      </a:pPr>
                      <a:r>
                        <a:rPr lang="en-US" sz="1400" u="none" strike="noStrike">
                          <a:effectLst/>
                        </a:rPr>
                        <a:t>cylinder4 front</a:t>
                      </a:r>
                      <a:endParaRPr lang="en-US" sz="1400" b="0" i="0" u="none" strike="noStrike">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985105696"/>
                  </a:ext>
                </a:extLst>
              </a:tr>
              <a:tr h="257303">
                <a:tc>
                  <a:txBody>
                    <a:bodyPr/>
                    <a:lstStyle/>
                    <a:p>
                      <a:pPr algn="l" fontAlgn="ctr">
                        <a:buNone/>
                      </a:pPr>
                      <a:r>
                        <a:rPr lang="zh-TW" altLang="en-US" sz="1400" u="none" strike="noStrike" dirty="0">
                          <a:effectLst/>
                        </a:rPr>
                        <a:t>假耳上抬動作</a:t>
                      </a:r>
                      <a:endParaRPr lang="zh-TW" altLang="en-US" sz="1400" b="0" i="0" u="none" strike="noStrike" dirty="0">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lnL w="12700" cap="flat" cmpd="sng" algn="ctr">
                      <a:solidFill>
                        <a:schemeClr val="tx1"/>
                      </a:solidFill>
                      <a:prstDash val="solid"/>
                      <a:round/>
                      <a:headEnd type="none" w="med" len="med"/>
                      <a:tailEnd type="none" w="med" len="med"/>
                    </a:lnL>
                  </a:tcPr>
                </a:tc>
                <a:tc>
                  <a:txBody>
                    <a:bodyPr/>
                    <a:lstStyle/>
                    <a:p>
                      <a:pPr algn="l" fontAlgn="ctr">
                        <a:buNone/>
                      </a:pPr>
                      <a:r>
                        <a:rPr lang="en-US" sz="1400" u="none" strike="noStrike">
                          <a:effectLst/>
                        </a:rPr>
                        <a:t>cylinder4 back</a:t>
                      </a:r>
                      <a:endParaRPr lang="en-US" sz="1400" b="0" i="0" u="none" strike="noStrike">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918947340"/>
                  </a:ext>
                </a:extLst>
              </a:tr>
              <a:tr h="257303">
                <a:tc>
                  <a:txBody>
                    <a:bodyPr/>
                    <a:lstStyle/>
                    <a:p>
                      <a:pPr algn="l" fontAlgn="ctr">
                        <a:buNone/>
                      </a:pPr>
                      <a:r>
                        <a:rPr lang="zh-TW" altLang="en-US" sz="1400" u="none" strike="noStrike" dirty="0">
                          <a:effectLst/>
                        </a:rPr>
                        <a:t>按鍵動作</a:t>
                      </a:r>
                      <a:endParaRPr lang="zh-TW" altLang="en-US" sz="1400" b="0" i="0" u="none" strike="noStrike" dirty="0">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lnL w="12700" cap="flat" cmpd="sng" algn="ctr">
                      <a:solidFill>
                        <a:schemeClr val="tx1"/>
                      </a:solidFill>
                      <a:prstDash val="solid"/>
                      <a:round/>
                      <a:headEnd type="none" w="med" len="med"/>
                      <a:tailEnd type="none" w="med" len="med"/>
                    </a:lnL>
                  </a:tcPr>
                </a:tc>
                <a:tc>
                  <a:txBody>
                    <a:bodyPr/>
                    <a:lstStyle/>
                    <a:p>
                      <a:pPr algn="l" fontAlgn="ctr">
                        <a:buNone/>
                      </a:pPr>
                      <a:r>
                        <a:rPr lang="en-US" sz="1400" u="none" strike="noStrike">
                          <a:effectLst/>
                        </a:rPr>
                        <a:t>cylinder5 front</a:t>
                      </a:r>
                      <a:endParaRPr lang="en-US" sz="1400" b="0" i="0" u="none" strike="noStrike">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622498940"/>
                  </a:ext>
                </a:extLst>
              </a:tr>
              <a:tr h="257303">
                <a:tc>
                  <a:txBody>
                    <a:bodyPr/>
                    <a:lstStyle/>
                    <a:p>
                      <a:pPr algn="l" fontAlgn="ctr">
                        <a:buNone/>
                      </a:pPr>
                      <a:r>
                        <a:rPr lang="zh-TW" altLang="en-US" sz="1400" u="none" strike="noStrike" dirty="0">
                          <a:effectLst/>
                        </a:rPr>
                        <a:t>按鍵復位</a:t>
                      </a:r>
                      <a:endParaRPr lang="zh-TW" altLang="en-US" sz="1400" b="0" i="0" u="none" strike="noStrike" dirty="0">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lnL w="12700" cap="flat" cmpd="sng" algn="ctr">
                      <a:solidFill>
                        <a:schemeClr val="tx1"/>
                      </a:solidFill>
                      <a:prstDash val="solid"/>
                      <a:round/>
                      <a:headEnd type="none" w="med" len="med"/>
                      <a:tailEnd type="none" w="med" len="med"/>
                    </a:lnL>
                  </a:tcPr>
                </a:tc>
                <a:tc>
                  <a:txBody>
                    <a:bodyPr/>
                    <a:lstStyle/>
                    <a:p>
                      <a:pPr algn="l" fontAlgn="ctr">
                        <a:buNone/>
                      </a:pPr>
                      <a:r>
                        <a:rPr lang="en-US" sz="1400" u="none" strike="noStrike">
                          <a:effectLst/>
                        </a:rPr>
                        <a:t>cylinder5 back</a:t>
                      </a:r>
                      <a:endParaRPr lang="en-US" sz="1400" b="0" i="0" u="none" strike="noStrike">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210750380"/>
                  </a:ext>
                </a:extLst>
              </a:tr>
              <a:tr h="257303">
                <a:tc>
                  <a:txBody>
                    <a:bodyPr/>
                    <a:lstStyle/>
                    <a:p>
                      <a:pPr algn="l" fontAlgn="ctr">
                        <a:buNone/>
                      </a:pPr>
                      <a:r>
                        <a:rPr lang="zh-TW" altLang="en-US" sz="1400" u="none" strike="noStrike" dirty="0">
                          <a:effectLst/>
                        </a:rPr>
                        <a:t>底部真空吸</a:t>
                      </a:r>
                      <a:r>
                        <a:rPr lang="en-US" altLang="zh-TW" sz="1400" u="none" strike="noStrike" dirty="0">
                          <a:effectLst/>
                        </a:rPr>
                        <a:t>-</a:t>
                      </a:r>
                      <a:r>
                        <a:rPr lang="zh-TW" altLang="en-US" sz="1400" u="none" strike="noStrike" dirty="0">
                          <a:effectLst/>
                        </a:rPr>
                        <a:t>開</a:t>
                      </a:r>
                      <a:endParaRPr lang="zh-TW" altLang="en-US" sz="1400" b="0" i="0" u="none" strike="noStrike" dirty="0">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lnL w="12700" cap="flat" cmpd="sng" algn="ctr">
                      <a:solidFill>
                        <a:schemeClr val="tx1"/>
                      </a:solidFill>
                      <a:prstDash val="solid"/>
                      <a:round/>
                      <a:headEnd type="none" w="med" len="med"/>
                      <a:tailEnd type="none" w="med" len="med"/>
                    </a:lnL>
                  </a:tcPr>
                </a:tc>
                <a:tc>
                  <a:txBody>
                    <a:bodyPr/>
                    <a:lstStyle/>
                    <a:p>
                      <a:pPr algn="l" fontAlgn="ctr">
                        <a:buNone/>
                      </a:pPr>
                      <a:r>
                        <a:rPr lang="en-US" sz="1400" u="none" strike="noStrike" dirty="0">
                          <a:effectLst/>
                        </a:rPr>
                        <a:t>cylinder6 front</a:t>
                      </a:r>
                      <a:endParaRPr lang="en-US" sz="1400" b="0" i="0" u="none" strike="noStrike" dirty="0">
                        <a:solidFill>
                          <a:srgbClr val="FF0000"/>
                        </a:solidFill>
                        <a:effectLst/>
                        <a:latin typeface="新細明體" panose="02020500000000000000" pitchFamily="18" charset="-120"/>
                        <a:ea typeface="新細明體" panose="02020500000000000000" pitchFamily="18" charset="-120"/>
                      </a:endParaRPr>
                    </a:p>
                  </a:txBody>
                  <a:tcPr marL="6881" marR="6881" marT="6881"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670827416"/>
                  </a:ext>
                </a:extLst>
              </a:tr>
              <a:tr h="257303">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zh-TW" altLang="en-US" sz="1400" u="none" strike="noStrike" dirty="0">
                          <a:effectLst/>
                        </a:rPr>
                        <a:t>底部真空吸</a:t>
                      </a:r>
                      <a:r>
                        <a:rPr lang="en-US" altLang="zh-TW" sz="1400" u="none" strike="noStrike" dirty="0">
                          <a:effectLst/>
                        </a:rPr>
                        <a:t>-</a:t>
                      </a:r>
                      <a:r>
                        <a:rPr lang="zh-TW" altLang="en-US" sz="1400" u="none" strike="noStrike" dirty="0">
                          <a:effectLst/>
                        </a:rPr>
                        <a:t>關</a:t>
                      </a:r>
                      <a:endParaRPr lang="zh-TW" altLang="en-US" sz="1400" b="0" i="0" u="none" strike="noStrike" dirty="0">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lnL w="12700" cap="flat" cmpd="sng" algn="ctr">
                      <a:solidFill>
                        <a:schemeClr val="tx1"/>
                      </a:solidFill>
                      <a:prstDash val="solid"/>
                      <a:round/>
                      <a:headEnd type="none" w="med" len="med"/>
                      <a:tailEnd type="none" w="med" len="med"/>
                    </a:ln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zh-TW" sz="1400" u="none" strike="noStrike" dirty="0">
                          <a:effectLst/>
                        </a:rPr>
                        <a:t>cylinder6 back</a:t>
                      </a:r>
                      <a:endParaRPr lang="en-US" altLang="zh-TW" sz="1400" b="0" i="0" u="none" strike="noStrike" dirty="0">
                        <a:solidFill>
                          <a:srgbClr val="FF0000"/>
                        </a:solidFill>
                        <a:effectLst/>
                        <a:latin typeface="新細明體" panose="02020500000000000000" pitchFamily="18" charset="-120"/>
                        <a:ea typeface="新細明體" panose="02020500000000000000" pitchFamily="18" charset="-120"/>
                      </a:endParaRPr>
                    </a:p>
                  </a:txBody>
                  <a:tcPr marL="6881" marR="6881" marT="6881"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998515561"/>
                  </a:ext>
                </a:extLst>
              </a:tr>
              <a:tr h="289775">
                <a:tc>
                  <a:txBody>
                    <a:bodyPr/>
                    <a:lstStyle/>
                    <a:p>
                      <a:pPr algn="l" fontAlgn="ctr">
                        <a:buNone/>
                      </a:pPr>
                      <a:r>
                        <a:rPr lang="zh-TW" altLang="en-US" sz="1400" u="none" strike="noStrike" kern="1200" dirty="0">
                          <a:solidFill>
                            <a:schemeClr val="dk1"/>
                          </a:solidFill>
                          <a:effectLst/>
                          <a:latin typeface="+mn-lt"/>
                          <a:ea typeface="+mn-ea"/>
                          <a:cs typeface="+mn-cs"/>
                        </a:rPr>
                        <a:t>開蓋真空吸</a:t>
                      </a:r>
                      <a:r>
                        <a:rPr lang="en-US" altLang="zh-TW" sz="1400" u="none" strike="noStrike" kern="1200" dirty="0">
                          <a:solidFill>
                            <a:schemeClr val="dk1"/>
                          </a:solidFill>
                          <a:effectLst/>
                          <a:latin typeface="+mn-lt"/>
                          <a:ea typeface="+mn-ea"/>
                          <a:cs typeface="+mn-cs"/>
                        </a:rPr>
                        <a:t>-</a:t>
                      </a:r>
                      <a:r>
                        <a:rPr lang="zh-TW" altLang="en-US" sz="1400" u="none" strike="noStrike" kern="1200" dirty="0">
                          <a:solidFill>
                            <a:schemeClr val="dk1"/>
                          </a:solidFill>
                          <a:effectLst/>
                          <a:latin typeface="+mn-lt"/>
                          <a:ea typeface="+mn-ea"/>
                          <a:cs typeface="+mn-cs"/>
                        </a:rPr>
                        <a:t>開</a:t>
                      </a:r>
                    </a:p>
                  </a:txBody>
                  <a:tcPr marL="6881" marR="6881" marT="6881" marB="0" anchor="ctr">
                    <a:lnL w="12700" cap="flat" cmpd="sng" algn="ctr">
                      <a:solidFill>
                        <a:schemeClr val="tx1"/>
                      </a:solidFill>
                      <a:prstDash val="solid"/>
                      <a:round/>
                      <a:headEnd type="none" w="med" len="med"/>
                      <a:tailEnd type="none" w="med" len="med"/>
                    </a:lnL>
                  </a:tcPr>
                </a:tc>
                <a:tc>
                  <a:txBody>
                    <a:bodyPr/>
                    <a:lstStyle/>
                    <a:p>
                      <a:pPr algn="l" fontAlgn="ctr">
                        <a:buNone/>
                      </a:pPr>
                      <a:r>
                        <a:rPr lang="en-US" sz="1400" u="none" strike="noStrike" kern="1200" dirty="0">
                          <a:solidFill>
                            <a:schemeClr val="dk1"/>
                          </a:solidFill>
                          <a:effectLst/>
                          <a:latin typeface="+mn-lt"/>
                          <a:ea typeface="+mn-ea"/>
                          <a:cs typeface="+mn-cs"/>
                        </a:rPr>
                        <a:t>cylinder9 front</a:t>
                      </a:r>
                    </a:p>
                  </a:txBody>
                  <a:tcPr marL="6881" marR="6881" marT="6881"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736662789"/>
                  </a:ext>
                </a:extLst>
              </a:tr>
              <a:tr h="257303">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zh-TW" altLang="en-US" sz="1400" u="none" strike="noStrike" kern="1200" dirty="0">
                          <a:solidFill>
                            <a:schemeClr val="dk1"/>
                          </a:solidFill>
                          <a:effectLst/>
                          <a:latin typeface="+mn-lt"/>
                          <a:ea typeface="+mn-ea"/>
                          <a:cs typeface="+mn-cs"/>
                        </a:rPr>
                        <a:t>開蓋真空吸</a:t>
                      </a:r>
                      <a:r>
                        <a:rPr lang="en-US" altLang="zh-TW" sz="1400" u="none" strike="noStrike" kern="1200" dirty="0">
                          <a:solidFill>
                            <a:schemeClr val="dk1"/>
                          </a:solidFill>
                          <a:effectLst/>
                          <a:latin typeface="+mn-lt"/>
                          <a:ea typeface="+mn-ea"/>
                          <a:cs typeface="+mn-cs"/>
                        </a:rPr>
                        <a:t>-</a:t>
                      </a:r>
                      <a:r>
                        <a:rPr lang="zh-TW" altLang="en-US" sz="1400" u="none" strike="noStrike" kern="1200" dirty="0">
                          <a:solidFill>
                            <a:schemeClr val="dk1"/>
                          </a:solidFill>
                          <a:effectLst/>
                          <a:latin typeface="+mn-lt"/>
                          <a:ea typeface="+mn-ea"/>
                          <a:cs typeface="+mn-cs"/>
                        </a:rPr>
                        <a:t>關</a:t>
                      </a:r>
                    </a:p>
                  </a:txBody>
                  <a:tcPr marL="6881" marR="6881" marT="6881" marB="0" anchor="ctr">
                    <a:lnL w="12700" cap="flat" cmpd="sng" algn="ctr">
                      <a:solidFill>
                        <a:schemeClr val="tx1"/>
                      </a:solidFill>
                      <a:prstDash val="solid"/>
                      <a:round/>
                      <a:headEnd type="none" w="med" len="med"/>
                      <a:tailEnd type="none" w="med" len="med"/>
                    </a:lnL>
                  </a:tcPr>
                </a:tc>
                <a:tc>
                  <a:txBody>
                    <a:bodyPr/>
                    <a:lstStyle/>
                    <a:p>
                      <a:pPr algn="l" fontAlgn="ctr">
                        <a:buNone/>
                      </a:pPr>
                      <a:r>
                        <a:rPr lang="en-US" sz="1400" u="none" strike="noStrike" kern="1200" dirty="0">
                          <a:solidFill>
                            <a:schemeClr val="dk1"/>
                          </a:solidFill>
                          <a:effectLst/>
                          <a:latin typeface="+mn-lt"/>
                          <a:ea typeface="+mn-ea"/>
                          <a:cs typeface="+mn-cs"/>
                        </a:rPr>
                        <a:t>cylinder9 back</a:t>
                      </a:r>
                    </a:p>
                  </a:txBody>
                  <a:tcPr marL="9525" marR="9525" marT="9525"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308975088"/>
                  </a:ext>
                </a:extLst>
              </a:tr>
              <a:tr h="257303">
                <a:tc>
                  <a:txBody>
                    <a:bodyPr/>
                    <a:lstStyle/>
                    <a:p>
                      <a:pPr algn="l" fontAlgn="ctr">
                        <a:buNone/>
                      </a:pPr>
                      <a:r>
                        <a:rPr lang="zh-TW" altLang="en-US" sz="1400" b="1" u="none" strike="noStrike" kern="1200" dirty="0">
                          <a:solidFill>
                            <a:schemeClr val="dk1"/>
                          </a:solidFill>
                          <a:effectLst/>
                          <a:latin typeface="+mn-lt"/>
                          <a:ea typeface="+mn-ea"/>
                          <a:cs typeface="+mn-cs"/>
                        </a:rPr>
                        <a:t>ＩＮ（</a:t>
                      </a:r>
                      <a:r>
                        <a:rPr lang="zh-TW" altLang="en-US" sz="1400" u="none" strike="noStrike" kern="1200" dirty="0">
                          <a:solidFill>
                            <a:schemeClr val="dk1"/>
                          </a:solidFill>
                          <a:effectLst/>
                          <a:latin typeface="+mn-lt"/>
                          <a:ea typeface="+mn-ea"/>
                          <a:cs typeface="+mn-cs"/>
                        </a:rPr>
                        <a:t>僅進</a:t>
                      </a:r>
                      <a:r>
                        <a:rPr lang="zh-TW" altLang="en-US" sz="1400" u="none" strike="noStrike" dirty="0">
                          <a:effectLst/>
                        </a:rPr>
                        <a:t>入工作位 不吸氣</a:t>
                      </a:r>
                      <a:r>
                        <a:rPr lang="zh-TW" altLang="en-US" sz="1400" b="1" u="none" strike="noStrike" kern="1200" dirty="0">
                          <a:solidFill>
                            <a:schemeClr val="dk1"/>
                          </a:solidFill>
                          <a:effectLst/>
                          <a:latin typeface="+mn-lt"/>
                          <a:ea typeface="+mn-ea"/>
                          <a:cs typeface="+mn-cs"/>
                        </a:rPr>
                        <a:t>）</a:t>
                      </a:r>
                    </a:p>
                  </a:txBody>
                  <a:tcPr marL="6881" marR="6881" marT="6881" marB="0" anchor="ctr">
                    <a:lnL w="12700" cap="flat" cmpd="sng" algn="ctr">
                      <a:solidFill>
                        <a:schemeClr val="tx1"/>
                      </a:solidFill>
                      <a:prstDash val="solid"/>
                      <a:round/>
                      <a:headEnd type="none" w="med" len="med"/>
                      <a:tailEnd type="none" w="med" len="med"/>
                    </a:lnL>
                  </a:tcPr>
                </a:tc>
                <a:tc>
                  <a:txBody>
                    <a:bodyPr/>
                    <a:lstStyle/>
                    <a:p>
                      <a:pPr algn="l" fontAlgn="ctr">
                        <a:buNone/>
                      </a:pPr>
                      <a:r>
                        <a:rPr lang="zh-TW" altLang="en-US" sz="1400" b="1" u="none" strike="noStrike" kern="1200" dirty="0">
                          <a:solidFill>
                            <a:schemeClr val="dk1"/>
                          </a:solidFill>
                          <a:effectLst/>
                          <a:latin typeface="+mn-lt"/>
                          <a:ea typeface="+mn-ea"/>
                          <a:cs typeface="+mn-cs"/>
                        </a:rPr>
                        <a:t>ＩＮ</a:t>
                      </a:r>
                    </a:p>
                  </a:txBody>
                  <a:tcPr marL="6881" marR="6881" marT="6881"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258892789"/>
                  </a:ext>
                </a:extLst>
              </a:tr>
              <a:tr h="257303">
                <a:tc>
                  <a:txBody>
                    <a:bodyPr/>
                    <a:lstStyle/>
                    <a:p>
                      <a:pPr algn="l" fontAlgn="ctr">
                        <a:buNone/>
                      </a:pPr>
                      <a:r>
                        <a:rPr lang="zh-TW" altLang="en-US" sz="1400" b="1" u="none" strike="noStrike" kern="1200" dirty="0">
                          <a:solidFill>
                            <a:schemeClr val="dk1"/>
                          </a:solidFill>
                          <a:effectLst/>
                          <a:latin typeface="+mn-lt"/>
                          <a:ea typeface="+mn-ea"/>
                          <a:cs typeface="+mn-cs"/>
                        </a:rPr>
                        <a:t>ＯＵＴ（</a:t>
                      </a:r>
                      <a:r>
                        <a:rPr lang="zh-TW" altLang="en-US" sz="1400" u="none" strike="noStrike" kern="1200" dirty="0">
                          <a:solidFill>
                            <a:schemeClr val="dk1"/>
                          </a:solidFill>
                          <a:effectLst/>
                          <a:latin typeface="+mn-lt"/>
                          <a:ea typeface="+mn-ea"/>
                          <a:cs typeface="+mn-cs"/>
                        </a:rPr>
                        <a:t>僅退</a:t>
                      </a:r>
                      <a:r>
                        <a:rPr lang="zh-TW" altLang="en-US" sz="1400" u="none" strike="noStrike" dirty="0">
                          <a:effectLst/>
                        </a:rPr>
                        <a:t>出工作位</a:t>
                      </a:r>
                      <a:r>
                        <a:rPr lang="zh-TW" altLang="en-US" sz="1400" b="1" u="none" strike="noStrike" kern="1200" dirty="0">
                          <a:solidFill>
                            <a:schemeClr val="dk1"/>
                          </a:solidFill>
                          <a:effectLst/>
                          <a:latin typeface="+mn-lt"/>
                          <a:ea typeface="+mn-ea"/>
                          <a:cs typeface="+mn-cs"/>
                        </a:rPr>
                        <a:t>）</a:t>
                      </a:r>
                    </a:p>
                  </a:txBody>
                  <a:tcPr marL="6881" marR="6881" marT="6881" marB="0" anchor="ctr">
                    <a:lnL w="12700" cap="flat" cmpd="sng" algn="ctr">
                      <a:solidFill>
                        <a:schemeClr val="tx1"/>
                      </a:solidFill>
                      <a:prstDash val="solid"/>
                      <a:round/>
                      <a:headEnd type="none" w="med" len="med"/>
                      <a:tailEnd type="none" w="med" len="med"/>
                    </a:lnL>
                  </a:tcPr>
                </a:tc>
                <a:tc>
                  <a:txBody>
                    <a:bodyPr/>
                    <a:lstStyle/>
                    <a:p>
                      <a:pPr algn="l" fontAlgn="ctr">
                        <a:buNone/>
                      </a:pPr>
                      <a:r>
                        <a:rPr lang="zh-TW" altLang="en-US" sz="1400" b="1" u="none" strike="noStrike" kern="1200" dirty="0">
                          <a:solidFill>
                            <a:schemeClr val="dk1"/>
                          </a:solidFill>
                          <a:effectLst/>
                          <a:latin typeface="+mn-lt"/>
                          <a:ea typeface="+mn-ea"/>
                          <a:cs typeface="+mn-cs"/>
                        </a:rPr>
                        <a:t>ＯＵＴ</a:t>
                      </a:r>
                    </a:p>
                  </a:txBody>
                  <a:tcPr marL="6881" marR="6881" marT="6881"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446623208"/>
                  </a:ext>
                </a:extLst>
              </a:tr>
              <a:tr h="257303">
                <a:tc>
                  <a:txBody>
                    <a:bodyPr/>
                    <a:lstStyle/>
                    <a:p>
                      <a:pPr algn="l" fontAlgn="ctr">
                        <a:buNone/>
                      </a:pPr>
                      <a:r>
                        <a:rPr lang="zh-TW" altLang="en-US" sz="1400" b="1" u="none" strike="noStrike" kern="1200" dirty="0">
                          <a:solidFill>
                            <a:schemeClr val="dk1"/>
                          </a:solidFill>
                          <a:effectLst/>
                          <a:latin typeface="+mn-lt"/>
                          <a:ea typeface="+mn-ea"/>
                          <a:cs typeface="+mn-cs"/>
                        </a:rPr>
                        <a:t>ＤＯＷＮ</a:t>
                      </a:r>
                    </a:p>
                  </a:txBody>
                  <a:tcPr marL="6881" marR="6881" marT="6881" marB="0" anchor="ctr">
                    <a:lnL w="12700" cap="flat" cmpd="sng" algn="ctr">
                      <a:solidFill>
                        <a:schemeClr val="tx1"/>
                      </a:solidFill>
                      <a:prstDash val="solid"/>
                      <a:round/>
                      <a:headEnd type="none" w="med" len="med"/>
                      <a:tailEnd type="none" w="med" len="med"/>
                    </a:lnL>
                  </a:tcPr>
                </a:tc>
                <a:tc>
                  <a:txBody>
                    <a:bodyPr/>
                    <a:lstStyle/>
                    <a:p>
                      <a:pPr algn="l" fontAlgn="ctr">
                        <a:buNone/>
                      </a:pPr>
                      <a:r>
                        <a:rPr lang="en-US" sz="1400" b="0" i="0" u="none" strike="noStrike" dirty="0" err="1">
                          <a:solidFill>
                            <a:srgbClr val="FF0000"/>
                          </a:solidFill>
                          <a:effectLst/>
                          <a:latin typeface="新細明體" panose="02020500000000000000" pitchFamily="18" charset="-120"/>
                          <a:ea typeface="新細明體" panose="02020500000000000000" pitchFamily="18" charset="-120"/>
                        </a:rPr>
                        <a:t>同假耳下壓</a:t>
                      </a:r>
                      <a:endParaRPr lang="en-US" sz="1400" b="0" i="0" u="none" strike="noStrike" dirty="0">
                        <a:solidFill>
                          <a:srgbClr val="FF0000"/>
                        </a:solidFill>
                        <a:effectLst/>
                        <a:latin typeface="新細明體" panose="02020500000000000000" pitchFamily="18" charset="-120"/>
                        <a:ea typeface="新細明體" panose="02020500000000000000" pitchFamily="18" charset="-120"/>
                      </a:endParaRPr>
                    </a:p>
                  </a:txBody>
                  <a:tcPr marL="6881" marR="6881" marT="6881"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845087159"/>
                  </a:ext>
                </a:extLst>
              </a:tr>
              <a:tr h="257303">
                <a:tc>
                  <a:txBody>
                    <a:bodyPr/>
                    <a:lstStyle/>
                    <a:p>
                      <a:pPr algn="l" fontAlgn="ctr">
                        <a:buNone/>
                      </a:pPr>
                      <a:r>
                        <a:rPr lang="zh-TW" altLang="en-US" sz="1400" b="1" u="none" strike="noStrike" kern="1200" dirty="0">
                          <a:solidFill>
                            <a:schemeClr val="dk1"/>
                          </a:solidFill>
                          <a:effectLst/>
                          <a:latin typeface="+mn-lt"/>
                          <a:ea typeface="+mn-ea"/>
                          <a:cs typeface="+mn-cs"/>
                        </a:rPr>
                        <a:t>ＵＰ</a:t>
                      </a:r>
                    </a:p>
                  </a:txBody>
                  <a:tcPr marL="6881" marR="6881" marT="6881" marB="0" anchor="ctr">
                    <a:lnL w="12700" cap="flat" cmpd="sng" algn="ctr">
                      <a:solidFill>
                        <a:schemeClr val="tx1"/>
                      </a:solidFill>
                      <a:prstDash val="solid"/>
                      <a:round/>
                      <a:headEnd type="none" w="med" len="med"/>
                      <a:tailEnd type="none" w="med" len="med"/>
                    </a:ln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zh-TW" sz="1400" b="0" i="0" u="none" strike="noStrike" dirty="0" err="1">
                          <a:solidFill>
                            <a:srgbClr val="FF0000"/>
                          </a:solidFill>
                          <a:effectLst/>
                          <a:latin typeface="新細明體" panose="02020500000000000000" pitchFamily="18" charset="-120"/>
                          <a:ea typeface="新細明體" panose="02020500000000000000" pitchFamily="18" charset="-120"/>
                        </a:rPr>
                        <a:t>同假耳</a:t>
                      </a:r>
                      <a:r>
                        <a:rPr lang="zh-TW" altLang="en-US" sz="1400" b="0" i="0" u="none" strike="noStrike" dirty="0">
                          <a:solidFill>
                            <a:srgbClr val="FF0000"/>
                          </a:solidFill>
                          <a:effectLst/>
                          <a:latin typeface="新細明體" panose="02020500000000000000" pitchFamily="18" charset="-120"/>
                          <a:ea typeface="新細明體" panose="02020500000000000000" pitchFamily="18" charset="-120"/>
                        </a:rPr>
                        <a:t>上抬</a:t>
                      </a:r>
                      <a:endParaRPr lang="en-US" altLang="zh-TW" sz="1400" b="0" i="0" u="none" strike="noStrike" dirty="0">
                        <a:solidFill>
                          <a:srgbClr val="FF0000"/>
                        </a:solidFill>
                        <a:effectLst/>
                        <a:latin typeface="新細明體" panose="02020500000000000000" pitchFamily="18" charset="-120"/>
                        <a:ea typeface="新細明體" panose="02020500000000000000" pitchFamily="18" charset="-120"/>
                      </a:endParaRPr>
                    </a:p>
                  </a:txBody>
                  <a:tcPr marL="6881" marR="6881" marT="6881"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680878393"/>
                  </a:ext>
                </a:extLst>
              </a:tr>
              <a:tr h="334007">
                <a:tc>
                  <a:txBody>
                    <a:bodyPr/>
                    <a:lstStyle/>
                    <a:p>
                      <a:pPr algn="l" fontAlgn="ctr">
                        <a:buNone/>
                      </a:pPr>
                      <a:r>
                        <a:rPr lang="zh-TW" altLang="en-US" sz="1400" u="none" strike="noStrike" kern="1200" dirty="0">
                          <a:solidFill>
                            <a:schemeClr val="dk1"/>
                          </a:solidFill>
                          <a:effectLst/>
                          <a:latin typeface="+mn-lt"/>
                          <a:ea typeface="+mn-ea"/>
                          <a:cs typeface="+mn-cs"/>
                        </a:rPr>
                        <a:t>復位</a:t>
                      </a:r>
                    </a:p>
                  </a:txBody>
                  <a:tcPr marL="6881" marR="6881" marT="6881"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l" fontAlgn="ctr">
                        <a:buNone/>
                      </a:pPr>
                      <a:r>
                        <a:rPr lang="en-US" sz="1400" u="none" strike="noStrike" kern="1200" dirty="0">
                          <a:solidFill>
                            <a:schemeClr val="dk1"/>
                          </a:solidFill>
                          <a:effectLst/>
                          <a:latin typeface="+mn-lt"/>
                          <a:ea typeface="+mn-ea"/>
                          <a:cs typeface="+mn-cs"/>
                        </a:rPr>
                        <a:t>reset</a:t>
                      </a:r>
                    </a:p>
                  </a:txBody>
                  <a:tcPr marL="6881" marR="6881" marT="6881"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26715888"/>
                  </a:ext>
                </a:extLst>
              </a:tr>
            </a:tbl>
          </a:graphicData>
        </a:graphic>
      </p:graphicFrame>
      <p:sp>
        <p:nvSpPr>
          <p:cNvPr id="5" name="文字方塊 4">
            <a:extLst>
              <a:ext uri="{FF2B5EF4-FFF2-40B4-BE49-F238E27FC236}">
                <a16:creationId xmlns:a16="http://schemas.microsoft.com/office/drawing/2014/main" id="{1B6E8576-D3BF-0032-7B49-148DAEBC7792}"/>
              </a:ext>
            </a:extLst>
          </p:cNvPr>
          <p:cNvSpPr txBox="1"/>
          <p:nvPr/>
        </p:nvSpPr>
        <p:spPr>
          <a:xfrm>
            <a:off x="269650" y="5219090"/>
            <a:ext cx="6319576" cy="3277820"/>
          </a:xfrm>
          <a:prstGeom prst="rect">
            <a:avLst/>
          </a:prstGeom>
          <a:noFill/>
        </p:spPr>
        <p:txBody>
          <a:bodyPr wrap="square" rtlCol="0">
            <a:spAutoFit/>
          </a:bodyPr>
          <a:lstStyle/>
          <a:p>
            <a:r>
              <a:rPr kumimoji="1" lang="zh-TW" altLang="en-US" b="1" dirty="0"/>
              <a:t>測試執行順序</a:t>
            </a:r>
            <a:r>
              <a:rPr kumimoji="1" lang="zh-TW" altLang="en-US" dirty="0"/>
              <a:t>：</a:t>
            </a:r>
            <a:endParaRPr kumimoji="1" lang="en-US" altLang="zh-TW" dirty="0"/>
          </a:p>
          <a:p>
            <a:pPr>
              <a:lnSpc>
                <a:spcPct val="150000"/>
              </a:lnSpc>
            </a:pPr>
            <a:r>
              <a:rPr kumimoji="1" lang="zh-TW" altLang="en-US" dirty="0"/>
              <a:t>進入工作位 </a:t>
            </a:r>
            <a:r>
              <a:rPr kumimoji="1" lang="en-US" altLang="zh-TW" dirty="0"/>
              <a:t>-&gt; </a:t>
            </a:r>
            <a:r>
              <a:rPr lang="en-US" altLang="zh-TW" dirty="0"/>
              <a:t>Type-C</a:t>
            </a:r>
            <a:r>
              <a:rPr lang="zh-TW" altLang="en-US" dirty="0"/>
              <a:t>動作</a:t>
            </a:r>
            <a:r>
              <a:rPr lang="en-US" altLang="zh-TW" dirty="0"/>
              <a:t> </a:t>
            </a:r>
            <a:r>
              <a:rPr kumimoji="1" lang="en-US" altLang="zh-TW" dirty="0"/>
              <a:t>-&gt;</a:t>
            </a:r>
            <a:r>
              <a:rPr lang="zh-TW" altLang="en-US" dirty="0"/>
              <a:t>關蓋復位</a:t>
            </a:r>
            <a:r>
              <a:rPr lang="en-US" altLang="zh-TW" dirty="0"/>
              <a:t>(</a:t>
            </a:r>
            <a:r>
              <a:rPr lang="zh-TW" altLang="en-US" dirty="0"/>
              <a:t>開蓋</a:t>
            </a:r>
            <a:r>
              <a:rPr lang="en-US" altLang="zh-TW" dirty="0"/>
              <a:t>)</a:t>
            </a:r>
            <a:r>
              <a:rPr lang="en-US" altLang="zh-TW" dirty="0">
                <a:solidFill>
                  <a:srgbClr val="000000"/>
                </a:solidFill>
                <a:latin typeface="新細明體" panose="02020500000000000000" pitchFamily="18" charset="-120"/>
                <a:ea typeface="新細明體" panose="02020500000000000000" pitchFamily="18" charset="-120"/>
              </a:rPr>
              <a:t> </a:t>
            </a:r>
            <a:r>
              <a:rPr lang="en-US" altLang="zh-TW" dirty="0"/>
              <a:t>-&gt; </a:t>
            </a:r>
            <a:r>
              <a:rPr lang="zh-TW" altLang="en-US" dirty="0"/>
              <a:t>假耳下壓動作</a:t>
            </a:r>
            <a:r>
              <a:rPr lang="en-US" altLang="zh-TW" dirty="0"/>
              <a:t>  -&gt; </a:t>
            </a:r>
            <a:r>
              <a:rPr lang="zh-TW" altLang="en-US" dirty="0"/>
              <a:t>按鍵動作</a:t>
            </a:r>
            <a:r>
              <a:rPr lang="en-US" altLang="zh-TW" dirty="0"/>
              <a:t> -&gt; </a:t>
            </a:r>
            <a:r>
              <a:rPr lang="zh-TW" altLang="en-US" dirty="0"/>
              <a:t>按鍵復位</a:t>
            </a:r>
            <a:r>
              <a:rPr lang="en-US" altLang="zh-TW" dirty="0"/>
              <a:t> -&gt;</a:t>
            </a:r>
            <a:r>
              <a:rPr lang="zh-TW" altLang="en-US" dirty="0"/>
              <a:t>假耳上抬動作</a:t>
            </a:r>
            <a:r>
              <a:rPr lang="en-US" altLang="zh-TW" dirty="0"/>
              <a:t> -&gt;</a:t>
            </a:r>
            <a:r>
              <a:rPr lang="zh-TW" altLang="en-US" dirty="0"/>
              <a:t>關蓋動作</a:t>
            </a:r>
            <a:endParaRPr lang="zh-TW" altLang="en-US" dirty="0">
              <a:solidFill>
                <a:srgbClr val="000000"/>
              </a:solidFill>
              <a:latin typeface="新細明體" panose="02020500000000000000" pitchFamily="18" charset="-120"/>
              <a:ea typeface="新細明體" panose="02020500000000000000" pitchFamily="18" charset="-120"/>
            </a:endParaRPr>
          </a:p>
          <a:p>
            <a:pPr>
              <a:lnSpc>
                <a:spcPct val="150000"/>
              </a:lnSpc>
            </a:pPr>
            <a:r>
              <a:rPr lang="en-US" altLang="zh-TW" dirty="0">
                <a:solidFill>
                  <a:srgbClr val="000000"/>
                </a:solidFill>
                <a:latin typeface="新細明體" panose="02020500000000000000" pitchFamily="18" charset="-120"/>
                <a:ea typeface="新細明體" panose="02020500000000000000" pitchFamily="18" charset="-120"/>
              </a:rPr>
              <a:t>-&gt;</a:t>
            </a:r>
            <a:r>
              <a:rPr lang="zh-TW" altLang="en-US" dirty="0"/>
              <a:t>假耳上抬動作</a:t>
            </a:r>
            <a:r>
              <a:rPr lang="en-US" altLang="zh-TW" dirty="0"/>
              <a:t>(Teardown) -&gt; Type-C</a:t>
            </a:r>
            <a:r>
              <a:rPr lang="zh-TW" altLang="en-US" dirty="0"/>
              <a:t>復位</a:t>
            </a:r>
            <a:r>
              <a:rPr lang="en-US" altLang="zh-TW" dirty="0"/>
              <a:t>(Teardown) -&gt;</a:t>
            </a:r>
            <a:r>
              <a:rPr lang="zh-TW" altLang="en-US" dirty="0">
                <a:solidFill>
                  <a:schemeClr val="dk1"/>
                </a:solidFill>
              </a:rPr>
              <a:t>復位</a:t>
            </a:r>
          </a:p>
          <a:p>
            <a:endParaRPr lang="zh-TW" altLang="en-US" dirty="0">
              <a:solidFill>
                <a:srgbClr val="000000"/>
              </a:solidFill>
              <a:latin typeface="新細明體" panose="02020500000000000000" pitchFamily="18" charset="-120"/>
              <a:ea typeface="新細明體" panose="02020500000000000000" pitchFamily="18" charset="-120"/>
            </a:endParaRPr>
          </a:p>
          <a:p>
            <a:endParaRPr lang="zh-TW" altLang="en-US" dirty="0">
              <a:solidFill>
                <a:srgbClr val="000000"/>
              </a:solidFill>
              <a:latin typeface="新細明體" panose="02020500000000000000" pitchFamily="18" charset="-120"/>
              <a:ea typeface="新細明體" panose="02020500000000000000" pitchFamily="18" charset="-120"/>
            </a:endParaRPr>
          </a:p>
          <a:p>
            <a:endParaRPr lang="zh-TW" altLang="en-US" dirty="0">
              <a:solidFill>
                <a:srgbClr val="000000"/>
              </a:solidFill>
              <a:latin typeface="新細明體" panose="02020500000000000000" pitchFamily="18" charset="-120"/>
              <a:ea typeface="新細明體" panose="02020500000000000000" pitchFamily="18" charset="-120"/>
            </a:endParaRPr>
          </a:p>
          <a:p>
            <a:endParaRPr lang="zh-TW" altLang="en-US" dirty="0">
              <a:solidFill>
                <a:srgbClr val="000000"/>
              </a:solidFill>
              <a:latin typeface="新細明體" panose="02020500000000000000" pitchFamily="18" charset="-120"/>
              <a:ea typeface="新細明體" panose="02020500000000000000" pitchFamily="18" charset="-120"/>
            </a:endParaRPr>
          </a:p>
          <a:p>
            <a:endParaRPr lang="zh-TW" altLang="en-US" dirty="0">
              <a:solidFill>
                <a:srgbClr val="000000"/>
              </a:solidFill>
              <a:latin typeface="新細明體" panose="02020500000000000000" pitchFamily="18" charset="-120"/>
              <a:ea typeface="新細明體" panose="02020500000000000000" pitchFamily="18" charset="-120"/>
            </a:endParaRPr>
          </a:p>
          <a:p>
            <a:r>
              <a:rPr kumimoji="1" lang="en-US" altLang="zh-TW" dirty="0"/>
              <a:t> </a:t>
            </a:r>
            <a:endParaRPr lang="zh-TW" altLang="en-US" dirty="0">
              <a:solidFill>
                <a:srgbClr val="000000"/>
              </a:solidFill>
              <a:latin typeface="新細明體" panose="02020500000000000000" pitchFamily="18" charset="-120"/>
              <a:ea typeface="新細明體" panose="02020500000000000000" pitchFamily="18" charset="-120"/>
            </a:endParaRPr>
          </a:p>
        </p:txBody>
      </p:sp>
    </p:spTree>
    <p:extLst>
      <p:ext uri="{BB962C8B-B14F-4D97-AF65-F5344CB8AC3E}">
        <p14:creationId xmlns:p14="http://schemas.microsoft.com/office/powerpoint/2010/main" val="92854100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5B174F-4806-7647-9299-E144E09A369F}"/>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B768DB9C-F4C2-2364-E266-9ABD103432E5}"/>
              </a:ext>
            </a:extLst>
          </p:cNvPr>
          <p:cNvSpPr>
            <a:spLocks noGrp="1"/>
          </p:cNvSpPr>
          <p:nvPr>
            <p:ph type="body" sz="quarter" idx="13"/>
          </p:nvPr>
        </p:nvSpPr>
        <p:spPr/>
        <p:txBody>
          <a:bodyPr/>
          <a:lstStyle/>
          <a:p>
            <a:r>
              <a:rPr lang="en-US" dirty="0"/>
              <a:t>Terminology  </a:t>
            </a:r>
          </a:p>
          <a:p>
            <a:endParaRPr lang="en-US" dirty="0"/>
          </a:p>
        </p:txBody>
      </p:sp>
      <p:sp>
        <p:nvSpPr>
          <p:cNvPr id="6" name="文字方塊 5">
            <a:extLst>
              <a:ext uri="{FF2B5EF4-FFF2-40B4-BE49-F238E27FC236}">
                <a16:creationId xmlns:a16="http://schemas.microsoft.com/office/drawing/2014/main" id="{21CF44F2-CBB1-0BE4-C245-EE61313F87CF}"/>
              </a:ext>
            </a:extLst>
          </p:cNvPr>
          <p:cNvSpPr txBox="1"/>
          <p:nvPr/>
        </p:nvSpPr>
        <p:spPr>
          <a:xfrm>
            <a:off x="571501" y="905346"/>
            <a:ext cx="3457574" cy="375552"/>
          </a:xfrm>
          <a:prstGeom prst="rect">
            <a:avLst/>
          </a:prstGeom>
          <a:noFill/>
        </p:spPr>
        <p:txBody>
          <a:bodyPr wrap="square">
            <a:spAutoFit/>
          </a:bodyPr>
          <a:lstStyle/>
          <a:p>
            <a:pPr>
              <a:lnSpc>
                <a:spcPct val="150000"/>
              </a:lnSpc>
              <a:defRPr/>
            </a:pPr>
            <a:r>
              <a:rPr lang="en-US" altLang="zh-TW" sz="1400" b="1" dirty="0"/>
              <a:t>Case QT </a:t>
            </a:r>
            <a:r>
              <a:rPr lang="en-US" altLang="zh-TW" sz="1400" dirty="0"/>
              <a:t>- Debug Tool - DUT</a:t>
            </a:r>
          </a:p>
        </p:txBody>
      </p:sp>
      <p:pic>
        <p:nvPicPr>
          <p:cNvPr id="7" name="圖片 6">
            <a:extLst>
              <a:ext uri="{FF2B5EF4-FFF2-40B4-BE49-F238E27FC236}">
                <a16:creationId xmlns:a16="http://schemas.microsoft.com/office/drawing/2014/main" id="{545AEC26-73C7-1E1E-E609-DA4DF5070F94}"/>
              </a:ext>
            </a:extLst>
          </p:cNvPr>
          <p:cNvPicPr>
            <a:picLocks noChangeAspect="1"/>
          </p:cNvPicPr>
          <p:nvPr/>
        </p:nvPicPr>
        <p:blipFill>
          <a:blip r:embed="rId3"/>
          <a:srcRect l="1697" t="45201" r="70420" b="36954"/>
          <a:stretch>
            <a:fillRect/>
          </a:stretch>
        </p:blipFill>
        <p:spPr>
          <a:xfrm>
            <a:off x="6796476" y="1614743"/>
            <a:ext cx="3982684" cy="1735455"/>
          </a:xfrm>
          <a:prstGeom prst="rect">
            <a:avLst/>
          </a:prstGeom>
        </p:spPr>
      </p:pic>
      <p:graphicFrame>
        <p:nvGraphicFramePr>
          <p:cNvPr id="4" name="表格 3">
            <a:extLst>
              <a:ext uri="{FF2B5EF4-FFF2-40B4-BE49-F238E27FC236}">
                <a16:creationId xmlns:a16="http://schemas.microsoft.com/office/drawing/2014/main" id="{A34988FC-B686-60E6-D6E8-11F2A94468AF}"/>
              </a:ext>
            </a:extLst>
          </p:cNvPr>
          <p:cNvGraphicFramePr>
            <a:graphicFrameLocks noGrp="1"/>
          </p:cNvGraphicFramePr>
          <p:nvPr>
            <p:extLst>
              <p:ext uri="{D42A27DB-BD31-4B8C-83A1-F6EECF244321}">
                <p14:modId xmlns:p14="http://schemas.microsoft.com/office/powerpoint/2010/main" val="3287977837"/>
              </p:ext>
            </p:extLst>
          </p:nvPr>
        </p:nvGraphicFramePr>
        <p:xfrm>
          <a:off x="994411" y="1639764"/>
          <a:ext cx="4143677" cy="3967977"/>
        </p:xfrm>
        <a:graphic>
          <a:graphicData uri="http://schemas.openxmlformats.org/drawingml/2006/table">
            <a:tbl>
              <a:tblPr>
                <a:tableStyleId>{5C22544A-7EE6-4342-B048-85BDC9FD1C3A}</a:tableStyleId>
              </a:tblPr>
              <a:tblGrid>
                <a:gridCol w="2037743">
                  <a:extLst>
                    <a:ext uri="{9D8B030D-6E8A-4147-A177-3AD203B41FA5}">
                      <a16:colId xmlns:a16="http://schemas.microsoft.com/office/drawing/2014/main" val="2773871457"/>
                    </a:ext>
                  </a:extLst>
                </a:gridCol>
                <a:gridCol w="2105934">
                  <a:extLst>
                    <a:ext uri="{9D8B030D-6E8A-4147-A177-3AD203B41FA5}">
                      <a16:colId xmlns:a16="http://schemas.microsoft.com/office/drawing/2014/main" val="3513510696"/>
                    </a:ext>
                  </a:extLst>
                </a:gridCol>
              </a:tblGrid>
              <a:tr h="277941">
                <a:tc>
                  <a:txBody>
                    <a:bodyPr/>
                    <a:lstStyle/>
                    <a:p>
                      <a:pPr algn="ctr" fontAlgn="ctr">
                        <a:buNone/>
                      </a:pPr>
                      <a:r>
                        <a:rPr lang="en-US" altLang="zh-TW" sz="1400" b="1" i="0" u="none" strike="noStrike" dirty="0">
                          <a:solidFill>
                            <a:schemeClr val="bg1"/>
                          </a:solidFill>
                          <a:effectLst/>
                          <a:latin typeface="+mn-ea"/>
                          <a:ea typeface="+mn-ea"/>
                        </a:rPr>
                        <a:t>Command</a:t>
                      </a:r>
                      <a:endParaRPr lang="zh-TW" altLang="en-US" sz="1400" b="1" i="0" u="none" strike="noStrike" dirty="0">
                        <a:solidFill>
                          <a:schemeClr val="bg1"/>
                        </a:solidFill>
                        <a:effectLst/>
                        <a:latin typeface="+mn-ea"/>
                        <a:ea typeface="+mn-ea"/>
                      </a:endParaRP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accent6"/>
                    </a:solidFill>
                  </a:tcPr>
                </a:tc>
                <a:tc>
                  <a:txBody>
                    <a:bodyPr/>
                    <a:lstStyle/>
                    <a:p>
                      <a:pPr marL="0" algn="ctr" defTabSz="914400" rtl="0" eaLnBrk="1" fontAlgn="ctr" latinLnBrk="0" hangingPunct="1">
                        <a:buNone/>
                      </a:pPr>
                      <a:r>
                        <a:rPr lang="en-US" altLang="zh-TW" sz="1400" b="1" i="0" u="none" strike="noStrike" kern="1200" dirty="0">
                          <a:solidFill>
                            <a:schemeClr val="bg1"/>
                          </a:solidFill>
                          <a:effectLst/>
                          <a:latin typeface="+mn-ea"/>
                          <a:ea typeface="+mn-ea"/>
                          <a:cs typeface="+mn-cs"/>
                        </a:rPr>
                        <a:t>functions</a:t>
                      </a:r>
                      <a:endParaRPr lang="zh-TW" altLang="en-US" sz="1400" b="1" i="0" u="none" strike="noStrike" kern="1200" dirty="0">
                        <a:solidFill>
                          <a:schemeClr val="bg1"/>
                        </a:solidFill>
                        <a:effectLst/>
                        <a:latin typeface="+mn-ea"/>
                        <a:ea typeface="+mn-ea"/>
                        <a:cs typeface="+mn-cs"/>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6"/>
                    </a:solidFill>
                  </a:tcPr>
                </a:tc>
                <a:extLst>
                  <a:ext uri="{0D108BD9-81ED-4DB2-BD59-A6C34878D82A}">
                    <a16:rowId xmlns:a16="http://schemas.microsoft.com/office/drawing/2014/main" val="1259284308"/>
                  </a:ext>
                </a:extLst>
              </a:tr>
              <a:tr h="263574">
                <a:tc>
                  <a:txBody>
                    <a:bodyPr/>
                    <a:lstStyle/>
                    <a:p>
                      <a:pPr algn="l" fontAlgn="ctr">
                        <a:buNone/>
                      </a:pPr>
                      <a:r>
                        <a:rPr lang="en-US" sz="1100" u="none" strike="noStrike">
                          <a:effectLst/>
                        </a:rPr>
                        <a:t>pwm unset</a:t>
                      </a:r>
                      <a:endParaRPr lang="en-US" sz="1100" b="0" i="0" u="none" strike="noStrike">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tx1"/>
                      </a:solidFill>
                      <a:prstDash val="solid"/>
                      <a:round/>
                      <a:headEnd type="none" w="med" len="med"/>
                      <a:tailEnd type="none" w="med" len="med"/>
                    </a:lnL>
                  </a:tcPr>
                </a:tc>
                <a:tc>
                  <a:txBody>
                    <a:bodyPr/>
                    <a:lstStyle/>
                    <a:p>
                      <a:pPr algn="l" fontAlgn="ctr">
                        <a:buNone/>
                      </a:pPr>
                      <a:r>
                        <a:rPr lang="zh-TW" altLang="en-US" sz="1100" u="none" strike="noStrike" dirty="0">
                          <a:effectLst/>
                        </a:rPr>
                        <a:t>關閉盒子燈</a:t>
                      </a: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232316801"/>
                  </a:ext>
                </a:extLst>
              </a:tr>
              <a:tr h="263574">
                <a:tc>
                  <a:txBody>
                    <a:bodyPr/>
                    <a:lstStyle/>
                    <a:p>
                      <a:pPr algn="l" fontAlgn="ctr">
                        <a:buNone/>
                      </a:pPr>
                      <a:r>
                        <a:rPr lang="en-US" sz="1100" u="none" strike="noStrike">
                          <a:effectLst/>
                        </a:rPr>
                        <a:t>PWM set white 1000</a:t>
                      </a:r>
                      <a:endParaRPr lang="en-US" sz="1100" b="0" i="0" u="none" strike="noStrike">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tx1"/>
                      </a:solidFill>
                      <a:prstDash val="solid"/>
                      <a:round/>
                      <a:headEnd type="none" w="med" len="med"/>
                      <a:tailEnd type="none" w="med" len="med"/>
                    </a:lnL>
                  </a:tcPr>
                </a:tc>
                <a:tc>
                  <a:txBody>
                    <a:bodyPr/>
                    <a:lstStyle/>
                    <a:p>
                      <a:pPr algn="l" fontAlgn="ctr">
                        <a:buNone/>
                      </a:pPr>
                      <a:r>
                        <a:rPr lang="zh-TW" altLang="en-US" sz="1100" u="none" strike="noStrike">
                          <a:effectLst/>
                        </a:rPr>
                        <a:t>設定盒子白光</a:t>
                      </a:r>
                      <a:endParaRPr lang="zh-TW" altLang="en-US" sz="1100" b="0" i="0" u="none" strike="noStrike">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022650202"/>
                  </a:ext>
                </a:extLst>
              </a:tr>
              <a:tr h="263574">
                <a:tc>
                  <a:txBody>
                    <a:bodyPr/>
                    <a:lstStyle/>
                    <a:p>
                      <a:pPr algn="l" fontAlgn="ctr">
                        <a:buNone/>
                      </a:pPr>
                      <a:r>
                        <a:rPr lang="en-US" sz="1100" u="none" strike="noStrike" dirty="0">
                          <a:effectLst/>
                        </a:rPr>
                        <a:t>PWM set red 1000</a:t>
                      </a:r>
                      <a:endParaRPr 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L w="12700" cap="flat" cmpd="sng" algn="ctr">
                      <a:solidFill>
                        <a:schemeClr val="tx1"/>
                      </a:solidFill>
                      <a:prstDash val="solid"/>
                      <a:round/>
                      <a:headEnd type="none" w="med" len="med"/>
                      <a:tailEnd type="none" w="med" len="med"/>
                    </a:lnL>
                  </a:tcPr>
                </a:tc>
                <a:tc>
                  <a:txBody>
                    <a:bodyPr/>
                    <a:lstStyle/>
                    <a:p>
                      <a:pPr algn="l" fontAlgn="ctr">
                        <a:buNone/>
                      </a:pPr>
                      <a:r>
                        <a:rPr lang="zh-TW" altLang="en-US" sz="1100" u="none" strike="noStrike" dirty="0">
                          <a:effectLst/>
                        </a:rPr>
                        <a:t>設定盒子紅光</a:t>
                      </a: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456624369"/>
                  </a:ext>
                </a:extLst>
              </a:tr>
              <a:tr h="263574">
                <a:tc>
                  <a:txBody>
                    <a:bodyPr/>
                    <a:lstStyle/>
                    <a:p>
                      <a:pPr algn="l" fontAlgn="ctr">
                        <a:buNone/>
                      </a:pPr>
                      <a:r>
                        <a:rPr lang="en-US" sz="1100" u="none" strike="noStrike" kern="1200" dirty="0">
                          <a:solidFill>
                            <a:schemeClr val="dk1"/>
                          </a:solidFill>
                          <a:effectLst/>
                          <a:latin typeface="+mn-lt"/>
                          <a:ea typeface="+mn-ea"/>
                          <a:cs typeface="+mn-cs"/>
                        </a:rPr>
                        <a:t>Read MLB SN</a:t>
                      </a:r>
                    </a:p>
                  </a:txBody>
                  <a:tcPr marL="9525" marR="9525" marT="9525" marB="0" anchor="ctr">
                    <a:lnL w="12700" cap="flat" cmpd="sng" algn="ctr">
                      <a:solidFill>
                        <a:schemeClr val="tx1"/>
                      </a:solidFill>
                      <a:prstDash val="solid"/>
                      <a:round/>
                      <a:headEnd type="none" w="med" len="med"/>
                      <a:tailEnd type="none" w="med" len="med"/>
                    </a:lnL>
                  </a:tcPr>
                </a:tc>
                <a:tc rowSpan="11">
                  <a:txBody>
                    <a:bodyPr/>
                    <a:lstStyle/>
                    <a:p>
                      <a:pPr marL="0" algn="l" defTabSz="914400" rtl="0" eaLnBrk="1" fontAlgn="ctr" latinLnBrk="0" hangingPunct="1">
                        <a:buNone/>
                      </a:pPr>
                      <a:r>
                        <a:rPr lang="zh-TW" altLang="en-US" sz="1100" u="none" strike="noStrike" kern="1200" dirty="0">
                          <a:solidFill>
                            <a:schemeClr val="dk1"/>
                          </a:solidFill>
                          <a:effectLst/>
                          <a:latin typeface="+mn-lt"/>
                          <a:ea typeface="+mn-ea"/>
                          <a:cs typeface="+mn-cs"/>
                        </a:rPr>
                        <a:t>非正式</a:t>
                      </a:r>
                      <a:r>
                        <a:rPr lang="en-US" altLang="zh-TW" sz="1100" u="none" strike="noStrike" kern="1200" dirty="0">
                          <a:solidFill>
                            <a:schemeClr val="dk1"/>
                          </a:solidFill>
                          <a:effectLst/>
                          <a:latin typeface="+mn-lt"/>
                          <a:ea typeface="+mn-ea"/>
                          <a:cs typeface="+mn-cs"/>
                        </a:rPr>
                        <a:t>Case</a:t>
                      </a:r>
                      <a:r>
                        <a:rPr lang="zh-TW" altLang="en-US" sz="1100" u="none" strike="noStrike" kern="1200" dirty="0">
                          <a:solidFill>
                            <a:schemeClr val="dk1"/>
                          </a:solidFill>
                          <a:effectLst/>
                          <a:latin typeface="+mn-lt"/>
                          <a:ea typeface="+mn-ea"/>
                          <a:cs typeface="+mn-cs"/>
                        </a:rPr>
                        <a:t>指令，對應指令參考</a:t>
                      </a:r>
                      <a:r>
                        <a:rPr lang="en-US" altLang="zh-TW" sz="1100" b="1" u="none" strike="noStrike" kern="1200" dirty="0">
                          <a:solidFill>
                            <a:schemeClr val="dk1"/>
                          </a:solidFill>
                          <a:effectLst/>
                          <a:latin typeface="+mn-lt"/>
                          <a:ea typeface="+mn-ea"/>
                          <a:cs typeface="+mn-cs"/>
                        </a:rPr>
                        <a:t>Case QT</a:t>
                      </a:r>
                      <a:r>
                        <a:rPr lang="zh-TW" altLang="en-US" sz="1100" b="1" u="none" strike="noStrike" kern="1200" dirty="0">
                          <a:solidFill>
                            <a:schemeClr val="dk1"/>
                          </a:solidFill>
                          <a:effectLst/>
                          <a:latin typeface="+mn-lt"/>
                          <a:ea typeface="+mn-ea"/>
                          <a:cs typeface="+mn-cs"/>
                        </a:rPr>
                        <a:t>设备继电器及气缸指令说明</a:t>
                      </a:r>
                      <a:r>
                        <a:rPr lang="en-US" altLang="zh-TW" sz="1100" b="1" u="none" strike="noStrike" kern="1200" dirty="0">
                          <a:solidFill>
                            <a:schemeClr val="dk1"/>
                          </a:solidFill>
                          <a:effectLst/>
                          <a:latin typeface="+mn-lt"/>
                          <a:ea typeface="+mn-ea"/>
                          <a:cs typeface="+mn-cs"/>
                        </a:rPr>
                        <a:t>-V1.0 20251222.pdf</a:t>
                      </a:r>
                      <a:endParaRPr lang="zh-TW" altLang="en-US" sz="1100" b="1" u="none" strike="noStrike" kern="1200" dirty="0">
                        <a:solidFill>
                          <a:schemeClr val="dk1"/>
                        </a:solidFill>
                        <a:effectLst/>
                        <a:latin typeface="+mn-lt"/>
                        <a:ea typeface="+mn-ea"/>
                        <a:cs typeface="+mn-cs"/>
                      </a:endParaRPr>
                    </a:p>
                  </a:txBody>
                  <a:tcPr marL="9525" marR="9525" marT="9525"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16998005"/>
                  </a:ext>
                </a:extLst>
              </a:tr>
              <a:tr h="263574">
                <a:tc>
                  <a:txBody>
                    <a:bodyPr/>
                    <a:lstStyle/>
                    <a:p>
                      <a:pPr algn="l" fontAlgn="ctr">
                        <a:buNone/>
                      </a:pPr>
                      <a:r>
                        <a:rPr lang="en-US" sz="1100" u="none" strike="noStrike" kern="1200" dirty="0">
                          <a:solidFill>
                            <a:schemeClr val="dk1"/>
                          </a:solidFill>
                          <a:effectLst/>
                          <a:latin typeface="+mn-lt"/>
                          <a:ea typeface="+mn-ea"/>
                          <a:cs typeface="+mn-cs"/>
                        </a:rPr>
                        <a:t>Read FG SN</a:t>
                      </a:r>
                    </a:p>
                  </a:txBody>
                  <a:tcPr marL="9525" marR="9525" marT="9525" marB="0" anchor="ctr">
                    <a:lnL w="12700" cap="flat" cmpd="sng" algn="ctr">
                      <a:solidFill>
                        <a:schemeClr val="tx1"/>
                      </a:solidFill>
                      <a:prstDash val="solid"/>
                      <a:round/>
                      <a:headEnd type="none" w="med" len="med"/>
                      <a:tailEnd type="none" w="med" len="med"/>
                    </a:lnL>
                  </a:tcPr>
                </a:tc>
                <a:tc v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673446949"/>
                  </a:ext>
                </a:extLst>
              </a:tr>
              <a:tr h="263574">
                <a:tc>
                  <a:txBody>
                    <a:bodyPr/>
                    <a:lstStyle/>
                    <a:p>
                      <a:pPr algn="l" fontAlgn="ctr">
                        <a:buNone/>
                      </a:pPr>
                      <a:r>
                        <a:rPr lang="en-US" sz="1100" u="none" strike="noStrike" kern="1200" dirty="0">
                          <a:solidFill>
                            <a:schemeClr val="dk1"/>
                          </a:solidFill>
                          <a:effectLst/>
                          <a:latin typeface="+mn-lt"/>
                          <a:ea typeface="+mn-ea"/>
                          <a:cs typeface="+mn-cs"/>
                        </a:rPr>
                        <a:t>Read BTID</a:t>
                      </a:r>
                    </a:p>
                  </a:txBody>
                  <a:tcPr marL="9525" marR="9525" marT="9525" marB="0" anchor="ctr">
                    <a:lnL w="12700" cap="flat" cmpd="sng" algn="ctr">
                      <a:solidFill>
                        <a:schemeClr val="tx1"/>
                      </a:solidFill>
                      <a:prstDash val="solid"/>
                      <a:round/>
                      <a:headEnd type="none" w="med" len="med"/>
                      <a:tailEnd type="none" w="med" len="med"/>
                    </a:lnL>
                  </a:tcPr>
                </a:tc>
                <a:tc v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60664488"/>
                  </a:ext>
                </a:extLst>
              </a:tr>
              <a:tr h="263574">
                <a:tc>
                  <a:txBody>
                    <a:bodyPr/>
                    <a:lstStyle/>
                    <a:p>
                      <a:pPr algn="l" fontAlgn="ctr">
                        <a:buNone/>
                      </a:pPr>
                      <a:r>
                        <a:rPr lang="en-US" sz="1100" u="none" strike="noStrike" kern="1200" dirty="0">
                          <a:solidFill>
                            <a:schemeClr val="dk1"/>
                          </a:solidFill>
                          <a:effectLst/>
                          <a:latin typeface="+mn-lt"/>
                          <a:ea typeface="+mn-ea"/>
                          <a:cs typeface="+mn-cs"/>
                        </a:rPr>
                        <a:t>Read DUT HW ID</a:t>
                      </a:r>
                    </a:p>
                  </a:txBody>
                  <a:tcPr marL="9525" marR="9525" marT="9525" marB="0" anchor="ctr">
                    <a:lnL w="12700" cap="flat" cmpd="sng" algn="ctr">
                      <a:solidFill>
                        <a:schemeClr val="tx1"/>
                      </a:solidFill>
                      <a:prstDash val="solid"/>
                      <a:round/>
                      <a:headEnd type="none" w="med" len="med"/>
                      <a:tailEnd type="none" w="med" len="med"/>
                    </a:lnL>
                  </a:tcPr>
                </a:tc>
                <a:tc v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792724191"/>
                  </a:ext>
                </a:extLst>
              </a:tr>
              <a:tr h="263574">
                <a:tc>
                  <a:txBody>
                    <a:bodyPr/>
                    <a:lstStyle/>
                    <a:p>
                      <a:pPr algn="l" fontAlgn="ctr">
                        <a:buNone/>
                      </a:pPr>
                      <a:r>
                        <a:rPr lang="en-US" sz="1100" u="none" strike="noStrike" kern="1200" dirty="0">
                          <a:solidFill>
                            <a:schemeClr val="dk1"/>
                          </a:solidFill>
                          <a:effectLst/>
                          <a:latin typeface="+mn-lt"/>
                          <a:ea typeface="+mn-ea"/>
                          <a:cs typeface="+mn-cs"/>
                        </a:rPr>
                        <a:t>Read DUT FW</a:t>
                      </a:r>
                    </a:p>
                  </a:txBody>
                  <a:tcPr marL="9525" marR="9525" marT="9525" marB="0" anchor="ctr">
                    <a:lnL w="12700" cap="flat" cmpd="sng" algn="ctr">
                      <a:solidFill>
                        <a:schemeClr val="tx1"/>
                      </a:solidFill>
                      <a:prstDash val="solid"/>
                      <a:round/>
                      <a:headEnd type="none" w="med" len="med"/>
                      <a:tailEnd type="none" w="med" len="med"/>
                    </a:lnL>
                  </a:tcPr>
                </a:tc>
                <a:tc v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720687554"/>
                  </a:ext>
                </a:extLst>
              </a:tr>
              <a:tr h="263574">
                <a:tc>
                  <a:txBody>
                    <a:bodyPr/>
                    <a:lstStyle/>
                    <a:p>
                      <a:pPr algn="l" fontAlgn="ctr">
                        <a:buNone/>
                      </a:pPr>
                      <a:r>
                        <a:rPr lang="en-US" sz="1100" u="none" strike="noStrike" kern="1200" dirty="0">
                          <a:solidFill>
                            <a:schemeClr val="dk1"/>
                          </a:solidFill>
                          <a:effectLst/>
                          <a:latin typeface="+mn-lt"/>
                          <a:ea typeface="+mn-ea"/>
                          <a:cs typeface="+mn-cs"/>
                        </a:rPr>
                        <a:t>Read DUT PID </a:t>
                      </a:r>
                    </a:p>
                  </a:txBody>
                  <a:tcPr marL="9525" marR="9525" marT="9525" marB="0" anchor="ctr">
                    <a:lnL w="12700" cap="flat" cmpd="sng" algn="ctr">
                      <a:solidFill>
                        <a:schemeClr val="tx1"/>
                      </a:solidFill>
                      <a:prstDash val="solid"/>
                      <a:round/>
                      <a:headEnd type="none" w="med" len="med"/>
                      <a:tailEnd type="none" w="med" len="med"/>
                    </a:lnL>
                  </a:tcPr>
                </a:tc>
                <a:tc v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875430732"/>
                  </a:ext>
                </a:extLst>
              </a:tr>
              <a:tr h="263574">
                <a:tc>
                  <a:txBody>
                    <a:bodyPr/>
                    <a:lstStyle/>
                    <a:p>
                      <a:pPr algn="l" fontAlgn="ctr">
                        <a:buNone/>
                      </a:pPr>
                      <a:r>
                        <a:rPr lang="en-US" sz="1100" u="none" strike="noStrike" kern="1200" dirty="0">
                          <a:solidFill>
                            <a:schemeClr val="dk1"/>
                          </a:solidFill>
                          <a:effectLst/>
                          <a:latin typeface="+mn-lt"/>
                          <a:ea typeface="+mn-ea"/>
                          <a:cs typeface="+mn-cs"/>
                        </a:rPr>
                        <a:t>GG INFO </a:t>
                      </a:r>
                    </a:p>
                  </a:txBody>
                  <a:tcPr marL="9525" marR="9525" marT="9525" marB="0" anchor="ctr">
                    <a:lnL w="12700" cap="flat" cmpd="sng" algn="ctr">
                      <a:solidFill>
                        <a:schemeClr val="tx1"/>
                      </a:solidFill>
                      <a:prstDash val="solid"/>
                      <a:round/>
                      <a:headEnd type="none" w="med" len="med"/>
                      <a:tailEnd type="none" w="med" len="med"/>
                    </a:lnL>
                  </a:tcPr>
                </a:tc>
                <a:tc v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419889006"/>
                  </a:ext>
                </a:extLst>
              </a:tr>
              <a:tr h="263574">
                <a:tc>
                  <a:txBody>
                    <a:bodyPr/>
                    <a:lstStyle/>
                    <a:p>
                      <a:pPr algn="l" fontAlgn="ctr">
                        <a:buNone/>
                      </a:pPr>
                      <a:r>
                        <a:rPr lang="en-US" sz="1100" u="none" strike="noStrike" kern="1200" dirty="0">
                          <a:solidFill>
                            <a:schemeClr val="dk1"/>
                          </a:solidFill>
                          <a:effectLst/>
                          <a:latin typeface="+mn-lt"/>
                          <a:ea typeface="+mn-ea"/>
                          <a:cs typeface="+mn-cs"/>
                        </a:rPr>
                        <a:t>GG CAL INFO</a:t>
                      </a:r>
                    </a:p>
                  </a:txBody>
                  <a:tcPr marL="9525" marR="9525" marT="9525" marB="0" anchor="ctr">
                    <a:lnL w="12700" cap="flat" cmpd="sng" algn="ctr">
                      <a:solidFill>
                        <a:schemeClr val="tx1"/>
                      </a:solidFill>
                      <a:prstDash val="solid"/>
                      <a:round/>
                      <a:headEnd type="none" w="med" len="med"/>
                      <a:tailEnd type="none" w="med" len="med"/>
                    </a:lnL>
                  </a:tcPr>
                </a:tc>
                <a:tc v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032769425"/>
                  </a:ext>
                </a:extLst>
              </a:tr>
              <a:tr h="263574">
                <a:tc>
                  <a:txBody>
                    <a:bodyPr/>
                    <a:lstStyle/>
                    <a:p>
                      <a:pPr algn="l" fontAlgn="ctr">
                        <a:buNone/>
                      </a:pPr>
                      <a:r>
                        <a:rPr lang="en-US" sz="1100" u="none" strike="noStrike" kern="1200" dirty="0">
                          <a:solidFill>
                            <a:schemeClr val="dk1"/>
                          </a:solidFill>
                          <a:effectLst/>
                          <a:latin typeface="+mn-lt"/>
                          <a:ea typeface="+mn-ea"/>
                          <a:cs typeface="+mn-cs"/>
                        </a:rPr>
                        <a:t>GG RESET </a:t>
                      </a:r>
                    </a:p>
                  </a:txBody>
                  <a:tcPr marL="9525" marR="9525" marT="9525" marB="0" anchor="ctr">
                    <a:lnL w="12700" cap="flat" cmpd="sng" algn="ctr">
                      <a:solidFill>
                        <a:schemeClr val="tx1"/>
                      </a:solidFill>
                      <a:prstDash val="solid"/>
                      <a:round/>
                      <a:headEnd type="none" w="med" len="med"/>
                      <a:tailEnd type="none" w="med" len="med"/>
                    </a:lnL>
                  </a:tcPr>
                </a:tc>
                <a:tc v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690130773"/>
                  </a:ext>
                </a:extLst>
              </a:tr>
              <a:tr h="263574">
                <a:tc>
                  <a:txBody>
                    <a:bodyPr/>
                    <a:lstStyle/>
                    <a:p>
                      <a:pPr algn="l" fontAlgn="ctr">
                        <a:buNone/>
                      </a:pPr>
                      <a:r>
                        <a:rPr lang="en-US" sz="1100" u="none" strike="noStrike" kern="1200" dirty="0">
                          <a:solidFill>
                            <a:schemeClr val="dk1"/>
                          </a:solidFill>
                          <a:effectLst/>
                          <a:latin typeface="+mn-lt"/>
                          <a:ea typeface="+mn-ea"/>
                          <a:cs typeface="+mn-cs"/>
                        </a:rPr>
                        <a:t>READ BUTTON STATUS</a:t>
                      </a:r>
                    </a:p>
                  </a:txBody>
                  <a:tcPr marL="9525" marR="9525" marT="9525" marB="0" anchor="ctr">
                    <a:lnL w="12700" cap="flat" cmpd="sng" algn="ctr">
                      <a:solidFill>
                        <a:schemeClr val="tx1"/>
                      </a:solidFill>
                      <a:prstDash val="solid"/>
                      <a:round/>
                      <a:headEnd type="none" w="med" len="med"/>
                      <a:tailEnd type="none" w="med" len="med"/>
                    </a:lnL>
                  </a:tcPr>
                </a:tc>
                <a:tc v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67725527"/>
                  </a:ext>
                </a:extLst>
              </a:tr>
              <a:tr h="263574">
                <a:tc>
                  <a:txBody>
                    <a:bodyPr/>
                    <a:lstStyle/>
                    <a:p>
                      <a:pPr algn="l" fontAlgn="ctr">
                        <a:buNone/>
                      </a:pPr>
                      <a:r>
                        <a:rPr lang="en-US" sz="1100" u="none" strike="noStrike" kern="1200" dirty="0">
                          <a:solidFill>
                            <a:schemeClr val="dk1"/>
                          </a:solidFill>
                          <a:effectLst/>
                          <a:latin typeface="+mn-lt"/>
                          <a:ea typeface="+mn-ea"/>
                          <a:cs typeface="+mn-cs"/>
                        </a:rPr>
                        <a:t>FT RESET </a:t>
                      </a:r>
                    </a:p>
                  </a:txBody>
                  <a:tcPr marL="9525" marR="9525" marT="9525"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vMerge="1">
                  <a:txBody>
                    <a:bodyPr/>
                    <a:lstStyle/>
                    <a:p>
                      <a:pPr algn="l" fontAlgn="ctr">
                        <a:buNone/>
                      </a:pPr>
                      <a:endParaRPr lang="zh-TW" altLang="en-US" sz="11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525" marR="9525" marT="9525"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90295714"/>
                  </a:ext>
                </a:extLst>
              </a:tr>
            </a:tbl>
          </a:graphicData>
        </a:graphic>
      </p:graphicFrame>
      <p:cxnSp>
        <p:nvCxnSpPr>
          <p:cNvPr id="8" name="直線箭頭接點 7">
            <a:extLst>
              <a:ext uri="{FF2B5EF4-FFF2-40B4-BE49-F238E27FC236}">
                <a16:creationId xmlns:a16="http://schemas.microsoft.com/office/drawing/2014/main" id="{F1A3D5BC-A151-1C0F-5549-F1DB2B94AFDF}"/>
              </a:ext>
            </a:extLst>
          </p:cNvPr>
          <p:cNvCxnSpPr/>
          <p:nvPr/>
        </p:nvCxnSpPr>
        <p:spPr>
          <a:xfrm flipH="1">
            <a:off x="5269230" y="2174095"/>
            <a:ext cx="1760220"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文字方塊 14">
            <a:extLst>
              <a:ext uri="{FF2B5EF4-FFF2-40B4-BE49-F238E27FC236}">
                <a16:creationId xmlns:a16="http://schemas.microsoft.com/office/drawing/2014/main" id="{E5C48EFA-6195-7CB1-851D-632489526613}"/>
              </a:ext>
            </a:extLst>
          </p:cNvPr>
          <p:cNvSpPr txBox="1"/>
          <p:nvPr/>
        </p:nvSpPr>
        <p:spPr>
          <a:xfrm>
            <a:off x="5728504" y="1804763"/>
            <a:ext cx="1203047" cy="369332"/>
          </a:xfrm>
          <a:prstGeom prst="rect">
            <a:avLst/>
          </a:prstGeom>
          <a:noFill/>
        </p:spPr>
        <p:txBody>
          <a:bodyPr wrap="square">
            <a:spAutoFit/>
          </a:bodyPr>
          <a:lstStyle/>
          <a:p>
            <a:r>
              <a:rPr lang="zh-TW" altLang="en-US" dirty="0"/>
              <a:t>預設</a:t>
            </a:r>
          </a:p>
        </p:txBody>
      </p:sp>
    </p:spTree>
    <p:extLst>
      <p:ext uri="{BB962C8B-B14F-4D97-AF65-F5344CB8AC3E}">
        <p14:creationId xmlns:p14="http://schemas.microsoft.com/office/powerpoint/2010/main" val="132949863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BF2D4-CFD9-669C-5ED0-9B9F19760CEB}"/>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E8145989-88D3-9646-1689-8F7E2C897555}"/>
              </a:ext>
            </a:extLst>
          </p:cNvPr>
          <p:cNvSpPr>
            <a:spLocks noGrp="1"/>
          </p:cNvSpPr>
          <p:nvPr>
            <p:ph type="body" sz="quarter" idx="13"/>
          </p:nvPr>
        </p:nvSpPr>
        <p:spPr/>
        <p:txBody>
          <a:bodyPr/>
          <a:lstStyle/>
          <a:p>
            <a:r>
              <a:rPr lang="en-US" dirty="0"/>
              <a:t>Terminology  </a:t>
            </a:r>
          </a:p>
          <a:p>
            <a:endParaRPr lang="en-US" dirty="0"/>
          </a:p>
        </p:txBody>
      </p:sp>
      <p:sp>
        <p:nvSpPr>
          <p:cNvPr id="6" name="文字方塊 5">
            <a:extLst>
              <a:ext uri="{FF2B5EF4-FFF2-40B4-BE49-F238E27FC236}">
                <a16:creationId xmlns:a16="http://schemas.microsoft.com/office/drawing/2014/main" id="{3EFDA629-B86D-C006-8029-F59BB8A97EF7}"/>
              </a:ext>
            </a:extLst>
          </p:cNvPr>
          <p:cNvSpPr txBox="1"/>
          <p:nvPr/>
        </p:nvSpPr>
        <p:spPr>
          <a:xfrm>
            <a:off x="571501" y="905346"/>
            <a:ext cx="3457574" cy="375552"/>
          </a:xfrm>
          <a:prstGeom prst="rect">
            <a:avLst/>
          </a:prstGeom>
          <a:noFill/>
        </p:spPr>
        <p:txBody>
          <a:bodyPr wrap="square">
            <a:spAutoFit/>
          </a:bodyPr>
          <a:lstStyle/>
          <a:p>
            <a:pPr>
              <a:lnSpc>
                <a:spcPct val="150000"/>
              </a:lnSpc>
              <a:defRPr/>
            </a:pPr>
            <a:r>
              <a:rPr lang="en-US" altLang="zh-TW" sz="1400" b="1" dirty="0"/>
              <a:t>Case QT </a:t>
            </a:r>
            <a:r>
              <a:rPr lang="en-US" altLang="zh-TW" sz="1400" dirty="0"/>
              <a:t>- Debug Tool – Type-C Board  </a:t>
            </a:r>
          </a:p>
        </p:txBody>
      </p:sp>
      <p:pic>
        <p:nvPicPr>
          <p:cNvPr id="7" name="圖片 6">
            <a:extLst>
              <a:ext uri="{FF2B5EF4-FFF2-40B4-BE49-F238E27FC236}">
                <a16:creationId xmlns:a16="http://schemas.microsoft.com/office/drawing/2014/main" id="{8555FE4C-8B8C-6D6A-0EE3-E91B2FCAA8BC}"/>
              </a:ext>
            </a:extLst>
          </p:cNvPr>
          <p:cNvPicPr>
            <a:picLocks noChangeAspect="1"/>
          </p:cNvPicPr>
          <p:nvPr/>
        </p:nvPicPr>
        <p:blipFill>
          <a:blip r:embed="rId3"/>
          <a:srcRect l="2310" t="62533" r="71042" b="3737"/>
          <a:stretch>
            <a:fillRect/>
          </a:stretch>
        </p:blipFill>
        <p:spPr>
          <a:xfrm>
            <a:off x="672465" y="1906512"/>
            <a:ext cx="3806190" cy="3280410"/>
          </a:xfrm>
          <a:prstGeom prst="rect">
            <a:avLst/>
          </a:prstGeom>
        </p:spPr>
      </p:pic>
      <p:graphicFrame>
        <p:nvGraphicFramePr>
          <p:cNvPr id="2" name="表格 1">
            <a:extLst>
              <a:ext uri="{FF2B5EF4-FFF2-40B4-BE49-F238E27FC236}">
                <a16:creationId xmlns:a16="http://schemas.microsoft.com/office/drawing/2014/main" id="{40AB4454-2D88-8938-2DE9-EB40F9543255}"/>
              </a:ext>
            </a:extLst>
          </p:cNvPr>
          <p:cNvGraphicFramePr>
            <a:graphicFrameLocks noGrp="1"/>
          </p:cNvGraphicFramePr>
          <p:nvPr>
            <p:extLst>
              <p:ext uri="{D42A27DB-BD31-4B8C-83A1-F6EECF244321}">
                <p14:modId xmlns:p14="http://schemas.microsoft.com/office/powerpoint/2010/main" val="979341912"/>
              </p:ext>
            </p:extLst>
          </p:nvPr>
        </p:nvGraphicFramePr>
        <p:xfrm>
          <a:off x="4736010" y="1906512"/>
          <a:ext cx="6653477" cy="3684090"/>
        </p:xfrm>
        <a:graphic>
          <a:graphicData uri="http://schemas.openxmlformats.org/drawingml/2006/table">
            <a:tbl>
              <a:tblPr>
                <a:tableStyleId>{5C22544A-7EE6-4342-B048-85BDC9FD1C3A}</a:tableStyleId>
              </a:tblPr>
              <a:tblGrid>
                <a:gridCol w="1965732">
                  <a:extLst>
                    <a:ext uri="{9D8B030D-6E8A-4147-A177-3AD203B41FA5}">
                      <a16:colId xmlns:a16="http://schemas.microsoft.com/office/drawing/2014/main" val="2399207661"/>
                    </a:ext>
                  </a:extLst>
                </a:gridCol>
                <a:gridCol w="2812648">
                  <a:extLst>
                    <a:ext uri="{9D8B030D-6E8A-4147-A177-3AD203B41FA5}">
                      <a16:colId xmlns:a16="http://schemas.microsoft.com/office/drawing/2014/main" val="3763266389"/>
                    </a:ext>
                  </a:extLst>
                </a:gridCol>
                <a:gridCol w="1875097">
                  <a:extLst>
                    <a:ext uri="{9D8B030D-6E8A-4147-A177-3AD203B41FA5}">
                      <a16:colId xmlns:a16="http://schemas.microsoft.com/office/drawing/2014/main" val="2752996685"/>
                    </a:ext>
                  </a:extLst>
                </a:gridCol>
              </a:tblGrid>
              <a:tr h="273586">
                <a:tc>
                  <a:txBody>
                    <a:bodyPr/>
                    <a:lstStyle/>
                    <a:p>
                      <a:pPr algn="l" fontAlgn="ctr">
                        <a:buNone/>
                      </a:pPr>
                      <a:r>
                        <a:rPr lang="en-US" sz="1400" b="1" u="none" strike="noStrike" dirty="0">
                          <a:solidFill>
                            <a:schemeClr val="bg1"/>
                          </a:solidFill>
                          <a:effectLst/>
                        </a:rPr>
                        <a:t>Functions</a:t>
                      </a:r>
                      <a:endParaRPr lang="en-US" sz="1400" b="1" i="0" u="none" strike="noStrike" dirty="0">
                        <a:solidFill>
                          <a:schemeClr val="bg1"/>
                        </a:solidFill>
                        <a:effectLst/>
                        <a:latin typeface="新細明體" panose="02020500000000000000" pitchFamily="18" charset="-120"/>
                        <a:ea typeface="新細明體" panose="02020500000000000000" pitchFamily="18" charset="-120"/>
                      </a:endParaRPr>
                    </a:p>
                  </a:txBody>
                  <a:tcPr marL="6881" marR="6881" marT="6881"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accent6">
                        <a:lumMod val="75000"/>
                      </a:schemeClr>
                    </a:solidFill>
                  </a:tcPr>
                </a:tc>
                <a:tc>
                  <a:txBody>
                    <a:bodyPr/>
                    <a:lstStyle/>
                    <a:p>
                      <a:pPr algn="l" fontAlgn="ctr">
                        <a:buNone/>
                      </a:pPr>
                      <a:r>
                        <a:rPr lang="en-US" sz="1400" b="1" u="none" strike="noStrike" dirty="0">
                          <a:solidFill>
                            <a:schemeClr val="bg1"/>
                          </a:solidFill>
                          <a:effectLst/>
                        </a:rPr>
                        <a:t>Command</a:t>
                      </a:r>
                      <a:endParaRPr lang="en-US" sz="1400" b="1" i="0" u="none" strike="noStrike" dirty="0">
                        <a:solidFill>
                          <a:schemeClr val="bg1"/>
                        </a:solidFill>
                        <a:effectLst/>
                        <a:latin typeface="新細明體" panose="02020500000000000000" pitchFamily="18" charset="-120"/>
                        <a:ea typeface="新細明體" panose="02020500000000000000" pitchFamily="18" charset="-120"/>
                      </a:endParaRPr>
                    </a:p>
                  </a:txBody>
                  <a:tcPr marL="6881" marR="6881" marT="6881" marB="0" anchor="ctr">
                    <a:lnT w="12700" cap="flat" cmpd="sng" algn="ctr">
                      <a:solidFill>
                        <a:schemeClr val="tx1"/>
                      </a:solidFill>
                      <a:prstDash val="solid"/>
                      <a:round/>
                      <a:headEnd type="none" w="med" len="med"/>
                      <a:tailEnd type="none" w="med" len="med"/>
                    </a:lnT>
                    <a:solidFill>
                      <a:schemeClr val="accent6">
                        <a:lumMod val="7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TW" sz="1400" b="1" u="none" strike="noStrike" kern="1200" dirty="0">
                          <a:solidFill>
                            <a:schemeClr val="bg1"/>
                          </a:solidFill>
                          <a:effectLst/>
                          <a:latin typeface="+mn-lt"/>
                          <a:ea typeface="+mn-ea"/>
                          <a:cs typeface="+mn-cs"/>
                        </a:rPr>
                        <a:t>Note</a:t>
                      </a:r>
                    </a:p>
                  </a:txBody>
                  <a:tcPr marL="6881" marR="6881" marT="6881"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6">
                        <a:lumMod val="75000"/>
                      </a:schemeClr>
                    </a:solidFill>
                  </a:tcPr>
                </a:tc>
                <a:extLst>
                  <a:ext uri="{0D108BD9-81ED-4DB2-BD59-A6C34878D82A}">
                    <a16:rowId xmlns:a16="http://schemas.microsoft.com/office/drawing/2014/main" val="354823464"/>
                  </a:ext>
                </a:extLst>
              </a:tr>
              <a:tr h="403678">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zh-TW" altLang="en-US" sz="1400" b="0" kern="1200" dirty="0">
                          <a:solidFill>
                            <a:schemeClr val="dk1"/>
                          </a:solidFill>
                          <a:effectLst/>
                          <a:latin typeface="+mn-lt"/>
                          <a:ea typeface="+mn-ea"/>
                          <a:cs typeface="+mn-cs"/>
                        </a:rPr>
                        <a:t>設定</a:t>
                      </a:r>
                      <a:r>
                        <a:rPr lang="en-US" altLang="zh-TW" sz="1400" b="0" kern="1200" dirty="0" err="1">
                          <a:solidFill>
                            <a:schemeClr val="dk1"/>
                          </a:solidFill>
                          <a:effectLst/>
                          <a:latin typeface="+mn-lt"/>
                          <a:ea typeface="+mn-ea"/>
                          <a:cs typeface="+mn-cs"/>
                        </a:rPr>
                        <a:t>vbus</a:t>
                      </a:r>
                      <a:r>
                        <a:rPr lang="zh-TW" altLang="en-US" sz="1400" b="0" kern="1200" dirty="0">
                          <a:solidFill>
                            <a:schemeClr val="dk1"/>
                          </a:solidFill>
                          <a:effectLst/>
                          <a:latin typeface="+mn-lt"/>
                          <a:ea typeface="+mn-ea"/>
                          <a:cs typeface="+mn-cs"/>
                        </a:rPr>
                        <a:t>電壓值</a:t>
                      </a:r>
                    </a:p>
                  </a:txBody>
                  <a:tcPr marL="6881" marR="6881" marT="6881" marB="0" anchor="ctr">
                    <a:lnL w="12700" cap="flat" cmpd="sng" algn="ctr">
                      <a:solidFill>
                        <a:schemeClr val="tx1"/>
                      </a:solidFill>
                      <a:prstDash val="solid"/>
                      <a:round/>
                      <a:headEnd type="none" w="med" len="med"/>
                      <a:tailEnd type="none" w="med" len="med"/>
                    </a:ln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zh-TW" sz="1400" b="0" kern="1200" dirty="0" err="1">
                          <a:solidFill>
                            <a:schemeClr val="dk1"/>
                          </a:solidFill>
                          <a:effectLst/>
                          <a:latin typeface="+mn-lt"/>
                          <a:ea typeface="+mn-ea"/>
                          <a:cs typeface="+mn-cs"/>
                          <a:hlinkClick r:id="rId4" action="ppaction://hlinksldjump"/>
                        </a:rPr>
                        <a:t>vbus</a:t>
                      </a:r>
                      <a:r>
                        <a:rPr lang="en-US" altLang="zh-TW" sz="1400" b="0" kern="1200" dirty="0">
                          <a:solidFill>
                            <a:schemeClr val="dk1"/>
                          </a:solidFill>
                          <a:effectLst/>
                          <a:latin typeface="+mn-lt"/>
                          <a:ea typeface="+mn-ea"/>
                          <a:cs typeface="+mn-cs"/>
                          <a:hlinkClick r:id="rId4" action="ppaction://hlinksldjump"/>
                        </a:rPr>
                        <a:t>[1][m]</a:t>
                      </a:r>
                      <a:endParaRPr lang="zh-TW" altLang="en-US" sz="1400" b="0" kern="1200" dirty="0">
                        <a:solidFill>
                          <a:schemeClr val="dk1"/>
                        </a:solidFill>
                        <a:effectLst/>
                        <a:latin typeface="+mn-lt"/>
                        <a:ea typeface="+mn-ea"/>
                        <a:cs typeface="+mn-cs"/>
                      </a:endParaRPr>
                    </a:p>
                  </a:txBody>
                  <a:tcPr marL="6881" marR="6881" marT="6881" marB="0" anchor="ctr"/>
                </a:tc>
                <a:tc>
                  <a:txBody>
                    <a:bodyPr/>
                    <a:lstStyle/>
                    <a:p>
                      <a:pPr algn="l" fontAlgn="ctr">
                        <a:buNone/>
                      </a:pPr>
                      <a:r>
                        <a:rPr lang="en-US" altLang="zh-TW" sz="1400" b="0" kern="1200" dirty="0" err="1">
                          <a:solidFill>
                            <a:schemeClr val="dk1"/>
                          </a:solidFill>
                          <a:effectLst/>
                          <a:latin typeface="+mn-lt"/>
                          <a:ea typeface="+mn-ea"/>
                          <a:cs typeface="+mn-cs"/>
                        </a:rPr>
                        <a:t>m</a:t>
                      </a:r>
                      <a:r>
                        <a:rPr lang="en-US" sz="1400" b="0" kern="1200" dirty="0" err="1">
                          <a:solidFill>
                            <a:schemeClr val="dk1"/>
                          </a:solidFill>
                          <a:effectLst/>
                          <a:latin typeface="+mn-lt"/>
                          <a:ea typeface="+mn-ea"/>
                          <a:cs typeface="+mn-cs"/>
                        </a:rPr>
                        <a:t>電壓值</a:t>
                      </a:r>
                      <a:r>
                        <a:rPr lang="en-US" sz="1400" b="0" kern="1200" dirty="0">
                          <a:solidFill>
                            <a:schemeClr val="dk1"/>
                          </a:solidFill>
                          <a:effectLst/>
                          <a:latin typeface="+mn-lt"/>
                          <a:ea typeface="+mn-ea"/>
                          <a:cs typeface="+mn-cs"/>
                        </a:rPr>
                        <a:t>(</a:t>
                      </a:r>
                      <a:r>
                        <a:rPr lang="en-US" altLang="zh-TW" sz="1400" b="0" kern="1200" dirty="0">
                          <a:solidFill>
                            <a:schemeClr val="dk1"/>
                          </a:solidFill>
                          <a:effectLst/>
                          <a:latin typeface="+mn-lt"/>
                          <a:ea typeface="+mn-ea"/>
                          <a:cs typeface="+mn-cs"/>
                        </a:rPr>
                        <a:t>0 / 5)</a:t>
                      </a:r>
                      <a:r>
                        <a:rPr lang="en-US" sz="1400" b="0" kern="1200" dirty="0">
                          <a:solidFill>
                            <a:schemeClr val="dk1"/>
                          </a:solidFill>
                          <a:effectLst/>
                          <a:latin typeface="+mn-lt"/>
                          <a:ea typeface="+mn-ea"/>
                          <a:cs typeface="+mn-cs"/>
                        </a:rPr>
                        <a:t>Ｖ</a:t>
                      </a:r>
                    </a:p>
                  </a:txBody>
                  <a:tcPr marL="6881" marR="6881" marT="6881"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66960930"/>
                  </a:ext>
                </a:extLst>
              </a:tr>
              <a:tr h="494218">
                <a:tc>
                  <a:txBody>
                    <a:bodyPr/>
                    <a:lstStyle/>
                    <a:p>
                      <a:pPr algn="l" fontAlgn="ctr">
                        <a:buNone/>
                      </a:pPr>
                      <a:r>
                        <a:rPr lang="en-US" altLang="zh-TW" sz="1400" u="none" strike="noStrike" dirty="0" err="1">
                          <a:effectLst/>
                        </a:rPr>
                        <a:t>Vbus</a:t>
                      </a:r>
                      <a:r>
                        <a:rPr lang="zh-TW" altLang="en-US" sz="1400" u="none" strike="noStrike" dirty="0">
                          <a:effectLst/>
                        </a:rPr>
                        <a:t>接觸電阻通道打開</a:t>
                      </a:r>
                      <a:endParaRPr lang="en-US" altLang="zh-TW" sz="1400" b="0" i="0" u="none" strike="noStrike" dirty="0">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lnL w="12700" cap="flat" cmpd="sng" algn="ctr">
                      <a:solidFill>
                        <a:schemeClr val="tx1"/>
                      </a:solidFill>
                      <a:prstDash val="solid"/>
                      <a:round/>
                      <a:headEnd type="none" w="med" len="med"/>
                      <a:tailEnd type="none" w="med" len="med"/>
                    </a:ln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zh-TW" sz="1400" u="none" strike="noStrike" dirty="0" err="1">
                          <a:effectLst/>
                          <a:hlinkClick r:id="rId5" action="ppaction://hlinksldjump"/>
                        </a:rPr>
                        <a:t>test_vbus_contact_resistance_on</a:t>
                      </a:r>
                      <a:endParaRPr lang="en-US" altLang="zh-TW" sz="1400" b="0" i="0" u="none" strike="noStrike" dirty="0">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tc>
                <a:tc>
                  <a:txBody>
                    <a:bodyPr/>
                    <a:lstStyle/>
                    <a:p>
                      <a:pPr algn="l" fontAlgn="ctr">
                        <a:buNone/>
                      </a:pPr>
                      <a:endParaRPr lang="en-US" sz="1400" b="0" i="0" u="none" strike="noStrike" dirty="0">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4114539500"/>
                  </a:ext>
                </a:extLst>
              </a:tr>
              <a:tr h="494218">
                <a:tc>
                  <a:txBody>
                    <a:bodyPr/>
                    <a:lstStyle/>
                    <a:p>
                      <a:pPr algn="l" fontAlgn="ctr">
                        <a:buNone/>
                      </a:pPr>
                      <a:r>
                        <a:rPr lang="en-US" altLang="zh-TW" sz="1400" u="none" strike="noStrike" dirty="0" err="1">
                          <a:effectLst/>
                        </a:rPr>
                        <a:t>Vbus</a:t>
                      </a:r>
                      <a:r>
                        <a:rPr lang="zh-TW" altLang="en-US" sz="1400" u="none" strike="noStrike" dirty="0">
                          <a:effectLst/>
                        </a:rPr>
                        <a:t>接觸電阻通道關閉</a:t>
                      </a:r>
                      <a:endParaRPr lang="en-US" altLang="zh-TW" sz="1400" b="0" i="0" u="none" strike="noStrike" dirty="0">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lnL w="12700" cap="flat" cmpd="sng" algn="ctr">
                      <a:solidFill>
                        <a:schemeClr val="tx1"/>
                      </a:solidFill>
                      <a:prstDash val="solid"/>
                      <a:round/>
                      <a:headEnd type="none" w="med" len="med"/>
                      <a:tailEnd type="none" w="med" len="med"/>
                    </a:ln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zh-TW" sz="1400" u="none" strike="noStrike" dirty="0" err="1">
                          <a:effectLst/>
                          <a:hlinkClick r:id="rId5" action="ppaction://hlinksldjump"/>
                        </a:rPr>
                        <a:t>test_vbus_contact_resistance_off</a:t>
                      </a:r>
                      <a:endParaRPr lang="en-US" altLang="zh-TW" sz="1400" b="0" i="0" u="none" strike="noStrike" dirty="0">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tc>
                <a:tc>
                  <a:txBody>
                    <a:bodyPr/>
                    <a:lstStyle/>
                    <a:p>
                      <a:pPr algn="l" fontAlgn="ctr">
                        <a:buNone/>
                      </a:pPr>
                      <a:endParaRPr lang="en-US" sz="1400" b="0" i="0" u="none" strike="noStrike" dirty="0">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855035783"/>
                  </a:ext>
                </a:extLst>
              </a:tr>
              <a:tr h="403678">
                <a:tc>
                  <a:txBody>
                    <a:bodyPr/>
                    <a:lstStyle/>
                    <a:p>
                      <a:pPr algn="l" fontAlgn="ctr">
                        <a:buNone/>
                      </a:pPr>
                      <a:r>
                        <a:rPr lang="zh-TW" altLang="en-US" sz="1400" u="none" strike="noStrike" dirty="0">
                          <a:effectLst/>
                        </a:rPr>
                        <a:t>獲取</a:t>
                      </a:r>
                      <a:r>
                        <a:rPr lang="en-US" altLang="zh-TW" sz="1400" u="none" strike="noStrike" dirty="0" err="1">
                          <a:effectLst/>
                        </a:rPr>
                        <a:t>vbus</a:t>
                      </a:r>
                      <a:r>
                        <a:rPr lang="zh-TW" altLang="en-US" sz="1400" u="none" strike="noStrike" dirty="0">
                          <a:effectLst/>
                        </a:rPr>
                        <a:t>電壓</a:t>
                      </a:r>
                      <a:endParaRPr lang="zh-TW" altLang="en-US" sz="1400" b="0" i="0" u="none" strike="noStrike" dirty="0">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lnL w="12700" cap="flat" cmpd="sng" algn="ctr">
                      <a:solidFill>
                        <a:schemeClr val="tx1"/>
                      </a:solidFill>
                      <a:prstDash val="solid"/>
                      <a:round/>
                      <a:headEnd type="none" w="med" len="med"/>
                      <a:tailEnd type="none" w="med" len="med"/>
                    </a:ln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zh-TW" sz="1400" b="0" kern="1200" dirty="0" err="1">
                          <a:solidFill>
                            <a:schemeClr val="dk1"/>
                          </a:solidFill>
                          <a:effectLst/>
                          <a:latin typeface="+mn-lt"/>
                          <a:ea typeface="+mn-ea"/>
                          <a:cs typeface="+mn-cs"/>
                          <a:hlinkClick r:id="rId6" action="ppaction://hlinksldjump"/>
                        </a:rPr>
                        <a:t>getvoltage</a:t>
                      </a:r>
                      <a:endParaRPr lang="en-US" altLang="zh-TW" sz="1400" b="0" kern="1200" dirty="0">
                        <a:solidFill>
                          <a:schemeClr val="dk1"/>
                        </a:solidFill>
                        <a:effectLst/>
                        <a:latin typeface="+mn-lt"/>
                        <a:ea typeface="+mn-ea"/>
                        <a:cs typeface="+mn-cs"/>
                      </a:endParaRPr>
                    </a:p>
                  </a:txBody>
                  <a:tcPr marL="6881" marR="6881" marT="6881" marB="0" anchor="ctr"/>
                </a:tc>
                <a:tc>
                  <a:txBody>
                    <a:bodyPr/>
                    <a:lstStyle/>
                    <a:p>
                      <a:pPr algn="l" fontAlgn="ctr">
                        <a:buNone/>
                      </a:pPr>
                      <a:endParaRPr lang="en-US" sz="1400" b="0" i="0" u="none" strike="noStrike">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061607005"/>
                  </a:ext>
                </a:extLst>
              </a:tr>
              <a:tr h="403678">
                <a:tc>
                  <a:txBody>
                    <a:bodyPr/>
                    <a:lstStyle/>
                    <a:p>
                      <a:pPr algn="l" fontAlgn="ctr">
                        <a:buNone/>
                      </a:pPr>
                      <a:r>
                        <a:rPr lang="zh-TW" altLang="en-US" sz="1400" u="none" strike="noStrike" dirty="0">
                          <a:effectLst/>
                        </a:rPr>
                        <a:t>獲取</a:t>
                      </a:r>
                      <a:r>
                        <a:rPr lang="en-US" altLang="zh-TW" sz="1400" u="none" strike="noStrike" dirty="0" err="1">
                          <a:effectLst/>
                        </a:rPr>
                        <a:t>vbus</a:t>
                      </a:r>
                      <a:r>
                        <a:rPr lang="zh-TW" altLang="en-US" sz="1400" u="none" strike="noStrike" dirty="0">
                          <a:effectLst/>
                        </a:rPr>
                        <a:t>電流</a:t>
                      </a:r>
                      <a:endParaRPr lang="zh-TW" altLang="en-US" sz="1400" b="0" i="0" u="none" strike="noStrike" dirty="0">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lnL w="12700" cap="flat" cmpd="sng" algn="ctr">
                      <a:solidFill>
                        <a:schemeClr val="tx1"/>
                      </a:solidFill>
                      <a:prstDash val="solid"/>
                      <a:round/>
                      <a:headEnd type="none" w="med" len="med"/>
                      <a:tailEnd type="none" w="med" len="med"/>
                    </a:ln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zh-TW" sz="1400" b="0" kern="1200" dirty="0">
                          <a:solidFill>
                            <a:schemeClr val="dk1"/>
                          </a:solidFill>
                          <a:effectLst/>
                          <a:latin typeface="+mn-lt"/>
                          <a:ea typeface="+mn-ea"/>
                          <a:cs typeface="+mn-cs"/>
                          <a:hlinkClick r:id="rId6" action="ppaction://hlinksldjump"/>
                        </a:rPr>
                        <a:t>getcurrent</a:t>
                      </a:r>
                      <a:endParaRPr lang="en-US" altLang="zh-TW" sz="1400" b="0" kern="1200" dirty="0">
                        <a:solidFill>
                          <a:schemeClr val="dk1"/>
                        </a:solidFill>
                        <a:effectLst/>
                        <a:latin typeface="+mn-lt"/>
                        <a:ea typeface="+mn-ea"/>
                        <a:cs typeface="+mn-cs"/>
                      </a:endParaRPr>
                    </a:p>
                  </a:txBody>
                  <a:tcPr marL="6881" marR="6881" marT="6881" marB="0" anchor="ctr"/>
                </a:tc>
                <a:tc>
                  <a:txBody>
                    <a:bodyPr/>
                    <a:lstStyle/>
                    <a:p>
                      <a:pPr algn="l" fontAlgn="ctr">
                        <a:buNone/>
                      </a:pPr>
                      <a:endParaRPr lang="en-US" sz="1400" b="0" i="0" u="none" strike="noStrike">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624649554"/>
                  </a:ext>
                </a:extLst>
              </a:tr>
              <a:tr h="403678">
                <a:tc>
                  <a:txBody>
                    <a:bodyPr/>
                    <a:lstStyle/>
                    <a:p>
                      <a:pPr algn="l" fontAlgn="ctr">
                        <a:buNone/>
                      </a:pPr>
                      <a:r>
                        <a:rPr lang="en-US" altLang="zh-TW" sz="1400" u="none" strike="noStrike" kern="1200" dirty="0">
                          <a:solidFill>
                            <a:schemeClr val="dk1"/>
                          </a:solidFill>
                          <a:effectLst/>
                          <a:latin typeface="+mn-lt"/>
                          <a:ea typeface="+mn-ea"/>
                          <a:cs typeface="+mn-cs"/>
                        </a:rPr>
                        <a:t>PC MODE ON</a:t>
                      </a:r>
                      <a:endParaRPr lang="zh-TW" altLang="en-US" sz="1400" u="none" strike="noStrike" kern="1200" dirty="0">
                        <a:solidFill>
                          <a:schemeClr val="dk1"/>
                        </a:solidFill>
                        <a:effectLst/>
                        <a:latin typeface="+mn-lt"/>
                        <a:ea typeface="+mn-ea"/>
                        <a:cs typeface="+mn-cs"/>
                      </a:endParaRPr>
                    </a:p>
                  </a:txBody>
                  <a:tcPr marL="6881" marR="6881" marT="6881" marB="0" anchor="ctr">
                    <a:lnL w="12700" cap="flat" cmpd="sng" algn="ctr">
                      <a:solidFill>
                        <a:schemeClr val="tx1"/>
                      </a:solidFill>
                      <a:prstDash val="solid"/>
                      <a:round/>
                      <a:headEnd type="none" w="med" len="med"/>
                      <a:tailEnd type="none" w="med" len="med"/>
                    </a:ln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zh-TW" sz="1400" u="none" strike="noStrike" dirty="0">
                          <a:effectLst/>
                          <a:hlinkClick r:id="rId7" action="ppaction://hlinksldjump"/>
                        </a:rPr>
                        <a:t>PC_MODE_ON</a:t>
                      </a:r>
                      <a:endParaRPr lang="en-US" altLang="zh-TW" sz="1400" b="0" i="0" u="none" strike="noStrike" dirty="0">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tc>
                <a:tc>
                  <a:txBody>
                    <a:bodyPr/>
                    <a:lstStyle/>
                    <a:p>
                      <a:pPr algn="l" fontAlgn="ctr">
                        <a:buNone/>
                      </a:pPr>
                      <a:r>
                        <a:rPr lang="en-US" sz="1400" b="0" kern="1200" dirty="0" err="1">
                          <a:solidFill>
                            <a:schemeClr val="dk1"/>
                          </a:solidFill>
                          <a:effectLst/>
                          <a:latin typeface="+mn-lt"/>
                          <a:ea typeface="+mn-ea"/>
                          <a:cs typeface="+mn-cs"/>
                        </a:rPr>
                        <a:t>開啟DUT</a:t>
                      </a:r>
                      <a:r>
                        <a:rPr lang="zh-TW" altLang="en-US" sz="1400" b="0" kern="1200" dirty="0">
                          <a:solidFill>
                            <a:schemeClr val="dk1"/>
                          </a:solidFill>
                          <a:effectLst/>
                          <a:latin typeface="+mn-lt"/>
                          <a:ea typeface="+mn-ea"/>
                          <a:cs typeface="+mn-cs"/>
                        </a:rPr>
                        <a:t> </a:t>
                      </a:r>
                      <a:r>
                        <a:rPr lang="en-US" altLang="zh-TW" sz="1400" b="0" kern="1200" dirty="0">
                          <a:solidFill>
                            <a:schemeClr val="dk1"/>
                          </a:solidFill>
                          <a:effectLst/>
                          <a:latin typeface="+mn-lt"/>
                          <a:ea typeface="+mn-ea"/>
                          <a:cs typeface="+mn-cs"/>
                        </a:rPr>
                        <a:t>USB</a:t>
                      </a:r>
                      <a:r>
                        <a:rPr lang="zh-TW" altLang="en-US" sz="1400" b="0" kern="1200" dirty="0">
                          <a:solidFill>
                            <a:schemeClr val="dk1"/>
                          </a:solidFill>
                          <a:effectLst/>
                          <a:latin typeface="+mn-lt"/>
                          <a:ea typeface="+mn-ea"/>
                          <a:cs typeface="+mn-cs"/>
                        </a:rPr>
                        <a:t>通訊</a:t>
                      </a:r>
                      <a:endParaRPr lang="en-US" sz="1400" b="0" kern="1200" dirty="0">
                        <a:solidFill>
                          <a:schemeClr val="dk1"/>
                        </a:solidFill>
                        <a:effectLst/>
                        <a:latin typeface="+mn-lt"/>
                        <a:ea typeface="+mn-ea"/>
                        <a:cs typeface="+mn-cs"/>
                      </a:endParaRPr>
                    </a:p>
                  </a:txBody>
                  <a:tcPr marL="6881" marR="6881" marT="6881"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854751357"/>
                  </a:ext>
                </a:extLst>
              </a:tr>
              <a:tr h="403678">
                <a:tc>
                  <a:txBody>
                    <a:bodyPr/>
                    <a:lstStyle/>
                    <a:p>
                      <a:pPr algn="l" fontAlgn="ctr">
                        <a:buNone/>
                      </a:pPr>
                      <a:r>
                        <a:rPr lang="en-US" altLang="zh-TW" sz="1400" u="none" strike="noStrike" kern="1200" dirty="0">
                          <a:solidFill>
                            <a:schemeClr val="dk1"/>
                          </a:solidFill>
                          <a:effectLst/>
                          <a:latin typeface="+mn-lt"/>
                          <a:ea typeface="+mn-ea"/>
                          <a:cs typeface="+mn-cs"/>
                        </a:rPr>
                        <a:t>PC MODE OFF</a:t>
                      </a:r>
                      <a:endParaRPr lang="zh-TW" altLang="en-US" sz="1400" u="none" strike="noStrike" kern="1200" dirty="0">
                        <a:solidFill>
                          <a:schemeClr val="dk1"/>
                        </a:solidFill>
                        <a:effectLst/>
                        <a:latin typeface="+mn-lt"/>
                        <a:ea typeface="+mn-ea"/>
                        <a:cs typeface="+mn-cs"/>
                      </a:endParaRPr>
                    </a:p>
                  </a:txBody>
                  <a:tcPr marL="6881" marR="6881" marT="6881" marB="0" anchor="ctr">
                    <a:lnL w="12700" cap="flat" cmpd="sng" algn="ctr">
                      <a:solidFill>
                        <a:schemeClr val="tx1"/>
                      </a:solidFill>
                      <a:prstDash val="solid"/>
                      <a:round/>
                      <a:headEnd type="none" w="med" len="med"/>
                      <a:tailEnd type="none" w="med" len="med"/>
                    </a:ln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zh-TW" sz="1400" u="none" strike="noStrike" dirty="0">
                          <a:effectLst/>
                        </a:rPr>
                        <a:t>PC_MODE_OFF</a:t>
                      </a:r>
                      <a:endParaRPr lang="en-US" altLang="zh-TW" sz="1400" b="0" i="0" u="none" strike="noStrike" dirty="0">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tc>
                <a:tc>
                  <a:txBody>
                    <a:bodyPr/>
                    <a:lstStyle/>
                    <a:p>
                      <a:pPr algn="l" fontAlgn="ctr">
                        <a:buNone/>
                      </a:pPr>
                      <a:r>
                        <a:rPr lang="en-US" sz="1400" b="0" kern="1200" dirty="0" err="1">
                          <a:solidFill>
                            <a:schemeClr val="dk1"/>
                          </a:solidFill>
                          <a:effectLst/>
                          <a:latin typeface="+mn-lt"/>
                          <a:ea typeface="+mn-ea"/>
                          <a:cs typeface="+mn-cs"/>
                        </a:rPr>
                        <a:t>調適用指令</a:t>
                      </a:r>
                      <a:r>
                        <a:rPr lang="zh-TW" altLang="en-US" sz="1400" b="0" kern="1200" dirty="0">
                          <a:solidFill>
                            <a:schemeClr val="dk1"/>
                          </a:solidFill>
                          <a:effectLst/>
                          <a:latin typeface="+mn-lt"/>
                          <a:ea typeface="+mn-ea"/>
                          <a:cs typeface="+mn-cs"/>
                        </a:rPr>
                        <a:t> </a:t>
                      </a:r>
                      <a:endParaRPr lang="en-US" sz="1400" b="0" kern="1200" dirty="0">
                        <a:solidFill>
                          <a:schemeClr val="dk1"/>
                        </a:solidFill>
                        <a:effectLst/>
                        <a:latin typeface="+mn-lt"/>
                        <a:ea typeface="+mn-ea"/>
                        <a:cs typeface="+mn-cs"/>
                      </a:endParaRPr>
                    </a:p>
                  </a:txBody>
                  <a:tcPr marL="6881" marR="6881" marT="6881"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57910987"/>
                  </a:ext>
                </a:extLst>
              </a:tr>
              <a:tr h="403678">
                <a:tc>
                  <a:txBody>
                    <a:bodyPr/>
                    <a:lstStyle/>
                    <a:p>
                      <a:pPr algn="l" fontAlgn="ctr">
                        <a:buNone/>
                      </a:pPr>
                      <a:r>
                        <a:rPr lang="zh-TW" altLang="en-US" sz="1400" u="none" strike="noStrike" kern="1200" dirty="0">
                          <a:solidFill>
                            <a:schemeClr val="dk1"/>
                          </a:solidFill>
                          <a:effectLst/>
                          <a:latin typeface="+mn-lt"/>
                          <a:ea typeface="+mn-ea"/>
                          <a:cs typeface="+mn-cs"/>
                        </a:rPr>
                        <a:t>復位</a:t>
                      </a:r>
                    </a:p>
                  </a:txBody>
                  <a:tcPr marL="6881" marR="6881" marT="6881"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400" b="0" kern="1200" dirty="0">
                          <a:solidFill>
                            <a:schemeClr val="dk1"/>
                          </a:solidFill>
                          <a:effectLst/>
                          <a:latin typeface="+mn-lt"/>
                          <a:ea typeface="+mn-ea"/>
                          <a:cs typeface="+mn-cs"/>
                          <a:hlinkClick r:id="rId8" action="ppaction://hlinksldjump"/>
                        </a:rPr>
                        <a:t>reset</a:t>
                      </a:r>
                      <a:endParaRPr lang="en-US" sz="1400" b="0" kern="1200" dirty="0">
                        <a:solidFill>
                          <a:schemeClr val="dk1"/>
                        </a:solidFill>
                        <a:effectLst/>
                        <a:latin typeface="+mn-lt"/>
                        <a:ea typeface="+mn-ea"/>
                        <a:cs typeface="+mn-cs"/>
                      </a:endParaRPr>
                    </a:p>
                  </a:txBody>
                  <a:tcPr marL="6881" marR="6881" marT="6881" marB="0" anchor="ctr">
                    <a:lnB w="12700" cap="flat" cmpd="sng" algn="ctr">
                      <a:solidFill>
                        <a:schemeClr val="tx1"/>
                      </a:solidFill>
                      <a:prstDash val="solid"/>
                      <a:round/>
                      <a:headEnd type="none" w="med" len="med"/>
                      <a:tailEnd type="none" w="med" len="med"/>
                    </a:lnB>
                  </a:tcPr>
                </a:tc>
                <a:tc>
                  <a:txBody>
                    <a:bodyPr/>
                    <a:lstStyle/>
                    <a:p>
                      <a:pPr algn="l" fontAlgn="ctr">
                        <a:buNone/>
                      </a:pPr>
                      <a:endParaRPr lang="en-US" sz="1400" b="0" i="0" u="none" strike="noStrike" dirty="0">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55807077"/>
                  </a:ext>
                </a:extLst>
              </a:tr>
            </a:tbl>
          </a:graphicData>
        </a:graphic>
      </p:graphicFrame>
    </p:spTree>
    <p:extLst>
      <p:ext uri="{BB962C8B-B14F-4D97-AF65-F5344CB8AC3E}">
        <p14:creationId xmlns:p14="http://schemas.microsoft.com/office/powerpoint/2010/main" val="368321723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3B2B57-9747-D242-E64E-866D94032554}"/>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F7E94655-1C9C-98C1-9C89-0FE81CF2CE12}"/>
              </a:ext>
            </a:extLst>
          </p:cNvPr>
          <p:cNvSpPr>
            <a:spLocks noGrp="1"/>
          </p:cNvSpPr>
          <p:nvPr>
            <p:ph type="body" sz="quarter" idx="13"/>
          </p:nvPr>
        </p:nvSpPr>
        <p:spPr/>
        <p:txBody>
          <a:bodyPr/>
          <a:lstStyle/>
          <a:p>
            <a:r>
              <a:rPr lang="en-US" dirty="0"/>
              <a:t>Terminology  </a:t>
            </a:r>
          </a:p>
          <a:p>
            <a:endParaRPr lang="en-US" dirty="0"/>
          </a:p>
        </p:txBody>
      </p:sp>
      <p:sp>
        <p:nvSpPr>
          <p:cNvPr id="6" name="文字方塊 5">
            <a:extLst>
              <a:ext uri="{FF2B5EF4-FFF2-40B4-BE49-F238E27FC236}">
                <a16:creationId xmlns:a16="http://schemas.microsoft.com/office/drawing/2014/main" id="{5F694EED-FA06-6EB7-AA73-DB0CF51F1BD5}"/>
              </a:ext>
            </a:extLst>
          </p:cNvPr>
          <p:cNvSpPr txBox="1"/>
          <p:nvPr/>
        </p:nvSpPr>
        <p:spPr>
          <a:xfrm>
            <a:off x="571501" y="905346"/>
            <a:ext cx="3457574" cy="375552"/>
          </a:xfrm>
          <a:prstGeom prst="rect">
            <a:avLst/>
          </a:prstGeom>
          <a:noFill/>
        </p:spPr>
        <p:txBody>
          <a:bodyPr wrap="square">
            <a:spAutoFit/>
          </a:bodyPr>
          <a:lstStyle/>
          <a:p>
            <a:pPr>
              <a:lnSpc>
                <a:spcPct val="150000"/>
              </a:lnSpc>
              <a:defRPr/>
            </a:pPr>
            <a:r>
              <a:rPr lang="en-US" altLang="zh-TW" sz="1400" b="1" dirty="0"/>
              <a:t>Case QT </a:t>
            </a:r>
            <a:r>
              <a:rPr lang="en-US" altLang="zh-TW" sz="1400" dirty="0"/>
              <a:t>- Debug Tool – </a:t>
            </a:r>
            <a:r>
              <a:rPr kumimoji="1" lang="en-US" altLang="zh-TW" sz="1400" dirty="0"/>
              <a:t>LED Analysis </a:t>
            </a:r>
            <a:endParaRPr lang="en-US" altLang="zh-TW" sz="1400" dirty="0"/>
          </a:p>
        </p:txBody>
      </p:sp>
      <p:pic>
        <p:nvPicPr>
          <p:cNvPr id="7" name="圖片 6">
            <a:extLst>
              <a:ext uri="{FF2B5EF4-FFF2-40B4-BE49-F238E27FC236}">
                <a16:creationId xmlns:a16="http://schemas.microsoft.com/office/drawing/2014/main" id="{4597E05C-0971-BAEB-5055-12750E1ECD09}"/>
              </a:ext>
            </a:extLst>
          </p:cNvPr>
          <p:cNvPicPr>
            <a:picLocks noChangeAspect="1"/>
          </p:cNvPicPr>
          <p:nvPr/>
        </p:nvPicPr>
        <p:blipFill>
          <a:blip r:embed="rId3"/>
          <a:srcRect l="66071" t="6572" r="1987" b="77774"/>
          <a:stretch>
            <a:fillRect/>
          </a:stretch>
        </p:blipFill>
        <p:spPr>
          <a:xfrm>
            <a:off x="3307080" y="1614743"/>
            <a:ext cx="4562476" cy="1522488"/>
          </a:xfrm>
          <a:prstGeom prst="rect">
            <a:avLst/>
          </a:prstGeom>
        </p:spPr>
      </p:pic>
      <p:graphicFrame>
        <p:nvGraphicFramePr>
          <p:cNvPr id="4" name="表格 3">
            <a:extLst>
              <a:ext uri="{FF2B5EF4-FFF2-40B4-BE49-F238E27FC236}">
                <a16:creationId xmlns:a16="http://schemas.microsoft.com/office/drawing/2014/main" id="{D97764F3-0B89-D6DE-1FCA-4217B26B7440}"/>
              </a:ext>
            </a:extLst>
          </p:cNvPr>
          <p:cNvGraphicFramePr>
            <a:graphicFrameLocks noGrp="1"/>
          </p:cNvGraphicFramePr>
          <p:nvPr>
            <p:extLst>
              <p:ext uri="{D42A27DB-BD31-4B8C-83A1-F6EECF244321}">
                <p14:modId xmlns:p14="http://schemas.microsoft.com/office/powerpoint/2010/main" val="3553638199"/>
              </p:ext>
            </p:extLst>
          </p:nvPr>
        </p:nvGraphicFramePr>
        <p:xfrm>
          <a:off x="1813560" y="3429000"/>
          <a:ext cx="8061960" cy="2575434"/>
        </p:xfrm>
        <a:graphic>
          <a:graphicData uri="http://schemas.openxmlformats.org/drawingml/2006/table">
            <a:tbl>
              <a:tblPr>
                <a:tableStyleId>{5C22544A-7EE6-4342-B048-85BDC9FD1C3A}</a:tableStyleId>
              </a:tblPr>
              <a:tblGrid>
                <a:gridCol w="2585587">
                  <a:extLst>
                    <a:ext uri="{9D8B030D-6E8A-4147-A177-3AD203B41FA5}">
                      <a16:colId xmlns:a16="http://schemas.microsoft.com/office/drawing/2014/main" val="2399207661"/>
                    </a:ext>
                  </a:extLst>
                </a:gridCol>
                <a:gridCol w="2756033">
                  <a:extLst>
                    <a:ext uri="{9D8B030D-6E8A-4147-A177-3AD203B41FA5}">
                      <a16:colId xmlns:a16="http://schemas.microsoft.com/office/drawing/2014/main" val="3763266389"/>
                    </a:ext>
                  </a:extLst>
                </a:gridCol>
                <a:gridCol w="2720340">
                  <a:extLst>
                    <a:ext uri="{9D8B030D-6E8A-4147-A177-3AD203B41FA5}">
                      <a16:colId xmlns:a16="http://schemas.microsoft.com/office/drawing/2014/main" val="2752996685"/>
                    </a:ext>
                  </a:extLst>
                </a:gridCol>
              </a:tblGrid>
              <a:tr h="265044">
                <a:tc>
                  <a:txBody>
                    <a:bodyPr/>
                    <a:lstStyle/>
                    <a:p>
                      <a:pPr algn="l" fontAlgn="ctr">
                        <a:buNone/>
                      </a:pPr>
                      <a:r>
                        <a:rPr lang="en-US" sz="1400" b="1" u="none" strike="noStrike" dirty="0">
                          <a:solidFill>
                            <a:schemeClr val="bg1"/>
                          </a:solidFill>
                          <a:effectLst/>
                        </a:rPr>
                        <a:t>Functions</a:t>
                      </a:r>
                      <a:endParaRPr lang="en-US" sz="1400" b="1" i="0" u="none" strike="noStrike" dirty="0">
                        <a:solidFill>
                          <a:schemeClr val="bg1"/>
                        </a:solidFill>
                        <a:effectLst/>
                        <a:latin typeface="新細明體" panose="02020500000000000000" pitchFamily="18" charset="-120"/>
                        <a:ea typeface="新細明體" panose="02020500000000000000" pitchFamily="18" charset="-120"/>
                      </a:endParaRPr>
                    </a:p>
                  </a:txBody>
                  <a:tcPr marL="6881" marR="6881" marT="6881"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accent6">
                        <a:lumMod val="75000"/>
                      </a:schemeClr>
                    </a:solidFill>
                  </a:tcPr>
                </a:tc>
                <a:tc>
                  <a:txBody>
                    <a:bodyPr/>
                    <a:lstStyle/>
                    <a:p>
                      <a:pPr algn="l" fontAlgn="ctr">
                        <a:buNone/>
                      </a:pPr>
                      <a:r>
                        <a:rPr lang="en-US" sz="1400" b="1" u="none" strike="noStrike" dirty="0">
                          <a:solidFill>
                            <a:schemeClr val="bg1"/>
                          </a:solidFill>
                          <a:effectLst/>
                        </a:rPr>
                        <a:t>Command</a:t>
                      </a:r>
                      <a:endParaRPr lang="en-US" sz="1400" b="1" i="0" u="none" strike="noStrike" dirty="0">
                        <a:solidFill>
                          <a:schemeClr val="bg1"/>
                        </a:solidFill>
                        <a:effectLst/>
                        <a:latin typeface="新細明體" panose="02020500000000000000" pitchFamily="18" charset="-120"/>
                        <a:ea typeface="新細明體" panose="02020500000000000000" pitchFamily="18" charset="-120"/>
                      </a:endParaRPr>
                    </a:p>
                  </a:txBody>
                  <a:tcPr marL="6881" marR="6881" marT="6881" marB="0" anchor="ctr">
                    <a:lnT w="12700" cap="flat" cmpd="sng" algn="ctr">
                      <a:solidFill>
                        <a:schemeClr val="tx1"/>
                      </a:solidFill>
                      <a:prstDash val="solid"/>
                      <a:round/>
                      <a:headEnd type="none" w="med" len="med"/>
                      <a:tailEnd type="none" w="med" len="med"/>
                    </a:lnT>
                    <a:solidFill>
                      <a:schemeClr val="accent6">
                        <a:lumMod val="7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TW" sz="1400" b="1" u="none" strike="noStrike" kern="1200" dirty="0">
                          <a:solidFill>
                            <a:schemeClr val="bg1"/>
                          </a:solidFill>
                          <a:effectLst/>
                          <a:latin typeface="+mn-lt"/>
                          <a:ea typeface="+mn-ea"/>
                          <a:cs typeface="+mn-cs"/>
                        </a:rPr>
                        <a:t>Note</a:t>
                      </a:r>
                    </a:p>
                  </a:txBody>
                  <a:tcPr marL="6881" marR="6881" marT="6881"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6">
                        <a:lumMod val="75000"/>
                      </a:schemeClr>
                    </a:solidFill>
                  </a:tcPr>
                </a:tc>
                <a:extLst>
                  <a:ext uri="{0D108BD9-81ED-4DB2-BD59-A6C34878D82A}">
                    <a16:rowId xmlns:a16="http://schemas.microsoft.com/office/drawing/2014/main" val="354823464"/>
                  </a:ext>
                </a:extLst>
              </a:tr>
              <a:tr h="358279">
                <a:tc rowSpan="2">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zh-TW" altLang="en-US" sz="1400" b="0" kern="1200" dirty="0">
                          <a:solidFill>
                            <a:schemeClr val="dk1"/>
                          </a:solidFill>
                          <a:effectLst/>
                          <a:latin typeface="+mn-lt"/>
                          <a:ea typeface="+mn-ea"/>
                          <a:cs typeface="+mn-cs"/>
                        </a:rPr>
                        <a:t>白燈模式</a:t>
                      </a:r>
                      <a:endParaRPr lang="en-US" altLang="zh-TW" sz="1400" b="0" i="0" u="none" strike="noStrike" dirty="0">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lnL w="12700" cap="flat" cmpd="sng" algn="ctr">
                      <a:solidFill>
                        <a:schemeClr val="tx1"/>
                      </a:solidFill>
                      <a:prstDash val="solid"/>
                      <a:round/>
                      <a:headEnd type="none" w="med" len="med"/>
                      <a:tailEnd type="none" w="med" len="med"/>
                    </a:lnL>
                  </a:tcPr>
                </a:tc>
                <a:tc>
                  <a:txBody>
                    <a:bodyPr/>
                    <a:lstStyle/>
                    <a:p>
                      <a:pPr algn="l" fontAlgn="ctr">
                        <a:buNone/>
                      </a:pPr>
                      <a:r>
                        <a:rPr lang="en-US" sz="1400" u="none" strike="noStrike" kern="1200" dirty="0">
                          <a:solidFill>
                            <a:schemeClr val="dk1"/>
                          </a:solidFill>
                          <a:effectLst/>
                          <a:latin typeface="+mn-lt"/>
                          <a:ea typeface="+mn-ea"/>
                          <a:cs typeface="+mn-cs"/>
                        </a:rPr>
                        <a:t>:001w_target_type01-01=0</a:t>
                      </a:r>
                    </a:p>
                  </a:txBody>
                  <a:tcPr marL="9411" marR="9411" marT="9411" marB="0" anchor="ctr"/>
                </a:tc>
                <a:tc>
                  <a:txBody>
                    <a:bodyPr/>
                    <a:lstStyle/>
                    <a:p>
                      <a:pPr algn="l" fontAlgn="ctr">
                        <a:buNone/>
                      </a:pPr>
                      <a:r>
                        <a:rPr lang="zh-TW" altLang="en-US" sz="1400" u="none" strike="noStrike" dirty="0">
                          <a:effectLst/>
                        </a:rPr>
                        <a:t>設定</a:t>
                      </a:r>
                      <a:r>
                        <a:rPr lang="en-US" sz="1400" u="none" strike="noStrike" dirty="0">
                          <a:effectLst/>
                        </a:rPr>
                        <a:t>LED</a:t>
                      </a:r>
                      <a:r>
                        <a:rPr lang="zh-TW" altLang="en-US" sz="1400" u="none" strike="noStrike" dirty="0">
                          <a:effectLst/>
                        </a:rPr>
                        <a:t>分析儀測白光</a:t>
                      </a:r>
                      <a:endParaRPr lang="zh-TW" altLang="en-US" sz="14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66960930"/>
                  </a:ext>
                </a:extLst>
              </a:tr>
              <a:tr h="438637">
                <a:tc vMerge="1">
                  <a:txBody>
                    <a:bodyPr/>
                    <a:lstStyle/>
                    <a:p>
                      <a:endParaRPr dirty="0"/>
                    </a:p>
                  </a:txBody>
                  <a:tcPr marL="6881" marR="6881" marT="6881" marB="0" anchor="ctr">
                    <a:lnL w="12700" cap="flat" cmpd="sng" algn="ctr">
                      <a:solidFill>
                        <a:schemeClr val="tx1"/>
                      </a:solidFill>
                      <a:prstDash val="solid"/>
                      <a:round/>
                      <a:headEnd type="none" w="med" len="med"/>
                      <a:tailEnd type="none" w="med" len="med"/>
                    </a:lnL>
                  </a:tcPr>
                </a:tc>
                <a:tc>
                  <a:txBody>
                    <a:bodyPr/>
                    <a:lstStyle/>
                    <a:p>
                      <a:pPr algn="l" fontAlgn="ctr">
                        <a:buNone/>
                      </a:pPr>
                      <a:r>
                        <a:rPr lang="en-US" sz="1400" u="none" strike="noStrike" kern="1200" dirty="0">
                          <a:solidFill>
                            <a:schemeClr val="dk1"/>
                          </a:solidFill>
                          <a:effectLst/>
                          <a:latin typeface="+mn-lt"/>
                          <a:ea typeface="+mn-ea"/>
                          <a:cs typeface="+mn-cs"/>
                        </a:rPr>
                        <a:t>:001w_offset_en01-01=1</a:t>
                      </a:r>
                    </a:p>
                  </a:txBody>
                  <a:tcPr marL="9411" marR="9411" marT="9411" marB="0" anchor="ctr"/>
                </a:tc>
                <a:tc>
                  <a:txBody>
                    <a:bodyPr/>
                    <a:lstStyle/>
                    <a:p>
                      <a:pPr algn="l" fontAlgn="ctr">
                        <a:buNone/>
                      </a:pPr>
                      <a:r>
                        <a:rPr lang="zh-TW" altLang="en-US" sz="1400" u="none" strike="noStrike" dirty="0">
                          <a:effectLst/>
                        </a:rPr>
                        <a:t>設定白光校正補償</a:t>
                      </a:r>
                      <a:endParaRPr lang="zh-TW" altLang="en-US" sz="14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4114539500"/>
                  </a:ext>
                </a:extLst>
              </a:tr>
              <a:tr h="438637">
                <a:tc rowSpan="2">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zh-TW" altLang="en-US" sz="1400" b="0" kern="1200" dirty="0">
                          <a:solidFill>
                            <a:schemeClr val="dk1"/>
                          </a:solidFill>
                          <a:effectLst/>
                          <a:latin typeface="+mn-lt"/>
                          <a:ea typeface="+mn-ea"/>
                          <a:cs typeface="+mn-cs"/>
                        </a:rPr>
                        <a:t>紅燈模式</a:t>
                      </a:r>
                    </a:p>
                  </a:txBody>
                  <a:tcPr marL="6881" marR="6881" marT="6881" marB="0" anchor="ctr">
                    <a:lnL w="12700" cap="flat" cmpd="sng" algn="ctr">
                      <a:solidFill>
                        <a:schemeClr val="tx1"/>
                      </a:solidFill>
                      <a:prstDash val="solid"/>
                      <a:round/>
                      <a:headEnd type="none" w="med" len="med"/>
                      <a:tailEnd type="none" w="med" len="med"/>
                    </a:lnL>
                  </a:tcPr>
                </a:tc>
                <a:tc>
                  <a:txBody>
                    <a:bodyPr/>
                    <a:lstStyle/>
                    <a:p>
                      <a:pPr algn="l" fontAlgn="ctr">
                        <a:buNone/>
                      </a:pPr>
                      <a:r>
                        <a:rPr lang="en-US" sz="1400" u="none" strike="noStrike" kern="1200">
                          <a:solidFill>
                            <a:schemeClr val="dk1"/>
                          </a:solidFill>
                          <a:effectLst/>
                          <a:latin typeface="+mn-lt"/>
                          <a:ea typeface="+mn-ea"/>
                          <a:cs typeface="+mn-cs"/>
                        </a:rPr>
                        <a:t>:001w_target_type01-01=11</a:t>
                      </a:r>
                    </a:p>
                  </a:txBody>
                  <a:tcPr marL="9525" marR="9525" marT="9525" marB="0" anchor="ctr"/>
                </a:tc>
                <a:tc>
                  <a:txBody>
                    <a:bodyPr/>
                    <a:lstStyle/>
                    <a:p>
                      <a:pPr algn="l" fontAlgn="ctr">
                        <a:buNone/>
                      </a:pPr>
                      <a:r>
                        <a:rPr lang="zh-TW" altLang="en-US" sz="1400" u="none" strike="noStrike" dirty="0">
                          <a:effectLst/>
                        </a:rPr>
                        <a:t>設定</a:t>
                      </a:r>
                      <a:r>
                        <a:rPr lang="en-US" sz="1400" u="none" strike="noStrike" dirty="0">
                          <a:effectLst/>
                        </a:rPr>
                        <a:t>LED</a:t>
                      </a:r>
                      <a:r>
                        <a:rPr lang="zh-TW" altLang="en-US" sz="1400" u="none" strike="noStrike" dirty="0">
                          <a:effectLst/>
                        </a:rPr>
                        <a:t>分析儀測紅光</a:t>
                      </a:r>
                      <a:endParaRPr lang="zh-TW" altLang="en-US" sz="14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855035783"/>
                  </a:ext>
                </a:extLst>
              </a:tr>
              <a:tr h="358279">
                <a:tc vMerge="1">
                  <a:txBody>
                    <a:bodyPr/>
                    <a:lstStyle/>
                    <a:p>
                      <a:endParaRPr dirty="0"/>
                    </a:p>
                  </a:txBody>
                  <a:tcPr marL="6881" marR="6881" marT="6881" marB="0" anchor="ctr">
                    <a:lnL w="12700" cap="flat" cmpd="sng" algn="ctr">
                      <a:solidFill>
                        <a:schemeClr val="tx1"/>
                      </a:solidFill>
                      <a:prstDash val="solid"/>
                      <a:round/>
                      <a:headEnd type="none" w="med" len="med"/>
                      <a:tailEnd type="none" w="med" len="med"/>
                    </a:lnL>
                  </a:tcPr>
                </a:tc>
                <a:tc>
                  <a:txBody>
                    <a:bodyPr/>
                    <a:lstStyle/>
                    <a:p>
                      <a:pPr algn="l" fontAlgn="ctr">
                        <a:buNone/>
                      </a:pPr>
                      <a:r>
                        <a:rPr lang="en-US" sz="1400" u="none" strike="noStrike" kern="1200" dirty="0">
                          <a:solidFill>
                            <a:schemeClr val="dk1"/>
                          </a:solidFill>
                          <a:effectLst/>
                          <a:latin typeface="+mn-lt"/>
                          <a:ea typeface="+mn-ea"/>
                          <a:cs typeface="+mn-cs"/>
                        </a:rPr>
                        <a:t>:001w_offset_en01-01=2</a:t>
                      </a:r>
                    </a:p>
                  </a:txBody>
                  <a:tcPr marL="9525" marR="9525" marT="9525" marB="0" anchor="ctr"/>
                </a:tc>
                <a:tc>
                  <a:txBody>
                    <a:bodyPr/>
                    <a:lstStyle/>
                    <a:p>
                      <a:pPr algn="l" fontAlgn="ctr">
                        <a:buNone/>
                      </a:pPr>
                      <a:r>
                        <a:rPr lang="zh-TW" altLang="en-US" sz="1400" u="none" strike="noStrike" dirty="0">
                          <a:effectLst/>
                        </a:rPr>
                        <a:t>設定紅光校正補償</a:t>
                      </a:r>
                      <a:endParaRPr lang="zh-TW" altLang="en-US" sz="1400" b="0" i="0" u="none" strike="noStrike" dirty="0">
                        <a:solidFill>
                          <a:srgbClr val="000000"/>
                        </a:solidFill>
                        <a:effectLst/>
                        <a:latin typeface="新細明體" panose="02020500000000000000" pitchFamily="18" charset="-120"/>
                        <a:ea typeface="新細明體" panose="02020500000000000000" pitchFamily="18" charset="-120"/>
                      </a:endParaRPr>
                    </a:p>
                  </a:txBody>
                  <a:tcPr marL="9411" marR="9411" marT="9411"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061607005"/>
                  </a:ext>
                </a:extLst>
              </a:tr>
              <a:tr h="358279">
                <a:tc>
                  <a:txBody>
                    <a:bodyPr/>
                    <a:lstStyle/>
                    <a:p>
                      <a:pPr algn="l" fontAlgn="ctr">
                        <a:buNone/>
                      </a:pPr>
                      <a:r>
                        <a:rPr lang="zh-TW" altLang="en-US" sz="1400" u="none" strike="noStrike" dirty="0">
                          <a:effectLst/>
                        </a:rPr>
                        <a:t>獲取單通道</a:t>
                      </a:r>
                      <a:r>
                        <a:rPr lang="en-US" altLang="zh-TW" sz="1400" u="none" strike="noStrike" dirty="0">
                          <a:effectLst/>
                        </a:rPr>
                        <a:t>RGB </a:t>
                      </a:r>
                      <a:endParaRPr lang="zh-TW" altLang="en-US" sz="1400" b="0" i="0" u="none" strike="noStrike" dirty="0">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lnL w="12700" cap="flat" cmpd="sng" algn="ctr">
                      <a:solidFill>
                        <a:schemeClr val="tx1"/>
                      </a:solidFill>
                      <a:prstDash val="solid"/>
                      <a:round/>
                      <a:headEnd type="none" w="med" len="med"/>
                      <a:tailEnd type="none" w="med" len="med"/>
                    </a:ln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zh-TW" sz="1400" b="0" kern="1200" dirty="0">
                          <a:solidFill>
                            <a:schemeClr val="dk1"/>
                          </a:solidFill>
                          <a:effectLst/>
                          <a:latin typeface="+mn-lt"/>
                          <a:ea typeface="+mn-ea"/>
                          <a:cs typeface="+mn-cs"/>
                        </a:rPr>
                        <a:t>:001r_chroma01-01</a:t>
                      </a:r>
                    </a:p>
                  </a:txBody>
                  <a:tcPr marL="6881" marR="6881" marT="6881" marB="0" anchor="ctr"/>
                </a:tc>
                <a:tc>
                  <a:txBody>
                    <a:bodyPr/>
                    <a:lstStyle/>
                    <a:p>
                      <a:pPr algn="l" fontAlgn="ctr">
                        <a:buNone/>
                      </a:pPr>
                      <a:r>
                        <a:rPr lang="en-US" sz="1400" b="0" kern="1200" dirty="0">
                          <a:solidFill>
                            <a:schemeClr val="dk1"/>
                          </a:solidFill>
                          <a:effectLst/>
                          <a:latin typeface="+mn-lt"/>
                          <a:ea typeface="+mn-ea"/>
                          <a:cs typeface="+mn-cs"/>
                        </a:rPr>
                        <a:t>使用LED分析儀通道口，預設1</a:t>
                      </a:r>
                    </a:p>
                  </a:txBody>
                  <a:tcPr marL="6881" marR="6881" marT="6881"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624649554"/>
                  </a:ext>
                </a:extLst>
              </a:tr>
              <a:tr h="358279">
                <a:tc>
                  <a:txBody>
                    <a:bodyPr/>
                    <a:lstStyle/>
                    <a:p>
                      <a:pPr algn="l" fontAlgn="ctr">
                        <a:buNone/>
                      </a:pPr>
                      <a:r>
                        <a:rPr lang="en-US" altLang="zh-TW" sz="1400" u="none" strike="noStrike" kern="1200" dirty="0">
                          <a:solidFill>
                            <a:schemeClr val="dk1"/>
                          </a:solidFill>
                          <a:effectLst/>
                          <a:latin typeface="+mn-lt"/>
                          <a:ea typeface="+mn-ea"/>
                          <a:cs typeface="+mn-cs"/>
                        </a:rPr>
                        <a:t>ALL</a:t>
                      </a:r>
                      <a:r>
                        <a:rPr lang="zh-TW" altLang="en-US" sz="1400" u="none" strike="noStrike" kern="1200" dirty="0">
                          <a:solidFill>
                            <a:schemeClr val="dk1"/>
                          </a:solidFill>
                          <a:effectLst/>
                          <a:latin typeface="+mn-lt"/>
                          <a:ea typeface="+mn-ea"/>
                          <a:cs typeface="+mn-cs"/>
                        </a:rPr>
                        <a:t>通道獲取</a:t>
                      </a:r>
                    </a:p>
                  </a:txBody>
                  <a:tcPr marL="6881" marR="6881" marT="6881"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zh-TW" sz="1400" b="0" i="0" u="none" strike="noStrike" dirty="0">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lnB w="12700" cap="flat" cmpd="sng" algn="ctr">
                      <a:solidFill>
                        <a:schemeClr val="tx1"/>
                      </a:solidFill>
                      <a:prstDash val="solid"/>
                      <a:round/>
                      <a:headEnd type="none" w="med" len="med"/>
                      <a:tailEnd type="none" w="med" len="med"/>
                    </a:lnB>
                  </a:tcPr>
                </a:tc>
                <a:tc>
                  <a:txBody>
                    <a:bodyPr/>
                    <a:lstStyle/>
                    <a:p>
                      <a:pPr algn="l" fontAlgn="ctr">
                        <a:buNone/>
                      </a:pPr>
                      <a:r>
                        <a:rPr lang="en-US" sz="1400" b="0" kern="1200" dirty="0" err="1">
                          <a:solidFill>
                            <a:schemeClr val="dk1"/>
                          </a:solidFill>
                          <a:effectLst/>
                          <a:latin typeface="+mn-lt"/>
                          <a:ea typeface="+mn-ea"/>
                          <a:cs typeface="+mn-cs"/>
                        </a:rPr>
                        <a:t>全通道讀取</a:t>
                      </a:r>
                      <a:endParaRPr lang="en-US" sz="1400" b="0" kern="1200" dirty="0">
                        <a:solidFill>
                          <a:schemeClr val="dk1"/>
                        </a:solidFill>
                        <a:effectLst/>
                        <a:latin typeface="+mn-lt"/>
                        <a:ea typeface="+mn-ea"/>
                        <a:cs typeface="+mn-cs"/>
                      </a:endParaRPr>
                    </a:p>
                  </a:txBody>
                  <a:tcPr marL="6881" marR="6881" marT="6881"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54751357"/>
                  </a:ext>
                </a:extLst>
              </a:tr>
            </a:tbl>
          </a:graphicData>
        </a:graphic>
      </p:graphicFrame>
    </p:spTree>
    <p:extLst>
      <p:ext uri="{BB962C8B-B14F-4D97-AF65-F5344CB8AC3E}">
        <p14:creationId xmlns:p14="http://schemas.microsoft.com/office/powerpoint/2010/main" val="351137835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48EC74-F38A-A22D-A318-65F75F6E5D06}"/>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B8B78AE5-7BC0-2522-8FF8-EB1FBE8510AB}"/>
              </a:ext>
            </a:extLst>
          </p:cNvPr>
          <p:cNvSpPr>
            <a:spLocks noGrp="1"/>
          </p:cNvSpPr>
          <p:nvPr>
            <p:ph type="body" sz="quarter" idx="13"/>
          </p:nvPr>
        </p:nvSpPr>
        <p:spPr/>
        <p:txBody>
          <a:bodyPr/>
          <a:lstStyle/>
          <a:p>
            <a:r>
              <a:rPr lang="en-US" dirty="0"/>
              <a:t>Terminology  </a:t>
            </a:r>
          </a:p>
          <a:p>
            <a:endParaRPr lang="en-US" dirty="0"/>
          </a:p>
        </p:txBody>
      </p:sp>
      <p:sp>
        <p:nvSpPr>
          <p:cNvPr id="6" name="文字方塊 5">
            <a:extLst>
              <a:ext uri="{FF2B5EF4-FFF2-40B4-BE49-F238E27FC236}">
                <a16:creationId xmlns:a16="http://schemas.microsoft.com/office/drawing/2014/main" id="{E83F0D30-B50B-96C8-F741-5ADB2D2940EE}"/>
              </a:ext>
            </a:extLst>
          </p:cNvPr>
          <p:cNvSpPr txBox="1"/>
          <p:nvPr/>
        </p:nvSpPr>
        <p:spPr>
          <a:xfrm>
            <a:off x="571501" y="905346"/>
            <a:ext cx="3457574" cy="375552"/>
          </a:xfrm>
          <a:prstGeom prst="rect">
            <a:avLst/>
          </a:prstGeom>
          <a:noFill/>
        </p:spPr>
        <p:txBody>
          <a:bodyPr wrap="square">
            <a:spAutoFit/>
          </a:bodyPr>
          <a:lstStyle/>
          <a:p>
            <a:pPr>
              <a:lnSpc>
                <a:spcPct val="150000"/>
              </a:lnSpc>
              <a:defRPr/>
            </a:pPr>
            <a:r>
              <a:rPr lang="en-US" altLang="zh-TW" sz="1400" b="1" dirty="0"/>
              <a:t>Case QT </a:t>
            </a:r>
            <a:r>
              <a:rPr lang="en-US" altLang="zh-TW" sz="1400" dirty="0"/>
              <a:t>- Debug Tool – </a:t>
            </a:r>
            <a:r>
              <a:rPr kumimoji="1" lang="en-US" altLang="zh-TW" sz="1400" dirty="0"/>
              <a:t>DMM</a:t>
            </a:r>
            <a:endParaRPr lang="en-US" altLang="zh-TW" sz="1400" dirty="0"/>
          </a:p>
        </p:txBody>
      </p:sp>
      <p:pic>
        <p:nvPicPr>
          <p:cNvPr id="7" name="圖片 6">
            <a:extLst>
              <a:ext uri="{FF2B5EF4-FFF2-40B4-BE49-F238E27FC236}">
                <a16:creationId xmlns:a16="http://schemas.microsoft.com/office/drawing/2014/main" id="{E8D2DD56-72B1-00C4-D963-9385E088C1CA}"/>
              </a:ext>
            </a:extLst>
          </p:cNvPr>
          <p:cNvPicPr>
            <a:picLocks noChangeAspect="1"/>
          </p:cNvPicPr>
          <p:nvPr/>
        </p:nvPicPr>
        <p:blipFill>
          <a:blip r:embed="rId3"/>
          <a:srcRect l="66151" t="22085" r="1907" b="62261"/>
          <a:stretch>
            <a:fillRect/>
          </a:stretch>
        </p:blipFill>
        <p:spPr>
          <a:xfrm>
            <a:off x="3318510" y="1739590"/>
            <a:ext cx="4562476" cy="1522488"/>
          </a:xfrm>
          <a:prstGeom prst="rect">
            <a:avLst/>
          </a:prstGeom>
        </p:spPr>
      </p:pic>
      <p:graphicFrame>
        <p:nvGraphicFramePr>
          <p:cNvPr id="4" name="表格 3">
            <a:extLst>
              <a:ext uri="{FF2B5EF4-FFF2-40B4-BE49-F238E27FC236}">
                <a16:creationId xmlns:a16="http://schemas.microsoft.com/office/drawing/2014/main" id="{B4663A13-1D25-583A-E45B-774EDEE676B1}"/>
              </a:ext>
            </a:extLst>
          </p:cNvPr>
          <p:cNvGraphicFramePr>
            <a:graphicFrameLocks noGrp="1"/>
          </p:cNvGraphicFramePr>
          <p:nvPr>
            <p:extLst>
              <p:ext uri="{D42A27DB-BD31-4B8C-83A1-F6EECF244321}">
                <p14:modId xmlns:p14="http://schemas.microsoft.com/office/powerpoint/2010/main" val="4115873066"/>
              </p:ext>
            </p:extLst>
          </p:nvPr>
        </p:nvGraphicFramePr>
        <p:xfrm>
          <a:off x="1802130" y="3720770"/>
          <a:ext cx="8061960" cy="1572016"/>
        </p:xfrm>
        <a:graphic>
          <a:graphicData uri="http://schemas.openxmlformats.org/drawingml/2006/table">
            <a:tbl>
              <a:tblPr>
                <a:tableStyleId>{5C22544A-7EE6-4342-B048-85BDC9FD1C3A}</a:tableStyleId>
              </a:tblPr>
              <a:tblGrid>
                <a:gridCol w="2585587">
                  <a:extLst>
                    <a:ext uri="{9D8B030D-6E8A-4147-A177-3AD203B41FA5}">
                      <a16:colId xmlns:a16="http://schemas.microsoft.com/office/drawing/2014/main" val="2399207661"/>
                    </a:ext>
                  </a:extLst>
                </a:gridCol>
                <a:gridCol w="2150243">
                  <a:extLst>
                    <a:ext uri="{9D8B030D-6E8A-4147-A177-3AD203B41FA5}">
                      <a16:colId xmlns:a16="http://schemas.microsoft.com/office/drawing/2014/main" val="3763266389"/>
                    </a:ext>
                  </a:extLst>
                </a:gridCol>
                <a:gridCol w="3326130">
                  <a:extLst>
                    <a:ext uri="{9D8B030D-6E8A-4147-A177-3AD203B41FA5}">
                      <a16:colId xmlns:a16="http://schemas.microsoft.com/office/drawing/2014/main" val="2752996685"/>
                    </a:ext>
                  </a:extLst>
                </a:gridCol>
              </a:tblGrid>
              <a:tr h="265044">
                <a:tc>
                  <a:txBody>
                    <a:bodyPr/>
                    <a:lstStyle/>
                    <a:p>
                      <a:pPr algn="l" fontAlgn="ctr">
                        <a:buNone/>
                      </a:pPr>
                      <a:r>
                        <a:rPr lang="en-US" sz="1400" b="1" u="none" strike="noStrike" dirty="0">
                          <a:solidFill>
                            <a:schemeClr val="bg1"/>
                          </a:solidFill>
                          <a:effectLst/>
                        </a:rPr>
                        <a:t>Functions</a:t>
                      </a:r>
                      <a:endParaRPr lang="en-US" sz="1400" b="1" i="0" u="none" strike="noStrike" dirty="0">
                        <a:solidFill>
                          <a:schemeClr val="bg1"/>
                        </a:solidFill>
                        <a:effectLst/>
                        <a:latin typeface="新細明體" panose="02020500000000000000" pitchFamily="18" charset="-120"/>
                        <a:ea typeface="新細明體" panose="02020500000000000000" pitchFamily="18" charset="-120"/>
                      </a:endParaRPr>
                    </a:p>
                  </a:txBody>
                  <a:tcPr marL="6881" marR="6881" marT="6881"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accent6">
                        <a:lumMod val="75000"/>
                      </a:schemeClr>
                    </a:solidFill>
                  </a:tcPr>
                </a:tc>
                <a:tc>
                  <a:txBody>
                    <a:bodyPr/>
                    <a:lstStyle/>
                    <a:p>
                      <a:pPr algn="l" fontAlgn="ctr">
                        <a:buNone/>
                      </a:pPr>
                      <a:r>
                        <a:rPr lang="en-US" sz="1400" b="1" u="none" strike="noStrike" dirty="0">
                          <a:solidFill>
                            <a:schemeClr val="bg1"/>
                          </a:solidFill>
                          <a:effectLst/>
                        </a:rPr>
                        <a:t>Command</a:t>
                      </a:r>
                      <a:endParaRPr lang="en-US" sz="1400" b="1" i="0" u="none" strike="noStrike" dirty="0">
                        <a:solidFill>
                          <a:schemeClr val="bg1"/>
                        </a:solidFill>
                        <a:effectLst/>
                        <a:latin typeface="新細明體" panose="02020500000000000000" pitchFamily="18" charset="-120"/>
                        <a:ea typeface="新細明體" panose="02020500000000000000" pitchFamily="18" charset="-120"/>
                      </a:endParaRPr>
                    </a:p>
                  </a:txBody>
                  <a:tcPr marL="6881" marR="6881" marT="6881" marB="0" anchor="ctr">
                    <a:lnT w="12700" cap="flat" cmpd="sng" algn="ctr">
                      <a:solidFill>
                        <a:schemeClr val="tx1"/>
                      </a:solidFill>
                      <a:prstDash val="solid"/>
                      <a:round/>
                      <a:headEnd type="none" w="med" len="med"/>
                      <a:tailEnd type="none" w="med" len="med"/>
                    </a:lnT>
                    <a:solidFill>
                      <a:schemeClr val="accent6">
                        <a:lumMod val="75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TW" sz="1400" b="1" u="none" strike="noStrike" kern="1200" dirty="0">
                          <a:solidFill>
                            <a:schemeClr val="bg1"/>
                          </a:solidFill>
                          <a:effectLst/>
                          <a:latin typeface="+mn-lt"/>
                          <a:ea typeface="+mn-ea"/>
                          <a:cs typeface="+mn-cs"/>
                        </a:rPr>
                        <a:t>Note</a:t>
                      </a:r>
                    </a:p>
                  </a:txBody>
                  <a:tcPr marL="6881" marR="6881" marT="6881"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6">
                        <a:lumMod val="75000"/>
                      </a:schemeClr>
                    </a:solidFill>
                  </a:tcPr>
                </a:tc>
                <a:extLst>
                  <a:ext uri="{0D108BD9-81ED-4DB2-BD59-A6C34878D82A}">
                    <a16:rowId xmlns:a16="http://schemas.microsoft.com/office/drawing/2014/main" val="354823464"/>
                  </a:ext>
                </a:extLst>
              </a:tr>
              <a:tr h="437596">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zh-TW" altLang="en-US" sz="1600" b="0" kern="1200" dirty="0">
                          <a:solidFill>
                            <a:schemeClr val="dk1"/>
                          </a:solidFill>
                          <a:effectLst/>
                          <a:latin typeface="+mn-lt"/>
                          <a:ea typeface="+mn-ea"/>
                          <a:cs typeface="+mn-cs"/>
                        </a:rPr>
                        <a:t>電壓讀取</a:t>
                      </a:r>
                      <a:endParaRPr lang="en-US" altLang="zh-TW" sz="1600" b="0" i="0" u="none" strike="noStrike" dirty="0">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lnL w="12700" cap="flat" cmpd="sng" algn="ctr">
                      <a:solidFill>
                        <a:schemeClr val="tx1"/>
                      </a:solidFill>
                      <a:prstDash val="solid"/>
                      <a:round/>
                      <a:headEnd type="none" w="med" len="med"/>
                      <a:tailEnd type="none" w="med" len="med"/>
                    </a:lnL>
                  </a:tcPr>
                </a:tc>
                <a:tc rowSpan="3">
                  <a:txBody>
                    <a:bodyPr/>
                    <a:lstStyle/>
                    <a:p>
                      <a:pPr algn="l" fontAlgn="ctr">
                        <a:buNone/>
                      </a:pPr>
                      <a:r>
                        <a:rPr lang="en-US" sz="1400" u="none" strike="noStrike" kern="1200" dirty="0">
                          <a:solidFill>
                            <a:schemeClr val="dk1"/>
                          </a:solidFill>
                          <a:effectLst/>
                          <a:latin typeface="+mn-lt"/>
                          <a:ea typeface="+mn-ea"/>
                          <a:cs typeface="+mn-cs"/>
                        </a:rPr>
                        <a:t>Use </a:t>
                      </a:r>
                      <a:r>
                        <a:rPr lang="en-US" sz="1400" u="none" strike="noStrike" kern="1200" dirty="0" err="1">
                          <a:solidFill>
                            <a:schemeClr val="dk1"/>
                          </a:solidFill>
                          <a:effectLst/>
                          <a:latin typeface="+mn-lt"/>
                          <a:ea typeface="+mn-ea"/>
                          <a:cs typeface="+mn-cs"/>
                        </a:rPr>
                        <a:t>DMM.py</a:t>
                      </a:r>
                      <a:endParaRPr lang="en-US" sz="1400" u="none" strike="noStrike" kern="1200" dirty="0">
                        <a:solidFill>
                          <a:schemeClr val="dk1"/>
                        </a:solidFill>
                        <a:effectLst/>
                        <a:latin typeface="+mn-lt"/>
                        <a:ea typeface="+mn-ea"/>
                        <a:cs typeface="+mn-cs"/>
                      </a:endParaRPr>
                    </a:p>
                  </a:txBody>
                  <a:tcPr marL="9411" marR="9411" marT="9411" marB="0" anchor="ctr">
                    <a:lnB w="12700" cap="flat" cmpd="sng" algn="ctr">
                      <a:solidFill>
                        <a:schemeClr val="tx1"/>
                      </a:solidFill>
                      <a:prstDash val="solid"/>
                      <a:round/>
                      <a:headEnd type="none" w="med" len="med"/>
                      <a:tailEnd type="none" w="med" len="med"/>
                    </a:lnB>
                  </a:tcPr>
                </a:tc>
                <a:tc>
                  <a:txBody>
                    <a:bodyPr/>
                    <a:lstStyle/>
                    <a:p>
                      <a:pPr algn="l" fontAlgn="ctr">
                        <a:buNone/>
                      </a:pPr>
                      <a:endParaRPr lang="en-US" sz="1400" b="0" kern="1200" dirty="0">
                        <a:solidFill>
                          <a:schemeClr val="dk1"/>
                        </a:solidFill>
                        <a:effectLst/>
                        <a:latin typeface="+mn-lt"/>
                        <a:ea typeface="+mn-ea"/>
                        <a:cs typeface="+mn-cs"/>
                      </a:endParaRPr>
                    </a:p>
                  </a:txBody>
                  <a:tcPr marL="6881" marR="6881" marT="6881"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66960930"/>
                  </a:ext>
                </a:extLst>
              </a:tr>
              <a:tr h="438637">
                <a:tc>
                  <a:txBody>
                    <a:bodyPr/>
                    <a:lstStyle/>
                    <a:p>
                      <a:r>
                        <a:rPr lang="zh-TW" altLang="en-US" sz="1600" dirty="0"/>
                        <a:t>電流讀取</a:t>
                      </a:r>
                      <a:endParaRPr sz="1600" dirty="0"/>
                    </a:p>
                  </a:txBody>
                  <a:tcPr marL="6881" marR="6881" marT="6881" marB="0" anchor="ctr">
                    <a:lnL w="12700" cap="flat" cmpd="sng" algn="ctr">
                      <a:solidFill>
                        <a:schemeClr val="tx1"/>
                      </a:solidFill>
                      <a:prstDash val="solid"/>
                      <a:round/>
                      <a:headEnd type="none" w="med" len="med"/>
                      <a:tailEnd type="none" w="med" len="med"/>
                    </a:lnL>
                  </a:tcPr>
                </a:tc>
                <a:tc vMerge="1">
                  <a:txBody>
                    <a:bodyPr/>
                    <a:lstStyle/>
                    <a:p>
                      <a:endParaRPr/>
                    </a:p>
                  </a:txBody>
                  <a:tcPr marL="9411" marR="9411" marT="9411"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zh-TW" sz="1400" b="0" kern="1200" dirty="0">
                        <a:solidFill>
                          <a:schemeClr val="dk1"/>
                        </a:solidFill>
                        <a:effectLst/>
                        <a:latin typeface="+mn-lt"/>
                        <a:ea typeface="+mn-ea"/>
                        <a:cs typeface="+mn-cs"/>
                      </a:endParaRPr>
                    </a:p>
                  </a:txBody>
                  <a:tcPr marL="6881" marR="6881" marT="6881"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4114539500"/>
                  </a:ext>
                </a:extLst>
              </a:tr>
              <a:tr h="430739">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zh-TW" altLang="en-US" sz="1600" b="0" kern="1200" dirty="0">
                          <a:solidFill>
                            <a:schemeClr val="dk1"/>
                          </a:solidFill>
                          <a:effectLst/>
                          <a:latin typeface="+mn-lt"/>
                          <a:ea typeface="+mn-ea"/>
                          <a:cs typeface="+mn-cs"/>
                        </a:rPr>
                        <a:t>電阻讀取</a:t>
                      </a:r>
                    </a:p>
                  </a:txBody>
                  <a:tcPr marL="6881" marR="6881" marT="6881"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vMerge="1">
                  <a:txBody>
                    <a:bodyPr/>
                    <a:lstStyle/>
                    <a:p>
                      <a:endParaRPr dirty="0"/>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l" fontAlgn="ctr">
                        <a:buNone/>
                      </a:pPr>
                      <a:r>
                        <a:rPr lang="en-US" sz="1400" u="none" strike="noStrike" kern="1200" dirty="0" err="1">
                          <a:solidFill>
                            <a:schemeClr val="dk1"/>
                          </a:solidFill>
                          <a:effectLst/>
                          <a:latin typeface="+mn-lt"/>
                          <a:ea typeface="+mn-ea"/>
                          <a:cs typeface="+mn-cs"/>
                        </a:rPr>
                        <a:t>測DCR</a:t>
                      </a:r>
                      <a:endParaRPr lang="en-US" sz="1400" u="none" strike="noStrike" kern="1200" dirty="0">
                        <a:solidFill>
                          <a:schemeClr val="dk1"/>
                        </a:solidFill>
                        <a:effectLst/>
                        <a:latin typeface="+mn-lt"/>
                        <a:ea typeface="+mn-ea"/>
                        <a:cs typeface="+mn-cs"/>
                      </a:endParaRPr>
                    </a:p>
                  </a:txBody>
                  <a:tcPr marL="6881" marR="6881" marT="6881"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55035783"/>
                  </a:ext>
                </a:extLst>
              </a:tr>
            </a:tbl>
          </a:graphicData>
        </a:graphic>
      </p:graphicFrame>
    </p:spTree>
    <p:extLst>
      <p:ext uri="{BB962C8B-B14F-4D97-AF65-F5344CB8AC3E}">
        <p14:creationId xmlns:p14="http://schemas.microsoft.com/office/powerpoint/2010/main" val="43336381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43398C-0199-8401-7AA0-63E9914FF10A}"/>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CE172238-BBDE-B76F-28E7-B95D538598CC}"/>
              </a:ext>
            </a:extLst>
          </p:cNvPr>
          <p:cNvSpPr>
            <a:spLocks noGrp="1"/>
          </p:cNvSpPr>
          <p:nvPr>
            <p:ph type="body" sz="quarter" idx="13"/>
          </p:nvPr>
        </p:nvSpPr>
        <p:spPr/>
        <p:txBody>
          <a:bodyPr/>
          <a:lstStyle/>
          <a:p>
            <a:r>
              <a:rPr lang="en-US" dirty="0"/>
              <a:t>Terminology  </a:t>
            </a:r>
          </a:p>
          <a:p>
            <a:endParaRPr lang="en-US" dirty="0"/>
          </a:p>
        </p:txBody>
      </p:sp>
      <p:sp>
        <p:nvSpPr>
          <p:cNvPr id="6" name="文字方塊 5">
            <a:extLst>
              <a:ext uri="{FF2B5EF4-FFF2-40B4-BE49-F238E27FC236}">
                <a16:creationId xmlns:a16="http://schemas.microsoft.com/office/drawing/2014/main" id="{C63CF9C2-CEE5-8331-6804-C0E301B1DEE6}"/>
              </a:ext>
            </a:extLst>
          </p:cNvPr>
          <p:cNvSpPr txBox="1"/>
          <p:nvPr/>
        </p:nvSpPr>
        <p:spPr>
          <a:xfrm>
            <a:off x="571501" y="905346"/>
            <a:ext cx="3457574" cy="375552"/>
          </a:xfrm>
          <a:prstGeom prst="rect">
            <a:avLst/>
          </a:prstGeom>
          <a:noFill/>
        </p:spPr>
        <p:txBody>
          <a:bodyPr wrap="square">
            <a:spAutoFit/>
          </a:bodyPr>
          <a:lstStyle/>
          <a:p>
            <a:pPr>
              <a:lnSpc>
                <a:spcPct val="150000"/>
              </a:lnSpc>
              <a:defRPr/>
            </a:pPr>
            <a:r>
              <a:rPr lang="en-US" altLang="zh-TW" sz="1400" b="1" dirty="0"/>
              <a:t>Case QT </a:t>
            </a:r>
            <a:r>
              <a:rPr lang="en-US" altLang="zh-TW" sz="1400" dirty="0"/>
              <a:t>- Debug Tool – </a:t>
            </a:r>
            <a:r>
              <a:rPr kumimoji="1" lang="en-US" altLang="zh-TW" sz="1400" dirty="0"/>
              <a:t>Dummy board</a:t>
            </a:r>
            <a:endParaRPr lang="en-US" altLang="zh-TW" sz="1400" dirty="0"/>
          </a:p>
        </p:txBody>
      </p:sp>
      <p:pic>
        <p:nvPicPr>
          <p:cNvPr id="8" name="圖片 7">
            <a:extLst>
              <a:ext uri="{FF2B5EF4-FFF2-40B4-BE49-F238E27FC236}">
                <a16:creationId xmlns:a16="http://schemas.microsoft.com/office/drawing/2014/main" id="{3AB66FDE-549B-C3C7-7331-B3B2E9BCD17B}"/>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rcRect l="65973" t="33038" r="2279" b="2705"/>
          <a:stretch>
            <a:fillRect/>
          </a:stretch>
        </p:blipFill>
        <p:spPr>
          <a:xfrm>
            <a:off x="7189472" y="482033"/>
            <a:ext cx="4030980" cy="6122526"/>
          </a:xfrm>
          <a:prstGeom prst="rect">
            <a:avLst/>
          </a:prstGeom>
        </p:spPr>
      </p:pic>
      <p:graphicFrame>
        <p:nvGraphicFramePr>
          <p:cNvPr id="9" name="表格 8">
            <a:extLst>
              <a:ext uri="{FF2B5EF4-FFF2-40B4-BE49-F238E27FC236}">
                <a16:creationId xmlns:a16="http://schemas.microsoft.com/office/drawing/2014/main" id="{7731564A-F7CB-F660-F9C7-3E10CC068CBF}"/>
              </a:ext>
            </a:extLst>
          </p:cNvPr>
          <p:cNvGraphicFramePr>
            <a:graphicFrameLocks noGrp="1"/>
          </p:cNvGraphicFramePr>
          <p:nvPr>
            <p:extLst>
              <p:ext uri="{D42A27DB-BD31-4B8C-83A1-F6EECF244321}">
                <p14:modId xmlns:p14="http://schemas.microsoft.com/office/powerpoint/2010/main" val="3489900868"/>
              </p:ext>
            </p:extLst>
          </p:nvPr>
        </p:nvGraphicFramePr>
        <p:xfrm>
          <a:off x="432436" y="1545212"/>
          <a:ext cx="6436994" cy="4590560"/>
        </p:xfrm>
        <a:graphic>
          <a:graphicData uri="http://schemas.openxmlformats.org/drawingml/2006/table">
            <a:tbl>
              <a:tblPr>
                <a:tableStyleId>{5C22544A-7EE6-4342-B048-85BDC9FD1C3A}</a:tableStyleId>
              </a:tblPr>
              <a:tblGrid>
                <a:gridCol w="2116454">
                  <a:extLst>
                    <a:ext uri="{9D8B030D-6E8A-4147-A177-3AD203B41FA5}">
                      <a16:colId xmlns:a16="http://schemas.microsoft.com/office/drawing/2014/main" val="2399207661"/>
                    </a:ext>
                  </a:extLst>
                </a:gridCol>
                <a:gridCol w="2788920">
                  <a:extLst>
                    <a:ext uri="{9D8B030D-6E8A-4147-A177-3AD203B41FA5}">
                      <a16:colId xmlns:a16="http://schemas.microsoft.com/office/drawing/2014/main" val="3763266389"/>
                    </a:ext>
                  </a:extLst>
                </a:gridCol>
                <a:gridCol w="1531620">
                  <a:extLst>
                    <a:ext uri="{9D8B030D-6E8A-4147-A177-3AD203B41FA5}">
                      <a16:colId xmlns:a16="http://schemas.microsoft.com/office/drawing/2014/main" val="2163662866"/>
                    </a:ext>
                  </a:extLst>
                </a:gridCol>
              </a:tblGrid>
              <a:tr h="441031">
                <a:tc>
                  <a:txBody>
                    <a:bodyPr/>
                    <a:lstStyle/>
                    <a:p>
                      <a:pPr algn="l" fontAlgn="ctr">
                        <a:buNone/>
                      </a:pPr>
                      <a:r>
                        <a:rPr lang="en-US" sz="1400" b="1" u="none" strike="noStrike" dirty="0">
                          <a:solidFill>
                            <a:schemeClr val="bg1"/>
                          </a:solidFill>
                          <a:effectLst/>
                        </a:rPr>
                        <a:t>Functions</a:t>
                      </a:r>
                      <a:endParaRPr lang="en-US" sz="1400" b="1" i="0" u="none" strike="noStrike" dirty="0">
                        <a:solidFill>
                          <a:schemeClr val="bg1"/>
                        </a:solidFill>
                        <a:effectLst/>
                        <a:latin typeface="新細明體" panose="02020500000000000000" pitchFamily="18" charset="-120"/>
                        <a:ea typeface="新細明體" panose="02020500000000000000" pitchFamily="18" charset="-120"/>
                      </a:endParaRPr>
                    </a:p>
                  </a:txBody>
                  <a:tcPr marL="6881" marR="6881" marT="6881"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accent6">
                        <a:lumMod val="75000"/>
                      </a:schemeClr>
                    </a:solidFill>
                  </a:tcPr>
                </a:tc>
                <a:tc>
                  <a:txBody>
                    <a:bodyPr/>
                    <a:lstStyle/>
                    <a:p>
                      <a:pPr algn="l" fontAlgn="ctr">
                        <a:buNone/>
                      </a:pPr>
                      <a:r>
                        <a:rPr lang="en-US" sz="1400" b="1" u="none" strike="noStrike" dirty="0">
                          <a:solidFill>
                            <a:schemeClr val="bg1"/>
                          </a:solidFill>
                          <a:effectLst/>
                        </a:rPr>
                        <a:t>Command</a:t>
                      </a:r>
                      <a:endParaRPr lang="en-US" sz="1400" b="1" i="0" u="none" strike="noStrike" dirty="0">
                        <a:solidFill>
                          <a:schemeClr val="bg1"/>
                        </a:solidFill>
                        <a:effectLst/>
                        <a:latin typeface="新細明體" panose="02020500000000000000" pitchFamily="18" charset="-120"/>
                        <a:ea typeface="新細明體" panose="02020500000000000000" pitchFamily="18" charset="-120"/>
                      </a:endParaRPr>
                    </a:p>
                  </a:txBody>
                  <a:tcPr marL="6881" marR="6881" marT="6881" marB="0" anchor="ctr">
                    <a:lnT w="12700" cap="flat" cmpd="sng" algn="ctr">
                      <a:solidFill>
                        <a:schemeClr val="tx1"/>
                      </a:solidFill>
                      <a:prstDash val="solid"/>
                      <a:round/>
                      <a:headEnd type="none" w="med" len="med"/>
                      <a:tailEnd type="none" w="med" len="med"/>
                    </a:lnT>
                    <a:solidFill>
                      <a:schemeClr val="accent6">
                        <a:lumMod val="75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zh-TW" sz="1400" b="1" u="none" strike="noStrike" kern="1200" dirty="0">
                          <a:solidFill>
                            <a:schemeClr val="bg1"/>
                          </a:solidFill>
                          <a:effectLst/>
                          <a:latin typeface="+mn-lt"/>
                          <a:ea typeface="+mn-ea"/>
                          <a:cs typeface="+mn-cs"/>
                        </a:rPr>
                        <a:t>Note</a:t>
                      </a:r>
                    </a:p>
                  </a:txBody>
                  <a:tcPr marL="6881" marR="6881" marT="6881"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6">
                        <a:lumMod val="75000"/>
                      </a:schemeClr>
                    </a:solidFill>
                  </a:tcPr>
                </a:tc>
                <a:extLst>
                  <a:ext uri="{0D108BD9-81ED-4DB2-BD59-A6C34878D82A}">
                    <a16:rowId xmlns:a16="http://schemas.microsoft.com/office/drawing/2014/main" val="354823464"/>
                  </a:ext>
                </a:extLst>
              </a:tr>
              <a:tr h="490739">
                <a:tc>
                  <a:txBody>
                    <a:bodyPr/>
                    <a:lstStyle/>
                    <a:p>
                      <a:pPr algn="l" fontAlgn="ctr">
                        <a:buNone/>
                      </a:pPr>
                      <a:r>
                        <a:rPr lang="zh-TW" altLang="en-US" sz="1400" u="none" strike="noStrike" kern="1200" dirty="0">
                          <a:solidFill>
                            <a:schemeClr val="dk1"/>
                          </a:solidFill>
                          <a:effectLst/>
                          <a:latin typeface="+mn-lt"/>
                          <a:ea typeface="+mn-ea"/>
                          <a:cs typeface="+mn-cs"/>
                        </a:rPr>
                        <a:t>（</a:t>
                      </a:r>
                      <a:r>
                        <a:rPr lang="en-US" altLang="zh-TW" sz="1400" u="none" strike="noStrike" kern="1200" dirty="0">
                          <a:solidFill>
                            <a:schemeClr val="dk1"/>
                          </a:solidFill>
                          <a:effectLst/>
                          <a:latin typeface="+mn-lt"/>
                          <a:ea typeface="+mn-ea"/>
                          <a:cs typeface="+mn-cs"/>
                        </a:rPr>
                        <a:t>L/R</a:t>
                      </a:r>
                      <a:r>
                        <a:rPr lang="zh-TW" altLang="en-US" sz="1400" u="none" strike="noStrike" kern="1200" dirty="0">
                          <a:solidFill>
                            <a:schemeClr val="dk1"/>
                          </a:solidFill>
                          <a:effectLst/>
                          <a:latin typeface="+mn-lt"/>
                          <a:ea typeface="+mn-ea"/>
                          <a:cs typeface="+mn-cs"/>
                        </a:rPr>
                        <a:t>）電壓繼電器動作</a:t>
                      </a:r>
                      <a:endParaRPr lang="en-US" altLang="zh-TW" sz="1400" u="none" strike="noStrike" kern="1200" dirty="0">
                        <a:solidFill>
                          <a:schemeClr val="dk1"/>
                        </a:solidFill>
                        <a:effectLst/>
                        <a:latin typeface="+mn-lt"/>
                        <a:ea typeface="+mn-ea"/>
                        <a:cs typeface="+mn-cs"/>
                      </a:endParaRPr>
                    </a:p>
                  </a:txBody>
                  <a:tcPr marL="6881" marR="6881" marT="6881" marB="0" anchor="ctr">
                    <a:lnL w="12700" cap="flat" cmpd="sng" algn="ctr">
                      <a:solidFill>
                        <a:schemeClr val="tx1"/>
                      </a:solidFill>
                      <a:prstDash val="solid"/>
                      <a:round/>
                      <a:headEnd type="none" w="med" len="med"/>
                      <a:tailEnd type="none" w="med" len="med"/>
                    </a:ln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zh-TW" sz="1400" kern="1200" dirty="0">
                          <a:solidFill>
                            <a:schemeClr val="dk1"/>
                          </a:solidFill>
                          <a:effectLst/>
                          <a:latin typeface="+mn-lt"/>
                          <a:ea typeface="+mn-ea"/>
                          <a:cs typeface="+mn-cs"/>
                        </a:rPr>
                        <a:t>get_(L/R)_</a:t>
                      </a:r>
                      <a:r>
                        <a:rPr lang="en-US" altLang="zh-TW" sz="1400" kern="1200" dirty="0" err="1">
                          <a:solidFill>
                            <a:schemeClr val="dk1"/>
                          </a:solidFill>
                          <a:effectLst/>
                          <a:latin typeface="+mn-lt"/>
                          <a:ea typeface="+mn-ea"/>
                          <a:cs typeface="+mn-cs"/>
                        </a:rPr>
                        <a:t>pos_voltage_relay</a:t>
                      </a:r>
                      <a:endParaRPr lang="en-US" altLang="zh-TW" sz="1400" kern="1200" dirty="0">
                        <a:solidFill>
                          <a:schemeClr val="dk1"/>
                        </a:solidFill>
                        <a:effectLst/>
                        <a:latin typeface="+mn-lt"/>
                        <a:ea typeface="+mn-ea"/>
                        <a:cs typeface="+mn-cs"/>
                      </a:endParaRPr>
                    </a:p>
                  </a:txBody>
                  <a:tcPr marL="6881" marR="6881" marT="6881"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zh-TW" sz="1400" b="0" kern="1200" dirty="0" err="1">
                          <a:solidFill>
                            <a:schemeClr val="dk1"/>
                          </a:solidFill>
                          <a:effectLst/>
                          <a:latin typeface="+mn-lt"/>
                          <a:ea typeface="+mn-ea"/>
                          <a:cs typeface="+mn-cs"/>
                        </a:rPr>
                        <a:t>調適用指令</a:t>
                      </a:r>
                      <a:r>
                        <a:rPr lang="zh-TW" altLang="en-US" sz="1400" b="0" kern="1200" dirty="0">
                          <a:solidFill>
                            <a:schemeClr val="dk1"/>
                          </a:solidFill>
                          <a:effectLst/>
                          <a:latin typeface="+mn-lt"/>
                          <a:ea typeface="+mn-ea"/>
                          <a:cs typeface="+mn-cs"/>
                        </a:rPr>
                        <a:t> </a:t>
                      </a:r>
                      <a:endParaRPr lang="en-US" altLang="zh-TW" sz="1400" b="0" kern="1200" dirty="0">
                        <a:solidFill>
                          <a:schemeClr val="dk1"/>
                        </a:solidFill>
                        <a:effectLst/>
                        <a:latin typeface="+mn-lt"/>
                        <a:ea typeface="+mn-ea"/>
                        <a:cs typeface="+mn-cs"/>
                      </a:endParaRPr>
                    </a:p>
                  </a:txBody>
                  <a:tcPr marL="6881" marR="6881" marT="6881"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4114539500"/>
                  </a:ext>
                </a:extLst>
              </a:tr>
              <a:tr h="497891">
                <a:tc>
                  <a:txBody>
                    <a:bodyPr/>
                    <a:lstStyle/>
                    <a:p>
                      <a:pPr algn="l" fontAlgn="ctr">
                        <a:buNone/>
                      </a:pPr>
                      <a:r>
                        <a:rPr lang="zh-TW" altLang="en-US" sz="1400" u="none" strike="noStrike" kern="1200" dirty="0">
                          <a:solidFill>
                            <a:schemeClr val="dk1"/>
                          </a:solidFill>
                          <a:effectLst/>
                          <a:latin typeface="+mn-lt"/>
                          <a:ea typeface="+mn-ea"/>
                          <a:cs typeface="+mn-cs"/>
                        </a:rPr>
                        <a:t>（</a:t>
                      </a:r>
                      <a:r>
                        <a:rPr lang="en-US" altLang="zh-TW" sz="1400" u="none" strike="noStrike" kern="1200" dirty="0">
                          <a:solidFill>
                            <a:schemeClr val="dk1"/>
                          </a:solidFill>
                          <a:effectLst/>
                          <a:latin typeface="+mn-lt"/>
                          <a:ea typeface="+mn-ea"/>
                          <a:cs typeface="+mn-cs"/>
                        </a:rPr>
                        <a:t>L/R</a:t>
                      </a:r>
                      <a:r>
                        <a:rPr lang="zh-TW" altLang="en-US" sz="1400" u="none" strike="noStrike" kern="1200" dirty="0">
                          <a:solidFill>
                            <a:schemeClr val="dk1"/>
                          </a:solidFill>
                          <a:effectLst/>
                          <a:latin typeface="+mn-lt"/>
                          <a:ea typeface="+mn-ea"/>
                          <a:cs typeface="+mn-cs"/>
                        </a:rPr>
                        <a:t>）電流繼電器動作</a:t>
                      </a:r>
                      <a:endParaRPr lang="en-US" altLang="zh-TW" sz="1400" u="none" strike="noStrike" kern="1200" dirty="0">
                        <a:solidFill>
                          <a:schemeClr val="dk1"/>
                        </a:solidFill>
                        <a:effectLst/>
                        <a:latin typeface="+mn-lt"/>
                        <a:ea typeface="+mn-ea"/>
                        <a:cs typeface="+mn-cs"/>
                      </a:endParaRPr>
                    </a:p>
                  </a:txBody>
                  <a:tcPr marL="6881" marR="6881" marT="6881" marB="0" anchor="ctr">
                    <a:lnL w="12700" cap="flat" cmpd="sng" algn="ctr">
                      <a:solidFill>
                        <a:schemeClr val="tx1"/>
                      </a:solidFill>
                      <a:prstDash val="solid"/>
                      <a:round/>
                      <a:headEnd type="none" w="med" len="med"/>
                      <a:tailEnd type="none" w="med" len="med"/>
                    </a:ln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zh-TW" sz="1400" kern="1200" dirty="0">
                          <a:solidFill>
                            <a:schemeClr val="dk1"/>
                          </a:solidFill>
                          <a:effectLst/>
                          <a:latin typeface="+mn-lt"/>
                          <a:ea typeface="+mn-ea"/>
                          <a:cs typeface="+mn-cs"/>
                        </a:rPr>
                        <a:t>get_(L/R)_</a:t>
                      </a:r>
                      <a:r>
                        <a:rPr lang="en-US" altLang="zh-TW" sz="1400" kern="1200" dirty="0" err="1">
                          <a:solidFill>
                            <a:schemeClr val="dk1"/>
                          </a:solidFill>
                          <a:effectLst/>
                          <a:latin typeface="+mn-lt"/>
                          <a:ea typeface="+mn-ea"/>
                          <a:cs typeface="+mn-cs"/>
                        </a:rPr>
                        <a:t>eload_current_relay</a:t>
                      </a:r>
                      <a:endParaRPr lang="en-US" altLang="zh-TW" sz="1400" kern="1200" dirty="0">
                        <a:solidFill>
                          <a:schemeClr val="dk1"/>
                        </a:solidFill>
                        <a:effectLst/>
                        <a:latin typeface="+mn-lt"/>
                        <a:ea typeface="+mn-ea"/>
                        <a:cs typeface="+mn-cs"/>
                      </a:endParaRPr>
                    </a:p>
                  </a:txBody>
                  <a:tcPr marL="6881" marR="6881" marT="6881"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zh-TW" sz="1400" b="0" kern="1200" dirty="0" err="1">
                          <a:solidFill>
                            <a:schemeClr val="dk1"/>
                          </a:solidFill>
                          <a:effectLst/>
                          <a:latin typeface="+mn-lt"/>
                          <a:ea typeface="+mn-ea"/>
                          <a:cs typeface="+mn-cs"/>
                        </a:rPr>
                        <a:t>調適用指令</a:t>
                      </a:r>
                      <a:r>
                        <a:rPr lang="zh-TW" altLang="en-US" sz="1400" b="0" kern="1200" dirty="0">
                          <a:solidFill>
                            <a:schemeClr val="dk1"/>
                          </a:solidFill>
                          <a:effectLst/>
                          <a:latin typeface="+mn-lt"/>
                          <a:ea typeface="+mn-ea"/>
                          <a:cs typeface="+mn-cs"/>
                        </a:rPr>
                        <a:t> </a:t>
                      </a:r>
                      <a:endParaRPr lang="en-US" altLang="zh-TW" sz="1400" b="0" kern="1200" dirty="0">
                        <a:solidFill>
                          <a:schemeClr val="dk1"/>
                        </a:solidFill>
                        <a:effectLst/>
                        <a:latin typeface="+mn-lt"/>
                        <a:ea typeface="+mn-ea"/>
                        <a:cs typeface="+mn-cs"/>
                      </a:endParaRPr>
                    </a:p>
                  </a:txBody>
                  <a:tcPr marL="6881" marR="6881" marT="6881"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855035783"/>
                  </a:ext>
                </a:extLst>
              </a:tr>
              <a:tr h="351211">
                <a:tc>
                  <a:txBody>
                    <a:bodyPr/>
                    <a:lstStyle/>
                    <a:p>
                      <a:pPr algn="l" fontAlgn="ctr">
                        <a:buNone/>
                      </a:pPr>
                      <a:r>
                        <a:rPr lang="en-US" altLang="zh-TW" sz="1400" u="none" strike="noStrike" kern="1200" dirty="0">
                          <a:solidFill>
                            <a:schemeClr val="dk1"/>
                          </a:solidFill>
                          <a:effectLst/>
                          <a:latin typeface="+mn-lt"/>
                          <a:ea typeface="+mn-ea"/>
                          <a:cs typeface="+mn-cs"/>
                        </a:rPr>
                        <a:t> </a:t>
                      </a:r>
                      <a:r>
                        <a:rPr lang="zh-TW" altLang="en-US" sz="1400" u="none" strike="noStrike" kern="1200" dirty="0">
                          <a:solidFill>
                            <a:schemeClr val="dk1"/>
                          </a:solidFill>
                          <a:effectLst/>
                          <a:latin typeface="+mn-lt"/>
                          <a:ea typeface="+mn-ea"/>
                          <a:cs typeface="+mn-cs"/>
                        </a:rPr>
                        <a:t>獲取（</a:t>
                      </a:r>
                      <a:r>
                        <a:rPr lang="en-US" altLang="zh-TW" sz="1400" u="none" strike="noStrike" kern="1200" dirty="0">
                          <a:solidFill>
                            <a:schemeClr val="dk1"/>
                          </a:solidFill>
                          <a:effectLst/>
                          <a:latin typeface="+mn-lt"/>
                          <a:ea typeface="+mn-ea"/>
                          <a:cs typeface="+mn-cs"/>
                        </a:rPr>
                        <a:t>L/R</a:t>
                      </a:r>
                      <a:r>
                        <a:rPr lang="zh-TW" altLang="en-US" sz="1400" u="none" strike="noStrike" kern="1200" dirty="0">
                          <a:solidFill>
                            <a:schemeClr val="dk1"/>
                          </a:solidFill>
                          <a:effectLst/>
                          <a:latin typeface="+mn-lt"/>
                          <a:ea typeface="+mn-ea"/>
                          <a:cs typeface="+mn-cs"/>
                        </a:rPr>
                        <a:t>）電壓</a:t>
                      </a:r>
                    </a:p>
                  </a:txBody>
                  <a:tcPr marL="6881" marR="6881" marT="6881" marB="0" anchor="ctr">
                    <a:lnL w="12700" cap="flat" cmpd="sng" algn="ctr">
                      <a:solidFill>
                        <a:schemeClr val="tx1"/>
                      </a:solidFill>
                      <a:prstDash val="solid"/>
                      <a:round/>
                      <a:headEnd type="none" w="med" len="med"/>
                      <a:tailEnd type="none" w="med" len="med"/>
                    </a:ln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zh-TW" sz="1400" kern="1200" dirty="0">
                          <a:solidFill>
                            <a:schemeClr val="dk1"/>
                          </a:solidFill>
                          <a:effectLst/>
                          <a:latin typeface="+mn-lt"/>
                          <a:ea typeface="+mn-ea"/>
                          <a:cs typeface="+mn-cs"/>
                          <a:hlinkClick r:id="rId5" action="ppaction://hlinksldjump"/>
                        </a:rPr>
                        <a:t>get_(L/R)_</a:t>
                      </a:r>
                      <a:r>
                        <a:rPr lang="en-US" altLang="zh-TW" sz="1400" kern="1200" dirty="0" err="1">
                          <a:solidFill>
                            <a:schemeClr val="dk1"/>
                          </a:solidFill>
                          <a:effectLst/>
                          <a:latin typeface="+mn-lt"/>
                          <a:ea typeface="+mn-ea"/>
                          <a:cs typeface="+mn-cs"/>
                          <a:hlinkClick r:id="rId5" action="ppaction://hlinksldjump"/>
                        </a:rPr>
                        <a:t>pos_voltage</a:t>
                      </a:r>
                      <a:endParaRPr lang="en-US" altLang="zh-TW" sz="1400" kern="1200" dirty="0">
                        <a:solidFill>
                          <a:schemeClr val="dk1"/>
                        </a:solidFill>
                        <a:effectLst/>
                        <a:latin typeface="+mn-lt"/>
                        <a:ea typeface="+mn-ea"/>
                        <a:cs typeface="+mn-cs"/>
                      </a:endParaRPr>
                    </a:p>
                  </a:txBody>
                  <a:tcPr marL="6881" marR="6881" marT="6881" marB="0" anchor="ctr"/>
                </a:tc>
                <a:tc>
                  <a:txBody>
                    <a:bodyPr/>
                    <a:lstStyle/>
                    <a:p>
                      <a:pPr algn="l" fontAlgn="ctr">
                        <a:buNone/>
                      </a:pPr>
                      <a:endParaRPr lang="en-US" sz="1400" b="0" i="0" u="none" strike="noStrike" dirty="0">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061607005"/>
                  </a:ext>
                </a:extLst>
              </a:tr>
              <a:tr h="351211">
                <a:tc>
                  <a:txBody>
                    <a:bodyPr/>
                    <a:lstStyle/>
                    <a:p>
                      <a:pPr algn="l" fontAlgn="ctr">
                        <a:buNone/>
                      </a:pPr>
                      <a:r>
                        <a:rPr lang="en-US" altLang="zh-TW" sz="1400" u="none" strike="noStrike" kern="1200" dirty="0">
                          <a:solidFill>
                            <a:schemeClr val="dk1"/>
                          </a:solidFill>
                          <a:effectLst/>
                          <a:latin typeface="+mn-lt"/>
                          <a:ea typeface="+mn-ea"/>
                          <a:cs typeface="+mn-cs"/>
                        </a:rPr>
                        <a:t> </a:t>
                      </a:r>
                      <a:r>
                        <a:rPr lang="zh-TW" altLang="en-US" sz="1400" u="none" strike="noStrike" kern="1200" dirty="0">
                          <a:solidFill>
                            <a:schemeClr val="dk1"/>
                          </a:solidFill>
                          <a:effectLst/>
                          <a:latin typeface="+mn-lt"/>
                          <a:ea typeface="+mn-ea"/>
                          <a:cs typeface="+mn-cs"/>
                        </a:rPr>
                        <a:t>獲取（</a:t>
                      </a:r>
                      <a:r>
                        <a:rPr lang="en-US" altLang="zh-TW" sz="1400" u="none" strike="noStrike" kern="1200" dirty="0">
                          <a:solidFill>
                            <a:schemeClr val="dk1"/>
                          </a:solidFill>
                          <a:effectLst/>
                          <a:latin typeface="+mn-lt"/>
                          <a:ea typeface="+mn-ea"/>
                          <a:cs typeface="+mn-cs"/>
                        </a:rPr>
                        <a:t>L/R</a:t>
                      </a:r>
                      <a:r>
                        <a:rPr lang="zh-TW" altLang="en-US" sz="1400" u="none" strike="noStrike" kern="1200" dirty="0">
                          <a:solidFill>
                            <a:schemeClr val="dk1"/>
                          </a:solidFill>
                          <a:effectLst/>
                          <a:latin typeface="+mn-lt"/>
                          <a:ea typeface="+mn-ea"/>
                          <a:cs typeface="+mn-cs"/>
                        </a:rPr>
                        <a:t>）電流</a:t>
                      </a:r>
                    </a:p>
                  </a:txBody>
                  <a:tcPr marL="6881" marR="6881" marT="6881" marB="0" anchor="ctr">
                    <a:lnL w="12700" cap="flat" cmpd="sng" algn="ctr">
                      <a:solidFill>
                        <a:schemeClr val="tx1"/>
                      </a:solidFill>
                      <a:prstDash val="solid"/>
                      <a:round/>
                      <a:headEnd type="none" w="med" len="med"/>
                      <a:tailEnd type="none" w="med" len="med"/>
                    </a:ln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zh-TW" sz="1400" kern="1200" dirty="0">
                          <a:solidFill>
                            <a:schemeClr val="dk1"/>
                          </a:solidFill>
                          <a:effectLst/>
                          <a:latin typeface="+mn-lt"/>
                          <a:ea typeface="+mn-ea"/>
                          <a:cs typeface="+mn-cs"/>
                          <a:hlinkClick r:id="rId5" action="ppaction://hlinksldjump"/>
                        </a:rPr>
                        <a:t>get_(L/R)_</a:t>
                      </a:r>
                      <a:r>
                        <a:rPr lang="en-US" altLang="zh-TW" sz="1400" kern="1200" dirty="0" err="1">
                          <a:solidFill>
                            <a:schemeClr val="dk1"/>
                          </a:solidFill>
                          <a:effectLst/>
                          <a:latin typeface="+mn-lt"/>
                          <a:ea typeface="+mn-ea"/>
                          <a:cs typeface="+mn-cs"/>
                          <a:hlinkClick r:id="rId5" action="ppaction://hlinksldjump"/>
                        </a:rPr>
                        <a:t>eload_current</a:t>
                      </a:r>
                      <a:endParaRPr lang="en-US" altLang="zh-TW" sz="1400" kern="1200" dirty="0">
                        <a:solidFill>
                          <a:schemeClr val="dk1"/>
                        </a:solidFill>
                        <a:effectLst/>
                        <a:latin typeface="+mn-lt"/>
                        <a:ea typeface="+mn-ea"/>
                        <a:cs typeface="+mn-cs"/>
                      </a:endParaRPr>
                    </a:p>
                  </a:txBody>
                  <a:tcPr marL="6881" marR="6881" marT="6881" marB="0" anchor="ctr"/>
                </a:tc>
                <a:tc>
                  <a:txBody>
                    <a:bodyPr/>
                    <a:lstStyle/>
                    <a:p>
                      <a:pPr algn="l" fontAlgn="ctr">
                        <a:buNone/>
                      </a:pPr>
                      <a:endParaRPr lang="en-US" sz="1400" b="0" i="0" u="none" strike="noStrike">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624649554"/>
                  </a:ext>
                </a:extLst>
              </a:tr>
              <a:tr h="351211">
                <a:tc>
                  <a:txBody>
                    <a:bodyPr/>
                    <a:lstStyle/>
                    <a:p>
                      <a:pPr algn="l" fontAlgn="ctr">
                        <a:buNone/>
                      </a:pPr>
                      <a:r>
                        <a:rPr lang="zh-TW" altLang="en-US" sz="1400" u="none" strike="noStrike" kern="1200" dirty="0">
                          <a:solidFill>
                            <a:schemeClr val="dk1"/>
                          </a:solidFill>
                          <a:effectLst/>
                          <a:latin typeface="+mn-lt"/>
                          <a:ea typeface="+mn-ea"/>
                          <a:cs typeface="+mn-cs"/>
                        </a:rPr>
                        <a:t>（</a:t>
                      </a:r>
                      <a:r>
                        <a:rPr lang="en-US" altLang="zh-TW" sz="1400" u="none" strike="noStrike" kern="1200" dirty="0">
                          <a:solidFill>
                            <a:schemeClr val="dk1"/>
                          </a:solidFill>
                          <a:effectLst/>
                          <a:latin typeface="+mn-lt"/>
                          <a:ea typeface="+mn-ea"/>
                          <a:cs typeface="+mn-cs"/>
                        </a:rPr>
                        <a:t>L/R</a:t>
                      </a:r>
                      <a:r>
                        <a:rPr lang="zh-TW" altLang="en-US" sz="1400" u="none" strike="noStrike" kern="1200" dirty="0">
                          <a:solidFill>
                            <a:schemeClr val="dk1"/>
                          </a:solidFill>
                          <a:effectLst/>
                          <a:latin typeface="+mn-lt"/>
                          <a:ea typeface="+mn-ea"/>
                          <a:cs typeface="+mn-cs"/>
                        </a:rPr>
                        <a:t>）負載通道打開</a:t>
                      </a:r>
                    </a:p>
                  </a:txBody>
                  <a:tcPr marL="6881" marR="6881" marT="6881" marB="0" anchor="ctr">
                    <a:lnL w="12700" cap="flat" cmpd="sng" algn="ctr">
                      <a:solidFill>
                        <a:schemeClr val="tx1"/>
                      </a:solidFill>
                      <a:prstDash val="solid"/>
                      <a:round/>
                      <a:headEnd type="none" w="med" len="med"/>
                      <a:tailEnd type="none" w="med" len="med"/>
                    </a:ln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zh-TW" sz="1400" kern="1200" dirty="0">
                          <a:solidFill>
                            <a:schemeClr val="dk1"/>
                          </a:solidFill>
                          <a:effectLst/>
                          <a:latin typeface="+mn-lt"/>
                          <a:ea typeface="+mn-ea"/>
                          <a:cs typeface="+mn-cs"/>
                          <a:hlinkClick r:id="rId6" action="ppaction://hlinksldjump"/>
                        </a:rPr>
                        <a:t>(L/R)_</a:t>
                      </a:r>
                      <a:r>
                        <a:rPr lang="en-US" altLang="zh-TW" sz="1400" kern="1200" dirty="0" err="1">
                          <a:solidFill>
                            <a:schemeClr val="dk1"/>
                          </a:solidFill>
                          <a:effectLst/>
                          <a:latin typeface="+mn-lt"/>
                          <a:ea typeface="+mn-ea"/>
                          <a:cs typeface="+mn-cs"/>
                          <a:hlinkClick r:id="rId6" action="ppaction://hlinksldjump"/>
                        </a:rPr>
                        <a:t>eload_ch_on</a:t>
                      </a:r>
                      <a:endParaRPr lang="en-US" altLang="zh-TW" sz="1400" kern="1200" dirty="0">
                        <a:solidFill>
                          <a:schemeClr val="dk1"/>
                        </a:solidFill>
                        <a:effectLst/>
                        <a:latin typeface="+mn-lt"/>
                        <a:ea typeface="+mn-ea"/>
                        <a:cs typeface="+mn-cs"/>
                      </a:endParaRPr>
                    </a:p>
                  </a:txBody>
                  <a:tcPr marL="6881" marR="6881" marT="6881" marB="0" anchor="ctr"/>
                </a:tc>
                <a:tc>
                  <a:txBody>
                    <a:bodyPr/>
                    <a:lstStyle/>
                    <a:p>
                      <a:pPr algn="l" fontAlgn="ctr">
                        <a:buNone/>
                      </a:pPr>
                      <a:endParaRPr lang="en-US" sz="1400" b="0" i="0" u="none" strike="noStrike" dirty="0">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854751357"/>
                  </a:ext>
                </a:extLst>
              </a:tr>
              <a:tr h="351211">
                <a:tc>
                  <a:txBody>
                    <a:bodyPr/>
                    <a:lstStyle/>
                    <a:p>
                      <a:pPr algn="l" fontAlgn="ctr">
                        <a:buNone/>
                      </a:pPr>
                      <a:r>
                        <a:rPr lang="zh-TW" altLang="en-US" sz="1400" u="none" strike="noStrike" kern="1200" dirty="0">
                          <a:solidFill>
                            <a:schemeClr val="dk1"/>
                          </a:solidFill>
                          <a:effectLst/>
                          <a:latin typeface="+mn-lt"/>
                          <a:ea typeface="+mn-ea"/>
                          <a:cs typeface="+mn-cs"/>
                        </a:rPr>
                        <a:t>（</a:t>
                      </a:r>
                      <a:r>
                        <a:rPr lang="en-US" altLang="zh-TW" sz="1400" u="none" strike="noStrike" kern="1200" dirty="0">
                          <a:solidFill>
                            <a:schemeClr val="dk1"/>
                          </a:solidFill>
                          <a:effectLst/>
                          <a:latin typeface="+mn-lt"/>
                          <a:ea typeface="+mn-ea"/>
                          <a:cs typeface="+mn-cs"/>
                        </a:rPr>
                        <a:t>L/R</a:t>
                      </a:r>
                      <a:r>
                        <a:rPr lang="zh-TW" altLang="en-US" sz="1400" u="none" strike="noStrike" kern="1200" dirty="0">
                          <a:solidFill>
                            <a:schemeClr val="dk1"/>
                          </a:solidFill>
                          <a:effectLst/>
                          <a:latin typeface="+mn-lt"/>
                          <a:ea typeface="+mn-ea"/>
                          <a:cs typeface="+mn-cs"/>
                        </a:rPr>
                        <a:t>）負載通道關閉</a:t>
                      </a:r>
                    </a:p>
                  </a:txBody>
                  <a:tcPr marL="6881" marR="6881" marT="6881" marB="0" anchor="ctr">
                    <a:lnL w="12700" cap="flat" cmpd="sng" algn="ctr">
                      <a:solidFill>
                        <a:schemeClr val="tx1"/>
                      </a:solidFill>
                      <a:prstDash val="solid"/>
                      <a:round/>
                      <a:headEnd type="none" w="med" len="med"/>
                      <a:tailEnd type="none" w="med" len="med"/>
                    </a:ln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zh-TW" sz="1400" kern="1200" dirty="0">
                          <a:solidFill>
                            <a:schemeClr val="dk1"/>
                          </a:solidFill>
                          <a:effectLst/>
                          <a:latin typeface="+mn-lt"/>
                          <a:ea typeface="+mn-ea"/>
                          <a:cs typeface="+mn-cs"/>
                          <a:hlinkClick r:id="rId5" action="ppaction://hlinksldjump"/>
                        </a:rPr>
                        <a:t>(L/R)_</a:t>
                      </a:r>
                      <a:r>
                        <a:rPr lang="en-US" altLang="zh-TW" sz="1400" kern="1200" dirty="0" err="1">
                          <a:solidFill>
                            <a:schemeClr val="dk1"/>
                          </a:solidFill>
                          <a:effectLst/>
                          <a:latin typeface="+mn-lt"/>
                          <a:ea typeface="+mn-ea"/>
                          <a:cs typeface="+mn-cs"/>
                          <a:hlinkClick r:id="rId5" action="ppaction://hlinksldjump"/>
                        </a:rPr>
                        <a:t>eload_ch_off</a:t>
                      </a:r>
                      <a:endParaRPr lang="en-US" altLang="zh-TW" sz="1400" kern="1200" dirty="0">
                        <a:solidFill>
                          <a:schemeClr val="dk1"/>
                        </a:solidFill>
                        <a:effectLst/>
                        <a:latin typeface="+mn-lt"/>
                        <a:ea typeface="+mn-ea"/>
                        <a:cs typeface="+mn-cs"/>
                      </a:endParaRPr>
                    </a:p>
                  </a:txBody>
                  <a:tcPr marL="6881" marR="6881" marT="6881" marB="0" anchor="ctr"/>
                </a:tc>
                <a:tc>
                  <a:txBody>
                    <a:bodyPr/>
                    <a:lstStyle/>
                    <a:p>
                      <a:pPr algn="l" fontAlgn="ctr">
                        <a:buNone/>
                      </a:pPr>
                      <a:endParaRPr lang="en-US" sz="1400" b="0" i="0" u="none" strike="noStrike" dirty="0">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57910987"/>
                  </a:ext>
                </a:extLst>
              </a:tr>
              <a:tr h="351211">
                <a:tc>
                  <a:txBody>
                    <a:bodyPr/>
                    <a:lstStyle/>
                    <a:p>
                      <a:pPr algn="l" fontAlgn="ctr">
                        <a:buNone/>
                      </a:pPr>
                      <a:r>
                        <a:rPr lang="zh-TW" altLang="en-US" sz="1400" u="none" strike="noStrike" kern="1200" dirty="0">
                          <a:solidFill>
                            <a:schemeClr val="dk1"/>
                          </a:solidFill>
                          <a:effectLst/>
                          <a:latin typeface="+mn-lt"/>
                          <a:ea typeface="+mn-ea"/>
                          <a:cs typeface="+mn-cs"/>
                        </a:rPr>
                        <a:t>（</a:t>
                      </a:r>
                      <a:r>
                        <a:rPr lang="en-US" altLang="zh-TW" sz="1400" u="none" strike="noStrike" kern="1200" dirty="0">
                          <a:solidFill>
                            <a:schemeClr val="dk1"/>
                          </a:solidFill>
                          <a:effectLst/>
                          <a:latin typeface="+mn-lt"/>
                          <a:ea typeface="+mn-ea"/>
                          <a:cs typeface="+mn-cs"/>
                        </a:rPr>
                        <a:t>L/R</a:t>
                      </a:r>
                      <a:r>
                        <a:rPr lang="zh-TW" altLang="en-US" sz="1400" u="none" strike="noStrike" kern="1200" dirty="0">
                          <a:solidFill>
                            <a:schemeClr val="dk1"/>
                          </a:solidFill>
                          <a:effectLst/>
                          <a:latin typeface="+mn-lt"/>
                          <a:ea typeface="+mn-ea"/>
                          <a:cs typeface="+mn-cs"/>
                        </a:rPr>
                        <a:t>）</a:t>
                      </a:r>
                      <a:r>
                        <a:rPr lang="en-US" altLang="zh-TW" sz="1400" u="none" strike="noStrike" kern="1200" dirty="0" err="1">
                          <a:solidFill>
                            <a:schemeClr val="dk1"/>
                          </a:solidFill>
                          <a:effectLst/>
                          <a:latin typeface="+mn-lt"/>
                          <a:ea typeface="+mn-ea"/>
                          <a:cs typeface="+mn-cs"/>
                        </a:rPr>
                        <a:t>budlink</a:t>
                      </a:r>
                      <a:r>
                        <a:rPr lang="zh-TW" altLang="en-US" sz="1400" u="none" strike="noStrike" kern="1200" dirty="0">
                          <a:solidFill>
                            <a:schemeClr val="dk1"/>
                          </a:solidFill>
                          <a:effectLst/>
                          <a:latin typeface="+mn-lt"/>
                          <a:ea typeface="+mn-ea"/>
                          <a:cs typeface="+mn-cs"/>
                        </a:rPr>
                        <a:t>通道打開</a:t>
                      </a:r>
                    </a:p>
                  </a:txBody>
                  <a:tcPr marL="6881" marR="6881" marT="6881" marB="0" anchor="ctr">
                    <a:lnL w="12700" cap="flat" cmpd="sng" algn="ctr">
                      <a:solidFill>
                        <a:schemeClr val="tx1"/>
                      </a:solidFill>
                      <a:prstDash val="solid"/>
                      <a:round/>
                      <a:headEnd type="none" w="med" len="med"/>
                      <a:tailEnd type="none" w="med" len="med"/>
                    </a:ln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zh-TW" sz="1400" kern="1200" dirty="0">
                          <a:solidFill>
                            <a:schemeClr val="dk1"/>
                          </a:solidFill>
                          <a:effectLst/>
                          <a:latin typeface="+mn-lt"/>
                          <a:ea typeface="+mn-ea"/>
                          <a:cs typeface="+mn-cs"/>
                          <a:hlinkClick r:id="rId7" action="ppaction://hlinksldjump"/>
                        </a:rPr>
                        <a:t>(L/R)_</a:t>
                      </a:r>
                      <a:r>
                        <a:rPr lang="en-US" altLang="zh-TW" sz="1400" kern="1200" dirty="0" err="1">
                          <a:solidFill>
                            <a:schemeClr val="dk1"/>
                          </a:solidFill>
                          <a:effectLst/>
                          <a:latin typeface="+mn-lt"/>
                          <a:ea typeface="+mn-ea"/>
                          <a:cs typeface="+mn-cs"/>
                          <a:hlinkClick r:id="rId7" action="ppaction://hlinksldjump"/>
                        </a:rPr>
                        <a:t>budlink_ch_on</a:t>
                      </a:r>
                      <a:endParaRPr lang="en-US" altLang="zh-TW" sz="1400" kern="1200" dirty="0">
                        <a:solidFill>
                          <a:schemeClr val="dk1"/>
                        </a:solidFill>
                        <a:effectLst/>
                        <a:latin typeface="+mn-lt"/>
                        <a:ea typeface="+mn-ea"/>
                        <a:cs typeface="+mn-cs"/>
                      </a:endParaRPr>
                    </a:p>
                  </a:txBody>
                  <a:tcPr marL="6881" marR="6881" marT="6881" marB="0" anchor="ctr"/>
                </a:tc>
                <a:tc>
                  <a:txBody>
                    <a:bodyPr/>
                    <a:lstStyle/>
                    <a:p>
                      <a:pPr algn="l" fontAlgn="ctr">
                        <a:buNone/>
                      </a:pPr>
                      <a:endParaRPr lang="en-US" sz="1400" b="0" i="0" u="none" strike="noStrike">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9149332"/>
                  </a:ext>
                </a:extLst>
              </a:tr>
              <a:tr h="351211">
                <a:tc>
                  <a:txBody>
                    <a:bodyPr/>
                    <a:lstStyle/>
                    <a:p>
                      <a:pPr algn="l" fontAlgn="ctr">
                        <a:buNone/>
                      </a:pPr>
                      <a:r>
                        <a:rPr lang="zh-TW" altLang="en-US" sz="1400" u="none" strike="noStrike" kern="1200" dirty="0">
                          <a:solidFill>
                            <a:schemeClr val="dk1"/>
                          </a:solidFill>
                          <a:effectLst/>
                          <a:latin typeface="+mn-lt"/>
                          <a:ea typeface="+mn-ea"/>
                          <a:cs typeface="+mn-cs"/>
                        </a:rPr>
                        <a:t>（</a:t>
                      </a:r>
                      <a:r>
                        <a:rPr lang="en-US" altLang="zh-TW" sz="1400" u="none" strike="noStrike" kern="1200" dirty="0">
                          <a:solidFill>
                            <a:schemeClr val="dk1"/>
                          </a:solidFill>
                          <a:effectLst/>
                          <a:latin typeface="+mn-lt"/>
                          <a:ea typeface="+mn-ea"/>
                          <a:cs typeface="+mn-cs"/>
                        </a:rPr>
                        <a:t>L/R</a:t>
                      </a:r>
                      <a:r>
                        <a:rPr lang="zh-TW" altLang="en-US" sz="1400" u="none" strike="noStrike" kern="1200" dirty="0">
                          <a:solidFill>
                            <a:schemeClr val="dk1"/>
                          </a:solidFill>
                          <a:effectLst/>
                          <a:latin typeface="+mn-lt"/>
                          <a:ea typeface="+mn-ea"/>
                          <a:cs typeface="+mn-cs"/>
                        </a:rPr>
                        <a:t>）</a:t>
                      </a:r>
                      <a:r>
                        <a:rPr lang="en-US" altLang="zh-TW" sz="1400" u="none" strike="noStrike" kern="1200" dirty="0" err="1">
                          <a:solidFill>
                            <a:schemeClr val="dk1"/>
                          </a:solidFill>
                          <a:effectLst/>
                          <a:latin typeface="+mn-lt"/>
                          <a:ea typeface="+mn-ea"/>
                          <a:cs typeface="+mn-cs"/>
                        </a:rPr>
                        <a:t>budlink</a:t>
                      </a:r>
                      <a:r>
                        <a:rPr lang="zh-TW" altLang="en-US" sz="1400" u="none" strike="noStrike" kern="1200" dirty="0">
                          <a:solidFill>
                            <a:schemeClr val="dk1"/>
                          </a:solidFill>
                          <a:effectLst/>
                          <a:latin typeface="+mn-lt"/>
                          <a:ea typeface="+mn-ea"/>
                          <a:cs typeface="+mn-cs"/>
                        </a:rPr>
                        <a:t>通道關閉</a:t>
                      </a:r>
                    </a:p>
                  </a:txBody>
                  <a:tcPr marL="6881" marR="6881" marT="6881" marB="0" anchor="ctr">
                    <a:lnL w="12700" cap="flat" cmpd="sng" algn="ctr">
                      <a:solidFill>
                        <a:schemeClr val="tx1"/>
                      </a:solidFill>
                      <a:prstDash val="solid"/>
                      <a:round/>
                      <a:headEnd type="none" w="med" len="med"/>
                      <a:tailEnd type="none" w="med" len="med"/>
                    </a:lnL>
                  </a:tcPr>
                </a:tc>
                <a:tc>
                  <a:txBody>
                    <a:bodyPr/>
                    <a:lstStyle/>
                    <a:p>
                      <a:pPr algn="l" fontAlgn="ctr">
                        <a:buNone/>
                      </a:pPr>
                      <a:r>
                        <a:rPr lang="en-US" altLang="zh-TW" sz="1400" kern="1200" dirty="0">
                          <a:solidFill>
                            <a:schemeClr val="dk1"/>
                          </a:solidFill>
                          <a:effectLst/>
                          <a:latin typeface="+mn-lt"/>
                          <a:ea typeface="+mn-ea"/>
                          <a:cs typeface="+mn-cs"/>
                          <a:hlinkClick r:id="rId7" action="ppaction://hlinksldjump"/>
                        </a:rPr>
                        <a:t>(L/R)_</a:t>
                      </a:r>
                      <a:r>
                        <a:rPr lang="en-US" altLang="zh-TW" sz="1400" kern="1200" dirty="0" err="1">
                          <a:solidFill>
                            <a:schemeClr val="dk1"/>
                          </a:solidFill>
                          <a:effectLst/>
                          <a:latin typeface="+mn-lt"/>
                          <a:ea typeface="+mn-ea"/>
                          <a:cs typeface="+mn-cs"/>
                          <a:hlinkClick r:id="rId7" action="ppaction://hlinksldjump"/>
                        </a:rPr>
                        <a:t>budlink_ch_off</a:t>
                      </a:r>
                      <a:endParaRPr lang="en-US" sz="1400" kern="1200" dirty="0">
                        <a:solidFill>
                          <a:schemeClr val="dk1"/>
                        </a:solidFill>
                        <a:effectLst/>
                        <a:latin typeface="+mn-lt"/>
                        <a:ea typeface="+mn-ea"/>
                        <a:cs typeface="+mn-cs"/>
                      </a:endParaRPr>
                    </a:p>
                  </a:txBody>
                  <a:tcPr marL="6881" marR="6881" marT="6881" marB="0" anchor="ctr"/>
                </a:tc>
                <a:tc>
                  <a:txBody>
                    <a:bodyPr/>
                    <a:lstStyle/>
                    <a:p>
                      <a:pPr algn="l" fontAlgn="ctr">
                        <a:buNone/>
                      </a:pPr>
                      <a:endParaRPr lang="en-US" sz="1400" b="0" i="0" u="none" strike="noStrike">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985105696"/>
                  </a:ext>
                </a:extLst>
              </a:tr>
              <a:tr h="351211">
                <a:tc>
                  <a:txBody>
                    <a:bodyPr/>
                    <a:lstStyle/>
                    <a:p>
                      <a:pPr algn="l" fontAlgn="ctr">
                        <a:buNone/>
                      </a:pPr>
                      <a:r>
                        <a:rPr lang="zh-TW" altLang="en-US" sz="1400" u="none" strike="noStrike" kern="1200" dirty="0">
                          <a:solidFill>
                            <a:schemeClr val="dk1"/>
                          </a:solidFill>
                          <a:effectLst/>
                          <a:latin typeface="+mn-lt"/>
                          <a:ea typeface="+mn-ea"/>
                          <a:cs typeface="+mn-cs"/>
                        </a:rPr>
                        <a:t>（</a:t>
                      </a:r>
                      <a:r>
                        <a:rPr lang="en-US" altLang="zh-TW" sz="1400" u="none" strike="noStrike" kern="1200" dirty="0">
                          <a:solidFill>
                            <a:schemeClr val="dk1"/>
                          </a:solidFill>
                          <a:effectLst/>
                          <a:latin typeface="+mn-lt"/>
                          <a:ea typeface="+mn-ea"/>
                          <a:cs typeface="+mn-cs"/>
                        </a:rPr>
                        <a:t>L/R</a:t>
                      </a:r>
                      <a:r>
                        <a:rPr lang="zh-TW" altLang="en-US" sz="1400" u="none" strike="noStrike" kern="1200" dirty="0">
                          <a:solidFill>
                            <a:schemeClr val="dk1"/>
                          </a:solidFill>
                          <a:effectLst/>
                          <a:latin typeface="+mn-lt"/>
                          <a:ea typeface="+mn-ea"/>
                          <a:cs typeface="+mn-cs"/>
                        </a:rPr>
                        <a:t>）接觸電阻通道打開</a:t>
                      </a:r>
                    </a:p>
                  </a:txBody>
                  <a:tcPr marL="6881" marR="6881" marT="6881" marB="0" anchor="ctr">
                    <a:lnL w="12700" cap="flat" cmpd="sng" algn="ctr">
                      <a:solidFill>
                        <a:schemeClr val="tx1"/>
                      </a:solidFill>
                      <a:prstDash val="solid"/>
                      <a:round/>
                      <a:headEnd type="none" w="med" len="med"/>
                      <a:tailEnd type="none" w="med" len="med"/>
                    </a:ln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zh-TW" sz="1400" kern="1200" dirty="0">
                          <a:solidFill>
                            <a:schemeClr val="dk1"/>
                          </a:solidFill>
                          <a:effectLst/>
                          <a:latin typeface="+mn-lt"/>
                          <a:ea typeface="+mn-ea"/>
                          <a:cs typeface="+mn-cs"/>
                          <a:hlinkClick r:id="rId8" action="ppaction://hlinksldjump"/>
                        </a:rPr>
                        <a:t>test_(L/R)_</a:t>
                      </a:r>
                      <a:r>
                        <a:rPr lang="en-US" altLang="zh-TW" sz="1400" kern="1200" dirty="0" err="1">
                          <a:solidFill>
                            <a:schemeClr val="dk1"/>
                          </a:solidFill>
                          <a:effectLst/>
                          <a:latin typeface="+mn-lt"/>
                          <a:ea typeface="+mn-ea"/>
                          <a:cs typeface="+mn-cs"/>
                          <a:hlinkClick r:id="rId8" action="ppaction://hlinksldjump"/>
                        </a:rPr>
                        <a:t>contact_resistance_on</a:t>
                      </a:r>
                      <a:endParaRPr lang="en-US" altLang="zh-TW" sz="1400" kern="1200" dirty="0">
                        <a:solidFill>
                          <a:schemeClr val="dk1"/>
                        </a:solidFill>
                        <a:effectLst/>
                        <a:latin typeface="+mn-lt"/>
                        <a:ea typeface="+mn-ea"/>
                        <a:cs typeface="+mn-cs"/>
                      </a:endParaRPr>
                    </a:p>
                  </a:txBody>
                  <a:tcPr marL="6881" marR="6881" marT="6881" marB="0" anchor="ctr"/>
                </a:tc>
                <a:tc>
                  <a:txBody>
                    <a:bodyPr/>
                    <a:lstStyle/>
                    <a:p>
                      <a:pPr algn="l" fontAlgn="ctr">
                        <a:buNone/>
                      </a:pPr>
                      <a:endParaRPr lang="en-US" sz="1400" b="0" i="0" u="none" strike="noStrike">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918947340"/>
                  </a:ext>
                </a:extLst>
              </a:tr>
              <a:tr h="351211">
                <a:tc>
                  <a:txBody>
                    <a:bodyPr/>
                    <a:lstStyle/>
                    <a:p>
                      <a:pPr algn="l" fontAlgn="ctr">
                        <a:buNone/>
                      </a:pPr>
                      <a:r>
                        <a:rPr lang="zh-TW" altLang="en-US" sz="1400" u="none" strike="noStrike" kern="1200" dirty="0">
                          <a:solidFill>
                            <a:schemeClr val="dk1"/>
                          </a:solidFill>
                          <a:effectLst/>
                          <a:latin typeface="+mn-lt"/>
                          <a:ea typeface="+mn-ea"/>
                          <a:cs typeface="+mn-cs"/>
                        </a:rPr>
                        <a:t>（</a:t>
                      </a:r>
                      <a:r>
                        <a:rPr lang="en-US" altLang="zh-TW" sz="1400" u="none" strike="noStrike" kern="1200" dirty="0">
                          <a:solidFill>
                            <a:schemeClr val="dk1"/>
                          </a:solidFill>
                          <a:effectLst/>
                          <a:latin typeface="+mn-lt"/>
                          <a:ea typeface="+mn-ea"/>
                          <a:cs typeface="+mn-cs"/>
                        </a:rPr>
                        <a:t>L/R</a:t>
                      </a:r>
                      <a:r>
                        <a:rPr lang="zh-TW" altLang="en-US" sz="1400" u="none" strike="noStrike" kern="1200" dirty="0">
                          <a:solidFill>
                            <a:schemeClr val="dk1"/>
                          </a:solidFill>
                          <a:effectLst/>
                          <a:latin typeface="+mn-lt"/>
                          <a:ea typeface="+mn-ea"/>
                          <a:cs typeface="+mn-cs"/>
                        </a:rPr>
                        <a:t>）接觸電阻通道關閉</a:t>
                      </a:r>
                    </a:p>
                  </a:txBody>
                  <a:tcPr marL="6881" marR="6881" marT="6881" marB="0" anchor="ctr">
                    <a:lnL w="12700" cap="flat" cmpd="sng" algn="ctr">
                      <a:solidFill>
                        <a:schemeClr val="tx1"/>
                      </a:solidFill>
                      <a:prstDash val="solid"/>
                      <a:round/>
                      <a:headEnd type="none" w="med" len="med"/>
                      <a:tailEnd type="none" w="med" len="med"/>
                    </a:ln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altLang="zh-TW" sz="1400" kern="1200" dirty="0">
                          <a:solidFill>
                            <a:schemeClr val="dk1"/>
                          </a:solidFill>
                          <a:effectLst/>
                          <a:latin typeface="+mn-lt"/>
                          <a:ea typeface="+mn-ea"/>
                          <a:cs typeface="+mn-cs"/>
                          <a:hlinkClick r:id="rId8" action="ppaction://hlinksldjump"/>
                        </a:rPr>
                        <a:t>test_(L/R)_</a:t>
                      </a:r>
                      <a:r>
                        <a:rPr lang="en-US" altLang="zh-TW" sz="1400" kern="1200" dirty="0" err="1">
                          <a:solidFill>
                            <a:schemeClr val="dk1"/>
                          </a:solidFill>
                          <a:effectLst/>
                          <a:latin typeface="+mn-lt"/>
                          <a:ea typeface="+mn-ea"/>
                          <a:cs typeface="+mn-cs"/>
                          <a:hlinkClick r:id="rId8" action="ppaction://hlinksldjump"/>
                        </a:rPr>
                        <a:t>contact_resistance_off</a:t>
                      </a:r>
                      <a:endParaRPr lang="en-US" altLang="zh-TW" sz="1400" kern="1200" dirty="0">
                        <a:solidFill>
                          <a:schemeClr val="dk1"/>
                        </a:solidFill>
                        <a:effectLst/>
                        <a:latin typeface="+mn-lt"/>
                        <a:ea typeface="+mn-ea"/>
                        <a:cs typeface="+mn-cs"/>
                      </a:endParaRPr>
                    </a:p>
                  </a:txBody>
                  <a:tcPr marL="6881" marR="6881" marT="6881" marB="0" anchor="ctr"/>
                </a:tc>
                <a:tc>
                  <a:txBody>
                    <a:bodyPr/>
                    <a:lstStyle/>
                    <a:p>
                      <a:pPr algn="l" fontAlgn="ctr">
                        <a:buNone/>
                      </a:pPr>
                      <a:endParaRPr lang="en-US" sz="1400" b="0" i="0" u="none" strike="noStrike" dirty="0">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622498940"/>
                  </a:ext>
                </a:extLst>
              </a:tr>
              <a:tr h="351211">
                <a:tc>
                  <a:txBody>
                    <a:bodyPr/>
                    <a:lstStyle/>
                    <a:p>
                      <a:pPr algn="l" fontAlgn="ctr">
                        <a:buNone/>
                      </a:pPr>
                      <a:r>
                        <a:rPr lang="en-US" altLang="zh-TW" sz="1400" u="none" strike="noStrike" dirty="0">
                          <a:effectLst/>
                        </a:rPr>
                        <a:t> </a:t>
                      </a:r>
                      <a:r>
                        <a:rPr lang="zh-TW" altLang="en-US" sz="1400" u="none" strike="noStrike" dirty="0">
                          <a:effectLst/>
                        </a:rPr>
                        <a:t>設定</a:t>
                      </a:r>
                      <a:r>
                        <a:rPr lang="zh-TW" altLang="en-US" sz="1400" u="none" strike="noStrike" kern="1200" dirty="0">
                          <a:solidFill>
                            <a:schemeClr val="dk1"/>
                          </a:solidFill>
                          <a:effectLst/>
                          <a:latin typeface="+mn-lt"/>
                          <a:ea typeface="+mn-ea"/>
                          <a:cs typeface="+mn-cs"/>
                        </a:rPr>
                        <a:t>（</a:t>
                      </a:r>
                      <a:r>
                        <a:rPr lang="en-US" altLang="zh-TW" sz="1400" u="none" strike="noStrike" kern="1200" dirty="0">
                          <a:solidFill>
                            <a:schemeClr val="dk1"/>
                          </a:solidFill>
                          <a:effectLst/>
                          <a:latin typeface="+mn-lt"/>
                          <a:ea typeface="+mn-ea"/>
                          <a:cs typeface="+mn-cs"/>
                        </a:rPr>
                        <a:t>L/R</a:t>
                      </a:r>
                      <a:r>
                        <a:rPr lang="zh-TW" altLang="en-US" sz="1400" u="none" strike="noStrike" kern="1200" dirty="0">
                          <a:solidFill>
                            <a:schemeClr val="dk1"/>
                          </a:solidFill>
                          <a:effectLst/>
                          <a:latin typeface="+mn-lt"/>
                          <a:ea typeface="+mn-ea"/>
                          <a:cs typeface="+mn-cs"/>
                        </a:rPr>
                        <a:t>）</a:t>
                      </a:r>
                      <a:r>
                        <a:rPr lang="zh-TW" altLang="en-US" sz="1400" u="none" strike="noStrike" dirty="0">
                          <a:effectLst/>
                        </a:rPr>
                        <a:t>通道負載值</a:t>
                      </a:r>
                      <a:endParaRPr lang="zh-TW" altLang="en-US" sz="1400" b="0" i="0" u="none" strike="noStrike" dirty="0">
                        <a:solidFill>
                          <a:srgbClr val="000000"/>
                        </a:solidFill>
                        <a:effectLst/>
                        <a:latin typeface="新細明體" panose="02020500000000000000" pitchFamily="18" charset="-120"/>
                        <a:ea typeface="新細明體" panose="02020500000000000000" pitchFamily="18" charset="-120"/>
                      </a:endParaRPr>
                    </a:p>
                  </a:txBody>
                  <a:tcPr marL="6881" marR="6881" marT="6881"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l" fontAlgn="ctr">
                        <a:buNone/>
                      </a:pPr>
                      <a:r>
                        <a:rPr lang="en-US" sz="1400" kern="1200" dirty="0">
                          <a:solidFill>
                            <a:schemeClr val="dk1"/>
                          </a:solidFill>
                          <a:effectLst/>
                          <a:latin typeface="+mn-lt"/>
                          <a:ea typeface="+mn-ea"/>
                          <a:cs typeface="+mn-cs"/>
                          <a:hlinkClick r:id="rId6" action="ppaction://hlinksldjump"/>
                        </a:rPr>
                        <a:t>set_</a:t>
                      </a:r>
                      <a:r>
                        <a:rPr lang="en-US" altLang="zh-TW" sz="1400" kern="1200" dirty="0">
                          <a:solidFill>
                            <a:schemeClr val="dk1"/>
                          </a:solidFill>
                          <a:effectLst/>
                          <a:latin typeface="+mn-lt"/>
                          <a:ea typeface="+mn-ea"/>
                          <a:cs typeface="+mn-cs"/>
                          <a:hlinkClick r:id="rId6" action="ppaction://hlinksldjump"/>
                        </a:rPr>
                        <a:t>(L/R)</a:t>
                      </a:r>
                      <a:r>
                        <a:rPr lang="en-US" sz="1400" kern="1200" dirty="0">
                          <a:solidFill>
                            <a:schemeClr val="dk1"/>
                          </a:solidFill>
                          <a:effectLst/>
                          <a:latin typeface="+mn-lt"/>
                          <a:ea typeface="+mn-ea"/>
                          <a:cs typeface="+mn-cs"/>
                          <a:hlinkClick r:id="rId6" action="ppaction://hlinksldjump"/>
                        </a:rPr>
                        <a:t>_</a:t>
                      </a:r>
                      <a:r>
                        <a:rPr lang="en-US" sz="1400" kern="1200" dirty="0" err="1">
                          <a:solidFill>
                            <a:schemeClr val="dk1"/>
                          </a:solidFill>
                          <a:effectLst/>
                          <a:latin typeface="+mn-lt"/>
                          <a:ea typeface="+mn-ea"/>
                          <a:cs typeface="+mn-cs"/>
                          <a:hlinkClick r:id="rId6" action="ppaction://hlinksldjump"/>
                        </a:rPr>
                        <a:t>eload</a:t>
                      </a:r>
                      <a:r>
                        <a:rPr lang="en-US" sz="1400" kern="1200" dirty="0">
                          <a:solidFill>
                            <a:schemeClr val="dk1"/>
                          </a:solidFill>
                          <a:effectLst/>
                          <a:latin typeface="+mn-lt"/>
                          <a:ea typeface="+mn-ea"/>
                          <a:cs typeface="+mn-cs"/>
                          <a:hlinkClick r:id="rId6" action="ppaction://hlinksldjump"/>
                        </a:rPr>
                        <a:t>[n]</a:t>
                      </a:r>
                      <a:endParaRPr lang="en-US" sz="1400" kern="1200" dirty="0">
                        <a:solidFill>
                          <a:schemeClr val="dk1"/>
                        </a:solidFill>
                        <a:effectLst/>
                        <a:latin typeface="+mn-lt"/>
                        <a:ea typeface="+mn-ea"/>
                        <a:cs typeface="+mn-cs"/>
                      </a:endParaRPr>
                    </a:p>
                  </a:txBody>
                  <a:tcPr marL="6881" marR="6881" marT="6881" marB="0" anchor="ctr">
                    <a:lnB w="12700" cap="flat" cmpd="sng" algn="ctr">
                      <a:solidFill>
                        <a:schemeClr val="tx1"/>
                      </a:solidFill>
                      <a:prstDash val="solid"/>
                      <a:round/>
                      <a:headEnd type="none" w="med" len="med"/>
                      <a:tailEnd type="none" w="med" len="med"/>
                    </a:lnB>
                  </a:tcPr>
                </a:tc>
                <a:tc>
                  <a:txBody>
                    <a:bodyPr/>
                    <a:lstStyle/>
                    <a:p>
                      <a:pPr algn="l" fontAlgn="ctr">
                        <a:buNone/>
                      </a:pPr>
                      <a:r>
                        <a:rPr lang="en-US" sz="1400" kern="1200" dirty="0" err="1">
                          <a:solidFill>
                            <a:schemeClr val="dk1"/>
                          </a:solidFill>
                          <a:effectLst/>
                          <a:latin typeface="+mn-lt"/>
                          <a:ea typeface="+mn-ea"/>
                          <a:cs typeface="+mn-cs"/>
                        </a:rPr>
                        <a:t>n負載值</a:t>
                      </a:r>
                      <a:r>
                        <a:rPr lang="en-US" sz="1400" kern="1200" dirty="0">
                          <a:solidFill>
                            <a:schemeClr val="dk1"/>
                          </a:solidFill>
                          <a:effectLst/>
                          <a:latin typeface="+mn-lt"/>
                          <a:ea typeface="+mn-ea"/>
                          <a:cs typeface="+mn-cs"/>
                        </a:rPr>
                        <a:t>(0/100)mA</a:t>
                      </a:r>
                    </a:p>
                  </a:txBody>
                  <a:tcPr marL="6881" marR="6881" marT="6881"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10750380"/>
                  </a:ext>
                </a:extLst>
              </a:tr>
            </a:tbl>
          </a:graphicData>
        </a:graphic>
      </p:graphicFrame>
      <p:sp>
        <p:nvSpPr>
          <p:cNvPr id="10" name="文字方塊 9">
            <a:extLst>
              <a:ext uri="{FF2B5EF4-FFF2-40B4-BE49-F238E27FC236}">
                <a16:creationId xmlns:a16="http://schemas.microsoft.com/office/drawing/2014/main" id="{2A827EDB-CFC5-9F03-9AC4-65E60970BAD1}"/>
              </a:ext>
            </a:extLst>
          </p:cNvPr>
          <p:cNvSpPr txBox="1"/>
          <p:nvPr/>
        </p:nvSpPr>
        <p:spPr>
          <a:xfrm>
            <a:off x="432436" y="6368618"/>
            <a:ext cx="2621230" cy="369332"/>
          </a:xfrm>
          <a:prstGeom prst="rect">
            <a:avLst/>
          </a:prstGeom>
          <a:noFill/>
        </p:spPr>
        <p:txBody>
          <a:bodyPr wrap="none" rtlCol="0">
            <a:spAutoFit/>
          </a:bodyPr>
          <a:lstStyle/>
          <a:p>
            <a:r>
              <a:rPr kumimoji="1" lang="en-US" altLang="zh-TW" dirty="0"/>
              <a:t>💡: (L/R)</a:t>
            </a:r>
            <a:r>
              <a:rPr kumimoji="1" lang="zh-TW" altLang="en-US" dirty="0"/>
              <a:t>代表</a:t>
            </a:r>
            <a:r>
              <a:rPr kumimoji="1" lang="en-US" altLang="zh-TW" dirty="0"/>
              <a:t>(left / right)</a:t>
            </a:r>
            <a:endParaRPr kumimoji="1" lang="zh-TW" altLang="en-US" dirty="0"/>
          </a:p>
        </p:txBody>
      </p:sp>
    </p:spTree>
    <p:extLst>
      <p:ext uri="{BB962C8B-B14F-4D97-AF65-F5344CB8AC3E}">
        <p14:creationId xmlns:p14="http://schemas.microsoft.com/office/powerpoint/2010/main" val="53807678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EC4FC4-0A7F-BBF4-88E6-A7C4992C6A98}"/>
            </a:ext>
          </a:extLst>
        </p:cNvPr>
        <p:cNvGrpSpPr/>
        <p:nvPr/>
      </p:nvGrpSpPr>
      <p:grpSpPr>
        <a:xfrm>
          <a:off x="0" y="0"/>
          <a:ext cx="0" cy="0"/>
          <a:chOff x="0" y="0"/>
          <a:chExt cx="0" cy="0"/>
        </a:xfrm>
      </p:grpSpPr>
      <p:sp>
        <p:nvSpPr>
          <p:cNvPr id="2" name="文字版面配置區 1">
            <a:extLst>
              <a:ext uri="{FF2B5EF4-FFF2-40B4-BE49-F238E27FC236}">
                <a16:creationId xmlns:a16="http://schemas.microsoft.com/office/drawing/2014/main" id="{52D8F64C-4148-AC4C-AF78-C6C1B55F8BB9}"/>
              </a:ext>
            </a:extLst>
          </p:cNvPr>
          <p:cNvSpPr>
            <a:spLocks noGrp="1"/>
          </p:cNvSpPr>
          <p:nvPr>
            <p:ph type="body" sz="quarter" idx="13"/>
          </p:nvPr>
        </p:nvSpPr>
        <p:spPr>
          <a:xfrm>
            <a:off x="692522" y="451012"/>
            <a:ext cx="4762499" cy="366948"/>
          </a:xfrm>
        </p:spPr>
        <p:txBody>
          <a:bodyPr/>
          <a:lstStyle/>
          <a:p>
            <a:r>
              <a:rPr lang="en" altLang="zh-TW" dirty="0">
                <a:solidFill>
                  <a:srgbClr val="000000"/>
                </a:solidFill>
                <a:latin typeface="Helvetica" pitchFamily="2" charset="0"/>
              </a:rPr>
              <a:t>Wireless Charger</a:t>
            </a:r>
            <a:r>
              <a:rPr lang="en" altLang="zh-TW" dirty="0">
                <a:solidFill>
                  <a:srgbClr val="000000"/>
                </a:solidFill>
                <a:effectLst/>
                <a:latin typeface="Helvetica" pitchFamily="2" charset="0"/>
              </a:rPr>
              <a:t> Station Introduction</a:t>
            </a:r>
          </a:p>
          <a:p>
            <a:endParaRPr lang="zh-TW" altLang="en-US" dirty="0"/>
          </a:p>
        </p:txBody>
      </p:sp>
      <p:sp>
        <p:nvSpPr>
          <p:cNvPr id="3" name="文字版面配置區 2">
            <a:extLst>
              <a:ext uri="{FF2B5EF4-FFF2-40B4-BE49-F238E27FC236}">
                <a16:creationId xmlns:a16="http://schemas.microsoft.com/office/drawing/2014/main" id="{C1442E49-08CF-87F7-E65B-845692F52E31}"/>
              </a:ext>
            </a:extLst>
          </p:cNvPr>
          <p:cNvSpPr>
            <a:spLocks noGrp="1"/>
          </p:cNvSpPr>
          <p:nvPr>
            <p:ph type="body" sz="quarter" idx="15"/>
          </p:nvPr>
        </p:nvSpPr>
        <p:spPr>
          <a:xfrm>
            <a:off x="692522" y="801668"/>
            <a:ext cx="5856195" cy="424316"/>
          </a:xfrm>
        </p:spPr>
        <p:txBody>
          <a:bodyPr/>
          <a:lstStyle/>
          <a:p>
            <a:r>
              <a:rPr lang="en-US" altLang="zh-TW" dirty="0">
                <a:latin typeface="+mn-ea"/>
              </a:rPr>
              <a:t>Test Model:B499  Vendor : </a:t>
            </a:r>
            <a:r>
              <a:rPr lang="zh-TW" altLang="en-US" dirty="0">
                <a:latin typeface="+mn-ea"/>
              </a:rPr>
              <a:t>燦華</a:t>
            </a:r>
          </a:p>
        </p:txBody>
      </p:sp>
      <p:sp>
        <p:nvSpPr>
          <p:cNvPr id="8" name="文字方塊 7">
            <a:extLst>
              <a:ext uri="{FF2B5EF4-FFF2-40B4-BE49-F238E27FC236}">
                <a16:creationId xmlns:a16="http://schemas.microsoft.com/office/drawing/2014/main" id="{B69C7798-7E72-C40E-4B94-D239B69B0D1F}"/>
              </a:ext>
            </a:extLst>
          </p:cNvPr>
          <p:cNvSpPr txBox="1"/>
          <p:nvPr/>
        </p:nvSpPr>
        <p:spPr>
          <a:xfrm>
            <a:off x="571500" y="1252427"/>
            <a:ext cx="6487140" cy="1015663"/>
          </a:xfrm>
          <a:prstGeom prst="rect">
            <a:avLst/>
          </a:prstGeom>
          <a:noFill/>
        </p:spPr>
        <p:txBody>
          <a:bodyPr wrap="square">
            <a:spAutoFit/>
          </a:bodyPr>
          <a:lstStyle/>
          <a:p>
            <a:r>
              <a:rPr lang="en" altLang="zh-TW" sz="1200" b="1" dirty="0">
                <a:solidFill>
                  <a:srgbClr val="000000"/>
                </a:solidFill>
                <a:effectLst/>
                <a:latin typeface="Helvetica Neue" panose="02000503000000020004" pitchFamily="2" charset="0"/>
              </a:rPr>
              <a:t>Objective: (test coverage)</a:t>
            </a:r>
            <a:endParaRPr lang="en" altLang="zh-TW" sz="1200" dirty="0">
              <a:solidFill>
                <a:srgbClr val="000000"/>
              </a:solidFill>
              <a:effectLst/>
              <a:latin typeface="Helvetica Neue" panose="02000503000000020004" pitchFamily="2" charset="0"/>
            </a:endParaRPr>
          </a:p>
          <a:p>
            <a:pPr>
              <a:buFont typeface="Arial" panose="020B0604020202020204" pitchFamily="34" charset="0"/>
              <a:buChar char="•"/>
            </a:pPr>
            <a:r>
              <a:rPr lang="en" altLang="zh-TW" sz="1200" dirty="0">
                <a:solidFill>
                  <a:srgbClr val="000000"/>
                </a:solidFill>
                <a:effectLst/>
                <a:latin typeface="Helvetica Neue" panose="02000503000000020004" pitchFamily="2" charset="0"/>
              </a:rPr>
              <a:t>The purpose of this station is to test the wireless power transfer (WPT) of </a:t>
            </a:r>
            <a:r>
              <a:rPr lang="en" altLang="zh-TW" sz="1200" dirty="0" err="1">
                <a:solidFill>
                  <a:srgbClr val="000000"/>
                </a:solidFill>
                <a:effectLst/>
                <a:latin typeface="Helvetica Neue" panose="02000503000000020004" pitchFamily="2" charset="0"/>
              </a:rPr>
              <a:t>Bootmode</a:t>
            </a:r>
            <a:r>
              <a:rPr lang="en" altLang="zh-TW" sz="1200" dirty="0">
                <a:solidFill>
                  <a:srgbClr val="000000"/>
                </a:solidFill>
                <a:effectLst/>
                <a:latin typeface="Helvetica Neue" panose="02000503000000020004" pitchFamily="2" charset="0"/>
              </a:rPr>
              <a:t> 2 case</a:t>
            </a:r>
          </a:p>
          <a:p>
            <a:pPr>
              <a:buFont typeface="Arial" panose="020B0604020202020204" pitchFamily="34" charset="0"/>
              <a:buChar char="•"/>
            </a:pPr>
            <a:endParaRPr lang="en" altLang="zh-TW" sz="1200" dirty="0">
              <a:solidFill>
                <a:srgbClr val="000000"/>
              </a:solidFill>
              <a:effectLst/>
              <a:latin typeface="Helvetica Neue" panose="02000503000000020004" pitchFamily="2" charset="0"/>
            </a:endParaRPr>
          </a:p>
          <a:p>
            <a:pPr>
              <a:buFont typeface="Arial" panose="020B0604020202020204" pitchFamily="34" charset="0"/>
              <a:buChar char="•"/>
            </a:pPr>
            <a:r>
              <a:rPr lang="en" altLang="zh-TW" sz="1200" dirty="0">
                <a:solidFill>
                  <a:srgbClr val="000000"/>
                </a:solidFill>
                <a:effectLst/>
                <a:latin typeface="Helvetica Neue" panose="02000503000000020004" pitchFamily="2" charset="0"/>
              </a:rPr>
              <a:t>Detect the test parameters of DUT at charging current of 40mA,120mA, 240mA, 360mA, 440mA and 480mA</a:t>
            </a:r>
          </a:p>
        </p:txBody>
      </p:sp>
      <p:sp>
        <p:nvSpPr>
          <p:cNvPr id="10" name="文字方塊 9">
            <a:extLst>
              <a:ext uri="{FF2B5EF4-FFF2-40B4-BE49-F238E27FC236}">
                <a16:creationId xmlns:a16="http://schemas.microsoft.com/office/drawing/2014/main" id="{0990357B-A6F2-8726-8D93-E263F17B48F6}"/>
              </a:ext>
            </a:extLst>
          </p:cNvPr>
          <p:cNvSpPr txBox="1"/>
          <p:nvPr/>
        </p:nvSpPr>
        <p:spPr>
          <a:xfrm>
            <a:off x="571500" y="2813281"/>
            <a:ext cx="6098240" cy="830997"/>
          </a:xfrm>
          <a:prstGeom prst="rect">
            <a:avLst/>
          </a:prstGeom>
          <a:noFill/>
        </p:spPr>
        <p:txBody>
          <a:bodyPr wrap="square">
            <a:spAutoFit/>
          </a:bodyPr>
          <a:lstStyle/>
          <a:p>
            <a:r>
              <a:rPr lang="en" altLang="zh-TW" sz="1200" b="1" dirty="0">
                <a:solidFill>
                  <a:srgbClr val="000000"/>
                </a:solidFill>
                <a:effectLst/>
                <a:latin typeface="Helvetica Neue" panose="02000503000000020004" pitchFamily="2" charset="0"/>
              </a:rPr>
              <a:t>Brief introduction of main equipment</a:t>
            </a:r>
            <a:endParaRPr lang="en" altLang="zh-TW" sz="1200" dirty="0">
              <a:solidFill>
                <a:srgbClr val="000000"/>
              </a:solidFill>
              <a:effectLst/>
              <a:latin typeface="Helvetica Neue" panose="02000503000000020004" pitchFamily="2" charset="0"/>
            </a:endParaRPr>
          </a:p>
          <a:p>
            <a:pPr marL="171450" indent="-171450">
              <a:buFont typeface="Wingdings" pitchFamily="2" charset="2"/>
              <a:buChar char="ü"/>
            </a:pPr>
            <a:r>
              <a:rPr lang="en" altLang="zh-TW" sz="1200" dirty="0">
                <a:solidFill>
                  <a:srgbClr val="000000"/>
                </a:solidFill>
                <a:effectLst/>
                <a:latin typeface="Helvetica Neue" panose="02000503000000020004" pitchFamily="2" charset="0"/>
              </a:rPr>
              <a:t>Wireless charging fixture</a:t>
            </a:r>
            <a:r>
              <a:rPr lang="zh-TW" altLang="en" sz="1200" dirty="0">
                <a:solidFill>
                  <a:schemeClr val="accent6">
                    <a:lumMod val="75000"/>
                  </a:schemeClr>
                </a:solidFill>
                <a:effectLst/>
                <a:latin typeface="PingFang TC" panose="020B0400000000000000" pitchFamily="34" charset="-120"/>
                <a:ea typeface="PingFang TC" panose="020B0400000000000000" pitchFamily="34" charset="-120"/>
              </a:rPr>
              <a:t>（</a:t>
            </a:r>
            <a:r>
              <a:rPr lang="en" altLang="zh-TW" sz="1200" dirty="0">
                <a:solidFill>
                  <a:schemeClr val="accent6">
                    <a:lumMod val="75000"/>
                  </a:schemeClr>
                </a:solidFill>
                <a:effectLst/>
                <a:latin typeface="Helvetica Neue" panose="02000503000000020004" pitchFamily="2" charset="0"/>
              </a:rPr>
              <a:t>3up</a:t>
            </a:r>
            <a:r>
              <a:rPr lang="zh-TW" altLang="en" sz="1200" dirty="0">
                <a:solidFill>
                  <a:schemeClr val="accent6">
                    <a:lumMod val="75000"/>
                  </a:schemeClr>
                </a:solidFill>
                <a:effectLst/>
                <a:latin typeface="PingFang TC" panose="020B0400000000000000" pitchFamily="34" charset="-120"/>
                <a:ea typeface="PingFang TC" panose="020B0400000000000000" pitchFamily="34" charset="-120"/>
              </a:rPr>
              <a:t>）</a:t>
            </a:r>
            <a:endParaRPr lang="en-US" altLang="zh-TW" sz="1200" dirty="0">
              <a:solidFill>
                <a:schemeClr val="accent6">
                  <a:lumMod val="75000"/>
                </a:schemeClr>
              </a:solidFill>
              <a:effectLst/>
              <a:latin typeface="PingFang TC" panose="020B0400000000000000" pitchFamily="34" charset="-120"/>
              <a:ea typeface="PingFang TC" panose="020B0400000000000000" pitchFamily="34" charset="-120"/>
            </a:endParaRPr>
          </a:p>
          <a:p>
            <a:pPr marL="171450" indent="-171450">
              <a:buFont typeface="Wingdings" pitchFamily="2" charset="2"/>
              <a:buChar char="ü"/>
            </a:pPr>
            <a:r>
              <a:rPr lang="en-US" altLang="zh-TW" sz="1200" dirty="0">
                <a:solidFill>
                  <a:srgbClr val="000000"/>
                </a:solidFill>
                <a:latin typeface="PingFang TC" panose="020B0400000000000000" pitchFamily="34" charset="-120"/>
                <a:ea typeface="PingFang TC" panose="020B0400000000000000" pitchFamily="34" charset="-120"/>
              </a:rPr>
              <a:t>Data Dependency tech , </a:t>
            </a:r>
            <a:r>
              <a:rPr lang="en-US" altLang="zh-TW" sz="1200" dirty="0">
                <a:solidFill>
                  <a:schemeClr val="accent6">
                    <a:lumMod val="75000"/>
                  </a:schemeClr>
                </a:solidFill>
                <a:latin typeface="PingFang TC" panose="020B0400000000000000" pitchFamily="34" charset="-120"/>
                <a:ea typeface="PingFang TC" panose="020B0400000000000000" pitchFamily="34" charset="-120"/>
              </a:rPr>
              <a:t>increase TT efficiency to 21.6%</a:t>
            </a:r>
            <a:endParaRPr lang="en" altLang="zh-TW" sz="1200" dirty="0">
              <a:solidFill>
                <a:schemeClr val="accent6">
                  <a:lumMod val="75000"/>
                </a:schemeClr>
              </a:solidFill>
              <a:effectLst/>
              <a:latin typeface="Helvetica Neue" panose="02000503000000020004" pitchFamily="2" charset="0"/>
            </a:endParaRPr>
          </a:p>
          <a:p>
            <a:pPr marL="171450" indent="-171450">
              <a:buFont typeface="Wingdings" pitchFamily="2" charset="2"/>
              <a:buChar char="ü"/>
            </a:pPr>
            <a:r>
              <a:rPr lang="en" altLang="zh-TW" sz="1200" dirty="0">
                <a:solidFill>
                  <a:srgbClr val="000000"/>
                </a:solidFill>
                <a:effectLst/>
                <a:latin typeface="Helvetica Neue" panose="02000503000000020004" pitchFamily="2" charset="0"/>
              </a:rPr>
              <a:t>WASP(coil) and Ginger board : Composition TX simulator</a:t>
            </a:r>
          </a:p>
        </p:txBody>
      </p:sp>
      <p:sp>
        <p:nvSpPr>
          <p:cNvPr id="12" name="文字方塊 11">
            <a:extLst>
              <a:ext uri="{FF2B5EF4-FFF2-40B4-BE49-F238E27FC236}">
                <a16:creationId xmlns:a16="http://schemas.microsoft.com/office/drawing/2014/main" id="{93D06D1D-EE80-B8A5-56E8-E269C6CCCF76}"/>
              </a:ext>
            </a:extLst>
          </p:cNvPr>
          <p:cNvSpPr txBox="1"/>
          <p:nvPr/>
        </p:nvSpPr>
        <p:spPr>
          <a:xfrm>
            <a:off x="571500" y="3931254"/>
            <a:ext cx="10293724" cy="1754326"/>
          </a:xfrm>
          <a:prstGeom prst="rect">
            <a:avLst/>
          </a:prstGeom>
          <a:noFill/>
        </p:spPr>
        <p:txBody>
          <a:bodyPr wrap="square">
            <a:spAutoFit/>
          </a:bodyPr>
          <a:lstStyle/>
          <a:p>
            <a:r>
              <a:rPr lang="en" altLang="zh-TW" sz="1200" b="1" dirty="0">
                <a:solidFill>
                  <a:srgbClr val="000000"/>
                </a:solidFill>
                <a:effectLst/>
                <a:latin typeface="Helvetica Neue" panose="02000503000000020004" pitchFamily="2" charset="0"/>
              </a:rPr>
              <a:t>Testing principle</a:t>
            </a:r>
            <a:endParaRPr lang="en" altLang="zh-TW" sz="1200" dirty="0">
              <a:solidFill>
                <a:srgbClr val="000000"/>
              </a:solidFill>
              <a:effectLst/>
              <a:latin typeface="Helvetica Neue" panose="02000503000000020004" pitchFamily="2" charset="0"/>
            </a:endParaRPr>
          </a:p>
          <a:p>
            <a:pPr>
              <a:buFont typeface="Arial" panose="020B0604020202020204" pitchFamily="34" charset="0"/>
              <a:buChar char="•"/>
            </a:pPr>
            <a:r>
              <a:rPr lang="en" altLang="zh-TW" sz="1200" b="1" dirty="0">
                <a:solidFill>
                  <a:srgbClr val="000000"/>
                </a:solidFill>
                <a:effectLst/>
                <a:latin typeface="Helvetica Neue" panose="02000503000000020004" pitchFamily="2" charset="0"/>
              </a:rPr>
              <a:t>Overview of Overlay Testing Principle: </a:t>
            </a:r>
            <a:br>
              <a:rPr lang="en" altLang="zh-TW" sz="1200" dirty="0">
                <a:solidFill>
                  <a:srgbClr val="000000"/>
                </a:solidFill>
                <a:effectLst/>
                <a:latin typeface="Helvetica Neue" panose="02000503000000020004" pitchFamily="2" charset="0"/>
              </a:rPr>
            </a:br>
            <a:r>
              <a:rPr lang="en" altLang="zh-TW" sz="1200" dirty="0">
                <a:solidFill>
                  <a:srgbClr val="000000"/>
                </a:solidFill>
                <a:effectLst/>
                <a:latin typeface="Helvetica Neue" panose="02000503000000020004" pitchFamily="2" charset="0"/>
              </a:rPr>
              <a:t>WASP (coil) and Ginger board open TX mode and set a fixed TX frequency. </a:t>
            </a:r>
          </a:p>
          <a:p>
            <a:r>
              <a:rPr lang="en" altLang="zh-TW" sz="1200" dirty="0">
                <a:solidFill>
                  <a:srgbClr val="000000"/>
                </a:solidFill>
                <a:effectLst/>
                <a:latin typeface="Helvetica Neue" panose="02000503000000020004" pitchFamily="2" charset="0"/>
              </a:rPr>
              <a:t>Set wireless charging mode for DUT, set different charging currents(40ma~480ma), and read wireless charging test parameters for DUT.</a:t>
            </a:r>
          </a:p>
          <a:p>
            <a:pPr>
              <a:buFont typeface="Arial" panose="020B0604020202020204" pitchFamily="34" charset="0"/>
              <a:buChar char="•"/>
            </a:pPr>
            <a:r>
              <a:rPr lang="en" altLang="zh-TW" sz="1200" b="1" dirty="0">
                <a:solidFill>
                  <a:srgbClr val="000000"/>
                </a:solidFill>
                <a:effectLst/>
                <a:latin typeface="Helvetica Neue" panose="02000503000000020004" pitchFamily="2" charset="0"/>
              </a:rPr>
              <a:t>Operation steps: </a:t>
            </a:r>
            <a:br>
              <a:rPr lang="en" altLang="zh-TW" sz="1200" dirty="0">
                <a:solidFill>
                  <a:srgbClr val="000000"/>
                </a:solidFill>
                <a:effectLst/>
                <a:latin typeface="Helvetica Neue" panose="02000503000000020004" pitchFamily="2" charset="0"/>
              </a:rPr>
            </a:br>
            <a:r>
              <a:rPr lang="en" altLang="zh-TW" sz="1200" dirty="0">
                <a:solidFill>
                  <a:srgbClr val="000000"/>
                </a:solidFill>
                <a:effectLst/>
                <a:latin typeface="Helvetica Neue" panose="02000503000000020004" pitchFamily="2" charset="0"/>
              </a:rPr>
              <a:t>OP connects the DUT to type-c, then places the DUT in the holder, and then places the pressure block on the holder to fix the DUT.</a:t>
            </a:r>
            <a:br>
              <a:rPr lang="en" altLang="zh-TW" sz="1200" dirty="0">
                <a:solidFill>
                  <a:srgbClr val="000000"/>
                </a:solidFill>
                <a:effectLst/>
                <a:latin typeface="Helvetica Neue" panose="02000503000000020004" pitchFamily="2" charset="0"/>
              </a:rPr>
            </a:br>
            <a:r>
              <a:rPr lang="en" altLang="zh-TW" sz="1200" dirty="0">
                <a:solidFill>
                  <a:srgbClr val="000000"/>
                </a:solidFill>
                <a:effectLst/>
                <a:latin typeface="Helvetica Neue" panose="02000503000000020004" pitchFamily="2" charset="0"/>
              </a:rPr>
              <a:t> Overlay begins testing, and after testing is complete, remove the DUT from the holder</a:t>
            </a:r>
          </a:p>
          <a:p>
            <a:pPr>
              <a:buFont typeface="Arial" panose="020B0604020202020204" pitchFamily="34" charset="0"/>
              <a:buChar char="•"/>
            </a:pPr>
            <a:r>
              <a:rPr lang="en" altLang="zh-TW" sz="1200" b="1" dirty="0">
                <a:solidFill>
                  <a:srgbClr val="000000"/>
                </a:solidFill>
                <a:effectLst/>
                <a:latin typeface="Helvetica Neue" panose="02000503000000020004" pitchFamily="2" charset="0"/>
              </a:rPr>
              <a:t>Main parameters of DUT wireless charging test: </a:t>
            </a:r>
            <a:br>
              <a:rPr lang="en" altLang="zh-TW" sz="1200" dirty="0">
                <a:solidFill>
                  <a:srgbClr val="000000"/>
                </a:solidFill>
                <a:effectLst/>
                <a:latin typeface="Helvetica Neue" panose="02000503000000020004" pitchFamily="2" charset="0"/>
              </a:rPr>
            </a:br>
            <a:r>
              <a:rPr lang="en" altLang="zh-TW" sz="1200" dirty="0">
                <a:solidFill>
                  <a:srgbClr val="000000"/>
                </a:solidFill>
                <a:effectLst/>
                <a:latin typeface="Helvetica Neue" panose="02000503000000020004" pitchFamily="2" charset="0"/>
              </a:rPr>
              <a:t>charger ADC value;  gg info(voltage, current);  </a:t>
            </a:r>
            <a:r>
              <a:rPr lang="en" altLang="zh-TW" sz="1200" dirty="0" err="1">
                <a:solidFill>
                  <a:srgbClr val="000000"/>
                </a:solidFill>
                <a:effectLst/>
                <a:latin typeface="Helvetica Neue" panose="02000503000000020004" pitchFamily="2" charset="0"/>
              </a:rPr>
              <a:t>wlchgr</a:t>
            </a:r>
            <a:r>
              <a:rPr lang="en" altLang="zh-TW" sz="1200" dirty="0">
                <a:solidFill>
                  <a:srgbClr val="000000"/>
                </a:solidFill>
                <a:effectLst/>
                <a:latin typeface="Helvetica Neue" panose="02000503000000020004" pitchFamily="2" charset="0"/>
              </a:rPr>
              <a:t> info(VRECT, ICUR)</a:t>
            </a:r>
            <a:r>
              <a:rPr lang="zh-TW" altLang="en" sz="1200" dirty="0">
                <a:solidFill>
                  <a:srgbClr val="000000"/>
                </a:solidFill>
                <a:effectLst/>
                <a:latin typeface="PingFang TC" panose="020B0400000000000000" pitchFamily="34" charset="-120"/>
                <a:ea typeface="PingFang TC" panose="020B0400000000000000" pitchFamily="34" charset="-120"/>
              </a:rPr>
              <a:t>；</a:t>
            </a:r>
            <a:r>
              <a:rPr lang="en" altLang="zh-TW" sz="1200" dirty="0">
                <a:solidFill>
                  <a:srgbClr val="000000"/>
                </a:solidFill>
                <a:effectLst/>
                <a:latin typeface="Helvetica Neue" panose="02000503000000020004" pitchFamily="2" charset="0"/>
              </a:rPr>
              <a:t>ginger power;  Power Transfer Efficiency.</a:t>
            </a:r>
          </a:p>
        </p:txBody>
      </p:sp>
      <p:pic>
        <p:nvPicPr>
          <p:cNvPr id="4" name="圖片 3">
            <a:extLst>
              <a:ext uri="{FF2B5EF4-FFF2-40B4-BE49-F238E27FC236}">
                <a16:creationId xmlns:a16="http://schemas.microsoft.com/office/drawing/2014/main" id="{0D4ADDE4-76DF-7249-949E-CB5C977B1414}"/>
              </a:ext>
            </a:extLst>
          </p:cNvPr>
          <p:cNvPicPr>
            <a:picLocks noChangeAspect="1"/>
          </p:cNvPicPr>
          <p:nvPr/>
        </p:nvPicPr>
        <p:blipFill>
          <a:blip r:embed="rId3"/>
          <a:stretch>
            <a:fillRect/>
          </a:stretch>
        </p:blipFill>
        <p:spPr>
          <a:xfrm>
            <a:off x="7058640" y="923672"/>
            <a:ext cx="4084314" cy="749011"/>
          </a:xfrm>
          <a:prstGeom prst="rect">
            <a:avLst/>
          </a:prstGeom>
        </p:spPr>
      </p:pic>
      <p:pic>
        <p:nvPicPr>
          <p:cNvPr id="6" name="圖片 5">
            <a:extLst>
              <a:ext uri="{FF2B5EF4-FFF2-40B4-BE49-F238E27FC236}">
                <a16:creationId xmlns:a16="http://schemas.microsoft.com/office/drawing/2014/main" id="{747BA510-FE6B-479B-9441-3832EEC6DFAB}"/>
              </a:ext>
            </a:extLst>
          </p:cNvPr>
          <p:cNvPicPr>
            <a:picLocks noChangeAspect="1"/>
          </p:cNvPicPr>
          <p:nvPr/>
        </p:nvPicPr>
        <p:blipFill>
          <a:blip r:embed="rId4"/>
          <a:stretch>
            <a:fillRect/>
          </a:stretch>
        </p:blipFill>
        <p:spPr>
          <a:xfrm>
            <a:off x="7138216" y="1760259"/>
            <a:ext cx="3984523" cy="2367495"/>
          </a:xfrm>
          <a:prstGeom prst="rect">
            <a:avLst/>
          </a:prstGeom>
        </p:spPr>
      </p:pic>
    </p:spTree>
    <p:extLst>
      <p:ext uri="{BB962C8B-B14F-4D97-AF65-F5344CB8AC3E}">
        <p14:creationId xmlns:p14="http://schemas.microsoft.com/office/powerpoint/2010/main" val="171003726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E1D073-EAFD-4B75-A8CB-A5C2F7B35390}"/>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23AE9B19-E4AA-0F04-5F37-6587934AC56E}"/>
              </a:ext>
            </a:extLst>
          </p:cNvPr>
          <p:cNvSpPr>
            <a:spLocks noGrp="1"/>
          </p:cNvSpPr>
          <p:nvPr>
            <p:ph type="body" sz="quarter" idx="13"/>
          </p:nvPr>
        </p:nvSpPr>
        <p:spPr/>
        <p:txBody>
          <a:bodyPr/>
          <a:lstStyle/>
          <a:p>
            <a:r>
              <a:rPr lang="en-US" dirty="0"/>
              <a:t>Terminology  </a:t>
            </a:r>
          </a:p>
          <a:p>
            <a:endParaRPr lang="en-US" dirty="0"/>
          </a:p>
        </p:txBody>
      </p:sp>
      <p:graphicFrame>
        <p:nvGraphicFramePr>
          <p:cNvPr id="5" name="Table 5">
            <a:extLst>
              <a:ext uri="{FF2B5EF4-FFF2-40B4-BE49-F238E27FC236}">
                <a16:creationId xmlns:a16="http://schemas.microsoft.com/office/drawing/2014/main" id="{78F1D66B-64FC-C372-6FDB-E263A5468F8A}"/>
              </a:ext>
            </a:extLst>
          </p:cNvPr>
          <p:cNvGraphicFramePr>
            <a:graphicFrameLocks noGrp="1"/>
          </p:cNvGraphicFramePr>
          <p:nvPr>
            <p:extLst>
              <p:ext uri="{D42A27DB-BD31-4B8C-83A1-F6EECF244321}">
                <p14:modId xmlns:p14="http://schemas.microsoft.com/office/powerpoint/2010/main" val="802680906"/>
              </p:ext>
            </p:extLst>
          </p:nvPr>
        </p:nvGraphicFramePr>
        <p:xfrm>
          <a:off x="571501" y="938449"/>
          <a:ext cx="10751820" cy="2860040"/>
        </p:xfrm>
        <a:graphic>
          <a:graphicData uri="http://schemas.openxmlformats.org/drawingml/2006/table">
            <a:tbl>
              <a:tblPr firstRow="1" bandRow="1">
                <a:tableStyleId>{BDBED569-4797-4DF1-A0F4-6AAB3CD982D8}</a:tableStyleId>
              </a:tblPr>
              <a:tblGrid>
                <a:gridCol w="4022014">
                  <a:extLst>
                    <a:ext uri="{9D8B030D-6E8A-4147-A177-3AD203B41FA5}">
                      <a16:colId xmlns:a16="http://schemas.microsoft.com/office/drawing/2014/main" val="2272818449"/>
                    </a:ext>
                  </a:extLst>
                </a:gridCol>
                <a:gridCol w="6729806">
                  <a:extLst>
                    <a:ext uri="{9D8B030D-6E8A-4147-A177-3AD203B41FA5}">
                      <a16:colId xmlns:a16="http://schemas.microsoft.com/office/drawing/2014/main" val="3152362012"/>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kern="1200" dirty="0">
                          <a:solidFill>
                            <a:schemeClr val="tx1"/>
                          </a:solidFill>
                          <a:effectLst/>
                          <a:latin typeface="+mn-lt"/>
                          <a:ea typeface="+mn-ea"/>
                          <a:cs typeface="+mn-cs"/>
                        </a:rPr>
                        <a:t>Ginger_Set_TX</a:t>
                      </a:r>
                    </a:p>
                  </a:txBody>
                  <a:tcPr/>
                </a:tc>
                <a:tc>
                  <a:txBody>
                    <a:bodyPr/>
                    <a:lstStyle/>
                    <a:p>
                      <a:r>
                        <a:rPr lang="en-US" b="0" dirty="0"/>
                        <a:t>Set Ginger Board to TX Mode</a:t>
                      </a:r>
                    </a:p>
                  </a:txBody>
                  <a:tcPr/>
                </a:tc>
                <a:extLst>
                  <a:ext uri="{0D108BD9-81ED-4DB2-BD59-A6C34878D82A}">
                    <a16:rowId xmlns:a16="http://schemas.microsoft.com/office/drawing/2014/main" val="376368070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kern="1200" dirty="0">
                          <a:solidFill>
                            <a:schemeClr val="tx1"/>
                          </a:solidFill>
                          <a:effectLst/>
                          <a:latin typeface="+mn-lt"/>
                          <a:ea typeface="+mn-ea"/>
                          <a:cs typeface="+mn-cs"/>
                        </a:rPr>
                        <a:t>Ginger_Set_coil_off</a:t>
                      </a:r>
                    </a:p>
                  </a:txBody>
                  <a:tcPr/>
                </a:tc>
                <a:tc>
                  <a:txBody>
                    <a:bodyPr/>
                    <a:lstStyle/>
                    <a:p>
                      <a:r>
                        <a:rPr lang="en-US" sz="1800" b="0" i="0" u="none" strike="noStrike" kern="1200" dirty="0">
                          <a:solidFill>
                            <a:schemeClr val="tx1"/>
                          </a:solidFill>
                          <a:effectLst/>
                          <a:latin typeface="+mn-lt"/>
                          <a:ea typeface="+mn-ea"/>
                          <a:cs typeface="+mn-cs"/>
                        </a:rPr>
                        <a:t>Disable TX coil output on the Ginger Board</a:t>
                      </a:r>
                      <a:endParaRPr lang="en-US" b="0" dirty="0"/>
                    </a:p>
                  </a:txBody>
                  <a:tcPr/>
                </a:tc>
                <a:extLst>
                  <a:ext uri="{0D108BD9-81ED-4DB2-BD59-A6C34878D82A}">
                    <a16:rowId xmlns:a16="http://schemas.microsoft.com/office/drawing/2014/main" val="51467496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kern="1200" dirty="0">
                          <a:solidFill>
                            <a:schemeClr val="tx1"/>
                          </a:solidFill>
                          <a:effectLst/>
                          <a:latin typeface="+mn-lt"/>
                          <a:ea typeface="+mn-ea"/>
                          <a:cs typeface="+mn-cs"/>
                        </a:rPr>
                        <a:t>Ginger_Get_dc_power</a:t>
                      </a:r>
                    </a:p>
                  </a:txBody>
                  <a:tcPr/>
                </a:tc>
                <a:tc>
                  <a:txBody>
                    <a:bodyPr/>
                    <a:lstStyle/>
                    <a:p>
                      <a:r>
                        <a:rPr lang="en-US" sz="1800" b="0" i="0" u="none" strike="noStrike" kern="1200" dirty="0">
                          <a:solidFill>
                            <a:schemeClr val="tx1"/>
                          </a:solidFill>
                          <a:effectLst/>
                          <a:latin typeface="+mn-lt"/>
                          <a:ea typeface="+mn-ea"/>
                          <a:cs typeface="+mn-cs"/>
                        </a:rPr>
                        <a:t>Measure DC input power when TX coil is disabled</a:t>
                      </a:r>
                      <a:endParaRPr lang="en-US" b="0" dirty="0"/>
                    </a:p>
                  </a:txBody>
                  <a:tcPr/>
                </a:tc>
                <a:extLst>
                  <a:ext uri="{0D108BD9-81ED-4DB2-BD59-A6C34878D82A}">
                    <a16:rowId xmlns:a16="http://schemas.microsoft.com/office/drawing/2014/main" val="178066437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kern="1200" dirty="0" err="1">
                          <a:solidFill>
                            <a:schemeClr val="tx1"/>
                          </a:solidFill>
                          <a:effectLst/>
                          <a:latin typeface="+mn-lt"/>
                          <a:ea typeface="+mn-ea"/>
                          <a:cs typeface="+mn-cs"/>
                        </a:rPr>
                        <a:t>Charger_enable</a:t>
                      </a:r>
                      <a:endParaRPr lang="en-US" sz="1800" b="0" kern="1200" dirty="0">
                        <a:solidFill>
                          <a:schemeClr val="tx1"/>
                        </a:solidFill>
                        <a:effectLst/>
                        <a:latin typeface="+mn-lt"/>
                        <a:ea typeface="+mn-ea"/>
                        <a:cs typeface="+mn-cs"/>
                      </a:endParaRPr>
                    </a:p>
                  </a:txBody>
                  <a:tcPr/>
                </a:tc>
                <a:tc>
                  <a:txBody>
                    <a:bodyPr/>
                    <a:lstStyle/>
                    <a:p>
                      <a:r>
                        <a:rPr lang="en-US" sz="1800" b="0" i="0" u="none" strike="noStrike" kern="1200" dirty="0">
                          <a:solidFill>
                            <a:schemeClr val="tx1"/>
                          </a:solidFill>
                          <a:effectLst/>
                          <a:latin typeface="+mn-lt"/>
                          <a:ea typeface="+mn-ea"/>
                          <a:cs typeface="+mn-cs"/>
                        </a:rPr>
                        <a:t>Enable</a:t>
                      </a:r>
                      <a:r>
                        <a:rPr lang="en-US" b="0" dirty="0"/>
                        <a:t> the DUT charger on</a:t>
                      </a:r>
                    </a:p>
                  </a:txBody>
                  <a:tcPr/>
                </a:tc>
                <a:extLst>
                  <a:ext uri="{0D108BD9-81ED-4DB2-BD59-A6C34878D82A}">
                    <a16:rowId xmlns:a16="http://schemas.microsoft.com/office/drawing/2014/main" val="400560139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kern="1200" dirty="0" err="1">
                          <a:solidFill>
                            <a:schemeClr val="tx1"/>
                          </a:solidFill>
                          <a:effectLst/>
                          <a:latin typeface="+mn-lt"/>
                          <a:ea typeface="+mn-ea"/>
                          <a:cs typeface="+mn-cs"/>
                        </a:rPr>
                        <a:t>Charger_Set_limits</a:t>
                      </a:r>
                      <a:endParaRPr lang="en-US" sz="1800" b="0" kern="1200" dirty="0">
                        <a:solidFill>
                          <a:schemeClr val="tx1"/>
                        </a:solidFill>
                        <a:effectLst/>
                        <a:latin typeface="+mn-lt"/>
                        <a:ea typeface="+mn-ea"/>
                        <a:cs typeface="+mn-cs"/>
                      </a:endParaRPr>
                    </a:p>
                  </a:txBody>
                  <a:tcPr/>
                </a:tc>
                <a:tc>
                  <a:txBody>
                    <a:bodyPr/>
                    <a:lstStyle/>
                    <a:p>
                      <a:r>
                        <a:rPr lang="en-US" sz="1800" b="0" i="0" u="none" strike="noStrike" kern="1200" dirty="0">
                          <a:solidFill>
                            <a:schemeClr val="tx1"/>
                          </a:solidFill>
                          <a:effectLst/>
                          <a:latin typeface="+mn-lt"/>
                          <a:ea typeface="+mn-ea"/>
                          <a:cs typeface="+mn-cs"/>
                        </a:rPr>
                        <a:t>Set and verify charger limit type to voltage mode</a:t>
                      </a:r>
                      <a:endParaRPr lang="en-US" b="0" dirty="0"/>
                    </a:p>
                  </a:txBody>
                  <a:tcPr/>
                </a:tc>
                <a:extLst>
                  <a:ext uri="{0D108BD9-81ED-4DB2-BD59-A6C34878D82A}">
                    <a16:rowId xmlns:a16="http://schemas.microsoft.com/office/drawing/2014/main" val="1361417980"/>
                  </a:ext>
                </a:extLst>
              </a:tr>
              <a:tr h="3326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kern="1200" dirty="0" err="1">
                          <a:solidFill>
                            <a:schemeClr val="tx1"/>
                          </a:solidFill>
                          <a:effectLst/>
                          <a:latin typeface="+mn-lt"/>
                          <a:ea typeface="+mn-ea"/>
                          <a:cs typeface="+mn-cs"/>
                        </a:rPr>
                        <a:t>Charger_Set_Topoff_limits</a:t>
                      </a:r>
                      <a:endParaRPr lang="en-US" sz="1800" b="0" kern="1200" dirty="0">
                        <a:solidFill>
                          <a:schemeClr val="tx1"/>
                        </a:solidFill>
                        <a:effectLst/>
                        <a:latin typeface="+mn-lt"/>
                        <a:ea typeface="+mn-ea"/>
                        <a:cs typeface="+mn-cs"/>
                      </a:endParaRPr>
                    </a:p>
                  </a:txBody>
                  <a:tcPr/>
                </a:tc>
                <a:tc>
                  <a:txBody>
                    <a:bodyPr/>
                    <a:lstStyle/>
                    <a:p>
                      <a:r>
                        <a:rPr lang="en-US" sz="1800" b="0" i="0" u="none" strike="noStrike" kern="1200" dirty="0">
                          <a:solidFill>
                            <a:schemeClr val="tx1"/>
                          </a:solidFill>
                          <a:effectLst/>
                          <a:latin typeface="+mn-lt"/>
                          <a:ea typeface="+mn-ea"/>
                          <a:cs typeface="+mn-cs"/>
                        </a:rPr>
                        <a:t>Set and verify charger top-off voltage limits</a:t>
                      </a:r>
                    </a:p>
                  </a:txBody>
                  <a:tcPr/>
                </a:tc>
                <a:extLst>
                  <a:ext uri="{0D108BD9-81ED-4DB2-BD59-A6C34878D82A}">
                    <a16:rowId xmlns:a16="http://schemas.microsoft.com/office/drawing/2014/main" val="2990298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kern="1200" dirty="0">
                          <a:solidFill>
                            <a:schemeClr val="tx1"/>
                          </a:solidFill>
                          <a:effectLst/>
                          <a:latin typeface="+mn-lt"/>
                          <a:ea typeface="+mn-ea"/>
                          <a:cs typeface="+mn-cs"/>
                        </a:rPr>
                        <a:t>PowerTransfer_BatCharging_40mA</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kern="1200" dirty="0">
                          <a:solidFill>
                            <a:schemeClr val="tx1"/>
                          </a:solidFill>
                          <a:effectLst/>
                          <a:latin typeface="+mn-lt"/>
                          <a:ea typeface="+mn-ea"/>
                          <a:cs typeface="+mn-cs"/>
                        </a:rPr>
                        <a:t>Set case current, enable coil, verify wireless charger, read charger &amp; battery info</a:t>
                      </a:r>
                      <a:endParaRPr lang="en-US" sz="1800" b="0" kern="1200" dirty="0">
                        <a:solidFill>
                          <a:schemeClr val="tx1"/>
                        </a:solidFill>
                        <a:effectLst/>
                        <a:latin typeface="+mn-lt"/>
                        <a:ea typeface="+mn-ea"/>
                        <a:cs typeface="+mn-cs"/>
                      </a:endParaRPr>
                    </a:p>
                  </a:txBody>
                  <a:tcPr/>
                </a:tc>
                <a:extLst>
                  <a:ext uri="{0D108BD9-81ED-4DB2-BD59-A6C34878D82A}">
                    <a16:rowId xmlns:a16="http://schemas.microsoft.com/office/drawing/2014/main" val="2564184263"/>
                  </a:ext>
                </a:extLst>
              </a:tr>
            </a:tbl>
          </a:graphicData>
        </a:graphic>
      </p:graphicFrame>
    </p:spTree>
    <p:extLst>
      <p:ext uri="{BB962C8B-B14F-4D97-AF65-F5344CB8AC3E}">
        <p14:creationId xmlns:p14="http://schemas.microsoft.com/office/powerpoint/2010/main" val="106093847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F6FED-8F5C-E063-451F-90758D17FDEF}"/>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66C06F0C-13F0-4ADA-676B-A1604FB346CB}"/>
              </a:ext>
            </a:extLst>
          </p:cNvPr>
          <p:cNvSpPr>
            <a:spLocks noGrp="1"/>
          </p:cNvSpPr>
          <p:nvPr>
            <p:ph type="body" sz="quarter" idx="13"/>
          </p:nvPr>
        </p:nvSpPr>
        <p:spPr>
          <a:xfrm>
            <a:off x="571502" y="571501"/>
            <a:ext cx="2557896" cy="366948"/>
          </a:xfrm>
        </p:spPr>
        <p:txBody>
          <a:bodyPr/>
          <a:lstStyle/>
          <a:p>
            <a:r>
              <a:rPr lang="en-US" dirty="0"/>
              <a:t>Terminology  </a:t>
            </a:r>
          </a:p>
          <a:p>
            <a:endParaRPr lang="en-US" dirty="0"/>
          </a:p>
        </p:txBody>
      </p:sp>
      <p:graphicFrame>
        <p:nvGraphicFramePr>
          <p:cNvPr id="5" name="Table 5">
            <a:extLst>
              <a:ext uri="{FF2B5EF4-FFF2-40B4-BE49-F238E27FC236}">
                <a16:creationId xmlns:a16="http://schemas.microsoft.com/office/drawing/2014/main" id="{C705E98C-ED4A-07EE-98E0-02BEF717F792}"/>
              </a:ext>
            </a:extLst>
          </p:cNvPr>
          <p:cNvGraphicFramePr>
            <a:graphicFrameLocks noGrp="1"/>
          </p:cNvGraphicFramePr>
          <p:nvPr>
            <p:extLst>
              <p:ext uri="{D42A27DB-BD31-4B8C-83A1-F6EECF244321}">
                <p14:modId xmlns:p14="http://schemas.microsoft.com/office/powerpoint/2010/main" val="1724577389"/>
              </p:ext>
            </p:extLst>
          </p:nvPr>
        </p:nvGraphicFramePr>
        <p:xfrm>
          <a:off x="571500" y="938449"/>
          <a:ext cx="6962063" cy="2194560"/>
        </p:xfrm>
        <a:graphic>
          <a:graphicData uri="http://schemas.openxmlformats.org/drawingml/2006/table">
            <a:tbl>
              <a:tblPr firstRow="1" bandRow="1">
                <a:tableStyleId>{BDBED569-4797-4DF1-A0F4-6AAB3CD982D8}</a:tableStyleId>
              </a:tblPr>
              <a:tblGrid>
                <a:gridCol w="3318112">
                  <a:extLst>
                    <a:ext uri="{9D8B030D-6E8A-4147-A177-3AD203B41FA5}">
                      <a16:colId xmlns:a16="http://schemas.microsoft.com/office/drawing/2014/main" val="2272818449"/>
                    </a:ext>
                  </a:extLst>
                </a:gridCol>
                <a:gridCol w="3643951">
                  <a:extLst>
                    <a:ext uri="{9D8B030D-6E8A-4147-A177-3AD203B41FA5}">
                      <a16:colId xmlns:a16="http://schemas.microsoft.com/office/drawing/2014/main" val="3152362012"/>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kern="1200" dirty="0">
                          <a:solidFill>
                            <a:schemeClr val="tx1"/>
                          </a:solidFill>
                          <a:effectLst/>
                          <a:latin typeface="+mn-lt"/>
                          <a:ea typeface="+mn-ea"/>
                          <a:cs typeface="+mn-cs"/>
                        </a:rPr>
                        <a:t>PowerTransfer_BatCharging_240</a:t>
                      </a:r>
                      <a:r>
                        <a:rPr lang="zh-TW" altLang="en-US" sz="1800" b="0" kern="1200" dirty="0">
                          <a:solidFill>
                            <a:schemeClr val="tx1"/>
                          </a:solidFill>
                          <a:effectLst/>
                          <a:latin typeface="+mn-lt"/>
                          <a:ea typeface="+mn-ea"/>
                          <a:cs typeface="+mn-cs"/>
                        </a:rPr>
                        <a:t> </a:t>
                      </a:r>
                      <a:r>
                        <a:rPr lang="en-US" sz="1800" b="0" kern="1200" dirty="0">
                          <a:solidFill>
                            <a:schemeClr val="tx1"/>
                          </a:solidFill>
                          <a:effectLst/>
                          <a:latin typeface="+mn-lt"/>
                          <a:ea typeface="+mn-ea"/>
                          <a:cs typeface="+mn-cs"/>
                        </a:rPr>
                        <a:t>/</a:t>
                      </a:r>
                      <a:r>
                        <a:rPr lang="zh-TW" altLang="en-US" sz="1800" b="0" kern="1200" dirty="0">
                          <a:solidFill>
                            <a:schemeClr val="tx1"/>
                          </a:solidFill>
                          <a:effectLst/>
                          <a:latin typeface="+mn-lt"/>
                          <a:ea typeface="+mn-ea"/>
                          <a:cs typeface="+mn-cs"/>
                        </a:rPr>
                        <a:t> </a:t>
                      </a:r>
                      <a:r>
                        <a:rPr lang="en-US" sz="1800" b="0" kern="1200" dirty="0">
                          <a:solidFill>
                            <a:schemeClr val="tx1"/>
                          </a:solidFill>
                          <a:effectLst/>
                          <a:latin typeface="+mn-lt"/>
                          <a:ea typeface="+mn-ea"/>
                          <a:cs typeface="+mn-cs"/>
                        </a:rPr>
                        <a:t>360</a:t>
                      </a:r>
                      <a:r>
                        <a:rPr lang="zh-TW" altLang="en-US" sz="1800" b="0" kern="1200" dirty="0">
                          <a:solidFill>
                            <a:schemeClr val="tx1"/>
                          </a:solidFill>
                          <a:effectLst/>
                          <a:latin typeface="+mn-lt"/>
                          <a:ea typeface="+mn-ea"/>
                          <a:cs typeface="+mn-cs"/>
                        </a:rPr>
                        <a:t> </a:t>
                      </a:r>
                      <a:r>
                        <a:rPr lang="en-US" sz="1800" b="0" kern="1200" dirty="0">
                          <a:solidFill>
                            <a:schemeClr val="tx1"/>
                          </a:solidFill>
                          <a:effectLst/>
                          <a:latin typeface="+mn-lt"/>
                          <a:ea typeface="+mn-ea"/>
                          <a:cs typeface="+mn-cs"/>
                        </a:rPr>
                        <a:t>/</a:t>
                      </a:r>
                      <a:r>
                        <a:rPr lang="zh-TW" altLang="en-US" sz="1800" b="0" kern="1200" dirty="0">
                          <a:solidFill>
                            <a:schemeClr val="tx1"/>
                          </a:solidFill>
                          <a:effectLst/>
                          <a:latin typeface="+mn-lt"/>
                          <a:ea typeface="+mn-ea"/>
                          <a:cs typeface="+mn-cs"/>
                        </a:rPr>
                        <a:t> </a:t>
                      </a:r>
                      <a:r>
                        <a:rPr lang="en-US" sz="1800" b="0" kern="1200" dirty="0">
                          <a:solidFill>
                            <a:schemeClr val="tx1"/>
                          </a:solidFill>
                          <a:effectLst/>
                          <a:latin typeface="+mn-lt"/>
                          <a:ea typeface="+mn-ea"/>
                          <a:cs typeface="+mn-cs"/>
                        </a:rPr>
                        <a:t>480 mA</a:t>
                      </a:r>
                    </a:p>
                  </a:txBody>
                  <a:tcPr/>
                </a:tc>
                <a:tc>
                  <a:txBody>
                    <a:bodyPr/>
                    <a:lstStyle/>
                    <a:p>
                      <a:r>
                        <a:rPr lang="en-US" sz="1800" b="0" i="0" u="none" strike="noStrike" kern="1200" dirty="0">
                          <a:solidFill>
                            <a:schemeClr val="tx1"/>
                          </a:solidFill>
                          <a:effectLst/>
                          <a:latin typeface="+mn-lt"/>
                          <a:ea typeface="+mn-ea"/>
                          <a:cs typeface="+mn-cs"/>
                        </a:rPr>
                        <a:t>Set case current and read wireless charger &amp; battery info</a:t>
                      </a:r>
                      <a:endParaRPr lang="en-US" sz="1800" b="0" kern="1200" dirty="0">
                        <a:solidFill>
                          <a:schemeClr val="tx1"/>
                        </a:solidFill>
                        <a:effectLst/>
                        <a:latin typeface="+mn-lt"/>
                        <a:ea typeface="+mn-ea"/>
                        <a:cs typeface="+mn-cs"/>
                      </a:endParaRPr>
                    </a:p>
                  </a:txBody>
                  <a:tcPr/>
                </a:tc>
                <a:extLst>
                  <a:ext uri="{0D108BD9-81ED-4DB2-BD59-A6C34878D82A}">
                    <a16:rowId xmlns:a16="http://schemas.microsoft.com/office/drawing/2014/main" val="253779576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kern="1200" dirty="0">
                          <a:solidFill>
                            <a:schemeClr val="tx1"/>
                          </a:solidFill>
                          <a:effectLst/>
                          <a:latin typeface="+mn-lt"/>
                          <a:ea typeface="+mn-ea"/>
                          <a:cs typeface="+mn-cs"/>
                        </a:rPr>
                        <a:t>Transition_Ginger_Read_240</a:t>
                      </a:r>
                      <a:r>
                        <a:rPr lang="zh-TW" altLang="en-US" sz="1800" b="0" kern="1200" dirty="0">
                          <a:solidFill>
                            <a:schemeClr val="tx1"/>
                          </a:solidFill>
                          <a:effectLst/>
                          <a:latin typeface="+mn-lt"/>
                          <a:ea typeface="+mn-ea"/>
                          <a:cs typeface="+mn-cs"/>
                        </a:rPr>
                        <a:t> </a:t>
                      </a:r>
                      <a:r>
                        <a:rPr lang="en-US" sz="1800" b="0" kern="1200" dirty="0">
                          <a:solidFill>
                            <a:schemeClr val="tx1"/>
                          </a:solidFill>
                          <a:effectLst/>
                          <a:latin typeface="+mn-lt"/>
                          <a:ea typeface="+mn-ea"/>
                          <a:cs typeface="+mn-cs"/>
                        </a:rPr>
                        <a:t>/</a:t>
                      </a:r>
                      <a:r>
                        <a:rPr lang="zh-TW" altLang="en-US" sz="1800" b="0" kern="1200" dirty="0">
                          <a:solidFill>
                            <a:schemeClr val="tx1"/>
                          </a:solidFill>
                          <a:effectLst/>
                          <a:latin typeface="+mn-lt"/>
                          <a:ea typeface="+mn-ea"/>
                          <a:cs typeface="+mn-cs"/>
                        </a:rPr>
                        <a:t> </a:t>
                      </a:r>
                      <a:r>
                        <a:rPr lang="en-US" sz="1800" b="0" kern="1200" dirty="0">
                          <a:solidFill>
                            <a:schemeClr val="tx1"/>
                          </a:solidFill>
                          <a:effectLst/>
                          <a:latin typeface="+mn-lt"/>
                          <a:ea typeface="+mn-ea"/>
                          <a:cs typeface="+mn-cs"/>
                        </a:rPr>
                        <a:t>360</a:t>
                      </a:r>
                      <a:r>
                        <a:rPr lang="zh-TW" altLang="en-US" sz="1800" b="0" kern="1200" dirty="0">
                          <a:solidFill>
                            <a:schemeClr val="tx1"/>
                          </a:solidFill>
                          <a:effectLst/>
                          <a:latin typeface="+mn-lt"/>
                          <a:ea typeface="+mn-ea"/>
                          <a:cs typeface="+mn-cs"/>
                        </a:rPr>
                        <a:t> </a:t>
                      </a:r>
                      <a:r>
                        <a:rPr lang="en-US" sz="1800" b="0" kern="1200" dirty="0">
                          <a:solidFill>
                            <a:schemeClr val="tx1"/>
                          </a:solidFill>
                          <a:effectLst/>
                          <a:latin typeface="+mn-lt"/>
                          <a:ea typeface="+mn-ea"/>
                          <a:cs typeface="+mn-cs"/>
                        </a:rPr>
                        <a:t>/</a:t>
                      </a:r>
                      <a:r>
                        <a:rPr lang="zh-TW" altLang="en-US" sz="1800" b="0" kern="1200" dirty="0">
                          <a:solidFill>
                            <a:schemeClr val="tx1"/>
                          </a:solidFill>
                          <a:effectLst/>
                          <a:latin typeface="+mn-lt"/>
                          <a:ea typeface="+mn-ea"/>
                          <a:cs typeface="+mn-cs"/>
                        </a:rPr>
                        <a:t> </a:t>
                      </a:r>
                      <a:r>
                        <a:rPr lang="en-US" sz="1800" b="0" kern="1200" dirty="0">
                          <a:solidFill>
                            <a:schemeClr val="tx1"/>
                          </a:solidFill>
                          <a:effectLst/>
                          <a:latin typeface="+mn-lt"/>
                          <a:ea typeface="+mn-ea"/>
                          <a:cs typeface="+mn-cs"/>
                        </a:rPr>
                        <a:t>480 mA</a:t>
                      </a:r>
                    </a:p>
                  </a:txBody>
                  <a:tcPr/>
                </a:tc>
                <a:tc>
                  <a:txBody>
                    <a:bodyPr/>
                    <a:lstStyle/>
                    <a:p>
                      <a:r>
                        <a:rPr lang="en-US" sz="1800" b="0" i="0" u="none" strike="noStrike" kern="1200" dirty="0">
                          <a:solidFill>
                            <a:schemeClr val="tx1"/>
                          </a:solidFill>
                          <a:effectLst/>
                          <a:latin typeface="+mn-lt"/>
                          <a:ea typeface="+mn-ea"/>
                          <a:cs typeface="+mn-cs"/>
                        </a:rPr>
                        <a:t>Read inverter DC input Power / Voltage/ Current</a:t>
                      </a:r>
                      <a:endParaRPr lang="en-US" b="0" dirty="0"/>
                    </a:p>
                  </a:txBody>
                  <a:tcPr/>
                </a:tc>
                <a:extLst>
                  <a:ext uri="{0D108BD9-81ED-4DB2-BD59-A6C34878D82A}">
                    <a16:rowId xmlns:a16="http://schemas.microsoft.com/office/drawing/2014/main" val="355206756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kern="1200" dirty="0">
                          <a:solidFill>
                            <a:schemeClr val="tx1"/>
                          </a:solidFill>
                          <a:effectLst/>
                          <a:latin typeface="+mn-lt"/>
                          <a:ea typeface="+mn-ea"/>
                          <a:cs typeface="+mn-cs"/>
                        </a:rPr>
                        <a:t>Transition_Ginger_Power_240</a:t>
                      </a:r>
                      <a:r>
                        <a:rPr lang="zh-TW" altLang="en-US" sz="1800" b="0" kern="1200" dirty="0">
                          <a:solidFill>
                            <a:schemeClr val="tx1"/>
                          </a:solidFill>
                          <a:effectLst/>
                          <a:latin typeface="+mn-lt"/>
                          <a:ea typeface="+mn-ea"/>
                          <a:cs typeface="+mn-cs"/>
                        </a:rPr>
                        <a:t> </a:t>
                      </a:r>
                      <a:r>
                        <a:rPr lang="en-US" sz="1800" b="0" kern="1200" dirty="0">
                          <a:solidFill>
                            <a:schemeClr val="tx1"/>
                          </a:solidFill>
                          <a:effectLst/>
                          <a:latin typeface="+mn-lt"/>
                          <a:ea typeface="+mn-ea"/>
                          <a:cs typeface="+mn-cs"/>
                        </a:rPr>
                        <a:t>/</a:t>
                      </a:r>
                      <a:r>
                        <a:rPr lang="zh-TW" altLang="en-US" sz="1800" b="0" kern="1200" dirty="0">
                          <a:solidFill>
                            <a:schemeClr val="tx1"/>
                          </a:solidFill>
                          <a:effectLst/>
                          <a:latin typeface="+mn-lt"/>
                          <a:ea typeface="+mn-ea"/>
                          <a:cs typeface="+mn-cs"/>
                        </a:rPr>
                        <a:t> </a:t>
                      </a:r>
                      <a:r>
                        <a:rPr lang="en-US" sz="1800" b="0" kern="1200" dirty="0">
                          <a:solidFill>
                            <a:schemeClr val="tx1"/>
                          </a:solidFill>
                          <a:effectLst/>
                          <a:latin typeface="+mn-lt"/>
                          <a:ea typeface="+mn-ea"/>
                          <a:cs typeface="+mn-cs"/>
                        </a:rPr>
                        <a:t>360</a:t>
                      </a:r>
                      <a:r>
                        <a:rPr lang="zh-TW" altLang="en-US" sz="1800" b="0" kern="1200" dirty="0">
                          <a:solidFill>
                            <a:schemeClr val="tx1"/>
                          </a:solidFill>
                          <a:effectLst/>
                          <a:latin typeface="+mn-lt"/>
                          <a:ea typeface="+mn-ea"/>
                          <a:cs typeface="+mn-cs"/>
                        </a:rPr>
                        <a:t> </a:t>
                      </a:r>
                      <a:r>
                        <a:rPr lang="en-US" sz="1800" b="0" kern="1200" dirty="0">
                          <a:solidFill>
                            <a:schemeClr val="tx1"/>
                          </a:solidFill>
                          <a:effectLst/>
                          <a:latin typeface="+mn-lt"/>
                          <a:ea typeface="+mn-ea"/>
                          <a:cs typeface="+mn-cs"/>
                        </a:rPr>
                        <a:t>/</a:t>
                      </a:r>
                      <a:r>
                        <a:rPr lang="zh-TW" altLang="en-US" sz="1800" b="0" kern="1200" dirty="0">
                          <a:solidFill>
                            <a:schemeClr val="tx1"/>
                          </a:solidFill>
                          <a:effectLst/>
                          <a:latin typeface="+mn-lt"/>
                          <a:ea typeface="+mn-ea"/>
                          <a:cs typeface="+mn-cs"/>
                        </a:rPr>
                        <a:t> </a:t>
                      </a:r>
                      <a:r>
                        <a:rPr lang="en-US" sz="1800" b="0" kern="1200" dirty="0">
                          <a:solidFill>
                            <a:schemeClr val="tx1"/>
                          </a:solidFill>
                          <a:effectLst/>
                          <a:latin typeface="+mn-lt"/>
                          <a:ea typeface="+mn-ea"/>
                          <a:cs typeface="+mn-cs"/>
                        </a:rPr>
                        <a:t>480 mA</a:t>
                      </a:r>
                    </a:p>
                  </a:txBody>
                  <a:tcPr/>
                </a:tc>
                <a:tc>
                  <a:txBody>
                    <a:bodyPr/>
                    <a:lstStyle/>
                    <a:p>
                      <a:r>
                        <a:rPr lang="en-US" sz="1800" b="0" i="0" u="none" strike="noStrike" kern="1200" dirty="0">
                          <a:solidFill>
                            <a:schemeClr val="tx1"/>
                          </a:solidFill>
                          <a:effectLst/>
                          <a:latin typeface="+mn-lt"/>
                          <a:ea typeface="+mn-ea"/>
                          <a:cs typeface="+mn-cs"/>
                        </a:rPr>
                        <a:t>Calculate Ginger board input power and verify transfer efficiency</a:t>
                      </a:r>
                      <a:endParaRPr lang="en-US" b="0" dirty="0"/>
                    </a:p>
                  </a:txBody>
                  <a:tcPr/>
                </a:tc>
                <a:extLst>
                  <a:ext uri="{0D108BD9-81ED-4DB2-BD59-A6C34878D82A}">
                    <a16:rowId xmlns:a16="http://schemas.microsoft.com/office/drawing/2014/main" val="3001512772"/>
                  </a:ext>
                </a:extLst>
              </a:tr>
            </a:tbl>
          </a:graphicData>
        </a:graphic>
      </p:graphicFrame>
      <p:pic>
        <p:nvPicPr>
          <p:cNvPr id="4" name="Picture 3" descr="A diagram of a machine&#10;&#10;AI-generated content may be incorrect.">
            <a:extLst>
              <a:ext uri="{FF2B5EF4-FFF2-40B4-BE49-F238E27FC236}">
                <a16:creationId xmlns:a16="http://schemas.microsoft.com/office/drawing/2014/main" id="{2622337E-0D7C-211C-4BBD-12F4652C4BCC}"/>
              </a:ext>
            </a:extLst>
          </p:cNvPr>
          <p:cNvPicPr>
            <a:picLocks noChangeAspect="1"/>
          </p:cNvPicPr>
          <p:nvPr/>
        </p:nvPicPr>
        <p:blipFill>
          <a:blip r:embed="rId3"/>
          <a:stretch>
            <a:fillRect/>
          </a:stretch>
        </p:blipFill>
        <p:spPr>
          <a:xfrm>
            <a:off x="7631063" y="754975"/>
            <a:ext cx="4098618" cy="5354646"/>
          </a:xfrm>
          <a:prstGeom prst="rect">
            <a:avLst/>
          </a:prstGeom>
        </p:spPr>
      </p:pic>
      <p:pic>
        <p:nvPicPr>
          <p:cNvPr id="8" name="Picture 7" descr="A screen shot of a computer program&#10;&#10;AI-generated content may be incorrect.">
            <a:extLst>
              <a:ext uri="{FF2B5EF4-FFF2-40B4-BE49-F238E27FC236}">
                <a16:creationId xmlns:a16="http://schemas.microsoft.com/office/drawing/2014/main" id="{FB5FC1ED-BAC7-621B-CB04-08A852EB65A0}"/>
              </a:ext>
            </a:extLst>
          </p:cNvPr>
          <p:cNvPicPr>
            <a:picLocks noChangeAspect="1"/>
          </p:cNvPicPr>
          <p:nvPr/>
        </p:nvPicPr>
        <p:blipFill>
          <a:blip r:embed="rId4"/>
          <a:stretch>
            <a:fillRect/>
          </a:stretch>
        </p:blipFill>
        <p:spPr>
          <a:xfrm>
            <a:off x="571500" y="3314374"/>
            <a:ext cx="6962063" cy="2182386"/>
          </a:xfrm>
          <a:prstGeom prst="rect">
            <a:avLst/>
          </a:prstGeom>
        </p:spPr>
      </p:pic>
      <p:sp>
        <p:nvSpPr>
          <p:cNvPr id="9" name="Rectangle 8">
            <a:extLst>
              <a:ext uri="{FF2B5EF4-FFF2-40B4-BE49-F238E27FC236}">
                <a16:creationId xmlns:a16="http://schemas.microsoft.com/office/drawing/2014/main" id="{39C34755-68D7-6964-B14C-62960710AD43}"/>
              </a:ext>
            </a:extLst>
          </p:cNvPr>
          <p:cNvSpPr/>
          <p:nvPr/>
        </p:nvSpPr>
        <p:spPr>
          <a:xfrm>
            <a:off x="4084684" y="3924242"/>
            <a:ext cx="175215" cy="319231"/>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10" name="Rectangle 9">
            <a:extLst>
              <a:ext uri="{FF2B5EF4-FFF2-40B4-BE49-F238E27FC236}">
                <a16:creationId xmlns:a16="http://schemas.microsoft.com/office/drawing/2014/main" id="{DFDF96F4-2DAE-F5D8-AF12-43D86B937027}"/>
              </a:ext>
            </a:extLst>
          </p:cNvPr>
          <p:cNvSpPr/>
          <p:nvPr/>
        </p:nvSpPr>
        <p:spPr>
          <a:xfrm>
            <a:off x="4084683" y="4424838"/>
            <a:ext cx="175215" cy="331158"/>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TW"/>
          </a:p>
        </p:txBody>
      </p:sp>
      <p:sp>
        <p:nvSpPr>
          <p:cNvPr id="11" name="Rectangle 10">
            <a:extLst>
              <a:ext uri="{FF2B5EF4-FFF2-40B4-BE49-F238E27FC236}">
                <a16:creationId xmlns:a16="http://schemas.microsoft.com/office/drawing/2014/main" id="{33CB341F-D76C-9F39-CCC4-74BC27A464E4}"/>
              </a:ext>
            </a:extLst>
          </p:cNvPr>
          <p:cNvSpPr/>
          <p:nvPr/>
        </p:nvSpPr>
        <p:spPr>
          <a:xfrm>
            <a:off x="4095632" y="4956632"/>
            <a:ext cx="175215" cy="331158"/>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TW"/>
          </a:p>
        </p:txBody>
      </p:sp>
      <p:cxnSp>
        <p:nvCxnSpPr>
          <p:cNvPr id="13" name="Straight Arrow Connector 12">
            <a:extLst>
              <a:ext uri="{FF2B5EF4-FFF2-40B4-BE49-F238E27FC236}">
                <a16:creationId xmlns:a16="http://schemas.microsoft.com/office/drawing/2014/main" id="{B389F4A9-3F15-AECF-93F7-DE90A11EF360}"/>
              </a:ext>
            </a:extLst>
          </p:cNvPr>
          <p:cNvCxnSpPr>
            <a:cxnSpLocks/>
            <a:stCxn id="16" idx="1"/>
          </p:cNvCxnSpPr>
          <p:nvPr/>
        </p:nvCxnSpPr>
        <p:spPr>
          <a:xfrm flipH="1">
            <a:off x="4259898" y="4062742"/>
            <a:ext cx="766565" cy="551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0972F943-2576-1A69-5626-3FCF02B31B8F}"/>
              </a:ext>
            </a:extLst>
          </p:cNvPr>
          <p:cNvSpPr txBox="1"/>
          <p:nvPr/>
        </p:nvSpPr>
        <p:spPr>
          <a:xfrm>
            <a:off x="5026463" y="3924242"/>
            <a:ext cx="1702864" cy="276999"/>
          </a:xfrm>
          <a:prstGeom prst="rect">
            <a:avLst/>
          </a:prstGeom>
          <a:noFill/>
          <a:ln>
            <a:solidFill>
              <a:srgbClr val="FF0000"/>
            </a:solidFill>
          </a:ln>
        </p:spPr>
        <p:txBody>
          <a:bodyPr wrap="square" rtlCol="0">
            <a:spAutoFit/>
          </a:bodyPr>
          <a:lstStyle/>
          <a:p>
            <a:r>
              <a:rPr lang="en-US" sz="1200" dirty="0">
                <a:solidFill>
                  <a:schemeClr val="bg1"/>
                </a:solidFill>
              </a:rPr>
              <a:t>Start Parallel Thread</a:t>
            </a:r>
            <a:endParaRPr lang="en-TW" sz="1200" dirty="0">
              <a:solidFill>
                <a:schemeClr val="bg1"/>
              </a:solidFill>
            </a:endParaRPr>
          </a:p>
        </p:txBody>
      </p:sp>
      <p:cxnSp>
        <p:nvCxnSpPr>
          <p:cNvPr id="22" name="Elbow Connector 21">
            <a:extLst>
              <a:ext uri="{FF2B5EF4-FFF2-40B4-BE49-F238E27FC236}">
                <a16:creationId xmlns:a16="http://schemas.microsoft.com/office/drawing/2014/main" id="{C615F233-4EAD-238E-6F71-3BBB7103436E}"/>
              </a:ext>
            </a:extLst>
          </p:cNvPr>
          <p:cNvCxnSpPr>
            <a:cxnSpLocks/>
            <a:stCxn id="16" idx="1"/>
          </p:cNvCxnSpPr>
          <p:nvPr/>
        </p:nvCxnSpPr>
        <p:spPr>
          <a:xfrm rot="10800000" flipV="1">
            <a:off x="4270859" y="4062742"/>
            <a:ext cx="755605" cy="562402"/>
          </a:xfrm>
          <a:prstGeom prst="bentConnector3">
            <a:avLst>
              <a:gd name="adj1" fmla="val 50000"/>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Elbow Connector 26">
            <a:extLst>
              <a:ext uri="{FF2B5EF4-FFF2-40B4-BE49-F238E27FC236}">
                <a16:creationId xmlns:a16="http://schemas.microsoft.com/office/drawing/2014/main" id="{8F351306-88B6-312A-B1A4-9A55C991E783}"/>
              </a:ext>
            </a:extLst>
          </p:cNvPr>
          <p:cNvCxnSpPr>
            <a:cxnSpLocks/>
            <a:stCxn id="16" idx="1"/>
            <a:endCxn id="11" idx="3"/>
          </p:cNvCxnSpPr>
          <p:nvPr/>
        </p:nvCxnSpPr>
        <p:spPr>
          <a:xfrm rot="10800000" flipV="1">
            <a:off x="4270847" y="4062741"/>
            <a:ext cx="755616" cy="1059469"/>
          </a:xfrm>
          <a:prstGeom prst="bentConnector3">
            <a:avLst>
              <a:gd name="adj1" fmla="val 50000"/>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8" name="Elbow Connector 37">
            <a:extLst>
              <a:ext uri="{FF2B5EF4-FFF2-40B4-BE49-F238E27FC236}">
                <a16:creationId xmlns:a16="http://schemas.microsoft.com/office/drawing/2014/main" id="{3393E4E9-D649-5F26-18D4-619DB0FB0ECD}"/>
              </a:ext>
            </a:extLst>
          </p:cNvPr>
          <p:cNvCxnSpPr>
            <a:cxnSpLocks/>
            <a:stCxn id="42" idx="1"/>
          </p:cNvCxnSpPr>
          <p:nvPr/>
        </p:nvCxnSpPr>
        <p:spPr>
          <a:xfrm rot="10800000" flipV="1">
            <a:off x="4270847" y="4785300"/>
            <a:ext cx="755616" cy="55705"/>
          </a:xfrm>
          <a:prstGeom prst="bentConnector3">
            <a:avLst>
              <a:gd name="adj1" fmla="val 32398"/>
            </a:avLst>
          </a:prstGeom>
          <a:ln>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AACC6E0E-CA17-0BBE-C845-B70F4A8906BB}"/>
              </a:ext>
            </a:extLst>
          </p:cNvPr>
          <p:cNvSpPr txBox="1"/>
          <p:nvPr/>
        </p:nvSpPr>
        <p:spPr>
          <a:xfrm>
            <a:off x="5026463" y="4646801"/>
            <a:ext cx="1702864" cy="276999"/>
          </a:xfrm>
          <a:prstGeom prst="rect">
            <a:avLst/>
          </a:prstGeom>
          <a:noFill/>
          <a:ln>
            <a:solidFill>
              <a:srgbClr val="FFFF00"/>
            </a:solidFill>
          </a:ln>
        </p:spPr>
        <p:txBody>
          <a:bodyPr wrap="square" rtlCol="0">
            <a:spAutoFit/>
          </a:bodyPr>
          <a:lstStyle/>
          <a:p>
            <a:r>
              <a:rPr lang="en-US" sz="1200" dirty="0">
                <a:solidFill>
                  <a:schemeClr val="bg1"/>
                </a:solidFill>
              </a:rPr>
              <a:t>Join Thread Point</a:t>
            </a:r>
            <a:endParaRPr lang="en-TW" sz="1200" dirty="0">
              <a:solidFill>
                <a:schemeClr val="bg1"/>
              </a:solidFill>
            </a:endParaRPr>
          </a:p>
        </p:txBody>
      </p:sp>
      <p:cxnSp>
        <p:nvCxnSpPr>
          <p:cNvPr id="50" name="Elbow Connector 49">
            <a:extLst>
              <a:ext uri="{FF2B5EF4-FFF2-40B4-BE49-F238E27FC236}">
                <a16:creationId xmlns:a16="http://schemas.microsoft.com/office/drawing/2014/main" id="{C89047D3-B13E-8510-E320-DDDE7230CC9A}"/>
              </a:ext>
            </a:extLst>
          </p:cNvPr>
          <p:cNvCxnSpPr>
            <a:cxnSpLocks/>
            <a:stCxn id="42" idx="1"/>
          </p:cNvCxnSpPr>
          <p:nvPr/>
        </p:nvCxnSpPr>
        <p:spPr>
          <a:xfrm rot="10800000">
            <a:off x="4259903" y="4326885"/>
            <a:ext cx="766561" cy="458416"/>
          </a:xfrm>
          <a:prstGeom prst="bentConnector3">
            <a:avLst>
              <a:gd name="adj1" fmla="val 31565"/>
            </a:avLst>
          </a:prstGeom>
          <a:ln>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53" name="Elbow Connector 52">
            <a:extLst>
              <a:ext uri="{FF2B5EF4-FFF2-40B4-BE49-F238E27FC236}">
                <a16:creationId xmlns:a16="http://schemas.microsoft.com/office/drawing/2014/main" id="{89A3CB0A-B844-BAE0-C1F2-362B7E25AD57}"/>
              </a:ext>
            </a:extLst>
          </p:cNvPr>
          <p:cNvCxnSpPr>
            <a:cxnSpLocks/>
            <a:stCxn id="42" idx="1"/>
          </p:cNvCxnSpPr>
          <p:nvPr/>
        </p:nvCxnSpPr>
        <p:spPr>
          <a:xfrm rot="10800000" flipV="1">
            <a:off x="4270843" y="4785300"/>
            <a:ext cx="755621" cy="558451"/>
          </a:xfrm>
          <a:prstGeom prst="bentConnector3">
            <a:avLst>
              <a:gd name="adj1" fmla="val 32398"/>
            </a:avLst>
          </a:prstGeom>
          <a:ln>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59" name="Rectangle 58">
            <a:extLst>
              <a:ext uri="{FF2B5EF4-FFF2-40B4-BE49-F238E27FC236}">
                <a16:creationId xmlns:a16="http://schemas.microsoft.com/office/drawing/2014/main" id="{18261E5F-B39E-6F40-94C4-C5A658CF17D5}"/>
              </a:ext>
            </a:extLst>
          </p:cNvPr>
          <p:cNvSpPr/>
          <p:nvPr/>
        </p:nvSpPr>
        <p:spPr>
          <a:xfrm>
            <a:off x="4270842" y="3429000"/>
            <a:ext cx="508976" cy="270164"/>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TW"/>
          </a:p>
        </p:txBody>
      </p:sp>
    </p:spTree>
    <p:extLst>
      <p:ext uri="{BB962C8B-B14F-4D97-AF65-F5344CB8AC3E}">
        <p14:creationId xmlns:p14="http://schemas.microsoft.com/office/powerpoint/2010/main" val="313124324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D7455B-FCA4-CCE4-1242-75B18002CE48}"/>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1E204C07-6332-CA06-2B30-3DC5C487EECB}"/>
              </a:ext>
            </a:extLst>
          </p:cNvPr>
          <p:cNvSpPr>
            <a:spLocks noGrp="1"/>
          </p:cNvSpPr>
          <p:nvPr>
            <p:ph type="body" sz="quarter" idx="13"/>
          </p:nvPr>
        </p:nvSpPr>
        <p:spPr/>
        <p:txBody>
          <a:bodyPr/>
          <a:lstStyle/>
          <a:p>
            <a:r>
              <a:rPr lang="en-US" dirty="0"/>
              <a:t>Terminology  </a:t>
            </a:r>
          </a:p>
          <a:p>
            <a:endParaRPr lang="en-US" dirty="0"/>
          </a:p>
        </p:txBody>
      </p:sp>
      <p:graphicFrame>
        <p:nvGraphicFramePr>
          <p:cNvPr id="5" name="Table 5">
            <a:extLst>
              <a:ext uri="{FF2B5EF4-FFF2-40B4-BE49-F238E27FC236}">
                <a16:creationId xmlns:a16="http://schemas.microsoft.com/office/drawing/2014/main" id="{E05C0C22-61F6-8487-7037-DCC939E1350A}"/>
              </a:ext>
            </a:extLst>
          </p:cNvPr>
          <p:cNvGraphicFramePr>
            <a:graphicFrameLocks noGrp="1"/>
          </p:cNvGraphicFramePr>
          <p:nvPr>
            <p:extLst>
              <p:ext uri="{D42A27DB-BD31-4B8C-83A1-F6EECF244321}">
                <p14:modId xmlns:p14="http://schemas.microsoft.com/office/powerpoint/2010/main" val="4198919426"/>
              </p:ext>
            </p:extLst>
          </p:nvPr>
        </p:nvGraphicFramePr>
        <p:xfrm>
          <a:off x="571501" y="938449"/>
          <a:ext cx="10751820" cy="741680"/>
        </p:xfrm>
        <a:graphic>
          <a:graphicData uri="http://schemas.openxmlformats.org/drawingml/2006/table">
            <a:tbl>
              <a:tblPr firstRow="1" bandRow="1">
                <a:tableStyleId>{BDBED569-4797-4DF1-A0F4-6AAB3CD982D8}</a:tableStyleId>
              </a:tblPr>
              <a:tblGrid>
                <a:gridCol w="4022014">
                  <a:extLst>
                    <a:ext uri="{9D8B030D-6E8A-4147-A177-3AD203B41FA5}">
                      <a16:colId xmlns:a16="http://schemas.microsoft.com/office/drawing/2014/main" val="2272818449"/>
                    </a:ext>
                  </a:extLst>
                </a:gridCol>
                <a:gridCol w="6729806">
                  <a:extLst>
                    <a:ext uri="{9D8B030D-6E8A-4147-A177-3AD203B41FA5}">
                      <a16:colId xmlns:a16="http://schemas.microsoft.com/office/drawing/2014/main" val="3152362012"/>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kern="1200" dirty="0" err="1">
                          <a:solidFill>
                            <a:schemeClr val="tx1"/>
                          </a:solidFill>
                          <a:effectLst/>
                          <a:latin typeface="+mn-lt"/>
                          <a:ea typeface="+mn-ea"/>
                          <a:cs typeface="+mn-cs"/>
                        </a:rPr>
                        <a:t>SetChargerParams</a:t>
                      </a:r>
                      <a:endParaRPr lang="en-US" sz="1800" b="0" kern="1200" dirty="0">
                        <a:solidFill>
                          <a:schemeClr val="tx1"/>
                        </a:solidFill>
                        <a:effectLst/>
                        <a:latin typeface="+mn-lt"/>
                        <a:ea typeface="+mn-ea"/>
                        <a:cs typeface="+mn-cs"/>
                      </a:endParaRPr>
                    </a:p>
                  </a:txBody>
                  <a:tcPr/>
                </a:tc>
                <a:tc>
                  <a:txBody>
                    <a:bodyPr/>
                    <a:lstStyle/>
                    <a:p>
                      <a:r>
                        <a:rPr lang="en-US" sz="1800" b="0" i="0" u="none" strike="noStrike" kern="1200" dirty="0">
                          <a:solidFill>
                            <a:schemeClr val="tx1"/>
                          </a:solidFill>
                          <a:effectLst/>
                          <a:latin typeface="+mn-lt"/>
                          <a:ea typeface="+mn-ea"/>
                          <a:cs typeface="+mn-cs"/>
                        </a:rPr>
                        <a:t>Set and verify charger top-off parameters</a:t>
                      </a:r>
                      <a:endParaRPr lang="en-US" b="0" dirty="0"/>
                    </a:p>
                  </a:txBody>
                  <a:tcPr/>
                </a:tc>
                <a:extLst>
                  <a:ext uri="{0D108BD9-81ED-4DB2-BD59-A6C34878D82A}">
                    <a16:rowId xmlns:a16="http://schemas.microsoft.com/office/drawing/2014/main" val="256418426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kern="1200" dirty="0" err="1">
                          <a:solidFill>
                            <a:schemeClr val="tx1"/>
                          </a:solidFill>
                          <a:effectLst/>
                          <a:latin typeface="+mn-lt"/>
                          <a:ea typeface="+mn-ea"/>
                          <a:cs typeface="+mn-cs"/>
                        </a:rPr>
                        <a:t>Set_Bud_Voltage</a:t>
                      </a:r>
                      <a:endParaRPr lang="en-US" sz="1800" b="0" kern="1200" dirty="0">
                        <a:solidFill>
                          <a:schemeClr val="tx1"/>
                        </a:solidFill>
                        <a:effectLst/>
                        <a:latin typeface="+mn-lt"/>
                        <a:ea typeface="+mn-ea"/>
                        <a:cs typeface="+mn-cs"/>
                      </a:endParaRPr>
                    </a:p>
                  </a:txBody>
                  <a:tcPr/>
                </a:tc>
                <a:tc>
                  <a:txBody>
                    <a:bodyPr/>
                    <a:lstStyle/>
                    <a:p>
                      <a:r>
                        <a:rPr lang="en-US" sz="1800" b="0" i="0" u="none" strike="noStrike" kern="1200" dirty="0">
                          <a:solidFill>
                            <a:schemeClr val="tx1"/>
                          </a:solidFill>
                          <a:effectLst/>
                          <a:latin typeface="+mn-lt"/>
                          <a:ea typeface="+mn-ea"/>
                          <a:cs typeface="+mn-cs"/>
                        </a:rPr>
                        <a:t>Set and verify bud top-off voltage limits</a:t>
                      </a:r>
                      <a:endParaRPr lang="en-US" b="0" dirty="0"/>
                    </a:p>
                  </a:txBody>
                  <a:tcPr/>
                </a:tc>
                <a:extLst>
                  <a:ext uri="{0D108BD9-81ED-4DB2-BD59-A6C34878D82A}">
                    <a16:rowId xmlns:a16="http://schemas.microsoft.com/office/drawing/2014/main" val="1758382234"/>
                  </a:ext>
                </a:extLst>
              </a:tr>
            </a:tbl>
          </a:graphicData>
        </a:graphic>
      </p:graphicFrame>
    </p:spTree>
    <p:extLst>
      <p:ext uri="{BB962C8B-B14F-4D97-AF65-F5344CB8AC3E}">
        <p14:creationId xmlns:p14="http://schemas.microsoft.com/office/powerpoint/2010/main" val="288338307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3">
            <a:extLst>
              <a:ext uri="{FF2B5EF4-FFF2-40B4-BE49-F238E27FC236}">
                <a16:creationId xmlns:a16="http://schemas.microsoft.com/office/drawing/2014/main" id="{68F08C9E-2AD4-AA4B-AA07-DB1453CF9A1D}"/>
              </a:ext>
            </a:extLst>
          </p:cNvPr>
          <p:cNvSpPr txBox="1"/>
          <p:nvPr/>
        </p:nvSpPr>
        <p:spPr>
          <a:xfrm>
            <a:off x="571500" y="6096206"/>
            <a:ext cx="11049000" cy="164532"/>
          </a:xfrm>
          <a:prstGeom prst="rect">
            <a:avLst/>
          </a:prstGeom>
        </p:spPr>
        <p:txBody>
          <a:bodyPr vert="horz" wrap="square" lIns="0" tIns="12700" rIns="0" bIns="0" rtlCol="0">
            <a:spAutoFit/>
          </a:bodyPr>
          <a:lstStyle/>
          <a:p>
            <a:pPr marL="12700" algn="ctr">
              <a:lnSpc>
                <a:spcPct val="150000"/>
              </a:lnSpc>
              <a:spcBef>
                <a:spcPts val="100"/>
              </a:spcBef>
            </a:pPr>
            <a:r>
              <a:rPr sz="750" spc="-5" dirty="0">
                <a:solidFill>
                  <a:schemeClr val="bg1"/>
                </a:solidFill>
                <a:latin typeface="Arial"/>
                <a:cs typeface="Arial"/>
              </a:rPr>
              <a:t>Foxconn Interconnect </a:t>
            </a:r>
            <a:r>
              <a:rPr sz="750" spc="-25" dirty="0">
                <a:solidFill>
                  <a:schemeClr val="bg1"/>
                </a:solidFill>
                <a:latin typeface="Arial"/>
                <a:cs typeface="Arial"/>
              </a:rPr>
              <a:t>Technology</a:t>
            </a:r>
            <a:r>
              <a:rPr sz="750" spc="15" dirty="0">
                <a:solidFill>
                  <a:schemeClr val="bg1"/>
                </a:solidFill>
                <a:latin typeface="Arial"/>
                <a:cs typeface="Arial"/>
              </a:rPr>
              <a:t> </a:t>
            </a:r>
            <a:r>
              <a:rPr sz="750" spc="-5" dirty="0">
                <a:solidFill>
                  <a:schemeClr val="bg1"/>
                </a:solidFill>
                <a:latin typeface="Arial"/>
                <a:cs typeface="Arial"/>
              </a:rPr>
              <a:t>Limited</a:t>
            </a:r>
            <a:r>
              <a:rPr lang="en-US" sz="750" dirty="0">
                <a:solidFill>
                  <a:schemeClr val="bg1"/>
                </a:solidFill>
                <a:latin typeface="Arial"/>
                <a:cs typeface="Arial"/>
              </a:rPr>
              <a:t> </a:t>
            </a:r>
            <a:r>
              <a:rPr sz="750" spc="-5" dirty="0">
                <a:solidFill>
                  <a:schemeClr val="bg1"/>
                </a:solidFill>
                <a:latin typeface="Arial"/>
                <a:cs typeface="Arial"/>
              </a:rPr>
              <a:t>(Incorporated in </a:t>
            </a:r>
            <a:r>
              <a:rPr sz="750" dirty="0">
                <a:solidFill>
                  <a:schemeClr val="bg1"/>
                </a:solidFill>
                <a:latin typeface="Arial"/>
                <a:cs typeface="Arial"/>
              </a:rPr>
              <a:t>the </a:t>
            </a:r>
            <a:r>
              <a:rPr sz="750" spc="-10" dirty="0">
                <a:solidFill>
                  <a:schemeClr val="bg1"/>
                </a:solidFill>
                <a:latin typeface="Arial"/>
                <a:cs typeface="Arial"/>
              </a:rPr>
              <a:t>Cayman </a:t>
            </a:r>
            <a:r>
              <a:rPr sz="750" spc="-5" dirty="0">
                <a:solidFill>
                  <a:schemeClr val="bg1"/>
                </a:solidFill>
                <a:latin typeface="Arial"/>
                <a:cs typeface="Arial"/>
              </a:rPr>
              <a:t>Islands and </a:t>
            </a:r>
            <a:r>
              <a:rPr sz="750" spc="-10" dirty="0">
                <a:solidFill>
                  <a:schemeClr val="bg1"/>
                </a:solidFill>
                <a:latin typeface="Arial"/>
                <a:cs typeface="Arial"/>
              </a:rPr>
              <a:t>carrying </a:t>
            </a:r>
            <a:r>
              <a:rPr sz="750" spc="-5" dirty="0">
                <a:solidFill>
                  <a:schemeClr val="bg1"/>
                </a:solidFill>
                <a:latin typeface="Arial"/>
                <a:cs typeface="Arial"/>
              </a:rPr>
              <a:t>on business in Hong Kong as </a:t>
            </a:r>
            <a:r>
              <a:rPr sz="750" dirty="0">
                <a:solidFill>
                  <a:schemeClr val="bg1"/>
                </a:solidFill>
                <a:latin typeface="Arial"/>
                <a:cs typeface="Arial"/>
              </a:rPr>
              <a:t>FIT </a:t>
            </a:r>
            <a:r>
              <a:rPr sz="750" spc="-5" dirty="0">
                <a:solidFill>
                  <a:schemeClr val="bg1"/>
                </a:solidFill>
                <a:latin typeface="Arial"/>
                <a:cs typeface="Arial"/>
              </a:rPr>
              <a:t>Hon </a:t>
            </a:r>
            <a:r>
              <a:rPr sz="750" spc="-55" dirty="0">
                <a:solidFill>
                  <a:schemeClr val="bg1"/>
                </a:solidFill>
                <a:latin typeface="Arial"/>
                <a:cs typeface="Arial"/>
              </a:rPr>
              <a:t>Teng</a:t>
            </a:r>
            <a:r>
              <a:rPr sz="750" spc="210" dirty="0">
                <a:solidFill>
                  <a:schemeClr val="bg1"/>
                </a:solidFill>
                <a:latin typeface="Arial"/>
                <a:cs typeface="Arial"/>
              </a:rPr>
              <a:t> </a:t>
            </a:r>
            <a:r>
              <a:rPr sz="750" spc="-5" dirty="0">
                <a:solidFill>
                  <a:schemeClr val="bg1"/>
                </a:solidFill>
                <a:latin typeface="Arial"/>
                <a:cs typeface="Arial"/>
              </a:rPr>
              <a:t>Limited)</a:t>
            </a:r>
            <a:endParaRPr sz="750" dirty="0">
              <a:solidFill>
                <a:schemeClr val="bg1"/>
              </a:solidFill>
              <a:latin typeface="Arial"/>
              <a:cs typeface="Arial"/>
            </a:endParaRPr>
          </a:p>
        </p:txBody>
      </p:sp>
      <p:pic>
        <p:nvPicPr>
          <p:cNvPr id="11" name="圖片 10">
            <a:extLst>
              <a:ext uri="{FF2B5EF4-FFF2-40B4-BE49-F238E27FC236}">
                <a16:creationId xmlns:a16="http://schemas.microsoft.com/office/drawing/2014/main" id="{445C3E26-829D-4DFC-91CF-BC8545F39D81}"/>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766654561"/>
      </p:ext>
    </p:extLst>
  </p:cSld>
  <p:clrMapOvr>
    <a:masterClrMapping/>
  </p:clrMapOvr>
</p:sld>
</file>

<file path=ppt/theme/theme1.xml><?xml version="1.0" encoding="utf-8"?>
<a:theme xmlns:a="http://schemas.openxmlformats.org/drawingml/2006/main" name="佈景主題1">
  <a:themeElements>
    <a:clrScheme name="藍綠色">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佈景主題1" id="{BC90DF3D-2CA7-4BA5-8A64-719C25232E41}" vid="{9BCCF636-F28B-432C-B136-F3C3A7EB37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文件" ma:contentTypeID="0x0101002C3333499193CE479CAB1F73A6C6AE3B" ma:contentTypeVersion="0" ma:contentTypeDescription="建立新的文件。" ma:contentTypeScope="" ma:versionID="7cfbecae3e8a5ac977f88e59784cf582">
  <xsd:schema xmlns:xsd="http://www.w3.org/2001/XMLSchema" xmlns:xs="http://www.w3.org/2001/XMLSchema" xmlns:p="http://schemas.microsoft.com/office/2006/metadata/properties" targetNamespace="http://schemas.microsoft.com/office/2006/metadata/properties" ma:root="true" ma:fieldsID="c30065d9e22eb2353c9d506d0053b64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內容類型"/>
        <xsd:element ref="dc:title" minOccurs="0" maxOccurs="1" ma:index="4" ma:displayName="標題"/>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51E6658-F467-4B65-918E-AC7F320E5602}">
  <ds:schemaRefs>
    <ds:schemaRef ds:uri="http://schemas.microsoft.com/sharepoint/v3/contenttype/forms"/>
  </ds:schemaRefs>
</ds:datastoreItem>
</file>

<file path=customXml/itemProps2.xml><?xml version="1.0" encoding="utf-8"?>
<ds:datastoreItem xmlns:ds="http://schemas.openxmlformats.org/officeDocument/2006/customXml" ds:itemID="{44147441-9087-490B-A77B-5D21EE935B8A}">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3913A253-D39D-44CB-A79C-AFC7D5EAF4E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佈景主題1</Template>
  <TotalTime>43282</TotalTime>
  <Words>7554</Words>
  <Application>Microsoft Macintosh PowerPoint</Application>
  <PresentationFormat>寬螢幕</PresentationFormat>
  <Paragraphs>1514</Paragraphs>
  <Slides>58</Slides>
  <Notes>56</Notes>
  <HiddenSlides>1</HiddenSlides>
  <MMClips>0</MMClips>
  <ScaleCrop>false</ScaleCrop>
  <HeadingPairs>
    <vt:vector size="6" baseType="variant">
      <vt:variant>
        <vt:lpstr>使用字型</vt:lpstr>
      </vt:variant>
      <vt:variant>
        <vt:i4>8</vt:i4>
      </vt:variant>
      <vt:variant>
        <vt:lpstr>佈景主題</vt:lpstr>
      </vt:variant>
      <vt:variant>
        <vt:i4>1</vt:i4>
      </vt:variant>
      <vt:variant>
        <vt:lpstr>投影片標題</vt:lpstr>
      </vt:variant>
      <vt:variant>
        <vt:i4>58</vt:i4>
      </vt:variant>
    </vt:vector>
  </HeadingPairs>
  <TitlesOfParts>
    <vt:vector size="67" baseType="lpstr">
      <vt:lpstr>Microsoft JhengHei</vt:lpstr>
      <vt:lpstr>新細明體</vt:lpstr>
      <vt:lpstr>PingFang TC</vt:lpstr>
      <vt:lpstr>Arial</vt:lpstr>
      <vt:lpstr>Calibri</vt:lpstr>
      <vt:lpstr>Helvetica</vt:lpstr>
      <vt:lpstr>Helvetica Neue</vt:lpstr>
      <vt:lpstr>Wingdings</vt:lpstr>
      <vt:lpstr>佈景主題1</vt:lpstr>
      <vt:lpstr>CPD-X Test Station Introduction</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Bonnie Che</dc:creator>
  <cp:lastModifiedBy>Alan C.S. Hung(洪丞劭)</cp:lastModifiedBy>
  <cp:revision>271</cp:revision>
  <cp:lastPrinted>2022-03-17T06:34:18Z</cp:lastPrinted>
  <dcterms:created xsi:type="dcterms:W3CDTF">2019-07-25T23:59:08Z</dcterms:created>
  <dcterms:modified xsi:type="dcterms:W3CDTF">2026-03-16T08:15:47Z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190361f-d7d8-42be-944f-5502bb5e2911_Enabled">
    <vt:lpwstr>true</vt:lpwstr>
  </property>
  <property fmtid="{D5CDD505-2E9C-101B-9397-08002B2CF9AE}" pid="3" name="MSIP_Label_0190361f-d7d8-42be-944f-5502bb5e2911_SetDate">
    <vt:lpwstr>2023-06-26T04:17:40Z</vt:lpwstr>
  </property>
  <property fmtid="{D5CDD505-2E9C-101B-9397-08002B2CF9AE}" pid="4" name="MSIP_Label_0190361f-d7d8-42be-944f-5502bb5e2911_Method">
    <vt:lpwstr>Standard</vt:lpwstr>
  </property>
  <property fmtid="{D5CDD505-2E9C-101B-9397-08002B2CF9AE}" pid="5" name="MSIP_Label_0190361f-d7d8-42be-944f-5502bb5e2911_Name">
    <vt:lpwstr>一般</vt:lpwstr>
  </property>
  <property fmtid="{D5CDD505-2E9C-101B-9397-08002B2CF9AE}" pid="6" name="MSIP_Label_0190361f-d7d8-42be-944f-5502bb5e2911_SiteId">
    <vt:lpwstr>cdb587e9-824c-41b5-b47f-5af9864b075b</vt:lpwstr>
  </property>
  <property fmtid="{D5CDD505-2E9C-101B-9397-08002B2CF9AE}" pid="7" name="MSIP_Label_0190361f-d7d8-42be-944f-5502bb5e2911_ActionId">
    <vt:lpwstr>2e472e71-15fc-41f2-958e-798e585a7965</vt:lpwstr>
  </property>
  <property fmtid="{D5CDD505-2E9C-101B-9397-08002B2CF9AE}" pid="8" name="MSIP_Label_0190361f-d7d8-42be-944f-5502bb5e2911_ContentBits">
    <vt:lpwstr>0</vt:lpwstr>
  </property>
  <property fmtid="{D5CDD505-2E9C-101B-9397-08002B2CF9AE}" pid="9" name="ContentTypeId">
    <vt:lpwstr>0x0101002C3333499193CE479CAB1F73A6C6AE3B</vt:lpwstr>
  </property>
</Properties>
</file>